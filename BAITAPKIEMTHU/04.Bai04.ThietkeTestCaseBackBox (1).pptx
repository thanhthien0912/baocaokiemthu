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2" r:id="rId7"/>
    <p:sldMasterId id="2147483655" r:id="rId8"/>
    <p:sldMasterId id="2147483657" r:id="rId9"/>
    <p:sldMasterId id="2147483659" r:id="rId10"/>
    <p:sldMasterId id="2147483661" r:id="rId11"/>
    <p:sldMasterId id="2147483663" r:id="rId12"/>
    <p:sldMasterId id="2147483665" r:id="rId13"/>
    <p:sldMasterId id="2147483667"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Lst>
  <p:sldSz cy="6858000" cx="9144000"/>
  <p:notesSz cx="6858000" cy="9144000"/>
  <p:embeddedFontLst>
    <p:embeddedFont>
      <p:font typeface="Tahoma"/>
      <p:regular r:id="rId91"/>
      <p:bold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3" roundtripDataSignature="AMtx7mg5XZAZrjaxHDniXw2jr5oEkYYa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D5217D-7989-4123-8A4E-5E50DADE823D}">
  <a:tblStyle styleId="{31D5217D-7989-4123-8A4E-5E50DADE823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5.xml"/><Relationship Id="rId84" Type="http://schemas.openxmlformats.org/officeDocument/2006/relationships/slide" Target="slides/slide69.xml"/><Relationship Id="rId83" Type="http://schemas.openxmlformats.org/officeDocument/2006/relationships/slide" Target="slides/slide68.xml"/><Relationship Id="rId42" Type="http://schemas.openxmlformats.org/officeDocument/2006/relationships/slide" Target="slides/slide27.xml"/><Relationship Id="rId86" Type="http://schemas.openxmlformats.org/officeDocument/2006/relationships/slide" Target="slides/slide71.xml"/><Relationship Id="rId41" Type="http://schemas.openxmlformats.org/officeDocument/2006/relationships/slide" Target="slides/slide26.xml"/><Relationship Id="rId85" Type="http://schemas.openxmlformats.org/officeDocument/2006/relationships/slide" Target="slides/slide70.xml"/><Relationship Id="rId44" Type="http://schemas.openxmlformats.org/officeDocument/2006/relationships/slide" Target="slides/slide29.xml"/><Relationship Id="rId88" Type="http://schemas.openxmlformats.org/officeDocument/2006/relationships/slide" Target="slides/slide73.xml"/><Relationship Id="rId43" Type="http://schemas.openxmlformats.org/officeDocument/2006/relationships/slide" Target="slides/slide28.xml"/><Relationship Id="rId87" Type="http://schemas.openxmlformats.org/officeDocument/2006/relationships/slide" Target="slides/slide72.xml"/><Relationship Id="rId46" Type="http://schemas.openxmlformats.org/officeDocument/2006/relationships/slide" Target="slides/slide31.xml"/><Relationship Id="rId45" Type="http://schemas.openxmlformats.org/officeDocument/2006/relationships/slide" Target="slides/slide30.xml"/><Relationship Id="rId89" Type="http://schemas.openxmlformats.org/officeDocument/2006/relationships/slide" Target="slides/slide74.xml"/><Relationship Id="rId80" Type="http://schemas.openxmlformats.org/officeDocument/2006/relationships/slide" Target="slides/slide65.xml"/><Relationship Id="rId82" Type="http://schemas.openxmlformats.org/officeDocument/2006/relationships/slide" Target="slides/slide67.xml"/><Relationship Id="rId81" Type="http://schemas.openxmlformats.org/officeDocument/2006/relationships/slide" Target="slides/slide66.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3.xml"/><Relationship Id="rId47" Type="http://schemas.openxmlformats.org/officeDocument/2006/relationships/slide" Target="slides/slide32.xml"/><Relationship Id="rId49" Type="http://schemas.openxmlformats.org/officeDocument/2006/relationships/slide" Target="slides/slide3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58.xml"/><Relationship Id="rId72" Type="http://schemas.openxmlformats.org/officeDocument/2006/relationships/slide" Target="slides/slide57.xml"/><Relationship Id="rId31" Type="http://schemas.openxmlformats.org/officeDocument/2006/relationships/slide" Target="slides/slide16.xml"/><Relationship Id="rId75" Type="http://schemas.openxmlformats.org/officeDocument/2006/relationships/slide" Target="slides/slide60.xml"/><Relationship Id="rId30" Type="http://schemas.openxmlformats.org/officeDocument/2006/relationships/slide" Target="slides/slide15.xml"/><Relationship Id="rId74" Type="http://schemas.openxmlformats.org/officeDocument/2006/relationships/slide" Target="slides/slide59.xml"/><Relationship Id="rId33" Type="http://schemas.openxmlformats.org/officeDocument/2006/relationships/slide" Target="slides/slide18.xml"/><Relationship Id="rId77" Type="http://schemas.openxmlformats.org/officeDocument/2006/relationships/slide" Target="slides/slide62.xml"/><Relationship Id="rId32" Type="http://schemas.openxmlformats.org/officeDocument/2006/relationships/slide" Target="slides/slide17.xml"/><Relationship Id="rId76" Type="http://schemas.openxmlformats.org/officeDocument/2006/relationships/slide" Target="slides/slide61.xml"/><Relationship Id="rId35" Type="http://schemas.openxmlformats.org/officeDocument/2006/relationships/slide" Target="slides/slide20.xml"/><Relationship Id="rId79" Type="http://schemas.openxmlformats.org/officeDocument/2006/relationships/slide" Target="slides/slide64.xml"/><Relationship Id="rId34" Type="http://schemas.openxmlformats.org/officeDocument/2006/relationships/slide" Target="slides/slide19.xml"/><Relationship Id="rId78" Type="http://schemas.openxmlformats.org/officeDocument/2006/relationships/slide" Target="slides/slide63.xml"/><Relationship Id="rId71" Type="http://schemas.openxmlformats.org/officeDocument/2006/relationships/slide" Target="slides/slide56.xml"/><Relationship Id="rId70" Type="http://schemas.openxmlformats.org/officeDocument/2006/relationships/slide" Target="slides/slide55.xml"/><Relationship Id="rId37" Type="http://schemas.openxmlformats.org/officeDocument/2006/relationships/slide" Target="slides/slide22.xml"/><Relationship Id="rId36" Type="http://schemas.openxmlformats.org/officeDocument/2006/relationships/slide" Target="slides/slide21.xml"/><Relationship Id="rId39" Type="http://schemas.openxmlformats.org/officeDocument/2006/relationships/slide" Target="slides/slide24.xml"/><Relationship Id="rId38" Type="http://schemas.openxmlformats.org/officeDocument/2006/relationships/slide" Target="slides/slide23.xml"/><Relationship Id="rId62" Type="http://schemas.openxmlformats.org/officeDocument/2006/relationships/slide" Target="slides/slide47.xml"/><Relationship Id="rId61" Type="http://schemas.openxmlformats.org/officeDocument/2006/relationships/slide" Target="slides/slide46.xml"/><Relationship Id="rId20" Type="http://schemas.openxmlformats.org/officeDocument/2006/relationships/slide" Target="slides/slide5.xml"/><Relationship Id="rId64" Type="http://schemas.openxmlformats.org/officeDocument/2006/relationships/slide" Target="slides/slide49.xml"/><Relationship Id="rId63" Type="http://schemas.openxmlformats.org/officeDocument/2006/relationships/slide" Target="slides/slide48.xml"/><Relationship Id="rId22" Type="http://schemas.openxmlformats.org/officeDocument/2006/relationships/slide" Target="slides/slide7.xml"/><Relationship Id="rId66" Type="http://schemas.openxmlformats.org/officeDocument/2006/relationships/slide" Target="slides/slide51.xml"/><Relationship Id="rId21" Type="http://schemas.openxmlformats.org/officeDocument/2006/relationships/slide" Target="slides/slide6.xml"/><Relationship Id="rId65" Type="http://schemas.openxmlformats.org/officeDocument/2006/relationships/slide" Target="slides/slide50.xml"/><Relationship Id="rId24" Type="http://schemas.openxmlformats.org/officeDocument/2006/relationships/slide" Target="slides/slide9.xml"/><Relationship Id="rId68" Type="http://schemas.openxmlformats.org/officeDocument/2006/relationships/slide" Target="slides/slide53.xml"/><Relationship Id="rId23" Type="http://schemas.openxmlformats.org/officeDocument/2006/relationships/slide" Target="slides/slide8.xml"/><Relationship Id="rId67" Type="http://schemas.openxmlformats.org/officeDocument/2006/relationships/slide" Target="slides/slide52.xml"/><Relationship Id="rId60" Type="http://schemas.openxmlformats.org/officeDocument/2006/relationships/slide" Target="slides/slide45.xml"/><Relationship Id="rId26" Type="http://schemas.openxmlformats.org/officeDocument/2006/relationships/slide" Target="slides/slide11.xml"/><Relationship Id="rId25" Type="http://schemas.openxmlformats.org/officeDocument/2006/relationships/slide" Target="slides/slide10.xml"/><Relationship Id="rId69" Type="http://schemas.openxmlformats.org/officeDocument/2006/relationships/slide" Target="slides/slide54.xml"/><Relationship Id="rId28" Type="http://schemas.openxmlformats.org/officeDocument/2006/relationships/slide" Target="slides/slide13.xml"/><Relationship Id="rId27" Type="http://schemas.openxmlformats.org/officeDocument/2006/relationships/slide" Target="slides/slide12.xml"/><Relationship Id="rId29" Type="http://schemas.openxmlformats.org/officeDocument/2006/relationships/slide" Target="slides/slide14.xml"/><Relationship Id="rId51" Type="http://schemas.openxmlformats.org/officeDocument/2006/relationships/slide" Target="slides/slide36.xml"/><Relationship Id="rId50" Type="http://schemas.openxmlformats.org/officeDocument/2006/relationships/slide" Target="slides/slide35.xml"/><Relationship Id="rId53" Type="http://schemas.openxmlformats.org/officeDocument/2006/relationships/slide" Target="slides/slide38.xml"/><Relationship Id="rId52" Type="http://schemas.openxmlformats.org/officeDocument/2006/relationships/slide" Target="slides/slide37.xml"/><Relationship Id="rId11" Type="http://schemas.openxmlformats.org/officeDocument/2006/relationships/slideMaster" Target="slideMasters/slideMaster7.xml"/><Relationship Id="rId55" Type="http://schemas.openxmlformats.org/officeDocument/2006/relationships/slide" Target="slides/slide40.xml"/><Relationship Id="rId10" Type="http://schemas.openxmlformats.org/officeDocument/2006/relationships/slideMaster" Target="slideMasters/slideMaster6.xml"/><Relationship Id="rId54" Type="http://schemas.openxmlformats.org/officeDocument/2006/relationships/slide" Target="slides/slide39.xml"/><Relationship Id="rId13" Type="http://schemas.openxmlformats.org/officeDocument/2006/relationships/slideMaster" Target="slideMasters/slideMaster9.xml"/><Relationship Id="rId57" Type="http://schemas.openxmlformats.org/officeDocument/2006/relationships/slide" Target="slides/slide42.xml"/><Relationship Id="rId12" Type="http://schemas.openxmlformats.org/officeDocument/2006/relationships/slideMaster" Target="slideMasters/slideMaster8.xml"/><Relationship Id="rId56" Type="http://schemas.openxmlformats.org/officeDocument/2006/relationships/slide" Target="slides/slide41.xml"/><Relationship Id="rId91" Type="http://schemas.openxmlformats.org/officeDocument/2006/relationships/font" Target="fonts/Tahoma-regular.fntdata"/><Relationship Id="rId90" Type="http://schemas.openxmlformats.org/officeDocument/2006/relationships/slide" Target="slides/slide75.xml"/><Relationship Id="rId93" Type="http://customschemas.google.com/relationships/presentationmetadata" Target="metadata"/><Relationship Id="rId92" Type="http://schemas.openxmlformats.org/officeDocument/2006/relationships/font" Target="fonts/Tahoma-bold.fntdata"/><Relationship Id="rId15" Type="http://schemas.openxmlformats.org/officeDocument/2006/relationships/notesMaster" Target="notesMasters/notesMaster1.xml"/><Relationship Id="rId59" Type="http://schemas.openxmlformats.org/officeDocument/2006/relationships/slide" Target="slides/slide44.xml"/><Relationship Id="rId14" Type="http://schemas.openxmlformats.org/officeDocument/2006/relationships/slideMaster" Target="slideMasters/slideMaster10.xml"/><Relationship Id="rId58" Type="http://schemas.openxmlformats.org/officeDocument/2006/relationships/slide" Target="slides/slide43.xml"/><Relationship Id="rId17" Type="http://schemas.openxmlformats.org/officeDocument/2006/relationships/slide" Target="slides/slide2.xml"/><Relationship Id="rId16" Type="http://schemas.openxmlformats.org/officeDocument/2006/relationships/slide" Target="slides/slide1.xml"/><Relationship Id="rId19" Type="http://schemas.openxmlformats.org/officeDocument/2006/relationships/slide" Target="slides/slide4.xml"/><Relationship Id="rId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6" name="Google Shape;15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7" name="Google Shape;16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6" name="Google Shape;79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4" name="Google Shape;101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9" name="Google Shape;1039;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 name="Google Shape;1057;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7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79"/>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79"/>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79"/>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1" name="Shape 41"/>
        <p:cNvGrpSpPr/>
        <p:nvPr/>
      </p:nvGrpSpPr>
      <p:grpSpPr>
        <a:xfrm>
          <a:off x="0" y="0"/>
          <a:ext cx="0" cy="0"/>
          <a:chOff x="0" y="0"/>
          <a:chExt cx="0" cy="0"/>
        </a:xfrm>
      </p:grpSpPr>
      <p:sp>
        <p:nvSpPr>
          <p:cNvPr id="42" name="Google Shape;42;p8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1"/>
          <p:cNvSpPr/>
          <p:nvPr>
            <p:ph idx="2" type="pic"/>
          </p:nvPr>
        </p:nvSpPr>
        <p:spPr>
          <a:xfrm>
            <a:off x="1792288" y="612775"/>
            <a:ext cx="5486400" cy="4114800"/>
          </a:xfrm>
          <a:prstGeom prst="rect">
            <a:avLst/>
          </a:prstGeom>
          <a:noFill/>
          <a:ln>
            <a:noFill/>
          </a:ln>
        </p:spPr>
      </p:sp>
      <p:sp>
        <p:nvSpPr>
          <p:cNvPr id="44" name="Google Shape;44;p8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5" name="Google Shape;45;p81"/>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81"/>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1"/>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82"/>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2"/>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2"/>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8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2000"/>
              <a:buNone/>
              <a:defRPr sz="2000"/>
            </a:lvl1pPr>
            <a:lvl2pPr indent="-228600" lvl="1" marL="914400" algn="l">
              <a:spcBef>
                <a:spcPts val="360"/>
              </a:spcBef>
              <a:spcAft>
                <a:spcPts val="0"/>
              </a:spcAft>
              <a:buSzPts val="1800"/>
              <a:buNone/>
              <a:defRPr sz="1800"/>
            </a:lvl2pPr>
            <a:lvl3pPr indent="-228600" lvl="2" marL="1371600" algn="l">
              <a:spcBef>
                <a:spcPts val="320"/>
              </a:spcBef>
              <a:spcAft>
                <a:spcPts val="0"/>
              </a:spcAft>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64" name="Google Shape;64;p84"/>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4"/>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86"/>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86"/>
          <p:cNvSpPr txBox="1"/>
          <p:nvPr>
            <p:ph idx="1" type="body"/>
          </p:nvPr>
        </p:nvSpPr>
        <p:spPr>
          <a:xfrm>
            <a:off x="457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8" name="Google Shape;78;p86"/>
          <p:cNvSpPr txBox="1"/>
          <p:nvPr>
            <p:ph idx="2" type="body"/>
          </p:nvPr>
        </p:nvSpPr>
        <p:spPr>
          <a:xfrm>
            <a:off x="4648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9" name="Google Shape;79;p86"/>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86"/>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 name="Shape 90"/>
        <p:cNvGrpSpPr/>
        <p:nvPr/>
      </p:nvGrpSpPr>
      <p:grpSpPr>
        <a:xfrm>
          <a:off x="0" y="0"/>
          <a:ext cx="0" cy="0"/>
          <a:chOff x="0" y="0"/>
          <a:chExt cx="0" cy="0"/>
        </a:xfrm>
      </p:grpSpPr>
      <p:sp>
        <p:nvSpPr>
          <p:cNvPr id="91" name="Google Shape;91;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8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93" name="Google Shape;93;p8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94" name="Google Shape;94;p8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95" name="Google Shape;95;p8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96" name="Google Shape;96;p88"/>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88"/>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9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90"/>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90"/>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0" name="Shape 120"/>
        <p:cNvGrpSpPr/>
        <p:nvPr/>
      </p:nvGrpSpPr>
      <p:grpSpPr>
        <a:xfrm>
          <a:off x="0" y="0"/>
          <a:ext cx="0" cy="0"/>
          <a:chOff x="0" y="0"/>
          <a:chExt cx="0" cy="0"/>
        </a:xfrm>
      </p:grpSpPr>
      <p:sp>
        <p:nvSpPr>
          <p:cNvPr id="121" name="Google Shape;121;p9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9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123" name="Google Shape;123;p9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24" name="Google Shape;124;p92"/>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92"/>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94"/>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7" name="Google Shape;137;p94"/>
          <p:cNvSpPr txBox="1"/>
          <p:nvPr>
            <p:ph idx="1" type="body"/>
          </p:nvPr>
        </p:nvSpPr>
        <p:spPr>
          <a:xfrm rot="5400000">
            <a:off x="1947863" y="-414337"/>
            <a:ext cx="5248275"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8" name="Google Shape;138;p94"/>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94"/>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96"/>
          <p:cNvSpPr txBox="1"/>
          <p:nvPr>
            <p:ph type="title"/>
          </p:nvPr>
        </p:nvSpPr>
        <p:spPr>
          <a:xfrm rot="5400000">
            <a:off x="4655344" y="2293144"/>
            <a:ext cx="600551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1" name="Google Shape;151;p96"/>
          <p:cNvSpPr txBox="1"/>
          <p:nvPr>
            <p:ph idx="1" type="body"/>
          </p:nvPr>
        </p:nvSpPr>
        <p:spPr>
          <a:xfrm rot="5400000">
            <a:off x="464344" y="311944"/>
            <a:ext cx="600551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96"/>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96"/>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6.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8.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9.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4.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descr="Light horizontal" id="10" name="Google Shape;10;p76"/>
          <p:cNvSpPr txBox="1"/>
          <p:nvPr/>
        </p:nvSpPr>
        <p:spPr>
          <a:xfrm>
            <a:off x="9525" y="0"/>
            <a:ext cx="14732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76"/>
          <p:cNvSpPr txBox="1"/>
          <p:nvPr/>
        </p:nvSpPr>
        <p:spPr>
          <a:xfrm>
            <a:off x="0" y="2133600"/>
            <a:ext cx="9153525" cy="117951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76"/>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3" name="Google Shape;13;p76"/>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4" name="Google Shape;14;p76"/>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descr="Light horizontal" id="17" name="Google Shape;17;p78"/>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 name="Google Shape;18;p78"/>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 name="Google Shape;19;p78"/>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 name="Google Shape;20;p78"/>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21" name="Google Shape;21;p78"/>
          <p:cNvSpPr txBox="1"/>
          <p:nvPr/>
        </p:nvSpPr>
        <p:spPr>
          <a:xfrm rot="-5400000">
            <a:off x="-1834356" y="3199606"/>
            <a:ext cx="40386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KIỂM THỬ PHẦN MỀ PHẦN MỀM</a:t>
            </a:r>
            <a:endParaRPr/>
          </a:p>
        </p:txBody>
      </p:sp>
      <p:sp>
        <p:nvSpPr>
          <p:cNvPr id="22" name="Google Shape;22;p78"/>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3" name="Google Shape;23;p78"/>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24" name="Google Shape;24;p78"/>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78"/>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
        <p:nvSpPr>
          <p:cNvPr descr="Light horizontal" id="32" name="Google Shape;32;p80"/>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 name="Google Shape;33;p80"/>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80"/>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 name="Google Shape;35;p80"/>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6" name="Google Shape;36;p80"/>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7" name="Google Shape;37;p80"/>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80"/>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
        <p:nvSpPr>
          <p:cNvPr id="39" name="Google Shape;39;p8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40" name="Google Shape;40;p80"/>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descr="Light horizontal" id="53" name="Google Shape;53;p83"/>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 name="Google Shape;54;p83"/>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 name="Google Shape;55;p83"/>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 name="Google Shape;56;p83"/>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57" name="Google Shape;57;p83"/>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8" name="Google Shape;58;p83"/>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59" name="Google Shape;59;p83"/>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0" name="Google Shape;60;p83"/>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descr="Light horizontal" id="67" name="Google Shape;67;p85"/>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 name="Google Shape;68;p85"/>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 name="Google Shape;69;p85"/>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 name="Google Shape;70;p85"/>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71" name="Google Shape;71;p85"/>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2" name="Google Shape;72;p8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73" name="Google Shape;73;p85"/>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4" name="Google Shape;74;p85"/>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descr="Light horizontal" id="82" name="Google Shape;82;p87"/>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 name="Google Shape;83;p87"/>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 name="Google Shape;84;p87"/>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 name="Google Shape;85;p87"/>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86" name="Google Shape;86;p87"/>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7" name="Google Shape;87;p87"/>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88" name="Google Shape;88;p87"/>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p87"/>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descr="Light horizontal" id="99" name="Google Shape;99;p89"/>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 name="Google Shape;100;p89"/>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 name="Google Shape;101;p89"/>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 name="Google Shape;102;p89"/>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03" name="Google Shape;103;p89"/>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4" name="Google Shape;104;p8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105" name="Google Shape;105;p89"/>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 name="Google Shape;106;p89"/>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descr="Light horizontal" id="112" name="Google Shape;112;p91"/>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3" name="Google Shape;113;p91"/>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 name="Google Shape;114;p91"/>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 name="Google Shape;115;p91"/>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16" name="Google Shape;116;p91"/>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17" name="Google Shape;117;p91"/>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118" name="Google Shape;118;p91"/>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9" name="Google Shape;119;p91"/>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descr="Light horizontal" id="127" name="Google Shape;127;p93"/>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 name="Google Shape;128;p93"/>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 name="Google Shape;129;p93"/>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 name="Google Shape;130;p93"/>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31" name="Google Shape;131;p93"/>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32" name="Google Shape;132;p93"/>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133" name="Google Shape;133;p93"/>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4" name="Google Shape;134;p93"/>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descr="Light horizontal" id="141" name="Google Shape;141;p95"/>
          <p:cNvSpPr txBox="1"/>
          <p:nvPr/>
        </p:nvSpPr>
        <p:spPr>
          <a:xfrm>
            <a:off x="-9525" y="0"/>
            <a:ext cx="48101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 name="Google Shape;142;p95"/>
          <p:cNvSpPr txBox="1"/>
          <p:nvPr/>
        </p:nvSpPr>
        <p:spPr>
          <a:xfrm>
            <a:off x="0" y="0"/>
            <a:ext cx="9153525"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3" name="Google Shape;143;p95"/>
          <p:cNvSpPr/>
          <p:nvPr/>
        </p:nvSpPr>
        <p:spPr>
          <a:xfrm>
            <a:off x="304800" y="288925"/>
            <a:ext cx="7670800" cy="644525"/>
          </a:xfrm>
          <a:prstGeom prst="roundRect">
            <a:avLst>
              <a:gd fmla="val 16667" name="adj"/>
            </a:avLst>
          </a:prstGeom>
          <a:solidFill>
            <a:schemeClr val="dk1"/>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4" name="Google Shape;144;p95"/>
          <p:cNvSpPr/>
          <p:nvPr/>
        </p:nvSpPr>
        <p:spPr>
          <a:xfrm>
            <a:off x="79375" y="6400800"/>
            <a:ext cx="365125" cy="365125"/>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fld id="{00000000-1234-1234-1234-123412341234}" type="slidenum">
              <a:rPr b="0" i="0" lang="en-US" sz="1600" u="none">
                <a:solidFill>
                  <a:schemeClr val="lt1"/>
                </a:solidFill>
                <a:latin typeface="Arial"/>
                <a:ea typeface="Arial"/>
                <a:cs typeface="Arial"/>
                <a:sym typeface="Arial"/>
              </a:rPr>
              <a:t>‹#›</a:t>
            </a:fld>
            <a:endParaRPr/>
          </a:p>
        </p:txBody>
      </p:sp>
      <p:sp>
        <p:nvSpPr>
          <p:cNvPr id="145" name="Google Shape;145;p95"/>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hlink"/>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46" name="Google Shape;146;p9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chemeClr val="lt1"/>
                </a:solidFill>
                <a:latin typeface="Arial"/>
                <a:ea typeface="Arial"/>
                <a:cs typeface="Arial"/>
                <a:sym typeface="Arial"/>
              </a:defRPr>
            </a:lvl9pPr>
          </a:lstStyle>
          <a:p/>
        </p:txBody>
      </p:sp>
      <p:sp>
        <p:nvSpPr>
          <p:cNvPr id="147" name="Google Shape;147;p95"/>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8" name="Google Shape;148;p95"/>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
          <p:cNvSpPr txBox="1"/>
          <p:nvPr/>
        </p:nvSpPr>
        <p:spPr>
          <a:xfrm>
            <a:off x="0" y="2514600"/>
            <a:ext cx="9144000" cy="6096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lt1"/>
              </a:buClr>
              <a:buSzPts val="4000"/>
              <a:buFont typeface="Arial"/>
              <a:buNone/>
            </a:pPr>
            <a:r>
              <a:rPr b="1" i="0" lang="en-US" sz="4000" u="none">
                <a:solidFill>
                  <a:schemeClr val="lt1"/>
                </a:solidFill>
                <a:latin typeface="Arial"/>
                <a:ea typeface="Arial"/>
                <a:cs typeface="Arial"/>
                <a:sym typeface="Arial"/>
              </a:rPr>
              <a:t>THIẾT KẾ TEST CASE BLACKBOX</a:t>
            </a:r>
            <a:endParaRPr/>
          </a:p>
        </p:txBody>
      </p:sp>
      <p:sp>
        <p:nvSpPr>
          <p:cNvPr id="160" name="Google Shape;160;p1"/>
          <p:cNvSpPr txBox="1"/>
          <p:nvPr/>
        </p:nvSpPr>
        <p:spPr>
          <a:xfrm>
            <a:off x="76200" y="2190750"/>
            <a:ext cx="11080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Bài  4:</a:t>
            </a:r>
            <a:endParaRPr/>
          </a:p>
        </p:txBody>
      </p:sp>
      <p:sp>
        <p:nvSpPr>
          <p:cNvPr id="161" name="Google Shape;161;p1"/>
          <p:cNvSpPr txBox="1"/>
          <p:nvPr/>
        </p:nvSpPr>
        <p:spPr>
          <a:xfrm>
            <a:off x="6965950" y="3352800"/>
            <a:ext cx="21717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Arial"/>
              <a:buNone/>
            </a:pPr>
            <a:r>
              <a:rPr b="1" i="0" lang="en-US" sz="2000" u="none">
                <a:solidFill>
                  <a:srgbClr val="C00000"/>
                </a:solidFill>
                <a:latin typeface="Arial"/>
                <a:ea typeface="Arial"/>
                <a:cs typeface="Arial"/>
                <a:sym typeface="Arial"/>
              </a:rPr>
              <a:t>Thời gian: 6  tiết</a:t>
            </a:r>
            <a:endParaRPr/>
          </a:p>
        </p:txBody>
      </p:sp>
      <p:pic>
        <p:nvPicPr>
          <p:cNvPr id="162" name="Google Shape;162;p1"/>
          <p:cNvPicPr preferRelativeResize="0"/>
          <p:nvPr/>
        </p:nvPicPr>
        <p:blipFill rotWithShape="1">
          <a:blip r:embed="rId3">
            <a:alphaModFix/>
          </a:blip>
          <a:srcRect b="0" l="0" r="0" t="0"/>
          <a:stretch/>
        </p:blipFill>
        <p:spPr>
          <a:xfrm>
            <a:off x="36512" y="0"/>
            <a:ext cx="3781425" cy="1209675"/>
          </a:xfrm>
          <a:prstGeom prst="rect">
            <a:avLst/>
          </a:prstGeom>
          <a:noFill/>
          <a:ln>
            <a:noFill/>
          </a:ln>
        </p:spPr>
      </p:pic>
      <p:sp>
        <p:nvSpPr>
          <p:cNvPr id="163" name="Google Shape;163;p1"/>
          <p:cNvSpPr txBox="1"/>
          <p:nvPr/>
        </p:nvSpPr>
        <p:spPr>
          <a:xfrm>
            <a:off x="0" y="1371600"/>
            <a:ext cx="9144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0000"/>
              </a:buClr>
              <a:buSzPts val="4000"/>
              <a:buFont typeface="Arial"/>
              <a:buNone/>
            </a:pPr>
            <a:r>
              <a:rPr b="1" i="0" lang="en-US" sz="4000" u="none">
                <a:solidFill>
                  <a:srgbClr val="FF0000"/>
                </a:solidFill>
                <a:latin typeface="Arial"/>
                <a:ea typeface="Arial"/>
                <a:cs typeface="Arial"/>
                <a:sym typeface="Arial"/>
              </a:rPr>
              <a:t>KIỂM THỬ PHẦN MỀM</a:t>
            </a:r>
            <a:endParaRPr/>
          </a:p>
        </p:txBody>
      </p:sp>
      <p:pic>
        <p:nvPicPr>
          <p:cNvPr id="164" name="Google Shape;164;p1"/>
          <p:cNvPicPr preferRelativeResize="0"/>
          <p:nvPr/>
        </p:nvPicPr>
        <p:blipFill rotWithShape="1">
          <a:blip r:embed="rId4">
            <a:alphaModFix/>
          </a:blip>
          <a:srcRect b="0" l="0" r="0" t="0"/>
          <a:stretch/>
        </p:blipFill>
        <p:spPr>
          <a:xfrm>
            <a:off x="1966912" y="3898900"/>
            <a:ext cx="5348287" cy="27670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NỘI DUNG</a:t>
            </a:r>
            <a:endParaRPr/>
          </a:p>
        </p:txBody>
      </p:sp>
      <p:sp>
        <p:nvSpPr>
          <p:cNvPr id="171" name="Google Shape;171;p2"/>
          <p:cNvSpPr txBox="1"/>
          <p:nvPr>
            <p:ph idx="1" type="body"/>
          </p:nvPr>
        </p:nvSpPr>
        <p:spPr>
          <a:xfrm>
            <a:off x="609600" y="1076325"/>
            <a:ext cx="8229600" cy="524827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4.1. Tổng quan kiểm thử hộp đen.</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4.2. Quy trình kiểm thử hộp đen.</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4.3. Các kỹ thuật kiểm thử hộp đen.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vùng tương đương.</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tích giá trị biên.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Bảng quyết định.</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Dịch chuyển trạng thái.</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4.4. Một số loại kiểm thử hộp đen.</a:t>
            </a:r>
            <a:endParaRPr/>
          </a:p>
        </p:txBody>
      </p:sp>
      <p:sp>
        <p:nvSpPr>
          <p:cNvPr id="172" name="Google Shape;172;p2"/>
          <p:cNvSpPr txBox="1"/>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txBox="1"/>
          <p:nvPr>
            <p:ph type="title"/>
          </p:nvPr>
        </p:nvSpPr>
        <p:spPr>
          <a:xfrm>
            <a:off x="381000" y="319087"/>
            <a:ext cx="7772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4.1. TỔNG QUAN KIỂM THỬ HỘP ĐEN</a:t>
            </a:r>
            <a:endParaRPr/>
          </a:p>
        </p:txBody>
      </p:sp>
      <p:sp>
        <p:nvSpPr>
          <p:cNvPr id="178" name="Google Shape;178;p3"/>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Kiểm thử hộp đen (black-box testing) còn gọi kiểm thử </a:t>
            </a:r>
            <a:r>
              <a:rPr b="1" i="0" lang="en-US" sz="2400" u="none" cap="none" strike="noStrike">
                <a:solidFill>
                  <a:srgbClr val="C00000"/>
                </a:solidFill>
                <a:latin typeface="Arial"/>
                <a:ea typeface="Arial"/>
                <a:cs typeface="Arial"/>
                <a:sym typeface="Arial"/>
              </a:rPr>
              <a:t>dựa trên đặc tả </a:t>
            </a:r>
            <a:r>
              <a:rPr b="0" i="0" lang="en-US" sz="2400" u="none" cap="none" strike="noStrike">
                <a:solidFill>
                  <a:schemeClr val="dk1"/>
                </a:solidFill>
                <a:latin typeface="Arial"/>
                <a:ea typeface="Arial"/>
                <a:cs typeface="Arial"/>
                <a:sym typeface="Arial"/>
              </a:rPr>
              <a:t>(specification-based testing) vì thông tin duy nhất làm cơ sở để kiểm thử hộp đen là bảng đặc tả yêu cầu chức năng của từng thành phần phần mềm.</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Tester tập trung vào những gì phần mềm làm được (</a:t>
            </a:r>
            <a:r>
              <a:rPr b="1" i="0" lang="en-US" sz="2400" u="none" cap="none" strike="noStrike">
                <a:solidFill>
                  <a:srgbClr val="C00000"/>
                </a:solidFill>
                <a:latin typeface="Arial"/>
                <a:ea typeface="Arial"/>
                <a:cs typeface="Arial"/>
                <a:sym typeface="Arial"/>
              </a:rPr>
              <a:t>WHAT</a:t>
            </a:r>
            <a:r>
              <a:rPr b="0" i="0" lang="en-US" sz="2400" u="none" cap="none" strike="noStrike">
                <a:solidFill>
                  <a:schemeClr val="dk1"/>
                </a:solidFill>
                <a:latin typeface="Arial"/>
                <a:ea typeface="Arial"/>
                <a:cs typeface="Arial"/>
                <a:sym typeface="Arial"/>
              </a:rPr>
              <a:t>), không quan tâm nó làm như thế nào (HOW).</a:t>
            </a:r>
            <a:endParaRPr/>
          </a:p>
        </p:txBody>
      </p:sp>
      <p:sp>
        <p:nvSpPr>
          <p:cNvPr id="179" name="Google Shape;179;p3"/>
          <p:cNvSpPr txBox="1"/>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80" name="Google Shape;180;p3"/>
          <p:cNvSpPr/>
          <p:nvPr/>
        </p:nvSpPr>
        <p:spPr>
          <a:xfrm>
            <a:off x="4146550" y="4692650"/>
            <a:ext cx="1782762" cy="1446212"/>
          </a:xfrm>
          <a:prstGeom prst="cube">
            <a:avLst>
              <a:gd fmla="val 25000" name="adj"/>
            </a:avLst>
          </a:prstGeom>
          <a:solidFill>
            <a:schemeClr val="dk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1" name="Google Shape;181;p3"/>
          <p:cNvSpPr txBox="1"/>
          <p:nvPr/>
        </p:nvSpPr>
        <p:spPr>
          <a:xfrm>
            <a:off x="1757362" y="5372100"/>
            <a:ext cx="1217612"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Tahoma"/>
              <a:buNone/>
            </a:pPr>
            <a:r>
              <a:rPr b="0" i="0" lang="en-US" sz="2200" u="none">
                <a:solidFill>
                  <a:schemeClr val="dk1"/>
                </a:solidFill>
                <a:latin typeface="Tahoma"/>
                <a:ea typeface="Tahoma"/>
                <a:cs typeface="Tahoma"/>
                <a:sym typeface="Tahoma"/>
              </a:rPr>
              <a:t>Đầu vào</a:t>
            </a:r>
            <a:endParaRPr/>
          </a:p>
        </p:txBody>
      </p:sp>
      <p:sp>
        <p:nvSpPr>
          <p:cNvPr id="182" name="Google Shape;182;p3"/>
          <p:cNvSpPr txBox="1"/>
          <p:nvPr/>
        </p:nvSpPr>
        <p:spPr>
          <a:xfrm>
            <a:off x="6886575" y="5372100"/>
            <a:ext cx="1017587"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Tahoma"/>
              <a:buNone/>
            </a:pPr>
            <a:r>
              <a:rPr b="0" i="0" lang="en-US" sz="2200" u="none">
                <a:solidFill>
                  <a:schemeClr val="dk1"/>
                </a:solidFill>
                <a:latin typeface="Tahoma"/>
                <a:ea typeface="Tahoma"/>
                <a:cs typeface="Tahoma"/>
                <a:sym typeface="Tahoma"/>
              </a:rPr>
              <a:t>Đầu ra</a:t>
            </a:r>
            <a:endParaRPr/>
          </a:p>
        </p:txBody>
      </p:sp>
      <p:cxnSp>
        <p:nvCxnSpPr>
          <p:cNvPr id="183" name="Google Shape;183;p3"/>
          <p:cNvCxnSpPr/>
          <p:nvPr/>
        </p:nvCxnSpPr>
        <p:spPr>
          <a:xfrm>
            <a:off x="2974975" y="5588000"/>
            <a:ext cx="1171575" cy="7937"/>
          </a:xfrm>
          <a:prstGeom prst="straightConnector1">
            <a:avLst/>
          </a:prstGeom>
          <a:noFill/>
          <a:ln cap="flat" cmpd="sng" w="28575">
            <a:solidFill>
              <a:schemeClr val="dk1"/>
            </a:solidFill>
            <a:prstDash val="solid"/>
            <a:miter lim="800000"/>
            <a:headEnd len="med" w="med" type="none"/>
            <a:tailEnd len="med" w="med" type="stealth"/>
          </a:ln>
        </p:spPr>
      </p:cxnSp>
      <p:cxnSp>
        <p:nvCxnSpPr>
          <p:cNvPr id="184" name="Google Shape;184;p3"/>
          <p:cNvCxnSpPr/>
          <p:nvPr/>
        </p:nvCxnSpPr>
        <p:spPr>
          <a:xfrm>
            <a:off x="5715000" y="5584825"/>
            <a:ext cx="1171575" cy="3175"/>
          </a:xfrm>
          <a:prstGeom prst="straightConnector1">
            <a:avLst/>
          </a:prstGeom>
          <a:noFill/>
          <a:ln cap="flat" cmpd="sng" w="28575">
            <a:solidFill>
              <a:schemeClr val="dk1"/>
            </a:solidFill>
            <a:prstDash val="solid"/>
            <a:miter lim="800000"/>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500"/>
                                        <p:tgtEl>
                                          <p:spTgt spid="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Effect filter="fade" transition="in">
                                      <p:cBhvr>
                                        <p:cTn dur="500"/>
                                        <p:tgtEl>
                                          <p:spTgt spid="178">
                                            <p:txEl>
                                              <p:pRg end="1" st="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
          <p:cNvSpPr txBox="1"/>
          <p:nvPr>
            <p:ph idx="1" type="body"/>
          </p:nvPr>
        </p:nvSpPr>
        <p:spPr>
          <a:xfrm>
            <a:off x="457200" y="990600"/>
            <a:ext cx="8382000" cy="57816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Ưu điểm</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Không cần truy cập mã nguồn.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Tách biệt khung nhìn của user và developer.</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Nhiều người có thể tham gia test.</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Khuyết điểm</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Kiểm thử không có hiệu quả cao.</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Khó thiết kế test case.</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Khó kiểm thử phủ được hết các trường hợp.</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Không có định hướng kiểm thử rõ ràng.</a:t>
            </a:r>
            <a:endParaRPr/>
          </a:p>
        </p:txBody>
      </p:sp>
      <p:sp>
        <p:nvSpPr>
          <p:cNvPr id="190" name="Google Shape;190;p4"/>
          <p:cNvSpPr txBox="1"/>
          <p:nvPr>
            <p:ph type="title"/>
          </p:nvPr>
        </p:nvSpPr>
        <p:spPr>
          <a:xfrm>
            <a:off x="381000" y="319087"/>
            <a:ext cx="7772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4.1. TỔNG QUAN KIỂM THỬ HỘP ĐEN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5"/>
          <p:cNvSpPr txBox="1"/>
          <p:nvPr>
            <p:ph type="title"/>
          </p:nvPr>
        </p:nvSpPr>
        <p:spPr>
          <a:xfrm>
            <a:off x="381000" y="304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4.2. QUY TRÌNH KIỂM THỬ HỘP ĐEN</a:t>
            </a:r>
            <a:endParaRPr/>
          </a:p>
        </p:txBody>
      </p:sp>
      <p:sp>
        <p:nvSpPr>
          <p:cNvPr id="196" name="Google Shape;196;p5"/>
          <p:cNvSpPr txBox="1"/>
          <p:nvPr>
            <p:ph idx="1" type="body"/>
          </p:nvPr>
        </p:nvSpPr>
        <p:spPr>
          <a:xfrm>
            <a:off x="990600" y="1295400"/>
            <a:ext cx="7924800" cy="44100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Phân tích các đặc tả chức năng của các thành phần phần mềm.</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Thiết kế test case để kiểm thử.</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Thực thi các test case để kiểm thử.</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So sánh kết quả đạt được với kết quả mong muốn trong từng test case.</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cap="none" strike="noStrike">
                <a:solidFill>
                  <a:schemeClr val="dk1"/>
                </a:solidFill>
                <a:latin typeface="Arial"/>
                <a:ea typeface="Arial"/>
                <a:cs typeface="Arial"/>
                <a:sym typeface="Arial"/>
              </a:rPr>
              <a:t>Lập báo cáo kết quả kiểm thử.</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animEffect filter="fade" transition="in">
                                      <p:cBhvr>
                                        <p:cTn dur="500"/>
                                        <p:tgtEl>
                                          <p:spTgt spid="1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animEffect filter="fade" transition="in">
                                      <p:cBhvr>
                                        <p:cTn dur="500"/>
                                        <p:tgtEl>
                                          <p:spTgt spid="1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animEffect filter="fade" transition="in">
                                      <p:cBhvr>
                                        <p:cTn dur="500"/>
                                        <p:tgtEl>
                                          <p:spTgt spid="1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animEffect filter="fade" transition="in">
                                      <p:cBhvr>
                                        <p:cTn dur="500"/>
                                        <p:tgtEl>
                                          <p:spTgt spid="19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609600" y="304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4.3. CÁC KỸ THUẬT KIỂM THỬ HỘP ĐEN</a:t>
            </a:r>
            <a:endParaRPr/>
          </a:p>
        </p:txBody>
      </p:sp>
      <p:sp>
        <p:nvSpPr>
          <p:cNvPr id="202" name="Google Shape;202;p6"/>
          <p:cNvSpPr txBox="1"/>
          <p:nvPr>
            <p:ph idx="1" type="body"/>
          </p:nvPr>
        </p:nvSpPr>
        <p:spPr>
          <a:xfrm>
            <a:off x="914400" y="1219200"/>
            <a:ext cx="7924800" cy="3800475"/>
          </a:xfrm>
          <a:prstGeom prst="rect">
            <a:avLst/>
          </a:prstGeom>
          <a:noFill/>
          <a:ln>
            <a:noFill/>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4.3.1. Phân vùng tương đương (Equivalence Partitioning hoặc Equivalence Class)</a:t>
            </a:r>
            <a:endParaRPr/>
          </a:p>
          <a:p>
            <a:pPr indent="0" lvl="0" marL="0" marR="0" rtl="0" algn="just">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4.3.2. Phân tích giá trị biên (Boundary Value Analysis)</a:t>
            </a:r>
            <a:endParaRPr/>
          </a:p>
          <a:p>
            <a:pPr indent="0" lvl="0" marL="0" marR="0" rtl="0" algn="just">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4.3.3. Bảng quyết định (Decision Tables hay còn gọi là Cause Effect)</a:t>
            </a:r>
            <a:endParaRPr/>
          </a:p>
          <a:p>
            <a:pPr indent="0" lvl="0" marL="0" marR="0" rtl="0" algn="just">
              <a:lnSpc>
                <a:spcPct val="150000"/>
              </a:lnSpc>
              <a:spcBef>
                <a:spcPts val="480"/>
              </a:spcBef>
              <a:spcAft>
                <a:spcPts val="0"/>
              </a:spcAft>
              <a:buClr>
                <a:schemeClr val="hlink"/>
              </a:buClr>
              <a:buSzPts val="2400"/>
              <a:buFont typeface="Noto Sans Symbols"/>
              <a:buNone/>
            </a:pPr>
            <a:r>
              <a:rPr b="0" i="0" lang="en-US" sz="2400" u="none" cap="none" strike="noStrike">
                <a:solidFill>
                  <a:schemeClr val="dk1"/>
                </a:solidFill>
                <a:latin typeface="Arial"/>
                <a:ea typeface="Arial"/>
                <a:cs typeface="Arial"/>
                <a:sym typeface="Arial"/>
              </a:rPr>
              <a:t>4.3.4. Dịch chuyển trạng thái (State Transition Testing)</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animEffect filter="fade" transition="in">
                                      <p:cBhvr>
                                        <p:cTn dur="500"/>
                                        <p:tgtEl>
                                          <p:spTgt spid="2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animEffect filter="fade" transition="in">
                                      <p:cBhvr>
                                        <p:cTn dur="500"/>
                                        <p:tgtEl>
                                          <p:spTgt spid="2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animEffect filter="fade" transition="in">
                                      <p:cBhvr>
                                        <p:cTn dur="500"/>
                                        <p:tgtEl>
                                          <p:spTgt spid="2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animEffect filter="fade" transition="in">
                                      <p:cBhvr>
                                        <p:cTn dur="500"/>
                                        <p:tgtEl>
                                          <p:spTgt spid="2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animEffect filter="fade" transition="in">
                                      <p:cBhvr>
                                        <p:cTn dur="500"/>
                                        <p:tgtEl>
                                          <p:spTgt spid="20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7"/>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
        <p:nvSpPr>
          <p:cNvPr id="208" name="Google Shape;208;p7"/>
          <p:cNvSpPr txBox="1"/>
          <p:nvPr>
            <p:ph idx="1" type="body"/>
          </p:nvPr>
        </p:nvSpPr>
        <p:spPr>
          <a:xfrm>
            <a:off x="914400" y="1219200"/>
            <a:ext cx="7848600" cy="2971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của kỹ thuật này nếu một </a:t>
            </a:r>
            <a:r>
              <a:rPr b="1" i="0" lang="en-US" sz="2400" u="none">
                <a:solidFill>
                  <a:srgbClr val="C00000"/>
                </a:solidFill>
                <a:latin typeface="Arial"/>
                <a:ea typeface="Arial"/>
                <a:cs typeface="Arial"/>
                <a:sym typeface="Arial"/>
              </a:rPr>
              <a:t>giá trị đại diện </a:t>
            </a:r>
            <a:r>
              <a:rPr b="0" i="0" lang="en-US" sz="2400" u="none">
                <a:solidFill>
                  <a:schemeClr val="dk1"/>
                </a:solidFill>
                <a:latin typeface="Arial"/>
                <a:ea typeface="Arial"/>
                <a:cs typeface="Arial"/>
                <a:sym typeface="Arial"/>
              </a:rPr>
              <a:t>trong nhóm đúng thì các giá trị còn lại trong nhóm cũng đúng và ngược lại.</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Phương pháp phù hợp cho các bài toán có giá trị đầu vào là một miền xác định.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5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500"/>
                                        <p:tgtEl>
                                          <p:spTgt spid="20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ph idx="1" type="body"/>
          </p:nvPr>
        </p:nvSpPr>
        <p:spPr>
          <a:xfrm>
            <a:off x="685800" y="1076325"/>
            <a:ext cx="8001000" cy="3800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Phân vùng tương đương (EP) là phân chia một tập các điều kiện kiểm thử thành các tập con có các giá trị tương đương nhau và kiểm thử các tập con này.</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Mục đích của EP là </a:t>
            </a:r>
            <a:r>
              <a:rPr b="1" i="0" lang="en-US" sz="2400" u="none">
                <a:solidFill>
                  <a:srgbClr val="C00000"/>
                </a:solidFill>
                <a:latin typeface="Arial"/>
                <a:ea typeface="Arial"/>
                <a:cs typeface="Arial"/>
                <a:sym typeface="Arial"/>
              </a:rPr>
              <a:t>giảm thiếu số lượng test case </a:t>
            </a:r>
            <a:r>
              <a:rPr b="0" i="0" lang="en-US" sz="2400" u="none">
                <a:solidFill>
                  <a:schemeClr val="dk1"/>
                </a:solidFill>
                <a:latin typeface="Arial"/>
                <a:ea typeface="Arial"/>
                <a:cs typeface="Arial"/>
                <a:sym typeface="Arial"/>
              </a:rPr>
              <a:t>không cần thiết khi kiểm thử.</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EP có thể áp dụng tất cả cấp độ kiểm thử.</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
        <p:nvSpPr>
          <p:cNvPr id="214" name="Google Shape;214;p8"/>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9"/>
          <p:cNvSpPr txBox="1"/>
          <p:nvPr>
            <p:ph idx="1" type="body"/>
          </p:nvPr>
        </p:nvSpPr>
        <p:spPr>
          <a:xfrm>
            <a:off x="457200" y="1076325"/>
            <a:ext cx="83820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Hai giá trị tương đương theo một trong các cách sau:</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Chúng tương tự nhau (intuitive similarity).</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Tài liệu đặc tả mô tả chương trình sẽ xứ lý chúng theo cùng một cách thức (specified as equivalent)</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Chúng lái chương trình theo cùng đường (chẳng hạn cùng nhánh if) (equivalent path).</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Chúng cho cùng kết quả với những giả thiết đưa ra (risk-based).</a:t>
            </a:r>
            <a:endParaRPr/>
          </a:p>
        </p:txBody>
      </p:sp>
      <p:sp>
        <p:nvSpPr>
          <p:cNvPr id="220" name="Google Shape;220;p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type="title"/>
          </p:nvPr>
        </p:nvSpPr>
        <p:spPr>
          <a:xfrm>
            <a:off x="685800" y="914400"/>
            <a:ext cx="7821612" cy="681037"/>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rgbClr val="0E2520"/>
              </a:buClr>
              <a:buSzPts val="2400"/>
              <a:buFont typeface="Arial"/>
              <a:buNone/>
            </a:pPr>
            <a:r>
              <a:rPr b="0" i="0" lang="en-US" sz="2400" u="none">
                <a:solidFill>
                  <a:srgbClr val="0E2520"/>
                </a:solidFill>
                <a:latin typeface="Arial"/>
                <a:ea typeface="Arial"/>
                <a:cs typeface="Arial"/>
                <a:sym typeface="Arial"/>
              </a:rPr>
              <a:t>Ví dụ</a:t>
            </a:r>
            <a:endParaRPr/>
          </a:p>
        </p:txBody>
      </p:sp>
      <p:sp>
        <p:nvSpPr>
          <p:cNvPr id="226" name="Google Shape;226;p10"/>
          <p:cNvSpPr txBox="1"/>
          <p:nvPr>
            <p:ph idx="1" type="body"/>
          </p:nvPr>
        </p:nvSpPr>
        <p:spPr>
          <a:xfrm>
            <a:off x="838200" y="1533525"/>
            <a:ext cx="8305800" cy="4867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Xếp loại cuối năm học sinh ở trường THPT dựa trên điểm trung bình (ĐTB) như sau:</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0 ≤ ĐTB &lt; 5: yếu, kém</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5 ≤ ĐTB &lt; 7: trung bình</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7 ≤ ĐTB &lt; 8: khá</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8 ≤ ĐTB &lt; 9: giỏi</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9 &lt;= ĐTB &lt;= 10: xuất sắc</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Biết điểm trung bình làm tròn 1 chữ số thập phân.</a:t>
            </a:r>
            <a:endParaRPr/>
          </a:p>
        </p:txBody>
      </p:sp>
      <p:sp>
        <p:nvSpPr>
          <p:cNvPr id="227" name="Google Shape;227;p10"/>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1"/>
          <p:cNvSpPr txBox="1"/>
          <p:nvPr>
            <p:ph type="title"/>
          </p:nvPr>
        </p:nvSpPr>
        <p:spPr>
          <a:xfrm>
            <a:off x="796925"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0" i="0" lang="en-US" sz="2400" u="none">
                <a:solidFill>
                  <a:srgbClr val="0E2520"/>
                </a:solidFill>
                <a:latin typeface="Arial"/>
                <a:ea typeface="Arial"/>
                <a:cs typeface="Arial"/>
                <a:sym typeface="Arial"/>
              </a:rPr>
              <a:t>Ví dụ</a:t>
            </a:r>
            <a:endParaRPr/>
          </a:p>
        </p:txBody>
      </p:sp>
      <p:sp>
        <p:nvSpPr>
          <p:cNvPr id="233" name="Google Shape;233;p11"/>
          <p:cNvSpPr txBox="1"/>
          <p:nvPr>
            <p:ph idx="1" type="body"/>
          </p:nvPr>
        </p:nvSpPr>
        <p:spPr>
          <a:xfrm>
            <a:off x="914400" y="1752600"/>
            <a:ext cx="8229600" cy="29591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4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Để kiểm thử ứng dụng này chia thành 7 phân vùng tương đương, trong đó:</a:t>
            </a:r>
            <a:endParaRPr/>
          </a:p>
          <a:p>
            <a:pPr indent="-285750" lvl="1" marL="742950" marR="0" rtl="0" algn="l">
              <a:lnSpc>
                <a:spcPct val="14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5 phân vùng hợp lệ (valid): [0, 5), [5, 7), [7, 8), [8, 9), [9, 10].</a:t>
            </a:r>
            <a:endParaRPr/>
          </a:p>
          <a:p>
            <a:pPr indent="-285750" lvl="1" marL="742950" marR="0" rtl="0" algn="l">
              <a:lnSpc>
                <a:spcPct val="14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2 phân vùng không hợp lệ (invalid): &lt; 0 và &gt; 10</a:t>
            </a:r>
            <a:endParaRPr/>
          </a:p>
        </p:txBody>
      </p:sp>
      <p:grpSp>
        <p:nvGrpSpPr>
          <p:cNvPr id="234" name="Google Shape;234;p11"/>
          <p:cNvGrpSpPr/>
          <p:nvPr/>
        </p:nvGrpSpPr>
        <p:grpSpPr>
          <a:xfrm>
            <a:off x="979487" y="5027612"/>
            <a:ext cx="7491412" cy="1296987"/>
            <a:chOff x="979393" y="5027448"/>
            <a:chExt cx="7492253" cy="1297152"/>
          </a:xfrm>
        </p:grpSpPr>
        <p:cxnSp>
          <p:nvCxnSpPr>
            <p:cNvPr id="235" name="Google Shape;235;p11"/>
            <p:cNvCxnSpPr/>
            <p:nvPr/>
          </p:nvCxnSpPr>
          <p:spPr>
            <a:xfrm>
              <a:off x="979393" y="5686344"/>
              <a:ext cx="7492253" cy="0"/>
            </a:xfrm>
            <a:prstGeom prst="straightConnector1">
              <a:avLst/>
            </a:prstGeom>
            <a:noFill/>
            <a:ln cap="flat" cmpd="sng" w="38100">
              <a:solidFill>
                <a:srgbClr val="C00000"/>
              </a:solidFill>
              <a:prstDash val="solid"/>
              <a:miter lim="800000"/>
              <a:headEnd len="med" w="med" type="stealth"/>
              <a:tailEnd len="med" w="med" type="stealth"/>
            </a:ln>
          </p:spPr>
        </p:cxnSp>
        <p:cxnSp>
          <p:nvCxnSpPr>
            <p:cNvPr id="236" name="Google Shape;236;p11"/>
            <p:cNvCxnSpPr/>
            <p:nvPr/>
          </p:nvCxnSpPr>
          <p:spPr>
            <a:xfrm>
              <a:off x="1963753" y="5538688"/>
              <a:ext cx="0" cy="309601"/>
            </a:xfrm>
            <a:prstGeom prst="straightConnector1">
              <a:avLst/>
            </a:prstGeom>
            <a:noFill/>
            <a:ln cap="flat" cmpd="sng" w="28575">
              <a:solidFill>
                <a:srgbClr val="C00000"/>
              </a:solidFill>
              <a:prstDash val="solid"/>
              <a:miter lim="800000"/>
              <a:headEnd len="med" w="med" type="none"/>
              <a:tailEnd len="med" w="med" type="none"/>
            </a:ln>
          </p:spPr>
        </p:cxnSp>
        <p:cxnSp>
          <p:nvCxnSpPr>
            <p:cNvPr id="237" name="Google Shape;237;p11"/>
            <p:cNvCxnSpPr/>
            <p:nvPr/>
          </p:nvCxnSpPr>
          <p:spPr>
            <a:xfrm>
              <a:off x="4223019" y="5530749"/>
              <a:ext cx="0" cy="309602"/>
            </a:xfrm>
            <a:prstGeom prst="straightConnector1">
              <a:avLst/>
            </a:prstGeom>
            <a:noFill/>
            <a:ln cap="flat" cmpd="sng" w="28575">
              <a:solidFill>
                <a:srgbClr val="C00000"/>
              </a:solidFill>
              <a:prstDash val="solid"/>
              <a:miter lim="800000"/>
              <a:headEnd len="med" w="med" type="none"/>
              <a:tailEnd len="med" w="med" type="none"/>
            </a:ln>
          </p:spPr>
        </p:cxnSp>
        <p:cxnSp>
          <p:nvCxnSpPr>
            <p:cNvPr id="238" name="Google Shape;238;p11"/>
            <p:cNvCxnSpPr/>
            <p:nvPr/>
          </p:nvCxnSpPr>
          <p:spPr>
            <a:xfrm>
              <a:off x="5540792" y="5530749"/>
              <a:ext cx="0" cy="309602"/>
            </a:xfrm>
            <a:prstGeom prst="straightConnector1">
              <a:avLst/>
            </a:prstGeom>
            <a:noFill/>
            <a:ln cap="flat" cmpd="sng" w="28575">
              <a:solidFill>
                <a:srgbClr val="C00000"/>
              </a:solidFill>
              <a:prstDash val="solid"/>
              <a:miter lim="800000"/>
              <a:headEnd len="med" w="med" type="none"/>
              <a:tailEnd len="med" w="med" type="none"/>
            </a:ln>
          </p:spPr>
        </p:cxnSp>
        <p:cxnSp>
          <p:nvCxnSpPr>
            <p:cNvPr id="239" name="Google Shape;239;p11"/>
            <p:cNvCxnSpPr/>
            <p:nvPr/>
          </p:nvCxnSpPr>
          <p:spPr>
            <a:xfrm>
              <a:off x="6172688" y="5538688"/>
              <a:ext cx="0" cy="309601"/>
            </a:xfrm>
            <a:prstGeom prst="straightConnector1">
              <a:avLst/>
            </a:prstGeom>
            <a:noFill/>
            <a:ln cap="flat" cmpd="sng" w="28575">
              <a:solidFill>
                <a:srgbClr val="C00000"/>
              </a:solidFill>
              <a:prstDash val="solid"/>
              <a:miter lim="800000"/>
              <a:headEnd len="med" w="med" type="none"/>
              <a:tailEnd len="med" w="med" type="none"/>
            </a:ln>
          </p:spPr>
        </p:cxnSp>
        <p:cxnSp>
          <p:nvCxnSpPr>
            <p:cNvPr id="240" name="Google Shape;240;p11"/>
            <p:cNvCxnSpPr/>
            <p:nvPr/>
          </p:nvCxnSpPr>
          <p:spPr>
            <a:xfrm>
              <a:off x="6790295" y="5538688"/>
              <a:ext cx="0" cy="309601"/>
            </a:xfrm>
            <a:prstGeom prst="straightConnector1">
              <a:avLst/>
            </a:prstGeom>
            <a:noFill/>
            <a:ln cap="flat" cmpd="sng" w="28575">
              <a:solidFill>
                <a:srgbClr val="C00000"/>
              </a:solidFill>
              <a:prstDash val="solid"/>
              <a:miter lim="800000"/>
              <a:headEnd len="med" w="med" type="none"/>
              <a:tailEnd len="med" w="med" type="none"/>
            </a:ln>
          </p:spPr>
        </p:cxnSp>
        <p:cxnSp>
          <p:nvCxnSpPr>
            <p:cNvPr id="241" name="Google Shape;241;p11"/>
            <p:cNvCxnSpPr/>
            <p:nvPr/>
          </p:nvCxnSpPr>
          <p:spPr>
            <a:xfrm>
              <a:off x="7409490" y="5538688"/>
              <a:ext cx="0" cy="309601"/>
            </a:xfrm>
            <a:prstGeom prst="straightConnector1">
              <a:avLst/>
            </a:prstGeom>
            <a:noFill/>
            <a:ln cap="flat" cmpd="sng" w="28575">
              <a:solidFill>
                <a:srgbClr val="C00000"/>
              </a:solidFill>
              <a:prstDash val="solid"/>
              <a:miter lim="800000"/>
              <a:headEnd len="med" w="med" type="none"/>
              <a:tailEnd len="med" w="med" type="none"/>
            </a:ln>
          </p:spPr>
        </p:cxnSp>
        <p:sp>
          <p:nvSpPr>
            <p:cNvPr id="242" name="Google Shape;242;p11"/>
            <p:cNvSpPr txBox="1"/>
            <p:nvPr/>
          </p:nvSpPr>
          <p:spPr>
            <a:xfrm>
              <a:off x="7129173" y="5847547"/>
              <a:ext cx="4796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10</a:t>
              </a:r>
              <a:endParaRPr/>
            </a:p>
          </p:txBody>
        </p:sp>
        <p:sp>
          <p:nvSpPr>
            <p:cNvPr id="243" name="Google Shape;243;p11"/>
            <p:cNvSpPr txBox="1"/>
            <p:nvPr/>
          </p:nvSpPr>
          <p:spPr>
            <a:xfrm>
              <a:off x="6638135" y="5849303"/>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9</a:t>
              </a:r>
              <a:endParaRPr/>
            </a:p>
          </p:txBody>
        </p:sp>
        <p:sp>
          <p:nvSpPr>
            <p:cNvPr id="244" name="Google Shape;244;p11"/>
            <p:cNvSpPr txBox="1"/>
            <p:nvPr/>
          </p:nvSpPr>
          <p:spPr>
            <a:xfrm>
              <a:off x="6006124" y="5853809"/>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8</a:t>
              </a:r>
              <a:endParaRPr/>
            </a:p>
          </p:txBody>
        </p:sp>
        <p:sp>
          <p:nvSpPr>
            <p:cNvPr id="245" name="Google Shape;245;p11"/>
            <p:cNvSpPr txBox="1"/>
            <p:nvPr/>
          </p:nvSpPr>
          <p:spPr>
            <a:xfrm>
              <a:off x="5360665" y="5853809"/>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7</a:t>
              </a:r>
              <a:endParaRPr/>
            </a:p>
          </p:txBody>
        </p:sp>
        <p:sp>
          <p:nvSpPr>
            <p:cNvPr id="246" name="Google Shape;246;p11"/>
            <p:cNvSpPr txBox="1"/>
            <p:nvPr/>
          </p:nvSpPr>
          <p:spPr>
            <a:xfrm>
              <a:off x="4056302" y="5847547"/>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5</a:t>
              </a:r>
              <a:endParaRPr/>
            </a:p>
          </p:txBody>
        </p:sp>
        <p:sp>
          <p:nvSpPr>
            <p:cNvPr id="247" name="Google Shape;247;p11"/>
            <p:cNvSpPr txBox="1"/>
            <p:nvPr/>
          </p:nvSpPr>
          <p:spPr>
            <a:xfrm>
              <a:off x="1797197" y="5847547"/>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0</a:t>
              </a:r>
              <a:endParaRPr/>
            </a:p>
          </p:txBody>
        </p:sp>
        <p:sp>
          <p:nvSpPr>
            <p:cNvPr id="248" name="Google Shape;248;p11"/>
            <p:cNvSpPr txBox="1"/>
            <p:nvPr/>
          </p:nvSpPr>
          <p:spPr>
            <a:xfrm>
              <a:off x="2556105" y="5262166"/>
              <a:ext cx="103425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Yếu, kém</a:t>
              </a:r>
              <a:endParaRPr/>
            </a:p>
          </p:txBody>
        </p:sp>
        <p:sp>
          <p:nvSpPr>
            <p:cNvPr id="249" name="Google Shape;249;p11"/>
            <p:cNvSpPr txBox="1"/>
            <p:nvPr/>
          </p:nvSpPr>
          <p:spPr>
            <a:xfrm>
              <a:off x="4492562" y="5739825"/>
              <a:ext cx="73833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Trung bình</a:t>
              </a:r>
              <a:endParaRPr/>
            </a:p>
          </p:txBody>
        </p:sp>
        <p:sp>
          <p:nvSpPr>
            <p:cNvPr id="250" name="Google Shape;250;p11"/>
            <p:cNvSpPr txBox="1"/>
            <p:nvPr/>
          </p:nvSpPr>
          <p:spPr>
            <a:xfrm>
              <a:off x="5593136" y="5264048"/>
              <a:ext cx="52610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Khá</a:t>
              </a:r>
              <a:endParaRPr/>
            </a:p>
          </p:txBody>
        </p:sp>
        <p:sp>
          <p:nvSpPr>
            <p:cNvPr id="251" name="Google Shape;251;p11"/>
            <p:cNvSpPr txBox="1"/>
            <p:nvPr/>
          </p:nvSpPr>
          <p:spPr>
            <a:xfrm>
              <a:off x="6214231" y="5771647"/>
              <a:ext cx="52610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Giỏi</a:t>
              </a:r>
              <a:endParaRPr/>
            </a:p>
          </p:txBody>
        </p:sp>
        <p:sp>
          <p:nvSpPr>
            <p:cNvPr id="252" name="Google Shape;252;p11"/>
            <p:cNvSpPr txBox="1"/>
            <p:nvPr/>
          </p:nvSpPr>
          <p:spPr>
            <a:xfrm>
              <a:off x="6737806" y="5027448"/>
              <a:ext cx="71993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Xuất sắc</a:t>
              </a:r>
              <a:endParaRPr/>
            </a:p>
          </p:txBody>
        </p:sp>
      </p:grpSp>
      <p:sp>
        <p:nvSpPr>
          <p:cNvPr id="253" name="Google Shape;253;p11"/>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2"/>
          <p:cNvSpPr txBox="1"/>
          <p:nvPr>
            <p:ph type="title"/>
          </p:nvPr>
        </p:nvSpPr>
        <p:spPr>
          <a:xfrm>
            <a:off x="7620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a:t>
            </a:r>
            <a:endParaRPr/>
          </a:p>
        </p:txBody>
      </p:sp>
      <p:sp>
        <p:nvSpPr>
          <p:cNvPr id="259" name="Google Shape;259;p12"/>
          <p:cNvSpPr txBox="1"/>
          <p:nvPr>
            <p:ph idx="1" type="body"/>
          </p:nvPr>
        </p:nvSpPr>
        <p:spPr>
          <a:xfrm>
            <a:off x="685800" y="1600200"/>
            <a:ext cx="8305800" cy="4724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Tester không nên chỉ test những gì trong đặc tả yêu cầu, mà còn phải </a:t>
            </a:r>
            <a:r>
              <a:rPr b="1" i="0" lang="en-US" sz="2400" u="none">
                <a:solidFill>
                  <a:srgbClr val="C00000"/>
                </a:solidFill>
                <a:latin typeface="Arial"/>
                <a:ea typeface="Arial"/>
                <a:cs typeface="Arial"/>
                <a:sym typeface="Arial"/>
              </a:rPr>
              <a:t>nghĩ ra những thứ không được đề cập</a:t>
            </a:r>
            <a:r>
              <a:rPr b="0" i="0" lang="en-US" sz="2400" u="none">
                <a:solidFill>
                  <a:schemeClr val="dk1"/>
                </a:solidFill>
                <a:latin typeface="Arial"/>
                <a:ea typeface="Arial"/>
                <a:cs typeface="Arial"/>
                <a:sym typeface="Arial"/>
              </a:rPr>
              <a:t>. Trong ví dụ trên 2 phần vùng invalid không được đề cập trong đặc tả, nhưng cần được kiểm thử.</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Khi thiết kế test case phải </a:t>
            </a:r>
            <a:r>
              <a:rPr b="1" i="0" lang="en-US" sz="2400" u="none">
                <a:solidFill>
                  <a:srgbClr val="C00000"/>
                </a:solidFill>
                <a:latin typeface="Arial"/>
                <a:ea typeface="Arial"/>
                <a:cs typeface="Arial"/>
                <a:sym typeface="Arial"/>
              </a:rPr>
              <a:t>đảm bảo tất cả các phân vùng (valid &amp; invalid) được test </a:t>
            </a:r>
            <a:r>
              <a:rPr b="0" i="0" lang="en-US" sz="2400" u="none">
                <a:solidFill>
                  <a:schemeClr val="dk1"/>
                </a:solidFill>
                <a:latin typeface="Arial"/>
                <a:ea typeface="Arial"/>
                <a:cs typeface="Arial"/>
                <a:sym typeface="Arial"/>
              </a:rPr>
              <a:t>qua ít nhất một lần. Trong ví dụ trên ít nhất cần test 7 điểm trung bình sau đại diện với 7 phân vùng -5.0, 3.0, 5.5, 7.5, 8.5, 9.5, 12.0</a:t>
            </a:r>
            <a:endParaRPr/>
          </a:p>
        </p:txBody>
      </p:sp>
      <p:sp>
        <p:nvSpPr>
          <p:cNvPr id="260" name="Google Shape;260;p1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500"/>
                                        <p:tgtEl>
                                          <p:spTgt spid="2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Effect filter="fade" transition="in">
                                      <p:cBhvr>
                                        <p:cTn dur="500"/>
                                        <p:tgtEl>
                                          <p:spTgt spid="25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ph type="title"/>
          </p:nvPr>
        </p:nvSpPr>
        <p:spPr>
          <a:xfrm>
            <a:off x="8382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Bài tập 1</a:t>
            </a:r>
            <a:endParaRPr/>
          </a:p>
        </p:txBody>
      </p:sp>
      <p:sp>
        <p:nvSpPr>
          <p:cNvPr id="266" name="Google Shape;266;p13"/>
          <p:cNvSpPr txBox="1"/>
          <p:nvPr>
            <p:ph idx="1" type="body"/>
          </p:nvPr>
        </p:nvSpPr>
        <p:spPr>
          <a:xfrm>
            <a:off x="914400" y="1600200"/>
            <a:ext cx="7848600" cy="4181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Chương trình kiểm tra một ngày tháng nhập vào có hợp lệ hay không? Cần nhập vào năm, tháng, ngày của ngày muốn kiểm tra.</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Ví dụ 12/12/2017 là ngày hợp lệ, 32/12/2017 là ngày không hợp lệ.</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phương pháp phân vùng tương đương thiết kế các test case để kiểm thử chương trình trên.</a:t>
            </a:r>
            <a:endParaRPr/>
          </a:p>
        </p:txBody>
      </p:sp>
      <p:sp>
        <p:nvSpPr>
          <p:cNvPr id="267" name="Google Shape;267;p13"/>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4"/>
          <p:cNvSpPr txBox="1"/>
          <p:nvPr>
            <p:ph type="title"/>
          </p:nvPr>
        </p:nvSpPr>
        <p:spPr>
          <a:xfrm>
            <a:off x="7239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Hướng dẫn</a:t>
            </a:r>
            <a:endParaRPr/>
          </a:p>
        </p:txBody>
      </p:sp>
      <p:sp>
        <p:nvSpPr>
          <p:cNvPr id="273" name="Google Shape;273;p14"/>
          <p:cNvSpPr txBox="1"/>
          <p:nvPr/>
        </p:nvSpPr>
        <p:spPr>
          <a:xfrm>
            <a:off x="3814762" y="1727200"/>
            <a:ext cx="2219325"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Năm &gt; 0</a:t>
            </a:r>
            <a:endParaRPr/>
          </a:p>
        </p:txBody>
      </p:sp>
      <p:sp>
        <p:nvSpPr>
          <p:cNvPr id="274" name="Google Shape;274;p14"/>
          <p:cNvSpPr txBox="1"/>
          <p:nvPr/>
        </p:nvSpPr>
        <p:spPr>
          <a:xfrm>
            <a:off x="2370137" y="2590800"/>
            <a:ext cx="1908175"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Năm nhuận</a:t>
            </a:r>
            <a:endParaRPr/>
          </a:p>
        </p:txBody>
      </p:sp>
      <p:sp>
        <p:nvSpPr>
          <p:cNvPr id="275" name="Google Shape;275;p14"/>
          <p:cNvSpPr txBox="1"/>
          <p:nvPr/>
        </p:nvSpPr>
        <p:spPr>
          <a:xfrm>
            <a:off x="5570537" y="2590800"/>
            <a:ext cx="1908175"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Năm thường</a:t>
            </a:r>
            <a:endParaRPr/>
          </a:p>
        </p:txBody>
      </p:sp>
      <p:sp>
        <p:nvSpPr>
          <p:cNvPr id="276" name="Google Shape;276;p14"/>
          <p:cNvSpPr txBox="1"/>
          <p:nvPr/>
        </p:nvSpPr>
        <p:spPr>
          <a:xfrm>
            <a:off x="3970337" y="3398837"/>
            <a:ext cx="1908175" cy="415925"/>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Tháng = 1-12</a:t>
            </a:r>
            <a:endParaRPr/>
          </a:p>
        </p:txBody>
      </p:sp>
      <p:sp>
        <p:nvSpPr>
          <p:cNvPr id="277" name="Google Shape;277;p14"/>
          <p:cNvSpPr txBox="1"/>
          <p:nvPr/>
        </p:nvSpPr>
        <p:spPr>
          <a:xfrm>
            <a:off x="304800" y="4286250"/>
            <a:ext cx="2611437" cy="796925"/>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1, 3, 5, 7, 8, 10, 12</a:t>
            </a:r>
            <a:endParaRPr/>
          </a:p>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(31 ngày)</a:t>
            </a:r>
            <a:endParaRPr/>
          </a:p>
        </p:txBody>
      </p:sp>
      <p:sp>
        <p:nvSpPr>
          <p:cNvPr id="278" name="Google Shape;278;p14"/>
          <p:cNvSpPr txBox="1"/>
          <p:nvPr/>
        </p:nvSpPr>
        <p:spPr>
          <a:xfrm>
            <a:off x="2974975" y="4286250"/>
            <a:ext cx="4646612" cy="796925"/>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2</a:t>
            </a:r>
            <a:endParaRPr/>
          </a:p>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(nhuận: 29 ngày, thường: 28 ngày)</a:t>
            </a:r>
            <a:endParaRPr/>
          </a:p>
        </p:txBody>
      </p:sp>
      <p:sp>
        <p:nvSpPr>
          <p:cNvPr id="279" name="Google Shape;279;p14"/>
          <p:cNvSpPr txBox="1"/>
          <p:nvPr/>
        </p:nvSpPr>
        <p:spPr>
          <a:xfrm>
            <a:off x="7680325" y="4286250"/>
            <a:ext cx="1481137" cy="796925"/>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4, 6, 9, 11</a:t>
            </a:r>
            <a:endParaRPr/>
          </a:p>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(30 ngày)</a:t>
            </a:r>
            <a:endParaRPr/>
          </a:p>
        </p:txBody>
      </p:sp>
      <p:cxnSp>
        <p:nvCxnSpPr>
          <p:cNvPr id="280" name="Google Shape;280;p14"/>
          <p:cNvCxnSpPr/>
          <p:nvPr/>
        </p:nvCxnSpPr>
        <p:spPr>
          <a:xfrm flipH="1">
            <a:off x="3324225" y="2144713"/>
            <a:ext cx="1600200" cy="4461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1" name="Google Shape;281;p14"/>
          <p:cNvCxnSpPr/>
          <p:nvPr/>
        </p:nvCxnSpPr>
        <p:spPr>
          <a:xfrm>
            <a:off x="4924425" y="2144713"/>
            <a:ext cx="1600200" cy="4461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2" name="Google Shape;282;p14"/>
          <p:cNvCxnSpPr/>
          <p:nvPr/>
        </p:nvCxnSpPr>
        <p:spPr>
          <a:xfrm>
            <a:off x="3324225" y="3008313"/>
            <a:ext cx="1600200" cy="3906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3" name="Google Shape;283;p14"/>
          <p:cNvCxnSpPr/>
          <p:nvPr/>
        </p:nvCxnSpPr>
        <p:spPr>
          <a:xfrm flipH="1">
            <a:off x="4924425" y="3008313"/>
            <a:ext cx="1600200" cy="3906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4" name="Google Shape;284;p14"/>
          <p:cNvCxnSpPr/>
          <p:nvPr/>
        </p:nvCxnSpPr>
        <p:spPr>
          <a:xfrm flipH="1">
            <a:off x="1609725" y="3814763"/>
            <a:ext cx="3314700" cy="4716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5" name="Google Shape;285;p14"/>
          <p:cNvCxnSpPr/>
          <p:nvPr/>
        </p:nvCxnSpPr>
        <p:spPr>
          <a:xfrm flipH="1" rot="-5400000">
            <a:off x="4875225" y="3863963"/>
            <a:ext cx="471600" cy="3732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286" name="Google Shape;286;p14"/>
          <p:cNvCxnSpPr/>
          <p:nvPr/>
        </p:nvCxnSpPr>
        <p:spPr>
          <a:xfrm>
            <a:off x="4924424" y="3814762"/>
            <a:ext cx="3495600" cy="4716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sp>
        <p:nvSpPr>
          <p:cNvPr id="287" name="Google Shape;287;p14"/>
          <p:cNvSpPr txBox="1"/>
          <p:nvPr/>
        </p:nvSpPr>
        <p:spPr>
          <a:xfrm>
            <a:off x="1597025" y="1727200"/>
            <a:ext cx="2217737"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Năm &lt;= 0</a:t>
            </a:r>
            <a:endParaRPr/>
          </a:p>
        </p:txBody>
      </p:sp>
      <p:sp>
        <p:nvSpPr>
          <p:cNvPr id="288" name="Google Shape;288;p14"/>
          <p:cNvSpPr txBox="1"/>
          <p:nvPr/>
        </p:nvSpPr>
        <p:spPr>
          <a:xfrm>
            <a:off x="2060575" y="3398837"/>
            <a:ext cx="1909762" cy="415925"/>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Tháng &lt; 1</a:t>
            </a:r>
            <a:endParaRPr/>
          </a:p>
        </p:txBody>
      </p:sp>
      <p:sp>
        <p:nvSpPr>
          <p:cNvPr id="289" name="Google Shape;289;p14"/>
          <p:cNvSpPr txBox="1"/>
          <p:nvPr/>
        </p:nvSpPr>
        <p:spPr>
          <a:xfrm>
            <a:off x="5878512" y="3398837"/>
            <a:ext cx="1909762" cy="415925"/>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Tháng &gt; 12</a:t>
            </a:r>
            <a:endParaRPr/>
          </a:p>
        </p:txBody>
      </p:sp>
      <p:sp>
        <p:nvSpPr>
          <p:cNvPr id="290" name="Google Shape;290;p14"/>
          <p:cNvSpPr txBox="1"/>
          <p:nvPr/>
        </p:nvSpPr>
        <p:spPr>
          <a:xfrm>
            <a:off x="1185862" y="5492750"/>
            <a:ext cx="874712"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1-31</a:t>
            </a:r>
            <a:endParaRPr/>
          </a:p>
        </p:txBody>
      </p:sp>
      <p:sp>
        <p:nvSpPr>
          <p:cNvPr id="291" name="Google Shape;291;p14"/>
          <p:cNvSpPr txBox="1"/>
          <p:nvPr/>
        </p:nvSpPr>
        <p:spPr>
          <a:xfrm>
            <a:off x="325437" y="5492750"/>
            <a:ext cx="874712"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&lt; 1</a:t>
            </a:r>
            <a:endParaRPr/>
          </a:p>
        </p:txBody>
      </p:sp>
      <p:sp>
        <p:nvSpPr>
          <p:cNvPr id="292" name="Google Shape;292;p14"/>
          <p:cNvSpPr txBox="1"/>
          <p:nvPr/>
        </p:nvSpPr>
        <p:spPr>
          <a:xfrm>
            <a:off x="2046287" y="5492750"/>
            <a:ext cx="874712"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&gt; 31</a:t>
            </a:r>
            <a:endParaRPr/>
          </a:p>
        </p:txBody>
      </p:sp>
      <p:sp>
        <p:nvSpPr>
          <p:cNvPr id="293" name="Google Shape;293;p14"/>
          <p:cNvSpPr txBox="1"/>
          <p:nvPr/>
        </p:nvSpPr>
        <p:spPr>
          <a:xfrm>
            <a:off x="7451725" y="5492750"/>
            <a:ext cx="847725"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1-30</a:t>
            </a:r>
            <a:endParaRPr/>
          </a:p>
        </p:txBody>
      </p:sp>
      <p:sp>
        <p:nvSpPr>
          <p:cNvPr id="294" name="Google Shape;294;p14"/>
          <p:cNvSpPr txBox="1"/>
          <p:nvPr/>
        </p:nvSpPr>
        <p:spPr>
          <a:xfrm>
            <a:off x="6591300" y="5492750"/>
            <a:ext cx="847725"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&lt; 1</a:t>
            </a:r>
            <a:endParaRPr/>
          </a:p>
        </p:txBody>
      </p:sp>
      <p:sp>
        <p:nvSpPr>
          <p:cNvPr id="295" name="Google Shape;295;p14"/>
          <p:cNvSpPr txBox="1"/>
          <p:nvPr/>
        </p:nvSpPr>
        <p:spPr>
          <a:xfrm>
            <a:off x="8313737" y="5492750"/>
            <a:ext cx="846137"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&gt; 30</a:t>
            </a:r>
            <a:endParaRPr/>
          </a:p>
        </p:txBody>
      </p:sp>
      <p:sp>
        <p:nvSpPr>
          <p:cNvPr id="296" name="Google Shape;296;p14"/>
          <p:cNvSpPr txBox="1"/>
          <p:nvPr/>
        </p:nvSpPr>
        <p:spPr>
          <a:xfrm>
            <a:off x="3249612" y="6211887"/>
            <a:ext cx="874712"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1-29</a:t>
            </a:r>
            <a:endParaRPr/>
          </a:p>
        </p:txBody>
      </p:sp>
      <p:sp>
        <p:nvSpPr>
          <p:cNvPr id="297" name="Google Shape;297;p14"/>
          <p:cNvSpPr txBox="1"/>
          <p:nvPr/>
        </p:nvSpPr>
        <p:spPr>
          <a:xfrm>
            <a:off x="2389187" y="6211887"/>
            <a:ext cx="874712"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&lt; 1</a:t>
            </a:r>
            <a:endParaRPr/>
          </a:p>
        </p:txBody>
      </p:sp>
      <p:sp>
        <p:nvSpPr>
          <p:cNvPr id="298" name="Google Shape;298;p14"/>
          <p:cNvSpPr txBox="1"/>
          <p:nvPr/>
        </p:nvSpPr>
        <p:spPr>
          <a:xfrm>
            <a:off x="4111625" y="6211887"/>
            <a:ext cx="873125"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&gt; 29</a:t>
            </a:r>
            <a:endParaRPr/>
          </a:p>
        </p:txBody>
      </p:sp>
      <p:sp>
        <p:nvSpPr>
          <p:cNvPr id="299" name="Google Shape;299;p14"/>
          <p:cNvSpPr txBox="1"/>
          <p:nvPr/>
        </p:nvSpPr>
        <p:spPr>
          <a:xfrm>
            <a:off x="6054725" y="6211887"/>
            <a:ext cx="873125" cy="417512"/>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1-28</a:t>
            </a:r>
            <a:endParaRPr/>
          </a:p>
        </p:txBody>
      </p:sp>
      <p:sp>
        <p:nvSpPr>
          <p:cNvPr id="300" name="Google Shape;300;p14"/>
          <p:cNvSpPr txBox="1"/>
          <p:nvPr/>
        </p:nvSpPr>
        <p:spPr>
          <a:xfrm>
            <a:off x="5192712" y="6211887"/>
            <a:ext cx="874712"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&lt; 1</a:t>
            </a:r>
            <a:endParaRPr/>
          </a:p>
        </p:txBody>
      </p:sp>
      <p:sp>
        <p:nvSpPr>
          <p:cNvPr id="301" name="Google Shape;301;p14"/>
          <p:cNvSpPr txBox="1"/>
          <p:nvPr/>
        </p:nvSpPr>
        <p:spPr>
          <a:xfrm>
            <a:off x="6915150" y="6211887"/>
            <a:ext cx="873125" cy="417512"/>
          </a:xfrm>
          <a:prstGeom prst="rect">
            <a:avLst/>
          </a:prstGeom>
          <a:solidFill>
            <a:srgbClr val="FFC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&gt; 28</a:t>
            </a:r>
            <a:endParaRPr/>
          </a:p>
        </p:txBody>
      </p:sp>
      <p:cxnSp>
        <p:nvCxnSpPr>
          <p:cNvPr id="302" name="Google Shape;302;p14"/>
          <p:cNvCxnSpPr/>
          <p:nvPr/>
        </p:nvCxnSpPr>
        <p:spPr>
          <a:xfrm>
            <a:off x="1609725" y="5083175"/>
            <a:ext cx="12700" cy="409575"/>
          </a:xfrm>
          <a:prstGeom prst="straightConnector1">
            <a:avLst/>
          </a:prstGeom>
          <a:noFill/>
          <a:ln cap="flat" cmpd="sng" w="19050">
            <a:solidFill>
              <a:srgbClr val="C00000"/>
            </a:solidFill>
            <a:prstDash val="solid"/>
            <a:miter lim="800000"/>
            <a:headEnd len="med" w="med" type="none"/>
            <a:tailEnd len="med" w="med" type="stealth"/>
          </a:ln>
        </p:spPr>
      </p:cxnSp>
      <p:cxnSp>
        <p:nvCxnSpPr>
          <p:cNvPr id="303" name="Google Shape;303;p14"/>
          <p:cNvCxnSpPr/>
          <p:nvPr/>
        </p:nvCxnSpPr>
        <p:spPr>
          <a:xfrm flipH="1">
            <a:off x="3687688" y="5083175"/>
            <a:ext cx="1609800" cy="10350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304" name="Google Shape;304;p14"/>
          <p:cNvCxnSpPr/>
          <p:nvPr/>
        </p:nvCxnSpPr>
        <p:spPr>
          <a:xfrm>
            <a:off x="5297487" y="5083175"/>
            <a:ext cx="1193700" cy="10350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cxnSp>
        <p:nvCxnSpPr>
          <p:cNvPr id="305" name="Google Shape;305;p14"/>
          <p:cNvCxnSpPr/>
          <p:nvPr/>
        </p:nvCxnSpPr>
        <p:spPr>
          <a:xfrm flipH="1">
            <a:off x="7875600" y="5083175"/>
            <a:ext cx="544500" cy="409500"/>
          </a:xfrm>
          <a:prstGeom prst="bentConnector3">
            <a:avLst>
              <a:gd fmla="val 50000" name="adj1"/>
            </a:avLst>
          </a:prstGeom>
          <a:noFill/>
          <a:ln cap="flat" cmpd="sng" w="19050">
            <a:solidFill>
              <a:srgbClr val="C00000"/>
            </a:solidFill>
            <a:prstDash val="solid"/>
            <a:miter lim="800000"/>
            <a:headEnd len="med" w="med" type="none"/>
            <a:tailEnd len="med" w="med" type="stealth"/>
          </a:ln>
        </p:spPr>
      </p:cxnSp>
      <p:sp>
        <p:nvSpPr>
          <p:cNvPr id="306" name="Google Shape;306;p14"/>
          <p:cNvSpPr txBox="1"/>
          <p:nvPr/>
        </p:nvSpPr>
        <p:spPr>
          <a:xfrm>
            <a:off x="3573462" y="5273675"/>
            <a:ext cx="8461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Tahoma"/>
              <a:buNone/>
            </a:pPr>
            <a:r>
              <a:rPr b="0" i="0" lang="en-US" sz="1800" u="none">
                <a:solidFill>
                  <a:srgbClr val="002060"/>
                </a:solidFill>
                <a:latin typeface="Tahoma"/>
                <a:ea typeface="Tahoma"/>
                <a:cs typeface="Tahoma"/>
                <a:sym typeface="Tahoma"/>
              </a:rPr>
              <a:t>Nhuận</a:t>
            </a:r>
            <a:endParaRPr/>
          </a:p>
        </p:txBody>
      </p:sp>
      <p:sp>
        <p:nvSpPr>
          <p:cNvPr id="307" name="Google Shape;307;p14"/>
          <p:cNvSpPr txBox="1"/>
          <p:nvPr/>
        </p:nvSpPr>
        <p:spPr>
          <a:xfrm>
            <a:off x="5626100" y="5273675"/>
            <a:ext cx="9731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Tahoma"/>
              <a:buNone/>
            </a:pPr>
            <a:r>
              <a:rPr b="0" i="0" lang="en-US" sz="1800" u="none">
                <a:solidFill>
                  <a:srgbClr val="002060"/>
                </a:solidFill>
                <a:latin typeface="Tahoma"/>
                <a:ea typeface="Tahoma"/>
                <a:cs typeface="Tahoma"/>
                <a:sym typeface="Tahoma"/>
              </a:rPr>
              <a:t>Thường</a:t>
            </a:r>
            <a:endParaRPr/>
          </a:p>
        </p:txBody>
      </p:sp>
      <p:sp>
        <p:nvSpPr>
          <p:cNvPr id="308" name="Google Shape;308;p14"/>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5"/>
          <p:cNvSpPr txBox="1"/>
          <p:nvPr>
            <p:ph type="title"/>
          </p:nvPr>
        </p:nvSpPr>
        <p:spPr>
          <a:xfrm>
            <a:off x="6858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Bài tập 2</a:t>
            </a:r>
            <a:endParaRPr/>
          </a:p>
        </p:txBody>
      </p:sp>
      <p:sp>
        <p:nvSpPr>
          <p:cNvPr id="314" name="Google Shape;314;p15"/>
          <p:cNvSpPr txBox="1"/>
          <p:nvPr>
            <p:ph idx="1" type="body"/>
          </p:nvPr>
        </p:nvSpPr>
        <p:spPr>
          <a:xfrm>
            <a:off x="685800" y="1828800"/>
            <a:ext cx="8229600" cy="289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Chức năng đăng ký tài khoản yêu cầu mật khẩu bằng 5 ký tự (5 ký tự là số nguyên dương).</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kỹ thuật phân vùng tương đương viết các test case kiểm tra ô nhập liệu mật khẩu. </a:t>
            </a:r>
            <a:endParaRPr/>
          </a:p>
          <a:p>
            <a:pPr indent="-190500" lvl="0" marL="342900" marR="0" rtl="0" algn="l">
              <a:spcBef>
                <a:spcPts val="480"/>
              </a:spcBef>
              <a:spcAft>
                <a:spcPts val="0"/>
              </a:spcAft>
              <a:buClr>
                <a:schemeClr val="hlink"/>
              </a:buClr>
              <a:buSzPts val="2400"/>
              <a:buFont typeface="Noto Sans Symbols"/>
              <a:buNone/>
            </a:pPr>
            <a:r>
              <a:t/>
            </a:r>
            <a:endParaRPr b="0" i="1" sz="2400" u="none">
              <a:solidFill>
                <a:schemeClr val="dk1"/>
              </a:solidFill>
              <a:latin typeface="Arial"/>
              <a:ea typeface="Arial"/>
              <a:cs typeface="Arial"/>
              <a:sym typeface="Arial"/>
            </a:endParaRPr>
          </a:p>
        </p:txBody>
      </p:sp>
      <p:sp>
        <p:nvSpPr>
          <p:cNvPr id="315" name="Google Shape;315;p15"/>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6"/>
          <p:cNvSpPr txBox="1"/>
          <p:nvPr>
            <p:ph type="title"/>
          </p:nvPr>
        </p:nvSpPr>
        <p:spPr>
          <a:xfrm>
            <a:off x="6858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Hướng dẫn</a:t>
            </a:r>
            <a:endParaRPr/>
          </a:p>
        </p:txBody>
      </p:sp>
      <p:sp>
        <p:nvSpPr>
          <p:cNvPr id="321" name="Google Shape;321;p16"/>
          <p:cNvSpPr txBox="1"/>
          <p:nvPr>
            <p:ph idx="1" type="body"/>
          </p:nvPr>
        </p:nvSpPr>
        <p:spPr>
          <a:xfrm>
            <a:off x="685800" y="1828800"/>
            <a:ext cx="8229600" cy="2895600"/>
          </a:xfrm>
          <a:prstGeom prst="rect">
            <a:avLst/>
          </a:prstGeom>
          <a:noFill/>
          <a:ln>
            <a:noFill/>
          </a:ln>
        </p:spPr>
        <p:txBody>
          <a:bodyPr anchorCtr="0" anchor="t" bIns="45700" lIns="91425" spcFirstLastPara="1" rIns="91425" wrap="square" tIns="45700">
            <a:noAutofit/>
          </a:bodyPr>
          <a:lstStyle/>
          <a:p>
            <a:pPr indent="-190500" lvl="0" marL="342900" marR="0" rtl="0" algn="just">
              <a:lnSpc>
                <a:spcPct val="150000"/>
              </a:lnSpc>
              <a:spcBef>
                <a:spcPts val="0"/>
              </a:spcBef>
              <a:spcAft>
                <a:spcPts val="0"/>
              </a:spcAft>
              <a:buClr>
                <a:schemeClr val="hlink"/>
              </a:buClr>
              <a:buSzPts val="2400"/>
              <a:buFont typeface="Noto Sans Symbols"/>
              <a:buNone/>
            </a:pPr>
            <a:r>
              <a:t/>
            </a:r>
            <a:endParaRPr b="0" i="1" sz="2400" u="none">
              <a:solidFill>
                <a:schemeClr val="dk1"/>
              </a:solidFill>
              <a:latin typeface="Arial"/>
              <a:ea typeface="Arial"/>
              <a:cs typeface="Arial"/>
              <a:sym typeface="Arial"/>
            </a:endParaRPr>
          </a:p>
          <a:p>
            <a:pPr indent="-190500" lvl="0" marL="342900" marR="0" rtl="0" algn="l">
              <a:spcBef>
                <a:spcPts val="480"/>
              </a:spcBef>
              <a:spcAft>
                <a:spcPts val="0"/>
              </a:spcAft>
              <a:buClr>
                <a:schemeClr val="hlink"/>
              </a:buClr>
              <a:buSzPts val="2400"/>
              <a:buFont typeface="Noto Sans Symbols"/>
              <a:buNone/>
            </a:pPr>
            <a:r>
              <a:t/>
            </a:r>
            <a:endParaRPr b="0" i="1" sz="2400" u="none">
              <a:solidFill>
                <a:schemeClr val="dk1"/>
              </a:solidFill>
              <a:latin typeface="Arial"/>
              <a:ea typeface="Arial"/>
              <a:cs typeface="Arial"/>
              <a:sym typeface="Arial"/>
            </a:endParaRPr>
          </a:p>
        </p:txBody>
      </p:sp>
      <p:sp>
        <p:nvSpPr>
          <p:cNvPr id="322" name="Google Shape;322;p16"/>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graphicFrame>
        <p:nvGraphicFramePr>
          <p:cNvPr id="323" name="Google Shape;323;p16"/>
          <p:cNvGraphicFramePr/>
          <p:nvPr/>
        </p:nvGraphicFramePr>
        <p:xfrm>
          <a:off x="508000" y="1630362"/>
          <a:ext cx="3000000" cy="3000000"/>
        </p:xfrm>
        <a:graphic>
          <a:graphicData uri="http://schemas.openxmlformats.org/drawingml/2006/table">
            <a:tbl>
              <a:tblPr>
                <a:noFill/>
                <a:tableStyleId>{31D5217D-7989-4123-8A4E-5E50DADE823D}</a:tableStyleId>
              </a:tblPr>
              <a:tblGrid>
                <a:gridCol w="1184275"/>
                <a:gridCol w="1050925"/>
                <a:gridCol w="1371600"/>
                <a:gridCol w="1371600"/>
                <a:gridCol w="1905000"/>
                <a:gridCol w="1524000"/>
              </a:tblGrid>
              <a:tr h="365125">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1</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2</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3</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4</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6</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r>
              <a:tr h="1136650">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Ko nhập</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 số</a:t>
                      </a:r>
                      <a:endParaRPr/>
                    </a:p>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12345</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 chữ</a:t>
                      </a:r>
                      <a:endParaRPr/>
                    </a:p>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ABCDE</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 chữ + số</a:t>
                      </a:r>
                      <a:endParaRPr/>
                    </a:p>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12ABC</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 kí tự đặc biệt</a:t>
                      </a:r>
                      <a:endParaRPr/>
                    </a:p>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5(khoảng trắng 2 đầu)</a:t>
                      </a:r>
                      <a:endParaRPr/>
                    </a:p>
                    <a:p>
                      <a:pPr indent="0" lvl="0" marL="0" marR="0" rtl="0" algn="ctr">
                        <a:lnSpc>
                          <a:spcPct val="107000"/>
                        </a:lnSpc>
                        <a:spcBef>
                          <a:spcPts val="0"/>
                        </a:spcBef>
                        <a:spcAft>
                          <a:spcPts val="0"/>
                        </a:spcAft>
                        <a:buClr>
                          <a:schemeClr val="lt1"/>
                        </a:buClr>
                        <a:buSzPts val="1500"/>
                        <a:buFont typeface="Arial"/>
                        <a:buNone/>
                      </a:pPr>
                      <a:r>
                        <a:rPr b="1" i="0" lang="en-US" sz="1500" u="none" cap="none" strike="noStrike">
                          <a:solidFill>
                            <a:schemeClr val="lt1"/>
                          </a:solidFill>
                          <a:latin typeface="Arial"/>
                          <a:ea typeface="Arial"/>
                          <a:cs typeface="Arial"/>
                          <a:sym typeface="Arial"/>
                        </a:rPr>
                        <a:t> </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r>
              <a:tr h="1135050">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Ko Hợp lệ</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r>
            </a:tbl>
          </a:graphicData>
        </a:graphic>
      </p:graphicFrame>
      <p:graphicFrame>
        <p:nvGraphicFramePr>
          <p:cNvPr id="324" name="Google Shape;324;p16"/>
          <p:cNvGraphicFramePr/>
          <p:nvPr/>
        </p:nvGraphicFramePr>
        <p:xfrm>
          <a:off x="990600" y="4637087"/>
          <a:ext cx="3000000" cy="3000000"/>
        </p:xfrm>
        <a:graphic>
          <a:graphicData uri="http://schemas.openxmlformats.org/drawingml/2006/table">
            <a:tbl>
              <a:tblPr>
                <a:noFill/>
                <a:tableStyleId>{31D5217D-7989-4123-8A4E-5E50DADE823D}</a:tableStyleId>
              </a:tblPr>
              <a:tblGrid>
                <a:gridCol w="2514600"/>
                <a:gridCol w="2514600"/>
                <a:gridCol w="2514600"/>
              </a:tblGrid>
              <a:tr h="352425">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7</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8</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9</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348A78"/>
                    </a:solidFill>
                  </a:tcPr>
                </a:tc>
              </a:tr>
              <a:tr h="722300">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&lt;5</a:t>
                      </a:r>
                      <a:endParaRPr/>
                    </a:p>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1234</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Nhập 5 số</a:t>
                      </a:r>
                      <a:endParaRPr/>
                    </a:p>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12345</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&gt;5</a:t>
                      </a:r>
                      <a:endParaRPr/>
                    </a:p>
                    <a:p>
                      <a:pPr indent="0" lvl="0" marL="0" marR="0" rtl="0" algn="ctr">
                        <a:lnSpc>
                          <a:spcPct val="107000"/>
                        </a:lnSpc>
                        <a:spcBef>
                          <a:spcPts val="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123456</a:t>
                      </a:r>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r>
              <a:tr h="723900">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B050"/>
                    </a:solidFill>
                  </a:tcPr>
                </a:tc>
                <a:tc>
                  <a:txBody>
                    <a:bodyPr/>
                    <a:lstStyle/>
                    <a:p>
                      <a:pPr indent="0" lvl="0" marL="0" marR="0" rtl="0" algn="ctr">
                        <a:lnSpc>
                          <a:spcPct val="107000"/>
                        </a:lnSpc>
                        <a:spcBef>
                          <a:spcPts val="0"/>
                        </a:spcBef>
                        <a:spcAft>
                          <a:spcPts val="0"/>
                        </a:spcAft>
                        <a:buClr>
                          <a:schemeClr val="lt1"/>
                        </a:buClr>
                        <a:buSzPts val="1500"/>
                        <a:buFont typeface="Calibri"/>
                        <a:buNone/>
                      </a:pPr>
                      <a:r>
                        <a:rPr b="1" i="0" lang="en-US" sz="1500" u="none">
                          <a:solidFill>
                            <a:schemeClr val="lt1"/>
                          </a:solidFill>
                          <a:latin typeface="Calibri"/>
                          <a:ea typeface="Calibri"/>
                          <a:cs typeface="Calibri"/>
                          <a:sym typeface="Calibri"/>
                        </a:rPr>
                        <a:t>Ko Hợp lệ</a:t>
                      </a:r>
                      <a:endParaRPr/>
                    </a:p>
                    <a:p>
                      <a:pPr indent="0" lvl="0" marL="0" marR="0" rtl="0" algn="l">
                        <a:spcBef>
                          <a:spcPts val="0"/>
                        </a:spcBef>
                        <a:spcAft>
                          <a:spcPts val="0"/>
                        </a:spcAft>
                        <a:buNone/>
                      </a:pPr>
                      <a:r>
                        <a:t/>
                      </a:r>
                      <a:endParaRPr b="1" i="0" sz="1500" u="none">
                        <a:solidFill>
                          <a:schemeClr val="lt1"/>
                        </a:solidFill>
                        <a:latin typeface="Calibri"/>
                        <a:ea typeface="Calibri"/>
                        <a:cs typeface="Calibri"/>
                        <a:sym typeface="Calibri"/>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48A78"/>
                    </a:solidFill>
                  </a:tcPr>
                </a:tc>
              </a:tr>
            </a:tbl>
          </a:graphicData>
        </a:graphic>
      </p:graphicFrame>
      <p:sp>
        <p:nvSpPr>
          <p:cNvPr id="325" name="Google Shape;325;p16"/>
          <p:cNvSpPr txBox="1"/>
          <p:nvPr/>
        </p:nvSpPr>
        <p:spPr>
          <a:xfrm>
            <a:off x="1673225" y="4637087"/>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7"/>
          <p:cNvSpPr txBox="1"/>
          <p:nvPr>
            <p:ph type="title"/>
          </p:nvPr>
        </p:nvSpPr>
        <p:spPr>
          <a:xfrm>
            <a:off x="6858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Bài tập 3</a:t>
            </a:r>
            <a:endParaRPr/>
          </a:p>
        </p:txBody>
      </p:sp>
      <p:sp>
        <p:nvSpPr>
          <p:cNvPr id="331" name="Google Shape;331;p17"/>
          <p:cNvSpPr txBox="1"/>
          <p:nvPr>
            <p:ph idx="1" type="body"/>
          </p:nvPr>
        </p:nvSpPr>
        <p:spPr>
          <a:xfrm>
            <a:off x="685800" y="1828800"/>
            <a:ext cx="8229600" cy="2895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Chức năng đăng ký tài khoản của một ứng dụng học tập yêu cầu mật khẩu phải có chứa chữ hoa, chữ thường, số, ký tự đặc biệt và chiều dài tối thiểu là 6.</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kỹ thuật phân vùng tương đương viết các test case kiểm tra ô nhập liệu mật khẩu. </a:t>
            </a:r>
            <a:endParaRPr/>
          </a:p>
          <a:p>
            <a:pPr indent="-190500" lvl="0" marL="342900" marR="0" rtl="0" algn="l">
              <a:spcBef>
                <a:spcPts val="480"/>
              </a:spcBef>
              <a:spcAft>
                <a:spcPts val="0"/>
              </a:spcAft>
              <a:buClr>
                <a:schemeClr val="hlink"/>
              </a:buClr>
              <a:buSzPts val="2400"/>
              <a:buFont typeface="Noto Sans Symbols"/>
              <a:buNone/>
            </a:pPr>
            <a:r>
              <a:t/>
            </a:r>
            <a:endParaRPr b="0" i="1" sz="2400" u="none">
              <a:solidFill>
                <a:schemeClr val="dk1"/>
              </a:solidFill>
              <a:latin typeface="Arial"/>
              <a:ea typeface="Arial"/>
              <a:cs typeface="Arial"/>
              <a:sym typeface="Arial"/>
            </a:endParaRPr>
          </a:p>
        </p:txBody>
      </p:sp>
      <p:sp>
        <p:nvSpPr>
          <p:cNvPr id="332" name="Google Shape;332;p17"/>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8"/>
          <p:cNvSpPr txBox="1"/>
          <p:nvPr>
            <p:ph type="title"/>
          </p:nvPr>
        </p:nvSpPr>
        <p:spPr>
          <a:xfrm>
            <a:off x="533400" y="900112"/>
            <a:ext cx="1881187"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Hướng dẫn</a:t>
            </a:r>
            <a:endParaRPr/>
          </a:p>
        </p:txBody>
      </p:sp>
      <p:sp>
        <p:nvSpPr>
          <p:cNvPr id="338" name="Google Shape;338;p18"/>
          <p:cNvSpPr/>
          <p:nvPr/>
        </p:nvSpPr>
        <p:spPr>
          <a:xfrm>
            <a:off x="2414587" y="2438400"/>
            <a:ext cx="2992437" cy="2913062"/>
          </a:xfrm>
          <a:prstGeom prst="ellipse">
            <a:avLst/>
          </a:prstGeom>
          <a:solidFill>
            <a:srgbClr val="FFC000">
              <a:alpha val="58431"/>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a</a:t>
            </a:r>
            <a:endParaRPr/>
          </a:p>
        </p:txBody>
      </p:sp>
      <p:sp>
        <p:nvSpPr>
          <p:cNvPr id="339" name="Google Shape;339;p18"/>
          <p:cNvSpPr/>
          <p:nvPr/>
        </p:nvSpPr>
        <p:spPr>
          <a:xfrm>
            <a:off x="4583112" y="2493962"/>
            <a:ext cx="2992437" cy="2914650"/>
          </a:xfrm>
          <a:prstGeom prst="ellipse">
            <a:avLst/>
          </a:prstGeom>
          <a:solidFill>
            <a:srgbClr val="00B0F0">
              <a:alpha val="58431"/>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0" name="Google Shape;340;p18"/>
          <p:cNvSpPr/>
          <p:nvPr/>
        </p:nvSpPr>
        <p:spPr>
          <a:xfrm>
            <a:off x="3413125" y="3525837"/>
            <a:ext cx="2992437" cy="2914650"/>
          </a:xfrm>
          <a:prstGeom prst="ellipse">
            <a:avLst/>
          </a:prstGeom>
          <a:solidFill>
            <a:srgbClr val="C00000">
              <a:alpha val="58431"/>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1" name="Google Shape;341;p18"/>
          <p:cNvSpPr/>
          <p:nvPr/>
        </p:nvSpPr>
        <p:spPr>
          <a:xfrm>
            <a:off x="3492500" y="1360487"/>
            <a:ext cx="2992437" cy="2914650"/>
          </a:xfrm>
          <a:prstGeom prst="ellipse">
            <a:avLst/>
          </a:prstGeom>
          <a:solidFill>
            <a:srgbClr val="00B050">
              <a:alpha val="58431"/>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2" name="Google Shape;342;p18"/>
          <p:cNvSpPr txBox="1"/>
          <p:nvPr/>
        </p:nvSpPr>
        <p:spPr>
          <a:xfrm>
            <a:off x="4229100" y="1571625"/>
            <a:ext cx="14652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Chữ thường</a:t>
            </a:r>
            <a:endParaRPr/>
          </a:p>
        </p:txBody>
      </p:sp>
      <p:sp>
        <p:nvSpPr>
          <p:cNvPr id="343" name="Google Shape;343;p18"/>
          <p:cNvSpPr txBox="1"/>
          <p:nvPr/>
        </p:nvSpPr>
        <p:spPr>
          <a:xfrm>
            <a:off x="4371975" y="5664200"/>
            <a:ext cx="11795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Chữ hoa</a:t>
            </a:r>
            <a:endParaRPr/>
          </a:p>
        </p:txBody>
      </p:sp>
      <p:sp>
        <p:nvSpPr>
          <p:cNvPr id="344" name="Google Shape;344;p18"/>
          <p:cNvSpPr txBox="1"/>
          <p:nvPr/>
        </p:nvSpPr>
        <p:spPr>
          <a:xfrm>
            <a:off x="2476500" y="3709987"/>
            <a:ext cx="5175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Số</a:t>
            </a:r>
            <a:endParaRPr/>
          </a:p>
        </p:txBody>
      </p:sp>
      <p:sp>
        <p:nvSpPr>
          <p:cNvPr id="345" name="Google Shape;345;p18"/>
          <p:cNvSpPr txBox="1"/>
          <p:nvPr/>
        </p:nvSpPr>
        <p:spPr>
          <a:xfrm>
            <a:off x="6577012" y="3571875"/>
            <a:ext cx="10509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Ký tự đặc biệt</a:t>
            </a:r>
            <a:endParaRPr/>
          </a:p>
        </p:txBody>
      </p:sp>
      <p:grpSp>
        <p:nvGrpSpPr>
          <p:cNvPr id="346" name="Google Shape;346;p18"/>
          <p:cNvGrpSpPr/>
          <p:nvPr/>
        </p:nvGrpSpPr>
        <p:grpSpPr>
          <a:xfrm>
            <a:off x="3490912" y="2427287"/>
            <a:ext cx="1460500" cy="1474787"/>
            <a:chOff x="3186115" y="2278069"/>
            <a:chExt cx="1460103" cy="1474105"/>
          </a:xfrm>
        </p:grpSpPr>
        <p:sp>
          <p:nvSpPr>
            <p:cNvPr id="347" name="Google Shape;347;p18"/>
            <p:cNvSpPr txBox="1"/>
            <p:nvPr/>
          </p:nvSpPr>
          <p:spPr>
            <a:xfrm>
              <a:off x="3252928" y="227806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48" name="Google Shape;348;p18"/>
            <p:cNvSpPr txBox="1"/>
            <p:nvPr/>
          </p:nvSpPr>
          <p:spPr>
            <a:xfrm>
              <a:off x="3480969" y="227806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49" name="Google Shape;349;p18"/>
            <p:cNvSpPr txBox="1"/>
            <p:nvPr/>
          </p:nvSpPr>
          <p:spPr>
            <a:xfrm>
              <a:off x="3761675" y="227806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0" name="Google Shape;350;p18"/>
            <p:cNvSpPr txBox="1"/>
            <p:nvPr/>
          </p:nvSpPr>
          <p:spPr>
            <a:xfrm>
              <a:off x="3186115" y="254332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1" name="Google Shape;351;p18"/>
            <p:cNvSpPr txBox="1"/>
            <p:nvPr/>
          </p:nvSpPr>
          <p:spPr>
            <a:xfrm>
              <a:off x="3480969" y="254332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2" name="Google Shape;352;p18"/>
            <p:cNvSpPr txBox="1"/>
            <p:nvPr/>
          </p:nvSpPr>
          <p:spPr>
            <a:xfrm>
              <a:off x="3748999" y="254332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3" name="Google Shape;353;p18"/>
            <p:cNvSpPr txBox="1"/>
            <p:nvPr/>
          </p:nvSpPr>
          <p:spPr>
            <a:xfrm>
              <a:off x="4063670" y="254332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4" name="Google Shape;354;p18"/>
            <p:cNvSpPr txBox="1"/>
            <p:nvPr/>
          </p:nvSpPr>
          <p:spPr>
            <a:xfrm>
              <a:off x="3254675" y="28443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5" name="Google Shape;355;p18"/>
            <p:cNvSpPr txBox="1"/>
            <p:nvPr/>
          </p:nvSpPr>
          <p:spPr>
            <a:xfrm>
              <a:off x="3551246" y="28443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6" name="Google Shape;356;p18"/>
            <p:cNvSpPr txBox="1"/>
            <p:nvPr/>
          </p:nvSpPr>
          <p:spPr>
            <a:xfrm>
              <a:off x="3807031" y="28443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7" name="Google Shape;357;p18"/>
            <p:cNvSpPr txBox="1"/>
            <p:nvPr/>
          </p:nvSpPr>
          <p:spPr>
            <a:xfrm>
              <a:off x="4080089" y="28443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8" name="Google Shape;358;p18"/>
            <p:cNvSpPr txBox="1"/>
            <p:nvPr/>
          </p:nvSpPr>
          <p:spPr>
            <a:xfrm>
              <a:off x="3357033" y="314431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59" name="Google Shape;359;p18"/>
            <p:cNvSpPr txBox="1"/>
            <p:nvPr/>
          </p:nvSpPr>
          <p:spPr>
            <a:xfrm>
              <a:off x="3638056" y="314431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60" name="Google Shape;360;p18"/>
            <p:cNvSpPr txBox="1"/>
            <p:nvPr/>
          </p:nvSpPr>
          <p:spPr>
            <a:xfrm>
              <a:off x="3920834" y="314431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61" name="Google Shape;361;p18"/>
            <p:cNvSpPr txBox="1"/>
            <p:nvPr/>
          </p:nvSpPr>
          <p:spPr>
            <a:xfrm>
              <a:off x="3515260" y="338284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362" name="Google Shape;362;p18"/>
            <p:cNvSpPr txBox="1"/>
            <p:nvPr/>
          </p:nvSpPr>
          <p:spPr>
            <a:xfrm>
              <a:off x="4322090" y="258774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grpSp>
      <p:grpSp>
        <p:nvGrpSpPr>
          <p:cNvPr id="363" name="Google Shape;363;p18"/>
          <p:cNvGrpSpPr/>
          <p:nvPr/>
        </p:nvGrpSpPr>
        <p:grpSpPr>
          <a:xfrm>
            <a:off x="5083175" y="2508250"/>
            <a:ext cx="1397000" cy="1446212"/>
            <a:chOff x="4778822" y="2358660"/>
            <a:chExt cx="1396067" cy="1446271"/>
          </a:xfrm>
        </p:grpSpPr>
        <p:sp>
          <p:nvSpPr>
            <p:cNvPr id="364" name="Google Shape;364;p18"/>
            <p:cNvSpPr txBox="1"/>
            <p:nvPr/>
          </p:nvSpPr>
          <p:spPr>
            <a:xfrm>
              <a:off x="5304230" y="235866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65" name="Google Shape;365;p18"/>
            <p:cNvSpPr txBox="1"/>
            <p:nvPr/>
          </p:nvSpPr>
          <p:spPr>
            <a:xfrm>
              <a:off x="5532271" y="235866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66" name="Google Shape;366;p18"/>
            <p:cNvSpPr txBox="1"/>
            <p:nvPr/>
          </p:nvSpPr>
          <p:spPr>
            <a:xfrm>
              <a:off x="5812977" y="235866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67" name="Google Shape;367;p18"/>
            <p:cNvSpPr txBox="1"/>
            <p:nvPr/>
          </p:nvSpPr>
          <p:spPr>
            <a:xfrm>
              <a:off x="4778822" y="259997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68" name="Google Shape;368;p18"/>
            <p:cNvSpPr txBox="1"/>
            <p:nvPr/>
          </p:nvSpPr>
          <p:spPr>
            <a:xfrm>
              <a:off x="5060651" y="259997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69" name="Google Shape;369;p18"/>
            <p:cNvSpPr txBox="1"/>
            <p:nvPr/>
          </p:nvSpPr>
          <p:spPr>
            <a:xfrm>
              <a:off x="5341357" y="259997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0" name="Google Shape;370;p18"/>
            <p:cNvSpPr txBox="1"/>
            <p:nvPr/>
          </p:nvSpPr>
          <p:spPr>
            <a:xfrm>
              <a:off x="4981527" y="29112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1" name="Google Shape;371;p18"/>
            <p:cNvSpPr txBox="1"/>
            <p:nvPr/>
          </p:nvSpPr>
          <p:spPr>
            <a:xfrm>
              <a:off x="5263356" y="29112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2" name="Google Shape;372;p18"/>
            <p:cNvSpPr txBox="1"/>
            <p:nvPr/>
          </p:nvSpPr>
          <p:spPr>
            <a:xfrm>
              <a:off x="5544062" y="29112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3" name="Google Shape;373;p18"/>
            <p:cNvSpPr txBox="1"/>
            <p:nvPr/>
          </p:nvSpPr>
          <p:spPr>
            <a:xfrm>
              <a:off x="5062131" y="31953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4" name="Google Shape;374;p18"/>
            <p:cNvSpPr txBox="1"/>
            <p:nvPr/>
          </p:nvSpPr>
          <p:spPr>
            <a:xfrm>
              <a:off x="5370854" y="31953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5" name="Google Shape;375;p18"/>
            <p:cNvSpPr txBox="1"/>
            <p:nvPr/>
          </p:nvSpPr>
          <p:spPr>
            <a:xfrm>
              <a:off x="5651560" y="31953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6" name="Google Shape;376;p18"/>
            <p:cNvSpPr txBox="1"/>
            <p:nvPr/>
          </p:nvSpPr>
          <p:spPr>
            <a:xfrm>
              <a:off x="5609392" y="259997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7" name="Google Shape;377;p18"/>
            <p:cNvSpPr txBox="1"/>
            <p:nvPr/>
          </p:nvSpPr>
          <p:spPr>
            <a:xfrm>
              <a:off x="5850761" y="266914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8" name="Google Shape;378;p18"/>
            <p:cNvSpPr txBox="1"/>
            <p:nvPr/>
          </p:nvSpPr>
          <p:spPr>
            <a:xfrm>
              <a:off x="5527513" y="343559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79" name="Google Shape;379;p18"/>
            <p:cNvSpPr txBox="1"/>
            <p:nvPr/>
          </p:nvSpPr>
          <p:spPr>
            <a:xfrm>
              <a:off x="5807967" y="29112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380" name="Google Shape;380;p18"/>
            <p:cNvSpPr txBox="1"/>
            <p:nvPr/>
          </p:nvSpPr>
          <p:spPr>
            <a:xfrm>
              <a:off x="4981527" y="242887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grpSp>
      <p:grpSp>
        <p:nvGrpSpPr>
          <p:cNvPr id="381" name="Google Shape;381;p18"/>
          <p:cNvGrpSpPr/>
          <p:nvPr/>
        </p:nvGrpSpPr>
        <p:grpSpPr>
          <a:xfrm>
            <a:off x="5041900" y="3984625"/>
            <a:ext cx="1428750" cy="1460500"/>
            <a:chOff x="4737288" y="3834738"/>
            <a:chExt cx="1429242" cy="1460351"/>
          </a:xfrm>
        </p:grpSpPr>
        <p:sp>
          <p:nvSpPr>
            <p:cNvPr id="382" name="Google Shape;382;p18"/>
            <p:cNvSpPr txBox="1"/>
            <p:nvPr/>
          </p:nvSpPr>
          <p:spPr>
            <a:xfrm>
              <a:off x="4994674" y="399715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3" name="Google Shape;383;p18"/>
            <p:cNvSpPr txBox="1"/>
            <p:nvPr/>
          </p:nvSpPr>
          <p:spPr>
            <a:xfrm>
              <a:off x="5276503" y="399715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4" name="Google Shape;384;p18"/>
            <p:cNvSpPr txBox="1"/>
            <p:nvPr/>
          </p:nvSpPr>
          <p:spPr>
            <a:xfrm>
              <a:off x="5584103" y="4118175"/>
              <a:ext cx="278814" cy="3731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5" name="Google Shape;385;p18"/>
            <p:cNvSpPr txBox="1"/>
            <p:nvPr/>
          </p:nvSpPr>
          <p:spPr>
            <a:xfrm>
              <a:off x="4876032" y="430853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6" name="Google Shape;386;p18"/>
            <p:cNvSpPr txBox="1"/>
            <p:nvPr/>
          </p:nvSpPr>
          <p:spPr>
            <a:xfrm>
              <a:off x="5104073" y="430853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7" name="Google Shape;387;p18"/>
            <p:cNvSpPr txBox="1"/>
            <p:nvPr/>
          </p:nvSpPr>
          <p:spPr>
            <a:xfrm>
              <a:off x="5384779" y="430853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8" name="Google Shape;388;p18"/>
            <p:cNvSpPr txBox="1"/>
            <p:nvPr/>
          </p:nvSpPr>
          <p:spPr>
            <a:xfrm>
              <a:off x="4737288" y="452427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89" name="Google Shape;389;p18"/>
            <p:cNvSpPr txBox="1"/>
            <p:nvPr/>
          </p:nvSpPr>
          <p:spPr>
            <a:xfrm>
              <a:off x="4965329" y="452427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0" name="Google Shape;390;p18"/>
            <p:cNvSpPr txBox="1"/>
            <p:nvPr/>
          </p:nvSpPr>
          <p:spPr>
            <a:xfrm>
              <a:off x="5246035" y="452427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1" name="Google Shape;391;p18"/>
            <p:cNvSpPr txBox="1"/>
            <p:nvPr/>
          </p:nvSpPr>
          <p:spPr>
            <a:xfrm>
              <a:off x="4914205" y="476543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2" name="Google Shape;392;p18"/>
            <p:cNvSpPr txBox="1"/>
            <p:nvPr/>
          </p:nvSpPr>
          <p:spPr>
            <a:xfrm>
              <a:off x="5142246" y="476543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3" name="Google Shape;393;p18"/>
            <p:cNvSpPr txBox="1"/>
            <p:nvPr/>
          </p:nvSpPr>
          <p:spPr>
            <a:xfrm>
              <a:off x="5422952" y="467130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4" name="Google Shape;394;p18"/>
            <p:cNvSpPr txBox="1"/>
            <p:nvPr/>
          </p:nvSpPr>
          <p:spPr>
            <a:xfrm>
              <a:off x="5628358" y="430698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5" name="Google Shape;395;p18"/>
            <p:cNvSpPr txBox="1"/>
            <p:nvPr/>
          </p:nvSpPr>
          <p:spPr>
            <a:xfrm>
              <a:off x="5614991" y="453385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6" name="Google Shape;396;p18"/>
            <p:cNvSpPr txBox="1"/>
            <p:nvPr/>
          </p:nvSpPr>
          <p:spPr>
            <a:xfrm>
              <a:off x="5666746" y="491097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7" name="Google Shape;397;p18"/>
            <p:cNvSpPr txBox="1"/>
            <p:nvPr/>
          </p:nvSpPr>
          <p:spPr>
            <a:xfrm>
              <a:off x="5786186" y="468409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8" name="Google Shape;398;p18"/>
            <p:cNvSpPr txBox="1"/>
            <p:nvPr/>
          </p:nvSpPr>
          <p:spPr>
            <a:xfrm>
              <a:off x="5842402" y="446864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399" name="Google Shape;399;p18"/>
            <p:cNvSpPr txBox="1"/>
            <p:nvPr/>
          </p:nvSpPr>
          <p:spPr>
            <a:xfrm>
              <a:off x="5395728" y="492575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sp>
          <p:nvSpPr>
            <p:cNvPr id="400" name="Google Shape;400;p18"/>
            <p:cNvSpPr txBox="1"/>
            <p:nvPr/>
          </p:nvSpPr>
          <p:spPr>
            <a:xfrm>
              <a:off x="5503421" y="3834738"/>
              <a:ext cx="278814" cy="3731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Arial"/>
                <a:buNone/>
              </a:pPr>
              <a:r>
                <a:rPr b="1" i="0" lang="en-US" sz="1800" u="none">
                  <a:solidFill>
                    <a:srgbClr val="00B050"/>
                  </a:solidFill>
                  <a:latin typeface="Arial"/>
                  <a:ea typeface="Arial"/>
                  <a:cs typeface="Arial"/>
                  <a:sym typeface="Arial"/>
                </a:rPr>
                <a:t>+</a:t>
              </a:r>
              <a:endParaRPr/>
            </a:p>
          </p:txBody>
        </p:sp>
      </p:grpSp>
      <p:grpSp>
        <p:nvGrpSpPr>
          <p:cNvPr id="401" name="Google Shape;401;p18"/>
          <p:cNvGrpSpPr/>
          <p:nvPr/>
        </p:nvGrpSpPr>
        <p:grpSpPr>
          <a:xfrm>
            <a:off x="3411537" y="3886200"/>
            <a:ext cx="1385887" cy="1417637"/>
            <a:chOff x="3107346" y="3736074"/>
            <a:chExt cx="1384661" cy="1418474"/>
          </a:xfrm>
        </p:grpSpPr>
        <p:sp>
          <p:nvSpPr>
            <p:cNvPr id="402" name="Google Shape;402;p18"/>
            <p:cNvSpPr txBox="1"/>
            <p:nvPr/>
          </p:nvSpPr>
          <p:spPr>
            <a:xfrm>
              <a:off x="3283402" y="3972751"/>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3" name="Google Shape;403;p18"/>
            <p:cNvSpPr txBox="1"/>
            <p:nvPr/>
          </p:nvSpPr>
          <p:spPr>
            <a:xfrm>
              <a:off x="3511800" y="3972751"/>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4" name="Google Shape;404;p18"/>
            <p:cNvSpPr txBox="1"/>
            <p:nvPr/>
          </p:nvSpPr>
          <p:spPr>
            <a:xfrm>
              <a:off x="3792539" y="3972751"/>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5" name="Google Shape;405;p18"/>
            <p:cNvSpPr txBox="1"/>
            <p:nvPr/>
          </p:nvSpPr>
          <p:spPr>
            <a:xfrm>
              <a:off x="3161273" y="4255493"/>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6" name="Google Shape;406;p18"/>
            <p:cNvSpPr txBox="1"/>
            <p:nvPr/>
          </p:nvSpPr>
          <p:spPr>
            <a:xfrm>
              <a:off x="3389671" y="4255493"/>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7" name="Google Shape;407;p18"/>
            <p:cNvSpPr txBox="1"/>
            <p:nvPr/>
          </p:nvSpPr>
          <p:spPr>
            <a:xfrm>
              <a:off x="3670409" y="4255493"/>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8" name="Google Shape;408;p18"/>
            <p:cNvSpPr txBox="1"/>
            <p:nvPr/>
          </p:nvSpPr>
          <p:spPr>
            <a:xfrm>
              <a:off x="3107346" y="4515997"/>
              <a:ext cx="323564" cy="370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09" name="Google Shape;409;p18"/>
            <p:cNvSpPr txBox="1"/>
            <p:nvPr/>
          </p:nvSpPr>
          <p:spPr>
            <a:xfrm>
              <a:off x="3335744" y="4515997"/>
              <a:ext cx="323564" cy="370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0" name="Google Shape;410;p18"/>
            <p:cNvSpPr txBox="1"/>
            <p:nvPr/>
          </p:nvSpPr>
          <p:spPr>
            <a:xfrm>
              <a:off x="3616482" y="4515997"/>
              <a:ext cx="323564" cy="370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1" name="Google Shape;411;p18"/>
            <p:cNvSpPr txBox="1"/>
            <p:nvPr/>
          </p:nvSpPr>
          <p:spPr>
            <a:xfrm>
              <a:off x="3189823" y="4784442"/>
              <a:ext cx="323564" cy="370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2" name="Google Shape;412;p18"/>
            <p:cNvSpPr txBox="1"/>
            <p:nvPr/>
          </p:nvSpPr>
          <p:spPr>
            <a:xfrm>
              <a:off x="3416634" y="4784442"/>
              <a:ext cx="325150" cy="370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3" name="Google Shape;413;p18"/>
            <p:cNvSpPr txBox="1"/>
            <p:nvPr/>
          </p:nvSpPr>
          <p:spPr>
            <a:xfrm>
              <a:off x="3697374" y="4784442"/>
              <a:ext cx="325149" cy="370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4" name="Google Shape;414;p18"/>
            <p:cNvSpPr txBox="1"/>
            <p:nvPr/>
          </p:nvSpPr>
          <p:spPr>
            <a:xfrm>
              <a:off x="3887705" y="4274554"/>
              <a:ext cx="323564" cy="370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5" name="Google Shape;415;p18"/>
            <p:cNvSpPr txBox="1"/>
            <p:nvPr/>
          </p:nvSpPr>
          <p:spPr>
            <a:xfrm>
              <a:off x="4168443" y="4274554"/>
              <a:ext cx="323564" cy="370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6" name="Google Shape;416;p18"/>
            <p:cNvSpPr txBox="1"/>
            <p:nvPr/>
          </p:nvSpPr>
          <p:spPr>
            <a:xfrm>
              <a:off x="3887705" y="4544589"/>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7" name="Google Shape;417;p18"/>
            <p:cNvSpPr txBox="1"/>
            <p:nvPr/>
          </p:nvSpPr>
          <p:spPr>
            <a:xfrm>
              <a:off x="4168443" y="4544589"/>
              <a:ext cx="323564"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8" name="Google Shape;418;p18"/>
            <p:cNvSpPr txBox="1"/>
            <p:nvPr/>
          </p:nvSpPr>
          <p:spPr>
            <a:xfrm>
              <a:off x="3967010" y="4771734"/>
              <a:ext cx="325149" cy="3685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sp>
          <p:nvSpPr>
            <p:cNvPr id="419" name="Google Shape;419;p18"/>
            <p:cNvSpPr txBox="1"/>
            <p:nvPr/>
          </p:nvSpPr>
          <p:spPr>
            <a:xfrm>
              <a:off x="3497526" y="3736074"/>
              <a:ext cx="325149" cy="370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a:t>
              </a:r>
              <a:endParaRPr/>
            </a:p>
          </p:txBody>
        </p:sp>
      </p:grpSp>
      <p:grpSp>
        <p:nvGrpSpPr>
          <p:cNvPr id="420" name="Google Shape;420;p18"/>
          <p:cNvGrpSpPr/>
          <p:nvPr/>
        </p:nvGrpSpPr>
        <p:grpSpPr>
          <a:xfrm>
            <a:off x="4049712" y="3551237"/>
            <a:ext cx="552450" cy="598487"/>
            <a:chOff x="3744375" y="3400953"/>
            <a:chExt cx="552472" cy="599530"/>
          </a:xfrm>
        </p:grpSpPr>
        <p:sp>
          <p:nvSpPr>
            <p:cNvPr id="421" name="Google Shape;421;p18"/>
            <p:cNvSpPr txBox="1"/>
            <p:nvPr/>
          </p:nvSpPr>
          <p:spPr>
            <a:xfrm>
              <a:off x="3959519" y="340095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Tahoma"/>
                <a:buNone/>
              </a:pPr>
              <a:r>
                <a:rPr b="1" i="0" lang="en-US" sz="1800" u="none">
                  <a:solidFill>
                    <a:srgbClr val="7030A0"/>
                  </a:solidFill>
                  <a:latin typeface="Tahoma"/>
                  <a:ea typeface="Tahoma"/>
                  <a:cs typeface="Tahoma"/>
                  <a:sym typeface="Tahoma"/>
                </a:rPr>
                <a:t>x</a:t>
              </a:r>
              <a:endParaRPr/>
            </a:p>
          </p:txBody>
        </p:sp>
        <p:sp>
          <p:nvSpPr>
            <p:cNvPr id="422" name="Google Shape;422;p18"/>
            <p:cNvSpPr txBox="1"/>
            <p:nvPr/>
          </p:nvSpPr>
          <p:spPr>
            <a:xfrm>
              <a:off x="3744375" y="351045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Tahoma"/>
                <a:buNone/>
              </a:pPr>
              <a:r>
                <a:rPr b="1" i="0" lang="en-US" sz="1800" u="none">
                  <a:solidFill>
                    <a:srgbClr val="7030A0"/>
                  </a:solidFill>
                  <a:latin typeface="Tahoma"/>
                  <a:ea typeface="Tahoma"/>
                  <a:cs typeface="Tahoma"/>
                  <a:sym typeface="Tahoma"/>
                </a:rPr>
                <a:t>x</a:t>
              </a:r>
              <a:endParaRPr/>
            </a:p>
          </p:txBody>
        </p:sp>
        <p:sp>
          <p:nvSpPr>
            <p:cNvPr id="423" name="Google Shape;423;p18"/>
            <p:cNvSpPr txBox="1"/>
            <p:nvPr/>
          </p:nvSpPr>
          <p:spPr>
            <a:xfrm>
              <a:off x="3972719" y="363115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Tahoma"/>
                <a:buNone/>
              </a:pPr>
              <a:r>
                <a:rPr b="1" i="0" lang="en-US" sz="1800" u="none">
                  <a:solidFill>
                    <a:srgbClr val="7030A0"/>
                  </a:solidFill>
                  <a:latin typeface="Tahoma"/>
                  <a:ea typeface="Tahoma"/>
                  <a:cs typeface="Tahoma"/>
                  <a:sym typeface="Tahoma"/>
                </a:rPr>
                <a:t>x</a:t>
              </a:r>
              <a:endParaRPr/>
            </a:p>
          </p:txBody>
        </p:sp>
      </p:grpSp>
      <p:grpSp>
        <p:nvGrpSpPr>
          <p:cNvPr id="424" name="Google Shape;424;p18"/>
          <p:cNvGrpSpPr/>
          <p:nvPr/>
        </p:nvGrpSpPr>
        <p:grpSpPr>
          <a:xfrm>
            <a:off x="4694237" y="2921000"/>
            <a:ext cx="593725" cy="611187"/>
            <a:chOff x="4389290" y="2771290"/>
            <a:chExt cx="593506" cy="611552"/>
          </a:xfrm>
        </p:grpSpPr>
        <p:sp>
          <p:nvSpPr>
            <p:cNvPr id="425" name="Google Shape;425;p18"/>
            <p:cNvSpPr txBox="1"/>
            <p:nvPr/>
          </p:nvSpPr>
          <p:spPr>
            <a:xfrm>
              <a:off x="4549568" y="2771290"/>
              <a:ext cx="325318" cy="370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Tahoma"/>
                <a:buNone/>
              </a:pPr>
              <a:r>
                <a:rPr b="1" i="0" lang="en-US" sz="1800" u="none">
                  <a:solidFill>
                    <a:srgbClr val="FFFFFF"/>
                  </a:solidFill>
                  <a:latin typeface="Tahoma"/>
                  <a:ea typeface="Tahoma"/>
                  <a:cs typeface="Tahoma"/>
                  <a:sym typeface="Tahoma"/>
                </a:rPr>
                <a:t>x</a:t>
              </a:r>
              <a:endParaRPr/>
            </a:p>
          </p:txBody>
        </p:sp>
        <p:sp>
          <p:nvSpPr>
            <p:cNvPr id="426" name="Google Shape;426;p18"/>
            <p:cNvSpPr txBox="1"/>
            <p:nvPr/>
          </p:nvSpPr>
          <p:spPr>
            <a:xfrm>
              <a:off x="4389290" y="3012734"/>
              <a:ext cx="323731" cy="370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Tahoma"/>
                <a:buNone/>
              </a:pPr>
              <a:r>
                <a:rPr b="1" i="0" lang="en-US" sz="1800" u="none">
                  <a:solidFill>
                    <a:srgbClr val="FFFFFF"/>
                  </a:solidFill>
                  <a:latin typeface="Tahoma"/>
                  <a:ea typeface="Tahoma"/>
                  <a:cs typeface="Tahoma"/>
                  <a:sym typeface="Tahoma"/>
                </a:rPr>
                <a:t>x</a:t>
              </a:r>
              <a:endParaRPr/>
            </a:p>
          </p:txBody>
        </p:sp>
        <p:sp>
          <p:nvSpPr>
            <p:cNvPr id="427" name="Google Shape;427;p18"/>
            <p:cNvSpPr txBox="1"/>
            <p:nvPr/>
          </p:nvSpPr>
          <p:spPr>
            <a:xfrm>
              <a:off x="4659065" y="3012734"/>
              <a:ext cx="323731" cy="370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Tahoma"/>
                <a:buNone/>
              </a:pPr>
              <a:r>
                <a:rPr b="1" i="0" lang="en-US" sz="1800" u="none">
                  <a:solidFill>
                    <a:srgbClr val="FFFFFF"/>
                  </a:solidFill>
                  <a:latin typeface="Tahoma"/>
                  <a:ea typeface="Tahoma"/>
                  <a:cs typeface="Tahoma"/>
                  <a:sym typeface="Tahoma"/>
                </a:rPr>
                <a:t>x</a:t>
              </a:r>
              <a:endParaRPr/>
            </a:p>
          </p:txBody>
        </p:sp>
      </p:grpSp>
      <p:grpSp>
        <p:nvGrpSpPr>
          <p:cNvPr id="428" name="Google Shape;428;p18"/>
          <p:cNvGrpSpPr/>
          <p:nvPr/>
        </p:nvGrpSpPr>
        <p:grpSpPr>
          <a:xfrm>
            <a:off x="5380037" y="3619500"/>
            <a:ext cx="538162" cy="598487"/>
            <a:chOff x="5074664" y="3469224"/>
            <a:chExt cx="539006" cy="598141"/>
          </a:xfrm>
        </p:grpSpPr>
        <p:sp>
          <p:nvSpPr>
            <p:cNvPr id="429" name="Google Shape;429;p18"/>
            <p:cNvSpPr txBox="1"/>
            <p:nvPr/>
          </p:nvSpPr>
          <p:spPr>
            <a:xfrm>
              <a:off x="5115425" y="346922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ahoma"/>
                <a:buNone/>
              </a:pPr>
              <a:r>
                <a:rPr b="1" i="0" lang="en-US" sz="1800" u="none">
                  <a:solidFill>
                    <a:srgbClr val="FFFF00"/>
                  </a:solidFill>
                  <a:latin typeface="Tahoma"/>
                  <a:ea typeface="Tahoma"/>
                  <a:cs typeface="Tahoma"/>
                  <a:sym typeface="Tahoma"/>
                </a:rPr>
                <a:t>x</a:t>
              </a:r>
              <a:endParaRPr/>
            </a:p>
          </p:txBody>
        </p:sp>
        <p:sp>
          <p:nvSpPr>
            <p:cNvPr id="430" name="Google Shape;430;p18"/>
            <p:cNvSpPr txBox="1"/>
            <p:nvPr/>
          </p:nvSpPr>
          <p:spPr>
            <a:xfrm>
              <a:off x="5074664" y="369803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ahoma"/>
                <a:buNone/>
              </a:pPr>
              <a:r>
                <a:rPr b="1" i="0" lang="en-US" sz="1800" u="none">
                  <a:solidFill>
                    <a:srgbClr val="FFFF00"/>
                  </a:solidFill>
                  <a:latin typeface="Tahoma"/>
                  <a:ea typeface="Tahoma"/>
                  <a:cs typeface="Tahoma"/>
                  <a:sym typeface="Tahoma"/>
                </a:rPr>
                <a:t>x</a:t>
              </a:r>
              <a:endParaRPr/>
            </a:p>
          </p:txBody>
        </p:sp>
        <p:sp>
          <p:nvSpPr>
            <p:cNvPr id="431" name="Google Shape;431;p18"/>
            <p:cNvSpPr txBox="1"/>
            <p:nvPr/>
          </p:nvSpPr>
          <p:spPr>
            <a:xfrm>
              <a:off x="5289542" y="359087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ahoma"/>
                <a:buNone/>
              </a:pPr>
              <a:r>
                <a:rPr b="1" i="0" lang="en-US" sz="1800" u="none">
                  <a:solidFill>
                    <a:srgbClr val="FFFF00"/>
                  </a:solidFill>
                  <a:latin typeface="Tahoma"/>
                  <a:ea typeface="Tahoma"/>
                  <a:cs typeface="Tahoma"/>
                  <a:sym typeface="Tahoma"/>
                </a:rPr>
                <a:t>x</a:t>
              </a:r>
              <a:endParaRPr/>
            </a:p>
          </p:txBody>
        </p:sp>
      </p:grpSp>
      <p:grpSp>
        <p:nvGrpSpPr>
          <p:cNvPr id="432" name="Google Shape;432;p18"/>
          <p:cNvGrpSpPr/>
          <p:nvPr/>
        </p:nvGrpSpPr>
        <p:grpSpPr>
          <a:xfrm>
            <a:off x="4641850" y="4222750"/>
            <a:ext cx="619125" cy="612775"/>
            <a:chOff x="4336793" y="4072600"/>
            <a:chExt cx="619856" cy="612920"/>
          </a:xfrm>
        </p:grpSpPr>
        <p:sp>
          <p:nvSpPr>
            <p:cNvPr id="433" name="Google Shape;433;p18"/>
            <p:cNvSpPr txBox="1"/>
            <p:nvPr/>
          </p:nvSpPr>
          <p:spPr>
            <a:xfrm>
              <a:off x="4336793" y="407260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ahoma"/>
                <a:buNone/>
              </a:pPr>
              <a:r>
                <a:rPr b="1" i="0" lang="en-US" sz="1800" u="none">
                  <a:solidFill>
                    <a:srgbClr val="FF0000"/>
                  </a:solidFill>
                  <a:latin typeface="Tahoma"/>
                  <a:ea typeface="Tahoma"/>
                  <a:cs typeface="Tahoma"/>
                  <a:sym typeface="Tahoma"/>
                </a:rPr>
                <a:t>x</a:t>
              </a:r>
              <a:endParaRPr/>
            </a:p>
          </p:txBody>
        </p:sp>
        <p:sp>
          <p:nvSpPr>
            <p:cNvPr id="434" name="Google Shape;434;p18"/>
            <p:cNvSpPr txBox="1"/>
            <p:nvPr/>
          </p:nvSpPr>
          <p:spPr>
            <a:xfrm>
              <a:off x="4632521" y="411293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ahoma"/>
                <a:buNone/>
              </a:pPr>
              <a:r>
                <a:rPr b="1" i="0" lang="en-US" sz="1800" u="none">
                  <a:solidFill>
                    <a:srgbClr val="FF0000"/>
                  </a:solidFill>
                  <a:latin typeface="Tahoma"/>
                  <a:ea typeface="Tahoma"/>
                  <a:cs typeface="Tahoma"/>
                  <a:sym typeface="Tahoma"/>
                </a:rPr>
                <a:t>x</a:t>
              </a:r>
              <a:endParaRPr/>
            </a:p>
          </p:txBody>
        </p:sp>
        <p:sp>
          <p:nvSpPr>
            <p:cNvPr id="435" name="Google Shape;435;p18"/>
            <p:cNvSpPr txBox="1"/>
            <p:nvPr/>
          </p:nvSpPr>
          <p:spPr>
            <a:xfrm>
              <a:off x="4510798" y="431618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ahoma"/>
                <a:buNone/>
              </a:pPr>
              <a:r>
                <a:rPr b="1" i="0" lang="en-US" sz="1800" u="none">
                  <a:solidFill>
                    <a:srgbClr val="FF0000"/>
                  </a:solidFill>
                  <a:latin typeface="Tahoma"/>
                  <a:ea typeface="Tahoma"/>
                  <a:cs typeface="Tahoma"/>
                  <a:sym typeface="Tahoma"/>
                </a:rPr>
                <a:t>x</a:t>
              </a:r>
              <a:endParaRPr/>
            </a:p>
          </p:txBody>
        </p:sp>
      </p:grpSp>
      <p:grpSp>
        <p:nvGrpSpPr>
          <p:cNvPr id="436" name="Google Shape;436;p18"/>
          <p:cNvGrpSpPr/>
          <p:nvPr/>
        </p:nvGrpSpPr>
        <p:grpSpPr>
          <a:xfrm>
            <a:off x="4587875" y="3484562"/>
            <a:ext cx="838200" cy="839787"/>
            <a:chOff x="4283282" y="3334410"/>
            <a:chExt cx="837861" cy="840440"/>
          </a:xfrm>
        </p:grpSpPr>
        <p:sp>
          <p:nvSpPr>
            <p:cNvPr id="437" name="Google Shape;437;p18"/>
            <p:cNvSpPr txBox="1"/>
            <p:nvPr/>
          </p:nvSpPr>
          <p:spPr>
            <a:xfrm>
              <a:off x="4525751" y="3601498"/>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grpSp>
          <p:nvGrpSpPr>
            <p:cNvPr id="438" name="Google Shape;438;p18"/>
            <p:cNvGrpSpPr/>
            <p:nvPr/>
          </p:nvGrpSpPr>
          <p:grpSpPr>
            <a:xfrm>
              <a:off x="4283282" y="3334410"/>
              <a:ext cx="837861" cy="840440"/>
              <a:chOff x="4283282" y="3334410"/>
              <a:chExt cx="837861" cy="840440"/>
            </a:xfrm>
          </p:grpSpPr>
          <p:sp>
            <p:nvSpPr>
              <p:cNvPr id="439" name="Google Shape;439;p18"/>
              <p:cNvSpPr txBox="1"/>
              <p:nvPr/>
            </p:nvSpPr>
            <p:spPr>
              <a:xfrm>
                <a:off x="4308432" y="3334410"/>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sp>
            <p:nvSpPr>
              <p:cNvPr id="440" name="Google Shape;440;p18"/>
              <p:cNvSpPr txBox="1"/>
              <p:nvPr/>
            </p:nvSpPr>
            <p:spPr>
              <a:xfrm>
                <a:off x="4578822" y="3346601"/>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sp>
            <p:nvSpPr>
              <p:cNvPr id="441" name="Google Shape;441;p18"/>
              <p:cNvSpPr txBox="1"/>
              <p:nvPr/>
            </p:nvSpPr>
            <p:spPr>
              <a:xfrm>
                <a:off x="4793809" y="3507522"/>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sp>
            <p:nvSpPr>
              <p:cNvPr id="442" name="Google Shape;442;p18"/>
              <p:cNvSpPr txBox="1"/>
              <p:nvPr/>
            </p:nvSpPr>
            <p:spPr>
              <a:xfrm>
                <a:off x="4283282" y="3602116"/>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sp>
            <p:nvSpPr>
              <p:cNvPr id="443" name="Google Shape;443;p18"/>
              <p:cNvSpPr txBox="1"/>
              <p:nvPr/>
            </p:nvSpPr>
            <p:spPr>
              <a:xfrm>
                <a:off x="4660921" y="3789743"/>
                <a:ext cx="3273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sp>
            <p:nvSpPr>
              <p:cNvPr id="444" name="Google Shape;444;p18"/>
              <p:cNvSpPr txBox="1"/>
              <p:nvPr/>
            </p:nvSpPr>
            <p:spPr>
              <a:xfrm>
                <a:off x="4337748" y="3805518"/>
                <a:ext cx="35527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1800"/>
                  <a:buFont typeface="Tahoma"/>
                  <a:buNone/>
                </a:pPr>
                <a:r>
                  <a:rPr b="1" i="0" lang="en-US" sz="1800" u="none">
                    <a:solidFill>
                      <a:srgbClr val="FFC000"/>
                    </a:solidFill>
                    <a:latin typeface="Tahoma"/>
                    <a:ea typeface="Tahoma"/>
                    <a:cs typeface="Tahoma"/>
                    <a:sym typeface="Tahoma"/>
                  </a:rPr>
                  <a:t>o</a:t>
                </a:r>
                <a:endParaRPr/>
              </a:p>
            </p:txBody>
          </p:sp>
        </p:grpSp>
      </p:grpSp>
      <p:sp>
        <p:nvSpPr>
          <p:cNvPr id="445" name="Google Shape;445;p18"/>
          <p:cNvSpPr txBox="1"/>
          <p:nvPr/>
        </p:nvSpPr>
        <p:spPr>
          <a:xfrm>
            <a:off x="685800" y="1571625"/>
            <a:ext cx="815975" cy="2293937"/>
          </a:xfrm>
          <a:prstGeom prst="rect">
            <a:avLst/>
          </a:prstGeom>
          <a:solidFill>
            <a:schemeClr val="accent1"/>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&gt;=6</a:t>
            </a:r>
            <a:endParaRPr/>
          </a:p>
        </p:txBody>
      </p:sp>
      <p:sp>
        <p:nvSpPr>
          <p:cNvPr id="446" name="Google Shape;446;p18"/>
          <p:cNvSpPr txBox="1"/>
          <p:nvPr/>
        </p:nvSpPr>
        <p:spPr>
          <a:xfrm>
            <a:off x="685800" y="3857625"/>
            <a:ext cx="815975" cy="2293937"/>
          </a:xfrm>
          <a:prstGeom prst="rect">
            <a:avLst/>
          </a:prstGeom>
          <a:solidFill>
            <a:srgbClr val="C0000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200"/>
              <a:buFont typeface="Tahoma"/>
              <a:buNone/>
            </a:pPr>
            <a:r>
              <a:rPr b="0" i="0" lang="en-US" sz="2200" u="none">
                <a:solidFill>
                  <a:srgbClr val="FFFFFF"/>
                </a:solidFill>
                <a:latin typeface="Tahoma"/>
                <a:ea typeface="Tahoma"/>
                <a:cs typeface="Tahoma"/>
                <a:sym typeface="Tahoma"/>
              </a:rPr>
              <a:t>&lt; 6</a:t>
            </a:r>
            <a:endParaRPr/>
          </a:p>
        </p:txBody>
      </p:sp>
      <p:cxnSp>
        <p:nvCxnSpPr>
          <p:cNvPr id="447" name="Google Shape;447;p18"/>
          <p:cNvCxnSpPr/>
          <p:nvPr/>
        </p:nvCxnSpPr>
        <p:spPr>
          <a:xfrm flipH="1" rot="10800000">
            <a:off x="1501775" y="1266825"/>
            <a:ext cx="4694237" cy="304800"/>
          </a:xfrm>
          <a:prstGeom prst="straightConnector1">
            <a:avLst/>
          </a:prstGeom>
          <a:noFill/>
          <a:ln cap="flat" cmpd="sng" w="38100">
            <a:solidFill>
              <a:srgbClr val="629C83"/>
            </a:solidFill>
            <a:prstDash val="solid"/>
            <a:miter lim="800000"/>
            <a:headEnd len="med" w="med" type="none"/>
            <a:tailEnd len="med" w="med" type="none"/>
          </a:ln>
        </p:spPr>
      </p:cxnSp>
      <p:cxnSp>
        <p:nvCxnSpPr>
          <p:cNvPr id="448" name="Google Shape;448;p18"/>
          <p:cNvCxnSpPr/>
          <p:nvPr/>
        </p:nvCxnSpPr>
        <p:spPr>
          <a:xfrm>
            <a:off x="1501775" y="3873500"/>
            <a:ext cx="2755900" cy="2592387"/>
          </a:xfrm>
          <a:prstGeom prst="straightConnector1">
            <a:avLst/>
          </a:prstGeom>
          <a:noFill/>
          <a:ln cap="flat" cmpd="sng" w="38100">
            <a:solidFill>
              <a:srgbClr val="629C83"/>
            </a:solidFill>
            <a:prstDash val="solid"/>
            <a:miter lim="800000"/>
            <a:headEnd len="med" w="med" type="none"/>
            <a:tailEnd len="med" w="med" type="none"/>
          </a:ln>
        </p:spPr>
      </p:cxnSp>
      <p:sp>
        <p:nvSpPr>
          <p:cNvPr id="449" name="Google Shape;449;p18"/>
          <p:cNvSpPr txBox="1"/>
          <p:nvPr/>
        </p:nvSpPr>
        <p:spPr>
          <a:xfrm>
            <a:off x="7138987" y="1538287"/>
            <a:ext cx="1776412"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800"/>
              <a:buFont typeface="Tahoma"/>
              <a:buNone/>
            </a:pPr>
            <a:r>
              <a:rPr b="0" i="0" lang="en-US" sz="1800" u="none">
                <a:solidFill>
                  <a:srgbClr val="C00000"/>
                </a:solidFill>
                <a:latin typeface="Tahoma"/>
                <a:ea typeface="Tahoma"/>
                <a:cs typeface="Tahoma"/>
                <a:sym typeface="Tahoma"/>
              </a:rPr>
              <a:t>Mật khẩu được phép chứa ký tự rỗng hay không?</a:t>
            </a:r>
            <a:endParaRPr/>
          </a:p>
        </p:txBody>
      </p:sp>
      <p:grpSp>
        <p:nvGrpSpPr>
          <p:cNvPr id="450" name="Google Shape;450;p18"/>
          <p:cNvGrpSpPr/>
          <p:nvPr/>
        </p:nvGrpSpPr>
        <p:grpSpPr>
          <a:xfrm>
            <a:off x="6103937" y="2479675"/>
            <a:ext cx="1466850" cy="2854325"/>
            <a:chOff x="5799153" y="2342681"/>
            <a:chExt cx="1466867" cy="2854616"/>
          </a:xfrm>
        </p:grpSpPr>
        <p:sp>
          <p:nvSpPr>
            <p:cNvPr id="451" name="Google Shape;451;p18"/>
            <p:cNvSpPr txBox="1"/>
            <p:nvPr/>
          </p:nvSpPr>
          <p:spPr>
            <a:xfrm>
              <a:off x="6038241" y="379010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grpSp>
          <p:nvGrpSpPr>
            <p:cNvPr id="452" name="Google Shape;452;p18"/>
            <p:cNvGrpSpPr/>
            <p:nvPr/>
          </p:nvGrpSpPr>
          <p:grpSpPr>
            <a:xfrm>
              <a:off x="5799153" y="2342681"/>
              <a:ext cx="1466867" cy="2854616"/>
              <a:chOff x="5799153" y="2342681"/>
              <a:chExt cx="1466867" cy="2854616"/>
            </a:xfrm>
          </p:grpSpPr>
          <p:sp>
            <p:nvSpPr>
              <p:cNvPr id="453" name="Google Shape;453;p18"/>
              <p:cNvSpPr txBox="1"/>
              <p:nvPr/>
            </p:nvSpPr>
            <p:spPr>
              <a:xfrm>
                <a:off x="6133412" y="234268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grpSp>
            <p:nvGrpSpPr>
              <p:cNvPr id="454" name="Google Shape;454;p18"/>
              <p:cNvGrpSpPr/>
              <p:nvPr/>
            </p:nvGrpSpPr>
            <p:grpSpPr>
              <a:xfrm>
                <a:off x="5799153" y="2636558"/>
                <a:ext cx="1466867" cy="2560739"/>
                <a:chOff x="5799153" y="2636558"/>
                <a:chExt cx="1466867" cy="2560739"/>
              </a:xfrm>
            </p:grpSpPr>
            <p:sp>
              <p:nvSpPr>
                <p:cNvPr id="455" name="Google Shape;455;p18"/>
                <p:cNvSpPr txBox="1"/>
                <p:nvPr/>
              </p:nvSpPr>
              <p:spPr>
                <a:xfrm>
                  <a:off x="6443106" y="263655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56" name="Google Shape;456;p18"/>
                <p:cNvSpPr txBox="1"/>
                <p:nvPr/>
              </p:nvSpPr>
              <p:spPr>
                <a:xfrm>
                  <a:off x="6766851" y="292934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57" name="Google Shape;457;p18"/>
                <p:cNvSpPr txBox="1"/>
                <p:nvPr/>
              </p:nvSpPr>
              <p:spPr>
                <a:xfrm>
                  <a:off x="6941892" y="327939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58" name="Google Shape;458;p18"/>
                <p:cNvSpPr txBox="1"/>
                <p:nvPr/>
              </p:nvSpPr>
              <p:spPr>
                <a:xfrm>
                  <a:off x="6147909" y="276912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59" name="Google Shape;459;p18"/>
                <p:cNvSpPr txBox="1"/>
                <p:nvPr/>
              </p:nvSpPr>
              <p:spPr>
                <a:xfrm>
                  <a:off x="6510687" y="303813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0" name="Google Shape;460;p18"/>
                <p:cNvSpPr txBox="1"/>
                <p:nvPr/>
              </p:nvSpPr>
              <p:spPr>
                <a:xfrm>
                  <a:off x="6053673" y="319933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1" name="Google Shape;461;p18"/>
                <p:cNvSpPr txBox="1"/>
                <p:nvPr/>
              </p:nvSpPr>
              <p:spPr>
                <a:xfrm>
                  <a:off x="5799153" y="354980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2" name="Google Shape;462;p18"/>
                <p:cNvSpPr txBox="1"/>
                <p:nvPr/>
              </p:nvSpPr>
              <p:spPr>
                <a:xfrm>
                  <a:off x="5839225" y="388557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3" name="Google Shape;463;p18"/>
                <p:cNvSpPr txBox="1"/>
                <p:nvPr/>
              </p:nvSpPr>
              <p:spPr>
                <a:xfrm>
                  <a:off x="6053673" y="419526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4" name="Google Shape;464;p18"/>
                <p:cNvSpPr txBox="1"/>
                <p:nvPr/>
              </p:nvSpPr>
              <p:spPr>
                <a:xfrm>
                  <a:off x="6375872" y="403377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5" name="Google Shape;465;p18"/>
                <p:cNvSpPr txBox="1"/>
                <p:nvPr/>
              </p:nvSpPr>
              <p:spPr>
                <a:xfrm>
                  <a:off x="6682924" y="397749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6" name="Google Shape;466;p18"/>
                <p:cNvSpPr txBox="1"/>
                <p:nvPr/>
              </p:nvSpPr>
              <p:spPr>
                <a:xfrm>
                  <a:off x="6639471" y="444949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7" name="Google Shape;467;p18"/>
                <p:cNvSpPr txBox="1"/>
                <p:nvPr/>
              </p:nvSpPr>
              <p:spPr>
                <a:xfrm>
                  <a:off x="6115026" y="446232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8" name="Google Shape;468;p18"/>
                <p:cNvSpPr txBox="1"/>
                <p:nvPr/>
              </p:nvSpPr>
              <p:spPr>
                <a:xfrm>
                  <a:off x="6315343" y="471933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69" name="Google Shape;469;p18"/>
                <p:cNvSpPr txBox="1"/>
                <p:nvPr/>
              </p:nvSpPr>
              <p:spPr>
                <a:xfrm>
                  <a:off x="6032648" y="482796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sp>
              <p:nvSpPr>
                <p:cNvPr id="470" name="Google Shape;470;p18"/>
                <p:cNvSpPr txBox="1"/>
                <p:nvPr/>
              </p:nvSpPr>
              <p:spPr>
                <a:xfrm>
                  <a:off x="6920897" y="413029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1" i="0" lang="en-US" sz="1800" u="none">
                      <a:solidFill>
                        <a:srgbClr val="C00000"/>
                      </a:solidFill>
                      <a:latin typeface="Arial"/>
                      <a:ea typeface="Arial"/>
                      <a:cs typeface="Arial"/>
                      <a:sym typeface="Arial"/>
                    </a:rPr>
                    <a:t>●</a:t>
                  </a:r>
                  <a:endParaRPr/>
                </a:p>
              </p:txBody>
            </p:sp>
          </p:grpSp>
        </p:grpSp>
      </p:grpSp>
      <p:grpSp>
        <p:nvGrpSpPr>
          <p:cNvPr id="471" name="Google Shape;471;p18"/>
          <p:cNvGrpSpPr/>
          <p:nvPr/>
        </p:nvGrpSpPr>
        <p:grpSpPr>
          <a:xfrm>
            <a:off x="3657600" y="1295400"/>
            <a:ext cx="2644775" cy="1633537"/>
            <a:chOff x="3353199" y="1158165"/>
            <a:chExt cx="2644574" cy="1633828"/>
          </a:xfrm>
        </p:grpSpPr>
        <p:sp>
          <p:nvSpPr>
            <p:cNvPr id="472" name="Google Shape;472;p18"/>
            <p:cNvSpPr txBox="1"/>
            <p:nvPr/>
          </p:nvSpPr>
          <p:spPr>
            <a:xfrm>
              <a:off x="4930706" y="209980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grpSp>
          <p:nvGrpSpPr>
            <p:cNvPr id="473" name="Google Shape;473;p18"/>
            <p:cNvGrpSpPr/>
            <p:nvPr/>
          </p:nvGrpSpPr>
          <p:grpSpPr>
            <a:xfrm>
              <a:off x="3353199" y="1158165"/>
              <a:ext cx="2644574" cy="1633828"/>
              <a:chOff x="3353199" y="1158165"/>
              <a:chExt cx="2644574" cy="1633828"/>
            </a:xfrm>
          </p:grpSpPr>
          <p:sp>
            <p:nvSpPr>
              <p:cNvPr id="474" name="Google Shape;474;p18"/>
              <p:cNvSpPr txBox="1"/>
              <p:nvPr/>
            </p:nvSpPr>
            <p:spPr>
              <a:xfrm>
                <a:off x="3353199" y="198883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75" name="Google Shape;475;p18"/>
              <p:cNvSpPr txBox="1"/>
              <p:nvPr/>
            </p:nvSpPr>
            <p:spPr>
              <a:xfrm>
                <a:off x="3572160" y="166554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76" name="Google Shape;476;p18"/>
              <p:cNvSpPr txBox="1"/>
              <p:nvPr/>
            </p:nvSpPr>
            <p:spPr>
              <a:xfrm>
                <a:off x="3936865" y="165290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77" name="Google Shape;477;p18"/>
              <p:cNvSpPr txBox="1"/>
              <p:nvPr/>
            </p:nvSpPr>
            <p:spPr>
              <a:xfrm>
                <a:off x="3775886" y="194979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78" name="Google Shape;478;p18"/>
              <p:cNvSpPr txBox="1"/>
              <p:nvPr/>
            </p:nvSpPr>
            <p:spPr>
              <a:xfrm>
                <a:off x="4152544" y="212471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79" name="Google Shape;479;p18"/>
              <p:cNvSpPr txBox="1"/>
              <p:nvPr/>
            </p:nvSpPr>
            <p:spPr>
              <a:xfrm>
                <a:off x="4248092" y="186893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0" name="Google Shape;480;p18"/>
              <p:cNvSpPr txBox="1"/>
              <p:nvPr/>
            </p:nvSpPr>
            <p:spPr>
              <a:xfrm>
                <a:off x="4448555" y="164091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1" name="Google Shape;481;p18"/>
              <p:cNvSpPr txBox="1"/>
              <p:nvPr/>
            </p:nvSpPr>
            <p:spPr>
              <a:xfrm>
                <a:off x="4704090" y="195268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2" name="Google Shape;482;p18"/>
              <p:cNvSpPr txBox="1"/>
              <p:nvPr/>
            </p:nvSpPr>
            <p:spPr>
              <a:xfrm>
                <a:off x="4408093" y="216695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3" name="Google Shape;483;p18"/>
              <p:cNvSpPr txBox="1"/>
              <p:nvPr/>
            </p:nvSpPr>
            <p:spPr>
              <a:xfrm>
                <a:off x="4510801" y="115816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4" name="Google Shape;484;p18"/>
              <p:cNvSpPr txBox="1"/>
              <p:nvPr/>
            </p:nvSpPr>
            <p:spPr>
              <a:xfrm>
                <a:off x="4931110" y="170919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5" name="Google Shape;485;p18"/>
              <p:cNvSpPr txBox="1"/>
              <p:nvPr/>
            </p:nvSpPr>
            <p:spPr>
              <a:xfrm>
                <a:off x="5294580" y="168282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6" name="Google Shape;486;p18"/>
              <p:cNvSpPr txBox="1"/>
              <p:nvPr/>
            </p:nvSpPr>
            <p:spPr>
              <a:xfrm>
                <a:off x="5270515" y="194005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7" name="Google Shape;487;p18"/>
              <p:cNvSpPr txBox="1"/>
              <p:nvPr/>
            </p:nvSpPr>
            <p:spPr>
              <a:xfrm>
                <a:off x="5673645" y="197982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8" name="Google Shape;488;p18"/>
              <p:cNvSpPr txBox="1"/>
              <p:nvPr/>
            </p:nvSpPr>
            <p:spPr>
              <a:xfrm>
                <a:off x="5178741" y="138771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89" name="Google Shape;489;p18"/>
              <p:cNvSpPr txBox="1"/>
              <p:nvPr/>
            </p:nvSpPr>
            <p:spPr>
              <a:xfrm>
                <a:off x="5555556" y="172410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sp>
            <p:nvSpPr>
              <p:cNvPr id="490" name="Google Shape;490;p18"/>
              <p:cNvSpPr txBox="1"/>
              <p:nvPr/>
            </p:nvSpPr>
            <p:spPr>
              <a:xfrm>
                <a:off x="4620891" y="242266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a:t>
                </a:r>
                <a:endParaRPr/>
              </a:p>
            </p:txBody>
          </p:sp>
        </p:grpSp>
      </p:grpSp>
      <p:grpSp>
        <p:nvGrpSpPr>
          <p:cNvPr id="491" name="Google Shape;491;p18"/>
          <p:cNvGrpSpPr/>
          <p:nvPr/>
        </p:nvGrpSpPr>
        <p:grpSpPr>
          <a:xfrm>
            <a:off x="3487737" y="4935537"/>
            <a:ext cx="2827337" cy="1408112"/>
            <a:chOff x="3182221" y="4798763"/>
            <a:chExt cx="2827567" cy="1407674"/>
          </a:xfrm>
        </p:grpSpPr>
        <p:sp>
          <p:nvSpPr>
            <p:cNvPr id="492" name="Google Shape;492;p18"/>
            <p:cNvSpPr txBox="1"/>
            <p:nvPr/>
          </p:nvSpPr>
          <p:spPr>
            <a:xfrm>
              <a:off x="5349414" y="517939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grpSp>
          <p:nvGrpSpPr>
            <p:cNvPr id="493" name="Google Shape;493;p18"/>
            <p:cNvGrpSpPr/>
            <p:nvPr/>
          </p:nvGrpSpPr>
          <p:grpSpPr>
            <a:xfrm>
              <a:off x="3182221" y="4798763"/>
              <a:ext cx="2827567" cy="1407674"/>
              <a:chOff x="3182221" y="4798763"/>
              <a:chExt cx="2827567" cy="1407674"/>
            </a:xfrm>
          </p:grpSpPr>
          <p:sp>
            <p:nvSpPr>
              <p:cNvPr id="494" name="Google Shape;494;p18"/>
              <p:cNvSpPr txBox="1"/>
              <p:nvPr/>
            </p:nvSpPr>
            <p:spPr>
              <a:xfrm>
                <a:off x="4460054" y="47987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495" name="Google Shape;495;p18"/>
              <p:cNvSpPr txBox="1"/>
              <p:nvPr/>
            </p:nvSpPr>
            <p:spPr>
              <a:xfrm>
                <a:off x="4096033" y="501326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496" name="Google Shape;496;p18"/>
              <p:cNvSpPr txBox="1"/>
              <p:nvPr/>
            </p:nvSpPr>
            <p:spPr>
              <a:xfrm>
                <a:off x="3761078" y="512087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497" name="Google Shape;497;p18"/>
              <p:cNvSpPr txBox="1"/>
              <p:nvPr/>
            </p:nvSpPr>
            <p:spPr>
              <a:xfrm>
                <a:off x="3437951" y="516244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498" name="Google Shape;498;p18"/>
              <p:cNvSpPr txBox="1"/>
              <p:nvPr/>
            </p:nvSpPr>
            <p:spPr>
              <a:xfrm>
                <a:off x="3182221" y="522802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499" name="Google Shape;499;p18"/>
              <p:cNvSpPr txBox="1"/>
              <p:nvPr/>
            </p:nvSpPr>
            <p:spPr>
              <a:xfrm>
                <a:off x="3396453" y="549902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0" name="Google Shape;500;p18"/>
              <p:cNvSpPr txBox="1"/>
              <p:nvPr/>
            </p:nvSpPr>
            <p:spPr>
              <a:xfrm>
                <a:off x="3785067" y="544450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1" name="Google Shape;501;p18"/>
              <p:cNvSpPr txBox="1"/>
              <p:nvPr/>
            </p:nvSpPr>
            <p:spPr>
              <a:xfrm>
                <a:off x="3745060" y="578112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2" name="Google Shape;502;p18"/>
              <p:cNvSpPr txBox="1"/>
              <p:nvPr/>
            </p:nvSpPr>
            <p:spPr>
              <a:xfrm>
                <a:off x="4161962" y="582106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3" name="Google Shape;503;p18"/>
              <p:cNvSpPr txBox="1"/>
              <p:nvPr/>
            </p:nvSpPr>
            <p:spPr>
              <a:xfrm>
                <a:off x="4510801" y="583710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4" name="Google Shape;504;p18"/>
              <p:cNvSpPr txBox="1"/>
              <p:nvPr/>
            </p:nvSpPr>
            <p:spPr>
              <a:xfrm>
                <a:off x="5014684" y="574243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5" name="Google Shape;505;p18"/>
              <p:cNvSpPr txBox="1"/>
              <p:nvPr/>
            </p:nvSpPr>
            <p:spPr>
              <a:xfrm>
                <a:off x="4180994" y="524684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6" name="Google Shape;506;p18"/>
              <p:cNvSpPr txBox="1"/>
              <p:nvPr/>
            </p:nvSpPr>
            <p:spPr>
              <a:xfrm>
                <a:off x="4597155" y="503135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7" name="Google Shape;507;p18"/>
              <p:cNvSpPr txBox="1"/>
              <p:nvPr/>
            </p:nvSpPr>
            <p:spPr>
              <a:xfrm>
                <a:off x="4946854" y="520606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8" name="Google Shape;508;p18"/>
              <p:cNvSpPr txBox="1"/>
              <p:nvPr/>
            </p:nvSpPr>
            <p:spPr>
              <a:xfrm>
                <a:off x="5685660" y="5274036"/>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09" name="Google Shape;509;p18"/>
              <p:cNvSpPr txBox="1"/>
              <p:nvPr/>
            </p:nvSpPr>
            <p:spPr>
              <a:xfrm>
                <a:off x="5388586" y="558504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10" name="Google Shape;510;p18"/>
              <p:cNvSpPr txBox="1"/>
              <p:nvPr/>
            </p:nvSpPr>
            <p:spPr>
              <a:xfrm>
                <a:off x="5038368" y="543783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sp>
            <p:nvSpPr>
              <p:cNvPr id="511" name="Google Shape;511;p18"/>
              <p:cNvSpPr txBox="1"/>
              <p:nvPr/>
            </p:nvSpPr>
            <p:spPr>
              <a:xfrm>
                <a:off x="4596540" y="527863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1800"/>
                  <a:buFont typeface="Arial"/>
                  <a:buNone/>
                </a:pPr>
                <a:r>
                  <a:rPr b="1" i="0" lang="en-US" sz="1800" u="none">
                    <a:solidFill>
                      <a:srgbClr val="00B0F0"/>
                    </a:solidFill>
                    <a:latin typeface="Arial"/>
                    <a:ea typeface="Arial"/>
                    <a:cs typeface="Arial"/>
                    <a:sym typeface="Arial"/>
                  </a:rPr>
                  <a:t>●</a:t>
                </a:r>
                <a:endParaRPr/>
              </a:p>
            </p:txBody>
          </p:sp>
        </p:grpSp>
      </p:grpSp>
      <p:grpSp>
        <p:nvGrpSpPr>
          <p:cNvPr id="512" name="Google Shape;512;p18"/>
          <p:cNvGrpSpPr/>
          <p:nvPr/>
        </p:nvGrpSpPr>
        <p:grpSpPr>
          <a:xfrm>
            <a:off x="2528887" y="2616200"/>
            <a:ext cx="1419225" cy="2443162"/>
            <a:chOff x="2223882" y="2480400"/>
            <a:chExt cx="1420013" cy="2442636"/>
          </a:xfrm>
        </p:grpSpPr>
        <p:sp>
          <p:nvSpPr>
            <p:cNvPr id="513" name="Google Shape;513;p18"/>
            <p:cNvSpPr txBox="1"/>
            <p:nvPr/>
          </p:nvSpPr>
          <p:spPr>
            <a:xfrm>
              <a:off x="2748888" y="248040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4" name="Google Shape;514;p18"/>
            <p:cNvSpPr txBox="1"/>
            <p:nvPr/>
          </p:nvSpPr>
          <p:spPr>
            <a:xfrm>
              <a:off x="2480635" y="273907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5" name="Google Shape;515;p18"/>
            <p:cNvSpPr txBox="1"/>
            <p:nvPr/>
          </p:nvSpPr>
          <p:spPr>
            <a:xfrm>
              <a:off x="2294085" y="298275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6" name="Google Shape;516;p18"/>
            <p:cNvSpPr txBox="1"/>
            <p:nvPr/>
          </p:nvSpPr>
          <p:spPr>
            <a:xfrm>
              <a:off x="2761903" y="280465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7" name="Google Shape;517;p18"/>
            <p:cNvSpPr txBox="1"/>
            <p:nvPr/>
          </p:nvSpPr>
          <p:spPr>
            <a:xfrm>
              <a:off x="2964608" y="311334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8" name="Google Shape;518;p18"/>
            <p:cNvSpPr txBox="1"/>
            <p:nvPr/>
          </p:nvSpPr>
          <p:spPr>
            <a:xfrm>
              <a:off x="2641801" y="350732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19" name="Google Shape;519;p18"/>
            <p:cNvSpPr txBox="1"/>
            <p:nvPr/>
          </p:nvSpPr>
          <p:spPr>
            <a:xfrm>
              <a:off x="2574551" y="3223939"/>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0" name="Google Shape;520;p18"/>
            <p:cNvSpPr txBox="1"/>
            <p:nvPr/>
          </p:nvSpPr>
          <p:spPr>
            <a:xfrm>
              <a:off x="2318571" y="4016658"/>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1" name="Google Shape;521;p18"/>
            <p:cNvSpPr txBox="1"/>
            <p:nvPr/>
          </p:nvSpPr>
          <p:spPr>
            <a:xfrm>
              <a:off x="2627318" y="394886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2" name="Google Shape;522;p18"/>
            <p:cNvSpPr txBox="1"/>
            <p:nvPr/>
          </p:nvSpPr>
          <p:spPr>
            <a:xfrm>
              <a:off x="3031128" y="3531690"/>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3" name="Google Shape;523;p18"/>
            <p:cNvSpPr txBox="1"/>
            <p:nvPr/>
          </p:nvSpPr>
          <p:spPr>
            <a:xfrm>
              <a:off x="2882608" y="4135992"/>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4" name="Google Shape;524;p18"/>
            <p:cNvSpPr txBox="1"/>
            <p:nvPr/>
          </p:nvSpPr>
          <p:spPr>
            <a:xfrm>
              <a:off x="2506270" y="4311045"/>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5" name="Google Shape;525;p18"/>
            <p:cNvSpPr txBox="1"/>
            <p:nvPr/>
          </p:nvSpPr>
          <p:spPr>
            <a:xfrm>
              <a:off x="2748726" y="4553704"/>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6" name="Google Shape;526;p18"/>
            <p:cNvSpPr txBox="1"/>
            <p:nvPr/>
          </p:nvSpPr>
          <p:spPr>
            <a:xfrm>
              <a:off x="2223882" y="334459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7" name="Google Shape;527;p18"/>
            <p:cNvSpPr txBox="1"/>
            <p:nvPr/>
          </p:nvSpPr>
          <p:spPr>
            <a:xfrm>
              <a:off x="2963269" y="385770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sp>
          <p:nvSpPr>
            <p:cNvPr id="528" name="Google Shape;528;p18"/>
            <p:cNvSpPr txBox="1"/>
            <p:nvPr/>
          </p:nvSpPr>
          <p:spPr>
            <a:xfrm>
              <a:off x="3319767" y="3516921"/>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1800"/>
                <a:buFont typeface="Arial"/>
                <a:buNone/>
              </a:pPr>
              <a:r>
                <a:rPr b="1" i="0" lang="en-US" sz="1800" u="none">
                  <a:solidFill>
                    <a:srgbClr val="7030A0"/>
                  </a:solidFill>
                  <a:latin typeface="Arial"/>
                  <a:ea typeface="Arial"/>
                  <a:cs typeface="Arial"/>
                  <a:sym typeface="Arial"/>
                </a:rPr>
                <a:t>●</a:t>
              </a:r>
              <a:endParaRPr/>
            </a:p>
          </p:txBody>
        </p:sp>
      </p:grpSp>
      <p:sp>
        <p:nvSpPr>
          <p:cNvPr id="529" name="Google Shape;529;p18"/>
          <p:cNvSpPr txBox="1"/>
          <p:nvPr/>
        </p:nvSpPr>
        <p:spPr>
          <a:xfrm>
            <a:off x="331787" y="6256337"/>
            <a:ext cx="21590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Chiều dài mật khẩu</a:t>
            </a:r>
            <a:endParaRPr/>
          </a:p>
        </p:txBody>
      </p:sp>
      <p:sp>
        <p:nvSpPr>
          <p:cNvPr id="530" name="Google Shape;530;p18"/>
          <p:cNvSpPr txBox="1"/>
          <p:nvPr/>
        </p:nvSpPr>
        <p:spPr>
          <a:xfrm>
            <a:off x="7421562" y="5091112"/>
            <a:ext cx="1677987"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800"/>
              <a:buFont typeface="Tahoma"/>
              <a:buNone/>
            </a:pPr>
            <a:r>
              <a:rPr b="0" i="0" lang="en-US" sz="1800" u="none">
                <a:solidFill>
                  <a:srgbClr val="C00000"/>
                </a:solidFill>
                <a:latin typeface="Tahoma"/>
                <a:ea typeface="Tahoma"/>
                <a:cs typeface="Tahoma"/>
                <a:sym typeface="Tahoma"/>
              </a:rPr>
              <a:t>Chiều dài tối đa cho phép của mật khẩu là gì?</a:t>
            </a:r>
            <a:endParaRPr/>
          </a:p>
        </p:txBody>
      </p:sp>
      <p:sp>
        <p:nvSpPr>
          <p:cNvPr id="531" name="Google Shape;531;p18"/>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4.3.1. PHÂN VÙNG TƯƠNG ĐƯƠNG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25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25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
        <p:nvSpPr>
          <p:cNvPr id="537" name="Google Shape;537;p19"/>
          <p:cNvSpPr txBox="1"/>
          <p:nvPr>
            <p:ph idx="1" type="body"/>
          </p:nvPr>
        </p:nvSpPr>
        <p:spPr>
          <a:xfrm>
            <a:off x="1066800" y="1076325"/>
            <a:ext cx="7620000" cy="31908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Phân tích giá trị biên (BVA) là kỹ thuật kiểm thử dựa </a:t>
            </a:r>
            <a:r>
              <a:rPr b="1" i="0" lang="en-US" sz="2400" u="none">
                <a:solidFill>
                  <a:srgbClr val="C00000"/>
                </a:solidFill>
                <a:latin typeface="Arial"/>
                <a:ea typeface="Arial"/>
                <a:cs typeface="Arial"/>
                <a:sym typeface="Arial"/>
              </a:rPr>
              <a:t>các giá trị tại biên </a:t>
            </a:r>
            <a:r>
              <a:rPr b="0" i="0" lang="en-US" sz="2400" u="none">
                <a:solidFill>
                  <a:schemeClr val="dk1"/>
                </a:solidFill>
                <a:latin typeface="Arial"/>
                <a:ea typeface="Arial"/>
                <a:cs typeface="Arial"/>
                <a:sym typeface="Arial"/>
              </a:rPr>
              <a:t>giữa các phân vùng tương đương, bao gồm trường hợp:</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Hợp lệ (valid).</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Không hợp lệ (invalid).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0"/>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số quy tắc xác định giá trị biên khi thiết kế test case</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Giá trị nhỏ nhất (biên dưới)</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Giá trị nhỏ thứ hai (cận biên dưới)</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Giá trị lớn nhất (biên trên)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Giá trị lớn thứ hai (cận biên trên)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Giá trị bình thường</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Ví dụ 1: trở lại ví dụ xếp loại học sinh </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cxnSp>
        <p:nvCxnSpPr>
          <p:cNvPr id="543" name="Google Shape;543;p20"/>
          <p:cNvCxnSpPr/>
          <p:nvPr/>
        </p:nvCxnSpPr>
        <p:spPr>
          <a:xfrm>
            <a:off x="1079500" y="5835650"/>
            <a:ext cx="7493000" cy="0"/>
          </a:xfrm>
          <a:prstGeom prst="straightConnector1">
            <a:avLst/>
          </a:prstGeom>
          <a:noFill/>
          <a:ln cap="flat" cmpd="sng" w="38100">
            <a:solidFill>
              <a:srgbClr val="C00000"/>
            </a:solidFill>
            <a:prstDash val="solid"/>
            <a:miter lim="800000"/>
            <a:headEnd len="med" w="med" type="stealth"/>
            <a:tailEnd len="med" w="med" type="stealth"/>
          </a:ln>
        </p:spPr>
      </p:cxnSp>
      <p:cxnSp>
        <p:nvCxnSpPr>
          <p:cNvPr id="544" name="Google Shape;544;p20"/>
          <p:cNvCxnSpPr/>
          <p:nvPr/>
        </p:nvCxnSpPr>
        <p:spPr>
          <a:xfrm>
            <a:off x="2063750"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45" name="Google Shape;545;p20"/>
          <p:cNvCxnSpPr/>
          <p:nvPr/>
        </p:nvCxnSpPr>
        <p:spPr>
          <a:xfrm>
            <a:off x="4322762" y="568166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46" name="Google Shape;546;p20"/>
          <p:cNvCxnSpPr/>
          <p:nvPr/>
        </p:nvCxnSpPr>
        <p:spPr>
          <a:xfrm>
            <a:off x="5640387" y="568166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47" name="Google Shape;547;p20"/>
          <p:cNvCxnSpPr/>
          <p:nvPr/>
        </p:nvCxnSpPr>
        <p:spPr>
          <a:xfrm>
            <a:off x="6273800"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48" name="Google Shape;548;p20"/>
          <p:cNvCxnSpPr/>
          <p:nvPr/>
        </p:nvCxnSpPr>
        <p:spPr>
          <a:xfrm>
            <a:off x="6891337"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49" name="Google Shape;549;p20"/>
          <p:cNvCxnSpPr/>
          <p:nvPr/>
        </p:nvCxnSpPr>
        <p:spPr>
          <a:xfrm>
            <a:off x="7510462" y="5688012"/>
            <a:ext cx="0" cy="309562"/>
          </a:xfrm>
          <a:prstGeom prst="straightConnector1">
            <a:avLst/>
          </a:prstGeom>
          <a:noFill/>
          <a:ln cap="flat" cmpd="sng" w="28575">
            <a:solidFill>
              <a:srgbClr val="C00000"/>
            </a:solidFill>
            <a:prstDash val="solid"/>
            <a:miter lim="800000"/>
            <a:headEnd len="med" w="med" type="none"/>
            <a:tailEnd len="med" w="med" type="none"/>
          </a:ln>
        </p:spPr>
      </p:cxnSp>
      <p:sp>
        <p:nvSpPr>
          <p:cNvPr id="550" name="Google Shape;550;p20"/>
          <p:cNvSpPr txBox="1"/>
          <p:nvPr/>
        </p:nvSpPr>
        <p:spPr>
          <a:xfrm>
            <a:off x="7229475" y="5997575"/>
            <a:ext cx="47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10</a:t>
            </a:r>
            <a:endParaRPr/>
          </a:p>
        </p:txBody>
      </p:sp>
      <p:sp>
        <p:nvSpPr>
          <p:cNvPr id="551" name="Google Shape;551;p20"/>
          <p:cNvSpPr txBox="1"/>
          <p:nvPr/>
        </p:nvSpPr>
        <p:spPr>
          <a:xfrm>
            <a:off x="6738937" y="5999162"/>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9</a:t>
            </a:r>
            <a:endParaRPr/>
          </a:p>
        </p:txBody>
      </p:sp>
      <p:sp>
        <p:nvSpPr>
          <p:cNvPr id="552" name="Google Shape;552;p20"/>
          <p:cNvSpPr txBox="1"/>
          <p:nvPr/>
        </p:nvSpPr>
        <p:spPr>
          <a:xfrm>
            <a:off x="6107112" y="6003925"/>
            <a:ext cx="3317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8</a:t>
            </a:r>
            <a:endParaRPr/>
          </a:p>
        </p:txBody>
      </p:sp>
      <p:sp>
        <p:nvSpPr>
          <p:cNvPr id="553" name="Google Shape;553;p20"/>
          <p:cNvSpPr txBox="1"/>
          <p:nvPr/>
        </p:nvSpPr>
        <p:spPr>
          <a:xfrm>
            <a:off x="5461000" y="6003925"/>
            <a:ext cx="33337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7</a:t>
            </a:r>
            <a:endParaRPr/>
          </a:p>
        </p:txBody>
      </p:sp>
      <p:sp>
        <p:nvSpPr>
          <p:cNvPr id="554" name="Google Shape;554;p20"/>
          <p:cNvSpPr txBox="1"/>
          <p:nvPr/>
        </p:nvSpPr>
        <p:spPr>
          <a:xfrm>
            <a:off x="4157662" y="5997575"/>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5</a:t>
            </a:r>
            <a:endParaRPr/>
          </a:p>
        </p:txBody>
      </p:sp>
      <p:sp>
        <p:nvSpPr>
          <p:cNvPr id="555" name="Google Shape;555;p20"/>
          <p:cNvSpPr txBox="1"/>
          <p:nvPr/>
        </p:nvSpPr>
        <p:spPr>
          <a:xfrm>
            <a:off x="1898650" y="5997575"/>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0</a:t>
            </a:r>
            <a:endParaRPr/>
          </a:p>
        </p:txBody>
      </p:sp>
      <p:sp>
        <p:nvSpPr>
          <p:cNvPr id="556" name="Google Shape;556;p20"/>
          <p:cNvSpPr txBox="1"/>
          <p:nvPr/>
        </p:nvSpPr>
        <p:spPr>
          <a:xfrm>
            <a:off x="2657475" y="5411787"/>
            <a:ext cx="10334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Yếu, kém</a:t>
            </a:r>
            <a:endParaRPr/>
          </a:p>
        </p:txBody>
      </p:sp>
      <p:sp>
        <p:nvSpPr>
          <p:cNvPr id="557" name="Google Shape;557;p20"/>
          <p:cNvSpPr txBox="1"/>
          <p:nvPr/>
        </p:nvSpPr>
        <p:spPr>
          <a:xfrm>
            <a:off x="4592637" y="5889625"/>
            <a:ext cx="7397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Trung bình</a:t>
            </a:r>
            <a:endParaRPr/>
          </a:p>
        </p:txBody>
      </p:sp>
      <p:sp>
        <p:nvSpPr>
          <p:cNvPr id="558" name="Google Shape;558;p20"/>
          <p:cNvSpPr txBox="1"/>
          <p:nvPr/>
        </p:nvSpPr>
        <p:spPr>
          <a:xfrm>
            <a:off x="5694362" y="5413375"/>
            <a:ext cx="52546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Khá</a:t>
            </a:r>
            <a:endParaRPr/>
          </a:p>
        </p:txBody>
      </p:sp>
      <p:sp>
        <p:nvSpPr>
          <p:cNvPr id="559" name="Google Shape;559;p20"/>
          <p:cNvSpPr txBox="1"/>
          <p:nvPr/>
        </p:nvSpPr>
        <p:spPr>
          <a:xfrm>
            <a:off x="6315075" y="5921375"/>
            <a:ext cx="5254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Giỏi</a:t>
            </a:r>
            <a:endParaRPr/>
          </a:p>
        </p:txBody>
      </p:sp>
      <p:sp>
        <p:nvSpPr>
          <p:cNvPr id="560" name="Google Shape;560;p20"/>
          <p:cNvSpPr txBox="1"/>
          <p:nvPr/>
        </p:nvSpPr>
        <p:spPr>
          <a:xfrm>
            <a:off x="6838950" y="5176837"/>
            <a:ext cx="719137"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Xuất sắc</a:t>
            </a:r>
            <a:endParaRPr/>
          </a:p>
        </p:txBody>
      </p:sp>
      <p:sp>
        <p:nvSpPr>
          <p:cNvPr id="561" name="Google Shape;561;p2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500"/>
                                        <p:tgtEl>
                                          <p:spTgt spid="558"/>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1"/>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0 ≤ ĐTB &lt; 5: yếu, kém</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5 ≤ ĐTB &lt; 7: trung bình</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7 ≤ ĐTB &lt; 8: khá</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8 ≤ ĐTB &lt; 9: giỏi</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9 &lt;= ĐTB &lt;= 10: xuất sắc</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Biết điểm trung bình làm tròn 1 chữ số thập phân.</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Ví dụ 1: trở lại ví dụ xếp loại học sinh </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cxnSp>
        <p:nvCxnSpPr>
          <p:cNvPr id="567" name="Google Shape;567;p21"/>
          <p:cNvCxnSpPr/>
          <p:nvPr/>
        </p:nvCxnSpPr>
        <p:spPr>
          <a:xfrm>
            <a:off x="1079500" y="5835650"/>
            <a:ext cx="7493000" cy="0"/>
          </a:xfrm>
          <a:prstGeom prst="straightConnector1">
            <a:avLst/>
          </a:prstGeom>
          <a:noFill/>
          <a:ln cap="flat" cmpd="sng" w="38100">
            <a:solidFill>
              <a:srgbClr val="C00000"/>
            </a:solidFill>
            <a:prstDash val="solid"/>
            <a:miter lim="800000"/>
            <a:headEnd len="med" w="med" type="stealth"/>
            <a:tailEnd len="med" w="med" type="stealth"/>
          </a:ln>
        </p:spPr>
      </p:cxnSp>
      <p:cxnSp>
        <p:nvCxnSpPr>
          <p:cNvPr id="568" name="Google Shape;568;p21"/>
          <p:cNvCxnSpPr/>
          <p:nvPr/>
        </p:nvCxnSpPr>
        <p:spPr>
          <a:xfrm>
            <a:off x="2063750"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69" name="Google Shape;569;p21"/>
          <p:cNvCxnSpPr/>
          <p:nvPr/>
        </p:nvCxnSpPr>
        <p:spPr>
          <a:xfrm>
            <a:off x="4322762" y="568166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70" name="Google Shape;570;p21"/>
          <p:cNvCxnSpPr/>
          <p:nvPr/>
        </p:nvCxnSpPr>
        <p:spPr>
          <a:xfrm>
            <a:off x="5640387" y="568166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71" name="Google Shape;571;p21"/>
          <p:cNvCxnSpPr/>
          <p:nvPr/>
        </p:nvCxnSpPr>
        <p:spPr>
          <a:xfrm>
            <a:off x="6273800"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72" name="Google Shape;572;p21"/>
          <p:cNvCxnSpPr/>
          <p:nvPr/>
        </p:nvCxnSpPr>
        <p:spPr>
          <a:xfrm>
            <a:off x="6891337" y="5688012"/>
            <a:ext cx="0" cy="309562"/>
          </a:xfrm>
          <a:prstGeom prst="straightConnector1">
            <a:avLst/>
          </a:prstGeom>
          <a:noFill/>
          <a:ln cap="flat" cmpd="sng" w="28575">
            <a:solidFill>
              <a:srgbClr val="C00000"/>
            </a:solidFill>
            <a:prstDash val="solid"/>
            <a:miter lim="800000"/>
            <a:headEnd len="med" w="med" type="none"/>
            <a:tailEnd len="med" w="med" type="none"/>
          </a:ln>
        </p:spPr>
      </p:cxnSp>
      <p:cxnSp>
        <p:nvCxnSpPr>
          <p:cNvPr id="573" name="Google Shape;573;p21"/>
          <p:cNvCxnSpPr/>
          <p:nvPr/>
        </p:nvCxnSpPr>
        <p:spPr>
          <a:xfrm>
            <a:off x="7510462" y="5688012"/>
            <a:ext cx="0" cy="309562"/>
          </a:xfrm>
          <a:prstGeom prst="straightConnector1">
            <a:avLst/>
          </a:prstGeom>
          <a:noFill/>
          <a:ln cap="flat" cmpd="sng" w="28575">
            <a:solidFill>
              <a:srgbClr val="C00000"/>
            </a:solidFill>
            <a:prstDash val="solid"/>
            <a:miter lim="800000"/>
            <a:headEnd len="med" w="med" type="none"/>
            <a:tailEnd len="med" w="med" type="none"/>
          </a:ln>
        </p:spPr>
      </p:cxnSp>
      <p:sp>
        <p:nvSpPr>
          <p:cNvPr id="574" name="Google Shape;574;p21"/>
          <p:cNvSpPr txBox="1"/>
          <p:nvPr/>
        </p:nvSpPr>
        <p:spPr>
          <a:xfrm>
            <a:off x="7229475" y="5997575"/>
            <a:ext cx="47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10</a:t>
            </a:r>
            <a:endParaRPr/>
          </a:p>
        </p:txBody>
      </p:sp>
      <p:sp>
        <p:nvSpPr>
          <p:cNvPr id="575" name="Google Shape;575;p21"/>
          <p:cNvSpPr txBox="1"/>
          <p:nvPr/>
        </p:nvSpPr>
        <p:spPr>
          <a:xfrm>
            <a:off x="6738937" y="5999162"/>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9</a:t>
            </a:r>
            <a:endParaRPr/>
          </a:p>
        </p:txBody>
      </p:sp>
      <p:sp>
        <p:nvSpPr>
          <p:cNvPr id="576" name="Google Shape;576;p21"/>
          <p:cNvSpPr txBox="1"/>
          <p:nvPr/>
        </p:nvSpPr>
        <p:spPr>
          <a:xfrm>
            <a:off x="6107112" y="6003925"/>
            <a:ext cx="3317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8</a:t>
            </a:r>
            <a:endParaRPr/>
          </a:p>
        </p:txBody>
      </p:sp>
      <p:sp>
        <p:nvSpPr>
          <p:cNvPr id="577" name="Google Shape;577;p21"/>
          <p:cNvSpPr txBox="1"/>
          <p:nvPr/>
        </p:nvSpPr>
        <p:spPr>
          <a:xfrm>
            <a:off x="5461000" y="6003925"/>
            <a:ext cx="33337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7</a:t>
            </a:r>
            <a:endParaRPr/>
          </a:p>
        </p:txBody>
      </p:sp>
      <p:sp>
        <p:nvSpPr>
          <p:cNvPr id="578" name="Google Shape;578;p21"/>
          <p:cNvSpPr txBox="1"/>
          <p:nvPr/>
        </p:nvSpPr>
        <p:spPr>
          <a:xfrm>
            <a:off x="4157662" y="5997575"/>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5</a:t>
            </a:r>
            <a:endParaRPr/>
          </a:p>
        </p:txBody>
      </p:sp>
      <p:sp>
        <p:nvSpPr>
          <p:cNvPr id="579" name="Google Shape;579;p21"/>
          <p:cNvSpPr txBox="1"/>
          <p:nvPr/>
        </p:nvSpPr>
        <p:spPr>
          <a:xfrm>
            <a:off x="1898650" y="5997575"/>
            <a:ext cx="331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0</a:t>
            </a:r>
            <a:endParaRPr/>
          </a:p>
        </p:txBody>
      </p:sp>
      <p:sp>
        <p:nvSpPr>
          <p:cNvPr id="580" name="Google Shape;580;p21"/>
          <p:cNvSpPr txBox="1"/>
          <p:nvPr/>
        </p:nvSpPr>
        <p:spPr>
          <a:xfrm>
            <a:off x="2657475" y="5411787"/>
            <a:ext cx="10334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Yếu, kém</a:t>
            </a:r>
            <a:endParaRPr/>
          </a:p>
        </p:txBody>
      </p:sp>
      <p:sp>
        <p:nvSpPr>
          <p:cNvPr id="581" name="Google Shape;581;p21"/>
          <p:cNvSpPr txBox="1"/>
          <p:nvPr/>
        </p:nvSpPr>
        <p:spPr>
          <a:xfrm>
            <a:off x="4592637" y="5889625"/>
            <a:ext cx="7397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Trung bình</a:t>
            </a:r>
            <a:endParaRPr/>
          </a:p>
        </p:txBody>
      </p:sp>
      <p:sp>
        <p:nvSpPr>
          <p:cNvPr id="582" name="Google Shape;582;p21"/>
          <p:cNvSpPr txBox="1"/>
          <p:nvPr/>
        </p:nvSpPr>
        <p:spPr>
          <a:xfrm>
            <a:off x="5694362" y="5413375"/>
            <a:ext cx="52546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Khá</a:t>
            </a:r>
            <a:endParaRPr/>
          </a:p>
        </p:txBody>
      </p:sp>
      <p:sp>
        <p:nvSpPr>
          <p:cNvPr id="583" name="Google Shape;583;p21"/>
          <p:cNvSpPr txBox="1"/>
          <p:nvPr/>
        </p:nvSpPr>
        <p:spPr>
          <a:xfrm>
            <a:off x="6315075" y="5921375"/>
            <a:ext cx="5254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Giỏi</a:t>
            </a:r>
            <a:endParaRPr/>
          </a:p>
        </p:txBody>
      </p:sp>
      <p:sp>
        <p:nvSpPr>
          <p:cNvPr id="584" name="Google Shape;584;p21"/>
          <p:cNvSpPr txBox="1"/>
          <p:nvPr/>
        </p:nvSpPr>
        <p:spPr>
          <a:xfrm>
            <a:off x="6838950" y="5176837"/>
            <a:ext cx="719137"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Xuất sắc</a:t>
            </a:r>
            <a:endParaRPr/>
          </a:p>
        </p:txBody>
      </p:sp>
      <p:sp>
        <p:nvSpPr>
          <p:cNvPr id="585" name="Google Shape;585;p21"/>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0" st="0"/>
                                            </p:txEl>
                                          </p:spTgt>
                                        </p:tgtEl>
                                        <p:attrNameLst>
                                          <p:attrName>style.visibility</p:attrName>
                                        </p:attrNameLst>
                                      </p:cBhvr>
                                      <p:to>
                                        <p:strVal val="visible"/>
                                      </p:to>
                                    </p:set>
                                    <p:animEffect filter="fade" transition="in">
                                      <p:cBhvr>
                                        <p:cTn dur="500"/>
                                        <p:tgtEl>
                                          <p:spTgt spid="5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1" st="1"/>
                                            </p:txEl>
                                          </p:spTgt>
                                        </p:tgtEl>
                                        <p:attrNameLst>
                                          <p:attrName>style.visibility</p:attrName>
                                        </p:attrNameLst>
                                      </p:cBhvr>
                                      <p:to>
                                        <p:strVal val="visible"/>
                                      </p:to>
                                    </p:set>
                                    <p:animEffect filter="fade" transition="in">
                                      <p:cBhvr>
                                        <p:cTn dur="500"/>
                                        <p:tgtEl>
                                          <p:spTgt spid="5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2" st="2"/>
                                            </p:txEl>
                                          </p:spTgt>
                                        </p:tgtEl>
                                        <p:attrNameLst>
                                          <p:attrName>style.visibility</p:attrName>
                                        </p:attrNameLst>
                                      </p:cBhvr>
                                      <p:to>
                                        <p:strVal val="visible"/>
                                      </p:to>
                                    </p:set>
                                    <p:animEffect filter="fade" transition="in">
                                      <p:cBhvr>
                                        <p:cTn dur="500"/>
                                        <p:tgtEl>
                                          <p:spTgt spid="5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3" st="3"/>
                                            </p:txEl>
                                          </p:spTgt>
                                        </p:tgtEl>
                                        <p:attrNameLst>
                                          <p:attrName>style.visibility</p:attrName>
                                        </p:attrNameLst>
                                      </p:cBhvr>
                                      <p:to>
                                        <p:strVal val="visible"/>
                                      </p:to>
                                    </p:set>
                                    <p:animEffect filter="fade" transition="in">
                                      <p:cBhvr>
                                        <p:cTn dur="500"/>
                                        <p:tgtEl>
                                          <p:spTgt spid="5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4" st="4"/>
                                            </p:txEl>
                                          </p:spTgt>
                                        </p:tgtEl>
                                        <p:attrNameLst>
                                          <p:attrName>style.visibility</p:attrName>
                                        </p:attrNameLst>
                                      </p:cBhvr>
                                      <p:to>
                                        <p:strVal val="visible"/>
                                      </p:to>
                                    </p:set>
                                    <p:animEffect filter="fade" transition="in">
                                      <p:cBhvr>
                                        <p:cTn dur="500"/>
                                        <p:tgtEl>
                                          <p:spTgt spid="5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5" st="5"/>
                                            </p:txEl>
                                          </p:spTgt>
                                        </p:tgtEl>
                                        <p:attrNameLst>
                                          <p:attrName>style.visibility</p:attrName>
                                        </p:attrNameLst>
                                      </p:cBhvr>
                                      <p:to>
                                        <p:strVal val="visible"/>
                                      </p:to>
                                    </p:set>
                                    <p:animEffect filter="fade" transition="in">
                                      <p:cBhvr>
                                        <p:cTn dur="500"/>
                                        <p:tgtEl>
                                          <p:spTgt spid="5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6" st="6"/>
                                            </p:txEl>
                                          </p:spTgt>
                                        </p:tgtEl>
                                        <p:attrNameLst>
                                          <p:attrName>style.visibility</p:attrName>
                                        </p:attrNameLst>
                                      </p:cBhvr>
                                      <p:to>
                                        <p:strVal val="visible"/>
                                      </p:to>
                                    </p:set>
                                    <p:animEffect filter="fade" transition="in">
                                      <p:cBhvr>
                                        <p:cTn dur="500"/>
                                        <p:tgtEl>
                                          <p:spTgt spid="5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xEl>
                                              <p:pRg end="7" st="7"/>
                                            </p:txEl>
                                          </p:spTgt>
                                        </p:tgtEl>
                                        <p:attrNameLst>
                                          <p:attrName>style.visibility</p:attrName>
                                        </p:attrNameLst>
                                      </p:cBhvr>
                                      <p:to>
                                        <p:strVal val="visible"/>
                                      </p:to>
                                    </p:set>
                                    <p:animEffect filter="fade" transition="in">
                                      <p:cBhvr>
                                        <p:cTn dur="500"/>
                                        <p:tgtEl>
                                          <p:spTgt spid="566">
                                            <p:txEl>
                                              <p:pRg end="7" st="7"/>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2"/>
          <p:cNvSpPr txBox="1"/>
          <p:nvPr>
            <p:ph type="title"/>
          </p:nvPr>
        </p:nvSpPr>
        <p:spPr>
          <a:xfrm>
            <a:off x="7620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1</a:t>
            </a:r>
            <a:endParaRPr/>
          </a:p>
        </p:txBody>
      </p:sp>
      <p:sp>
        <p:nvSpPr>
          <p:cNvPr id="591" name="Google Shape;591;p22"/>
          <p:cNvSpPr txBox="1"/>
          <p:nvPr>
            <p:ph idx="1" type="body"/>
          </p:nvPr>
        </p:nvSpPr>
        <p:spPr>
          <a:xfrm>
            <a:off x="762000" y="1609725"/>
            <a:ext cx="8229600" cy="50958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Để áp dụng phân tích giá trị biên vào kiểm thử chương trình lấy giá trị lớn nhất và nhỏ nhất trong các đoạn</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Đoạn “yếu, kém”: 0 và 4.9</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Đoạn “trung bình”: 5 và 6.9</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Đoạn “khá”: 7 và 7.9</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Đoạn “giỏi”: 8 và 8.9</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Đoạn “xuất sắc”:  9 và 10</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Lấy giá trị đầu tiên trong đoạn &gt; 10 là 10.1</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Lấy giá trị cuối cùng trong đoạn &lt; 0 là -0.1</a:t>
            </a:r>
            <a:endParaRPr/>
          </a:p>
        </p:txBody>
      </p:sp>
      <p:sp>
        <p:nvSpPr>
          <p:cNvPr id="592" name="Google Shape;592;p2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23"/>
          <p:cNvSpPr txBox="1"/>
          <p:nvPr>
            <p:ph type="title"/>
          </p:nvPr>
        </p:nvSpPr>
        <p:spPr>
          <a:xfrm>
            <a:off x="6858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2</a:t>
            </a:r>
            <a:endParaRPr/>
          </a:p>
        </p:txBody>
      </p:sp>
      <p:sp>
        <p:nvSpPr>
          <p:cNvPr id="598" name="Google Shape;598;p23"/>
          <p:cNvSpPr txBox="1"/>
          <p:nvPr>
            <p:ph idx="1" type="body"/>
          </p:nvPr>
        </p:nvSpPr>
        <p:spPr>
          <a:xfrm>
            <a:off x="685800" y="1609725"/>
            <a:ext cx="8229600" cy="4562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developer đã phát triển xong chức năng </a:t>
            </a:r>
            <a:r>
              <a:rPr b="1" i="0" lang="en-US" sz="2400" u="none">
                <a:solidFill>
                  <a:srgbClr val="C00000"/>
                </a:solidFill>
                <a:latin typeface="Arial"/>
                <a:ea typeface="Arial"/>
                <a:cs typeface="Arial"/>
                <a:sym typeface="Arial"/>
              </a:rPr>
              <a:t>kiểm tra số nguyên dương n có phải là số nguyên tố không</a:t>
            </a:r>
            <a:r>
              <a:rPr b="0" i="0" lang="en-US" sz="2400" u="none">
                <a:solidFill>
                  <a:schemeClr val="dk1"/>
                </a:solidFill>
                <a:latin typeface="Arial"/>
                <a:ea typeface="Arial"/>
                <a:cs typeface="Arial"/>
                <a:sym typeface="Arial"/>
              </a:rPr>
              <a:t> và giao cho một tester tiến hành kiểm thử chức năng này với màn hình console cho phép nhập số nguyên dương n và xuất kết quả thông báo số đó có phải nguyên tố hay không?</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Ghi chú: số nguyên tố là số tự nhiên chỉ có hai ước số dương phân biệt là 1 và chính nó.</a:t>
            </a:r>
            <a:endParaRPr/>
          </a:p>
        </p:txBody>
      </p:sp>
      <p:sp>
        <p:nvSpPr>
          <p:cNvPr id="599" name="Google Shape;599;p23"/>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24"/>
          <p:cNvSpPr txBox="1"/>
          <p:nvPr>
            <p:ph type="title"/>
          </p:nvPr>
        </p:nvSpPr>
        <p:spPr>
          <a:xfrm>
            <a:off x="6096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Ví dụ 2</a:t>
            </a:r>
            <a:endParaRPr/>
          </a:p>
        </p:txBody>
      </p:sp>
      <p:sp>
        <p:nvSpPr>
          <p:cNvPr id="605" name="Google Shape;605;p24"/>
          <p:cNvSpPr txBox="1"/>
          <p:nvPr>
            <p:ph idx="1" type="body"/>
          </p:nvPr>
        </p:nvSpPr>
        <p:spPr>
          <a:xfrm>
            <a:off x="762000" y="1609725"/>
            <a:ext cx="8229600" cy="1133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a:t>
            </a:r>
            <a:r>
              <a:rPr b="1" i="0" lang="en-US" sz="2400" u="none">
                <a:solidFill>
                  <a:srgbClr val="C00000"/>
                </a:solidFill>
                <a:latin typeface="Arial"/>
                <a:ea typeface="Arial"/>
                <a:cs typeface="Arial"/>
                <a:sym typeface="Arial"/>
              </a:rPr>
              <a:t>tester ít kinh nghiệm</a:t>
            </a:r>
            <a:r>
              <a:rPr b="0" i="0" lang="en-US" sz="2400" u="none">
                <a:solidFill>
                  <a:srgbClr val="C00000"/>
                </a:solidFill>
                <a:latin typeface="Arial"/>
                <a:ea typeface="Arial"/>
                <a:cs typeface="Arial"/>
                <a:sym typeface="Arial"/>
              </a:rPr>
              <a:t> </a:t>
            </a:r>
            <a:r>
              <a:rPr b="0" i="0" lang="en-US" sz="2400" u="none">
                <a:solidFill>
                  <a:schemeClr val="dk1"/>
                </a:solidFill>
                <a:latin typeface="Arial"/>
                <a:ea typeface="Arial"/>
                <a:cs typeface="Arial"/>
                <a:sym typeface="Arial"/>
              </a:rPr>
              <a:t>kiểm thử bằng cách chạy một số giá trị nguyên n để kiểm tra chương trình trên. </a:t>
            </a:r>
            <a:endParaRPr/>
          </a:p>
        </p:txBody>
      </p:sp>
      <p:pic>
        <p:nvPicPr>
          <p:cNvPr id="606" name="Google Shape;606;p24"/>
          <p:cNvPicPr preferRelativeResize="0"/>
          <p:nvPr/>
        </p:nvPicPr>
        <p:blipFill rotWithShape="1">
          <a:blip r:embed="rId3">
            <a:alphaModFix/>
          </a:blip>
          <a:srcRect b="0" l="0" r="0" t="0"/>
          <a:stretch/>
        </p:blipFill>
        <p:spPr>
          <a:xfrm>
            <a:off x="879475" y="3087687"/>
            <a:ext cx="2047875" cy="2990850"/>
          </a:xfrm>
          <a:prstGeom prst="rect">
            <a:avLst/>
          </a:prstGeom>
          <a:noFill/>
          <a:ln>
            <a:noFill/>
          </a:ln>
        </p:spPr>
      </p:pic>
      <p:pic>
        <p:nvPicPr>
          <p:cNvPr id="607" name="Google Shape;607;p24"/>
          <p:cNvPicPr preferRelativeResize="0"/>
          <p:nvPr/>
        </p:nvPicPr>
        <p:blipFill rotWithShape="1">
          <a:blip r:embed="rId4">
            <a:alphaModFix/>
          </a:blip>
          <a:srcRect b="0" l="0" r="0" t="0"/>
          <a:stretch/>
        </p:blipFill>
        <p:spPr>
          <a:xfrm>
            <a:off x="2967037" y="3097212"/>
            <a:ext cx="1971675" cy="2990850"/>
          </a:xfrm>
          <a:prstGeom prst="rect">
            <a:avLst/>
          </a:prstGeom>
          <a:noFill/>
          <a:ln>
            <a:noFill/>
          </a:ln>
        </p:spPr>
      </p:pic>
      <p:pic>
        <p:nvPicPr>
          <p:cNvPr id="608" name="Google Shape;608;p24"/>
          <p:cNvPicPr preferRelativeResize="0"/>
          <p:nvPr/>
        </p:nvPicPr>
        <p:blipFill rotWithShape="1">
          <a:blip r:embed="rId5">
            <a:alphaModFix/>
          </a:blip>
          <a:srcRect b="0" l="0" r="0" t="0"/>
          <a:stretch/>
        </p:blipFill>
        <p:spPr>
          <a:xfrm>
            <a:off x="8135937" y="4772025"/>
            <a:ext cx="506412" cy="1720850"/>
          </a:xfrm>
          <a:prstGeom prst="rect">
            <a:avLst/>
          </a:prstGeom>
          <a:noFill/>
          <a:ln>
            <a:noFill/>
          </a:ln>
        </p:spPr>
      </p:pic>
      <p:sp>
        <p:nvSpPr>
          <p:cNvPr id="609" name="Google Shape;609;p24"/>
          <p:cNvSpPr/>
          <p:nvPr/>
        </p:nvSpPr>
        <p:spPr>
          <a:xfrm>
            <a:off x="7246937" y="2916237"/>
            <a:ext cx="1820862" cy="1371600"/>
          </a:xfrm>
          <a:custGeom>
            <a:rect b="b" l="l" r="r" t="t"/>
            <a:pathLst>
              <a:path extrusionOk="0" h="43200" w="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extrusionOk="0" fill="none" h="43200" w="43200">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rgbClr val="002060"/>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Chương trình chắc ổn?</a:t>
            </a:r>
            <a:endParaRPr/>
          </a:p>
        </p:txBody>
      </p:sp>
      <p:cxnSp>
        <p:nvCxnSpPr>
          <p:cNvPr id="610" name="Google Shape;610;p24"/>
          <p:cNvCxnSpPr/>
          <p:nvPr/>
        </p:nvCxnSpPr>
        <p:spPr>
          <a:xfrm rot="10800000">
            <a:off x="8156575" y="4286250"/>
            <a:ext cx="233362" cy="485775"/>
          </a:xfrm>
          <a:prstGeom prst="straightConnector1">
            <a:avLst/>
          </a:prstGeom>
          <a:noFill/>
          <a:ln cap="flat" cmpd="sng" w="9525">
            <a:solidFill>
              <a:srgbClr val="629C83"/>
            </a:solidFill>
            <a:prstDash val="solid"/>
            <a:miter lim="800000"/>
            <a:headEnd len="med" w="med" type="none"/>
            <a:tailEnd len="med" w="med" type="none"/>
          </a:ln>
        </p:spPr>
      </p:cxnSp>
      <p:pic>
        <p:nvPicPr>
          <p:cNvPr id="611" name="Google Shape;611;p24"/>
          <p:cNvPicPr preferRelativeResize="0"/>
          <p:nvPr/>
        </p:nvPicPr>
        <p:blipFill rotWithShape="1">
          <a:blip r:embed="rId6">
            <a:alphaModFix/>
          </a:blip>
          <a:srcRect b="0" l="830" r="1" t="556"/>
          <a:stretch/>
        </p:blipFill>
        <p:spPr>
          <a:xfrm>
            <a:off x="5010150" y="3097212"/>
            <a:ext cx="2070100" cy="2981325"/>
          </a:xfrm>
          <a:prstGeom prst="rect">
            <a:avLst/>
          </a:prstGeom>
          <a:noFill/>
          <a:ln>
            <a:noFill/>
          </a:ln>
        </p:spPr>
      </p:pic>
      <p:pic>
        <p:nvPicPr>
          <p:cNvPr id="612" name="Google Shape;612;p24"/>
          <p:cNvPicPr preferRelativeResize="0"/>
          <p:nvPr/>
        </p:nvPicPr>
        <p:blipFill rotWithShape="1">
          <a:blip r:embed="rId7">
            <a:alphaModFix/>
          </a:blip>
          <a:srcRect b="0" l="0" r="0" t="0"/>
          <a:stretch/>
        </p:blipFill>
        <p:spPr>
          <a:xfrm>
            <a:off x="2389187" y="6078537"/>
            <a:ext cx="542925" cy="541337"/>
          </a:xfrm>
          <a:prstGeom prst="rect">
            <a:avLst/>
          </a:prstGeom>
          <a:noFill/>
          <a:ln>
            <a:noFill/>
          </a:ln>
        </p:spPr>
      </p:pic>
      <p:pic>
        <p:nvPicPr>
          <p:cNvPr id="613" name="Google Shape;613;p24"/>
          <p:cNvPicPr preferRelativeResize="0"/>
          <p:nvPr/>
        </p:nvPicPr>
        <p:blipFill rotWithShape="1">
          <a:blip r:embed="rId7">
            <a:alphaModFix/>
          </a:blip>
          <a:srcRect b="0" l="0" r="0" t="0"/>
          <a:stretch/>
        </p:blipFill>
        <p:spPr>
          <a:xfrm>
            <a:off x="4432300" y="6088062"/>
            <a:ext cx="542925" cy="541337"/>
          </a:xfrm>
          <a:prstGeom prst="rect">
            <a:avLst/>
          </a:prstGeom>
          <a:noFill/>
          <a:ln>
            <a:noFill/>
          </a:ln>
        </p:spPr>
      </p:pic>
      <p:pic>
        <p:nvPicPr>
          <p:cNvPr id="614" name="Google Shape;614;p24"/>
          <p:cNvPicPr preferRelativeResize="0"/>
          <p:nvPr/>
        </p:nvPicPr>
        <p:blipFill rotWithShape="1">
          <a:blip r:embed="rId7">
            <a:alphaModFix/>
          </a:blip>
          <a:srcRect b="0" l="0" r="0" t="0"/>
          <a:stretch/>
        </p:blipFill>
        <p:spPr>
          <a:xfrm>
            <a:off x="6580187" y="6088062"/>
            <a:ext cx="541337" cy="541337"/>
          </a:xfrm>
          <a:prstGeom prst="rect">
            <a:avLst/>
          </a:prstGeom>
          <a:noFill/>
          <a:ln>
            <a:noFill/>
          </a:ln>
        </p:spPr>
      </p:pic>
      <p:sp>
        <p:nvSpPr>
          <p:cNvPr id="615" name="Google Shape;615;p24"/>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25"/>
          <p:cNvSpPr txBox="1"/>
          <p:nvPr>
            <p:ph type="title"/>
          </p:nvPr>
        </p:nvSpPr>
        <p:spPr>
          <a:xfrm>
            <a:off x="644525"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2</a:t>
            </a:r>
            <a:endParaRPr/>
          </a:p>
        </p:txBody>
      </p:sp>
      <p:sp>
        <p:nvSpPr>
          <p:cNvPr id="621" name="Google Shape;621;p25"/>
          <p:cNvSpPr txBox="1"/>
          <p:nvPr>
            <p:ph idx="1" type="body"/>
          </p:nvPr>
        </p:nvSpPr>
        <p:spPr>
          <a:xfrm>
            <a:off x="762000" y="1533525"/>
            <a:ext cx="8153400" cy="90487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Một tester </a:t>
            </a:r>
            <a:r>
              <a:rPr b="0" i="0" lang="en-US" sz="2400" u="none">
                <a:solidFill>
                  <a:srgbClr val="C00000"/>
                </a:solidFill>
                <a:latin typeface="Arial"/>
                <a:ea typeface="Arial"/>
                <a:cs typeface="Arial"/>
                <a:sym typeface="Arial"/>
              </a:rPr>
              <a:t>có kinh nghiệm</a:t>
            </a:r>
            <a:r>
              <a:rPr b="0" i="0" lang="en-US" sz="2400" u="none">
                <a:solidFill>
                  <a:schemeClr val="dk1"/>
                </a:solidFill>
                <a:latin typeface="Arial"/>
                <a:ea typeface="Arial"/>
                <a:cs typeface="Arial"/>
                <a:sym typeface="Arial"/>
              </a:rPr>
              <a:t> tiến hành phân vùng tương đương để thiết kế test case kiểm thử như sau:</a:t>
            </a:r>
            <a:endParaRPr/>
          </a:p>
        </p:txBody>
      </p:sp>
      <p:sp>
        <p:nvSpPr>
          <p:cNvPr id="622" name="Google Shape;622;p25"/>
          <p:cNvSpPr txBox="1"/>
          <p:nvPr/>
        </p:nvSpPr>
        <p:spPr>
          <a:xfrm>
            <a:off x="925512" y="2662237"/>
            <a:ext cx="7848600" cy="444500"/>
          </a:xfrm>
          <a:prstGeom prst="rect">
            <a:avLst/>
          </a:prstGeom>
          <a:gradFill>
            <a:gsLst>
              <a:gs pos="0">
                <a:srgbClr val="729A84"/>
              </a:gs>
              <a:gs pos="80000">
                <a:srgbClr val="97C9AE"/>
              </a:gs>
              <a:gs pos="100000">
                <a:srgbClr val="97CBAE"/>
              </a:gs>
            </a:gsLst>
            <a:lin ang="16200000" scaled="0"/>
          </a:gradFill>
          <a:ln cap="flat" cmpd="sng" w="9525">
            <a:solidFill>
              <a:srgbClr val="9DC6B0"/>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Giá trị bất kỳ</a:t>
            </a:r>
            <a:endParaRPr/>
          </a:p>
        </p:txBody>
      </p:sp>
      <p:sp>
        <p:nvSpPr>
          <p:cNvPr id="623" name="Google Shape;623;p25"/>
          <p:cNvSpPr txBox="1"/>
          <p:nvPr/>
        </p:nvSpPr>
        <p:spPr>
          <a:xfrm>
            <a:off x="4849812" y="3443287"/>
            <a:ext cx="3924300" cy="444500"/>
          </a:xfrm>
          <a:prstGeom prst="rect">
            <a:avLst/>
          </a:prstGeom>
          <a:gradFill>
            <a:gsLst>
              <a:gs pos="0">
                <a:srgbClr val="729A84"/>
              </a:gs>
              <a:gs pos="80000">
                <a:srgbClr val="97C9AE"/>
              </a:gs>
              <a:gs pos="100000">
                <a:srgbClr val="97CBAE"/>
              </a:gs>
            </a:gsLst>
            <a:lin ang="16200000" scaled="0"/>
          </a:gradFill>
          <a:ln cap="flat" cmpd="sng" w="9525">
            <a:solidFill>
              <a:srgbClr val="9DC6B0"/>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Số nguyên</a:t>
            </a:r>
            <a:endParaRPr/>
          </a:p>
        </p:txBody>
      </p:sp>
      <p:sp>
        <p:nvSpPr>
          <p:cNvPr id="624" name="Google Shape;624;p25"/>
          <p:cNvSpPr txBox="1"/>
          <p:nvPr/>
        </p:nvSpPr>
        <p:spPr>
          <a:xfrm>
            <a:off x="925512" y="3443287"/>
            <a:ext cx="3795712" cy="444500"/>
          </a:xfrm>
          <a:prstGeom prst="rect">
            <a:avLst/>
          </a:prstGeom>
          <a:solidFill>
            <a:srgbClr val="FF9933"/>
          </a:soli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Không phải số nguyên</a:t>
            </a:r>
            <a:endParaRPr/>
          </a:p>
        </p:txBody>
      </p:sp>
      <p:sp>
        <p:nvSpPr>
          <p:cNvPr id="625" name="Google Shape;625;p25"/>
          <p:cNvSpPr txBox="1"/>
          <p:nvPr/>
        </p:nvSpPr>
        <p:spPr>
          <a:xfrm>
            <a:off x="2633662" y="4224337"/>
            <a:ext cx="1962150" cy="442912"/>
          </a:xfrm>
          <a:prstGeom prst="rect">
            <a:avLst/>
          </a:prstGeom>
          <a:solidFill>
            <a:srgbClr val="FF9933"/>
          </a:soli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Số nguyên âm</a:t>
            </a:r>
            <a:endParaRPr/>
          </a:p>
        </p:txBody>
      </p:sp>
      <p:sp>
        <p:nvSpPr>
          <p:cNvPr id="626" name="Google Shape;626;p25"/>
          <p:cNvSpPr txBox="1"/>
          <p:nvPr/>
        </p:nvSpPr>
        <p:spPr>
          <a:xfrm>
            <a:off x="6757987" y="4224337"/>
            <a:ext cx="2016125" cy="442912"/>
          </a:xfrm>
          <a:prstGeom prst="rect">
            <a:avLst/>
          </a:prstGeom>
          <a:gradFill>
            <a:gsLst>
              <a:gs pos="0">
                <a:srgbClr val="729A84"/>
              </a:gs>
              <a:gs pos="80000">
                <a:srgbClr val="97C9AE"/>
              </a:gs>
              <a:gs pos="100000">
                <a:srgbClr val="97CBAE"/>
              </a:gs>
            </a:gsLst>
            <a:lin ang="16200000" scaled="0"/>
          </a:gradFill>
          <a:ln cap="flat" cmpd="sng" w="9525">
            <a:solidFill>
              <a:srgbClr val="9DC6B0"/>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Số nguyên dương</a:t>
            </a:r>
            <a:endParaRPr/>
          </a:p>
        </p:txBody>
      </p:sp>
      <p:sp>
        <p:nvSpPr>
          <p:cNvPr id="627" name="Google Shape;627;p25"/>
          <p:cNvSpPr txBox="1"/>
          <p:nvPr/>
        </p:nvSpPr>
        <p:spPr>
          <a:xfrm>
            <a:off x="6911975" y="5003800"/>
            <a:ext cx="1862137" cy="450850"/>
          </a:xfrm>
          <a:prstGeom prst="rect">
            <a:avLst/>
          </a:prstGeom>
          <a:gradFill>
            <a:gsLst>
              <a:gs pos="0">
                <a:srgbClr val="729A84"/>
              </a:gs>
              <a:gs pos="80000">
                <a:srgbClr val="97C9AE"/>
              </a:gs>
              <a:gs pos="100000">
                <a:srgbClr val="97CBAE"/>
              </a:gs>
            </a:gsLst>
            <a:lin ang="16200000" scaled="0"/>
          </a:gradFill>
          <a:ln cap="flat" cmpd="sng" w="9525">
            <a:solidFill>
              <a:srgbClr val="9DC6B0"/>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Số nguyên tố</a:t>
            </a:r>
            <a:endParaRPr/>
          </a:p>
        </p:txBody>
      </p:sp>
      <p:sp>
        <p:nvSpPr>
          <p:cNvPr id="628" name="Google Shape;628;p25"/>
          <p:cNvSpPr txBox="1"/>
          <p:nvPr/>
        </p:nvSpPr>
        <p:spPr>
          <a:xfrm>
            <a:off x="4448175" y="5000625"/>
            <a:ext cx="2309812" cy="438150"/>
          </a:xfrm>
          <a:prstGeom prst="rect">
            <a:avLst/>
          </a:prstGeom>
          <a:gradFill>
            <a:gsLst>
              <a:gs pos="0">
                <a:srgbClr val="729A84"/>
              </a:gs>
              <a:gs pos="80000">
                <a:srgbClr val="97C9AE"/>
              </a:gs>
              <a:gs pos="100000">
                <a:srgbClr val="97CBAE"/>
              </a:gs>
            </a:gsLst>
            <a:lin ang="16200000" scaled="0"/>
          </a:gradFill>
          <a:ln cap="flat" cmpd="sng" w="9525">
            <a:solidFill>
              <a:srgbClr val="9DC6B0"/>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ahoma"/>
              <a:buNone/>
            </a:pPr>
            <a:r>
              <a:rPr b="0" i="0" lang="en-US" sz="1800" u="none">
                <a:solidFill>
                  <a:srgbClr val="FFFFFF"/>
                </a:solidFill>
                <a:latin typeface="Tahoma"/>
                <a:ea typeface="Tahoma"/>
                <a:cs typeface="Tahoma"/>
                <a:sym typeface="Tahoma"/>
              </a:rPr>
              <a:t>Không số nguyên tố</a:t>
            </a:r>
            <a:endParaRPr/>
          </a:p>
        </p:txBody>
      </p:sp>
      <p:cxnSp>
        <p:nvCxnSpPr>
          <p:cNvPr id="629" name="Google Shape;629;p25"/>
          <p:cNvCxnSpPr/>
          <p:nvPr/>
        </p:nvCxnSpPr>
        <p:spPr>
          <a:xfrm flipH="1">
            <a:off x="2824162" y="3106737"/>
            <a:ext cx="2025650" cy="336550"/>
          </a:xfrm>
          <a:prstGeom prst="straightConnector1">
            <a:avLst/>
          </a:prstGeom>
          <a:noFill/>
          <a:ln cap="flat" cmpd="sng" w="9525">
            <a:solidFill>
              <a:srgbClr val="0070C0"/>
            </a:solidFill>
            <a:prstDash val="solid"/>
            <a:miter lim="800000"/>
            <a:headEnd len="med" w="med" type="none"/>
            <a:tailEnd len="med" w="med" type="stealth"/>
          </a:ln>
        </p:spPr>
      </p:cxnSp>
      <p:cxnSp>
        <p:nvCxnSpPr>
          <p:cNvPr id="630" name="Google Shape;630;p25"/>
          <p:cNvCxnSpPr/>
          <p:nvPr/>
        </p:nvCxnSpPr>
        <p:spPr>
          <a:xfrm>
            <a:off x="4849812" y="3106737"/>
            <a:ext cx="1962150" cy="336550"/>
          </a:xfrm>
          <a:prstGeom prst="straightConnector1">
            <a:avLst/>
          </a:prstGeom>
          <a:noFill/>
          <a:ln cap="flat" cmpd="sng" w="9525">
            <a:solidFill>
              <a:srgbClr val="0070C0"/>
            </a:solidFill>
            <a:prstDash val="solid"/>
            <a:miter lim="800000"/>
            <a:headEnd len="med" w="med" type="none"/>
            <a:tailEnd len="med" w="med" type="stealth"/>
          </a:ln>
        </p:spPr>
      </p:cxnSp>
      <p:cxnSp>
        <p:nvCxnSpPr>
          <p:cNvPr id="631" name="Google Shape;631;p25"/>
          <p:cNvCxnSpPr/>
          <p:nvPr/>
        </p:nvCxnSpPr>
        <p:spPr>
          <a:xfrm flipH="1">
            <a:off x="3614737" y="3887787"/>
            <a:ext cx="3197225" cy="336550"/>
          </a:xfrm>
          <a:prstGeom prst="straightConnector1">
            <a:avLst/>
          </a:prstGeom>
          <a:noFill/>
          <a:ln cap="flat" cmpd="sng" w="9525">
            <a:solidFill>
              <a:srgbClr val="0070C0"/>
            </a:solidFill>
            <a:prstDash val="solid"/>
            <a:miter lim="800000"/>
            <a:headEnd len="med" w="med" type="none"/>
            <a:tailEnd len="med" w="med" type="stealth"/>
          </a:ln>
        </p:spPr>
      </p:cxnSp>
      <p:cxnSp>
        <p:nvCxnSpPr>
          <p:cNvPr id="632" name="Google Shape;632;p25"/>
          <p:cNvCxnSpPr/>
          <p:nvPr/>
        </p:nvCxnSpPr>
        <p:spPr>
          <a:xfrm flipH="1">
            <a:off x="5603875" y="4667250"/>
            <a:ext cx="2162175" cy="333375"/>
          </a:xfrm>
          <a:prstGeom prst="straightConnector1">
            <a:avLst/>
          </a:prstGeom>
          <a:noFill/>
          <a:ln cap="flat" cmpd="sng" w="9525">
            <a:solidFill>
              <a:srgbClr val="0070C0"/>
            </a:solidFill>
            <a:prstDash val="solid"/>
            <a:miter lim="800000"/>
            <a:headEnd len="med" w="med" type="none"/>
            <a:tailEnd len="med" w="med" type="stealth"/>
          </a:ln>
        </p:spPr>
      </p:cxnSp>
      <p:cxnSp>
        <p:nvCxnSpPr>
          <p:cNvPr id="633" name="Google Shape;633;p25"/>
          <p:cNvCxnSpPr/>
          <p:nvPr/>
        </p:nvCxnSpPr>
        <p:spPr>
          <a:xfrm>
            <a:off x="7766050" y="4667250"/>
            <a:ext cx="76200" cy="336550"/>
          </a:xfrm>
          <a:prstGeom prst="straightConnector1">
            <a:avLst/>
          </a:prstGeom>
          <a:noFill/>
          <a:ln cap="flat" cmpd="sng" w="9525">
            <a:solidFill>
              <a:srgbClr val="0070C0"/>
            </a:solidFill>
            <a:prstDash val="solid"/>
            <a:miter lim="800000"/>
            <a:headEnd len="med" w="med" type="none"/>
            <a:tailEnd len="med" w="med" type="stealth"/>
          </a:ln>
        </p:spPr>
      </p:cxnSp>
      <p:cxnSp>
        <p:nvCxnSpPr>
          <p:cNvPr id="634" name="Google Shape;634;p25"/>
          <p:cNvCxnSpPr/>
          <p:nvPr/>
        </p:nvCxnSpPr>
        <p:spPr>
          <a:xfrm>
            <a:off x="6811962" y="3887787"/>
            <a:ext cx="954087" cy="336550"/>
          </a:xfrm>
          <a:prstGeom prst="straightConnector1">
            <a:avLst/>
          </a:prstGeom>
          <a:noFill/>
          <a:ln cap="flat" cmpd="sng" w="9525">
            <a:solidFill>
              <a:srgbClr val="0070C0"/>
            </a:solidFill>
            <a:prstDash val="solid"/>
            <a:miter lim="800000"/>
            <a:headEnd len="med" w="med" type="none"/>
            <a:tailEnd len="med" w="med" type="stealth"/>
          </a:ln>
        </p:spPr>
      </p:cxnSp>
      <p:sp>
        <p:nvSpPr>
          <p:cNvPr id="635" name="Google Shape;635;p25"/>
          <p:cNvSpPr txBox="1"/>
          <p:nvPr/>
        </p:nvSpPr>
        <p:spPr>
          <a:xfrm>
            <a:off x="4695825" y="4224337"/>
            <a:ext cx="1962150" cy="442912"/>
          </a:xfrm>
          <a:prstGeom prst="rect">
            <a:avLst/>
          </a:prstGeom>
          <a:solidFill>
            <a:srgbClr val="FF9933"/>
          </a:soli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Số 0</a:t>
            </a:r>
            <a:endParaRPr/>
          </a:p>
        </p:txBody>
      </p:sp>
      <p:cxnSp>
        <p:nvCxnSpPr>
          <p:cNvPr id="636" name="Google Shape;636;p25"/>
          <p:cNvCxnSpPr/>
          <p:nvPr/>
        </p:nvCxnSpPr>
        <p:spPr>
          <a:xfrm flipH="1">
            <a:off x="5676900" y="3887787"/>
            <a:ext cx="1135062" cy="336550"/>
          </a:xfrm>
          <a:prstGeom prst="straightConnector1">
            <a:avLst/>
          </a:prstGeom>
          <a:noFill/>
          <a:ln cap="flat" cmpd="sng" w="9525">
            <a:solidFill>
              <a:srgbClr val="0070C0"/>
            </a:solidFill>
            <a:prstDash val="solid"/>
            <a:miter lim="800000"/>
            <a:headEnd len="med" w="med" type="none"/>
            <a:tailEnd len="med" w="med" type="stealth"/>
          </a:ln>
        </p:spPr>
      </p:cxnSp>
      <p:sp>
        <p:nvSpPr>
          <p:cNvPr id="637" name="Google Shape;637;p25"/>
          <p:cNvSpPr txBox="1"/>
          <p:nvPr/>
        </p:nvSpPr>
        <p:spPr>
          <a:xfrm>
            <a:off x="6919912" y="5838825"/>
            <a:ext cx="738187" cy="450850"/>
          </a:xfrm>
          <a:prstGeom prst="rect">
            <a:avLst/>
          </a:prstGeom>
          <a:gradFill>
            <a:gsLst>
              <a:gs pos="0">
                <a:srgbClr val="C8F6DB"/>
              </a:gs>
              <a:gs pos="35000">
                <a:srgbClr val="D8F8E5"/>
              </a:gs>
              <a:gs pos="100000">
                <a:srgbClr val="EFFDF5"/>
              </a:gs>
            </a:gsLst>
            <a:lin ang="16200000" scaled="0"/>
          </a:gra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Chẵn</a:t>
            </a:r>
            <a:endParaRPr/>
          </a:p>
        </p:txBody>
      </p:sp>
      <p:sp>
        <p:nvSpPr>
          <p:cNvPr id="638" name="Google Shape;638;p25"/>
          <p:cNvSpPr txBox="1"/>
          <p:nvPr/>
        </p:nvSpPr>
        <p:spPr>
          <a:xfrm>
            <a:off x="8035925" y="5834062"/>
            <a:ext cx="738187" cy="450850"/>
          </a:xfrm>
          <a:prstGeom prst="rect">
            <a:avLst/>
          </a:prstGeom>
          <a:gradFill>
            <a:gsLst>
              <a:gs pos="0">
                <a:srgbClr val="C8F6DB"/>
              </a:gs>
              <a:gs pos="35000">
                <a:srgbClr val="D8F8E5"/>
              </a:gs>
              <a:gs pos="100000">
                <a:srgbClr val="EFFDF5"/>
              </a:gs>
            </a:gsLst>
            <a:lin ang="16200000" scaled="0"/>
          </a:gra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Lẻ</a:t>
            </a:r>
            <a:endParaRPr/>
          </a:p>
        </p:txBody>
      </p:sp>
      <p:cxnSp>
        <p:nvCxnSpPr>
          <p:cNvPr id="639" name="Google Shape;639;p25"/>
          <p:cNvCxnSpPr/>
          <p:nvPr/>
        </p:nvCxnSpPr>
        <p:spPr>
          <a:xfrm flipH="1">
            <a:off x="7289800" y="5454650"/>
            <a:ext cx="552450" cy="384175"/>
          </a:xfrm>
          <a:prstGeom prst="straightConnector1">
            <a:avLst/>
          </a:prstGeom>
          <a:noFill/>
          <a:ln cap="flat" cmpd="sng" w="9525">
            <a:solidFill>
              <a:srgbClr val="0070C0"/>
            </a:solidFill>
            <a:prstDash val="solid"/>
            <a:miter lim="800000"/>
            <a:headEnd len="med" w="med" type="none"/>
            <a:tailEnd len="med" w="med" type="stealth"/>
          </a:ln>
        </p:spPr>
      </p:cxnSp>
      <p:cxnSp>
        <p:nvCxnSpPr>
          <p:cNvPr id="640" name="Google Shape;640;p25"/>
          <p:cNvCxnSpPr/>
          <p:nvPr/>
        </p:nvCxnSpPr>
        <p:spPr>
          <a:xfrm>
            <a:off x="7842250" y="5454650"/>
            <a:ext cx="563562" cy="379412"/>
          </a:xfrm>
          <a:prstGeom prst="straightConnector1">
            <a:avLst/>
          </a:prstGeom>
          <a:noFill/>
          <a:ln cap="flat" cmpd="sng" w="9525">
            <a:solidFill>
              <a:srgbClr val="0070C0"/>
            </a:solidFill>
            <a:prstDash val="solid"/>
            <a:miter lim="800000"/>
            <a:headEnd len="med" w="med" type="none"/>
            <a:tailEnd len="med" w="med" type="stealth"/>
          </a:ln>
        </p:spPr>
      </p:cxnSp>
      <p:sp>
        <p:nvSpPr>
          <p:cNvPr id="641" name="Google Shape;641;p25"/>
          <p:cNvSpPr txBox="1"/>
          <p:nvPr/>
        </p:nvSpPr>
        <p:spPr>
          <a:xfrm>
            <a:off x="4481512" y="5838825"/>
            <a:ext cx="736600" cy="450850"/>
          </a:xfrm>
          <a:prstGeom prst="rect">
            <a:avLst/>
          </a:prstGeom>
          <a:gradFill>
            <a:gsLst>
              <a:gs pos="0">
                <a:srgbClr val="C8F6DB"/>
              </a:gs>
              <a:gs pos="35000">
                <a:srgbClr val="D8F8E5"/>
              </a:gs>
              <a:gs pos="100000">
                <a:srgbClr val="EFFDF5"/>
              </a:gs>
            </a:gsLst>
            <a:lin ang="16200000" scaled="0"/>
          </a:gra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Chẵn</a:t>
            </a:r>
            <a:endParaRPr/>
          </a:p>
        </p:txBody>
      </p:sp>
      <p:sp>
        <p:nvSpPr>
          <p:cNvPr id="642" name="Google Shape;642;p25"/>
          <p:cNvSpPr txBox="1"/>
          <p:nvPr/>
        </p:nvSpPr>
        <p:spPr>
          <a:xfrm>
            <a:off x="6015037" y="5834062"/>
            <a:ext cx="738187" cy="450850"/>
          </a:xfrm>
          <a:prstGeom prst="rect">
            <a:avLst/>
          </a:prstGeom>
          <a:gradFill>
            <a:gsLst>
              <a:gs pos="0">
                <a:srgbClr val="C8F6DB"/>
              </a:gs>
              <a:gs pos="35000">
                <a:srgbClr val="D8F8E5"/>
              </a:gs>
              <a:gs pos="100000">
                <a:srgbClr val="EFFDF5"/>
              </a:gs>
            </a:gsLst>
            <a:lin ang="16200000" scaled="0"/>
          </a:gra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D4940"/>
              </a:buClr>
              <a:buSzPts val="1800"/>
              <a:buFont typeface="Tahoma"/>
              <a:buNone/>
            </a:pPr>
            <a:r>
              <a:rPr b="0" i="0" lang="en-US" sz="1800" u="none">
                <a:solidFill>
                  <a:srgbClr val="1D4940"/>
                </a:solidFill>
                <a:latin typeface="Tahoma"/>
                <a:ea typeface="Tahoma"/>
                <a:cs typeface="Tahoma"/>
                <a:sym typeface="Tahoma"/>
              </a:rPr>
              <a:t>Lẻ</a:t>
            </a:r>
            <a:endParaRPr/>
          </a:p>
        </p:txBody>
      </p:sp>
      <p:cxnSp>
        <p:nvCxnSpPr>
          <p:cNvPr id="643" name="Google Shape;643;p25"/>
          <p:cNvCxnSpPr/>
          <p:nvPr/>
        </p:nvCxnSpPr>
        <p:spPr>
          <a:xfrm flipH="1">
            <a:off x="4849812" y="5438775"/>
            <a:ext cx="754062" cy="400050"/>
          </a:xfrm>
          <a:prstGeom prst="straightConnector1">
            <a:avLst/>
          </a:prstGeom>
          <a:noFill/>
          <a:ln cap="flat" cmpd="sng" w="9525">
            <a:solidFill>
              <a:srgbClr val="0070C0"/>
            </a:solidFill>
            <a:prstDash val="solid"/>
            <a:miter lim="800000"/>
            <a:headEnd len="med" w="med" type="none"/>
            <a:tailEnd len="med" w="med" type="stealth"/>
          </a:ln>
        </p:spPr>
      </p:cxnSp>
      <p:cxnSp>
        <p:nvCxnSpPr>
          <p:cNvPr id="644" name="Google Shape;644;p25"/>
          <p:cNvCxnSpPr/>
          <p:nvPr/>
        </p:nvCxnSpPr>
        <p:spPr>
          <a:xfrm>
            <a:off x="5603875" y="5438775"/>
            <a:ext cx="781050" cy="395287"/>
          </a:xfrm>
          <a:prstGeom prst="straightConnector1">
            <a:avLst/>
          </a:prstGeom>
          <a:noFill/>
          <a:ln cap="flat" cmpd="sng" w="9525">
            <a:solidFill>
              <a:srgbClr val="0070C0"/>
            </a:solidFill>
            <a:prstDash val="solid"/>
            <a:miter lim="800000"/>
            <a:headEnd len="med" w="med" type="none"/>
            <a:tailEnd len="med" w="med" type="stealth"/>
          </a:ln>
        </p:spPr>
      </p:cxnSp>
      <p:sp>
        <p:nvSpPr>
          <p:cNvPr id="645" name="Google Shape;645;p25"/>
          <p:cNvSpPr txBox="1"/>
          <p:nvPr/>
        </p:nvSpPr>
        <p:spPr>
          <a:xfrm>
            <a:off x="925512" y="5487987"/>
            <a:ext cx="417512" cy="422275"/>
          </a:xfrm>
          <a:prstGeom prst="rect">
            <a:avLst/>
          </a:prstGeom>
          <a:solidFill>
            <a:srgbClr val="FF9933"/>
          </a:soli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6" name="Google Shape;646;p25"/>
          <p:cNvSpPr txBox="1"/>
          <p:nvPr/>
        </p:nvSpPr>
        <p:spPr>
          <a:xfrm>
            <a:off x="925512" y="6022975"/>
            <a:ext cx="414337" cy="423862"/>
          </a:xfrm>
          <a:prstGeom prst="rect">
            <a:avLst/>
          </a:prstGeom>
          <a:gradFill>
            <a:gsLst>
              <a:gs pos="0">
                <a:srgbClr val="C8F6DB"/>
              </a:gs>
              <a:gs pos="35000">
                <a:srgbClr val="D8F8E5"/>
              </a:gs>
              <a:gs pos="100000">
                <a:srgbClr val="EFFDF5"/>
              </a:gs>
            </a:gsLst>
            <a:lin ang="16200000" scaled="0"/>
          </a:gradFill>
          <a:ln cap="flat" cmpd="sng" w="9525">
            <a:solidFill>
              <a:srgbClr val="9DC6B0"/>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7" name="Google Shape;647;p25"/>
          <p:cNvSpPr txBox="1"/>
          <p:nvPr/>
        </p:nvSpPr>
        <p:spPr>
          <a:xfrm>
            <a:off x="1408112" y="6022975"/>
            <a:ext cx="6524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valid</a:t>
            </a:r>
            <a:endParaRPr/>
          </a:p>
        </p:txBody>
      </p:sp>
      <p:sp>
        <p:nvSpPr>
          <p:cNvPr id="648" name="Google Shape;648;p25"/>
          <p:cNvSpPr txBox="1"/>
          <p:nvPr/>
        </p:nvSpPr>
        <p:spPr>
          <a:xfrm>
            <a:off x="1408112" y="5540375"/>
            <a:ext cx="8318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invalid</a:t>
            </a:r>
            <a:endParaRPr/>
          </a:p>
        </p:txBody>
      </p:sp>
      <p:sp>
        <p:nvSpPr>
          <p:cNvPr id="649" name="Google Shape;649;p25"/>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par>
                                <p:cTn fill="hold" nodeType="with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500"/>
                                        <p:tgtEl>
                                          <p:spTgt spid="6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5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pic>
        <p:nvPicPr>
          <p:cNvPr id="654" name="Google Shape;654;p26"/>
          <p:cNvPicPr preferRelativeResize="0"/>
          <p:nvPr/>
        </p:nvPicPr>
        <p:blipFill rotWithShape="1">
          <a:blip r:embed="rId3">
            <a:alphaModFix/>
          </a:blip>
          <a:srcRect b="0" l="0" r="0" t="0"/>
          <a:stretch/>
        </p:blipFill>
        <p:spPr>
          <a:xfrm>
            <a:off x="6456362" y="1270000"/>
            <a:ext cx="2357437" cy="3044825"/>
          </a:xfrm>
          <a:prstGeom prst="rect">
            <a:avLst/>
          </a:prstGeom>
          <a:noFill/>
          <a:ln>
            <a:noFill/>
          </a:ln>
        </p:spPr>
      </p:pic>
      <p:sp>
        <p:nvSpPr>
          <p:cNvPr id="655" name="Google Shape;655;p26"/>
          <p:cNvSpPr txBox="1"/>
          <p:nvPr>
            <p:ph type="title"/>
          </p:nvPr>
        </p:nvSpPr>
        <p:spPr>
          <a:xfrm>
            <a:off x="560387" y="989012"/>
            <a:ext cx="7391400" cy="5619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Ví dụ 2</a:t>
            </a:r>
            <a:endParaRPr/>
          </a:p>
        </p:txBody>
      </p:sp>
      <p:sp>
        <p:nvSpPr>
          <p:cNvPr id="656" name="Google Shape;656;p26"/>
          <p:cNvSpPr txBox="1"/>
          <p:nvPr>
            <p:ph idx="1" type="body"/>
          </p:nvPr>
        </p:nvSpPr>
        <p:spPr>
          <a:xfrm>
            <a:off x="723900" y="1765300"/>
            <a:ext cx="5637212" cy="47117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Áp dụng phân tích giá trị biên cho phân vùng </a:t>
            </a:r>
            <a:r>
              <a:rPr b="0" i="0" lang="en-US" sz="2400" u="none">
                <a:solidFill>
                  <a:srgbClr val="C00000"/>
                </a:solidFill>
                <a:latin typeface="Arial"/>
                <a:ea typeface="Arial"/>
                <a:cs typeface="Arial"/>
                <a:sym typeface="Arial"/>
              </a:rPr>
              <a:t>số nguyên dương</a:t>
            </a:r>
            <a:r>
              <a:rPr b="0" i="0" lang="en-US" sz="2400" u="none">
                <a:solidFill>
                  <a:schemeClr val="dk1"/>
                </a:solidFill>
                <a:latin typeface="Arial"/>
                <a:ea typeface="Arial"/>
                <a:cs typeface="Arial"/>
                <a:sym typeface="Arial"/>
              </a:rPr>
              <a:t>, chọn các giá trị biên sau đại diện cho các phân vùng để kiểm thử:</a:t>
            </a:r>
            <a:endParaRPr/>
          </a:p>
          <a:p>
            <a:pPr indent="-285750" lvl="1" marL="742950" marR="0" rtl="0" algn="just">
              <a:lnSpc>
                <a:spcPct val="100000"/>
              </a:lnSpc>
              <a:spcBef>
                <a:spcPts val="120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vùng số nguyên tố chẵn: </a:t>
            </a:r>
            <a:r>
              <a:rPr b="1" i="0" lang="en-US" sz="2400" u="none" cap="none" strike="noStrike">
                <a:solidFill>
                  <a:srgbClr val="C00000"/>
                </a:solidFill>
                <a:latin typeface="Arial"/>
                <a:ea typeface="Arial"/>
                <a:cs typeface="Arial"/>
                <a:sym typeface="Arial"/>
              </a:rPr>
              <a:t>2</a:t>
            </a:r>
            <a:endParaRPr/>
          </a:p>
          <a:p>
            <a:pPr indent="-285750" lvl="1" marL="742950" marR="0" rtl="0" algn="just">
              <a:lnSpc>
                <a:spcPct val="100000"/>
              </a:lnSpc>
              <a:spcBef>
                <a:spcPts val="120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vùng số nguyên tố lẻ: </a:t>
            </a:r>
            <a:r>
              <a:rPr b="1" i="0" lang="en-US" sz="2400" u="none" cap="none" strike="noStrike">
                <a:solidFill>
                  <a:srgbClr val="C00000"/>
                </a:solidFill>
                <a:latin typeface="Arial"/>
                <a:ea typeface="Arial"/>
                <a:cs typeface="Arial"/>
                <a:sym typeface="Arial"/>
              </a:rPr>
              <a:t>3</a:t>
            </a:r>
            <a:endParaRPr/>
          </a:p>
          <a:p>
            <a:pPr indent="-285750" lvl="1" marL="742950" marR="0" rtl="0" algn="just">
              <a:lnSpc>
                <a:spcPct val="100000"/>
              </a:lnSpc>
              <a:spcBef>
                <a:spcPts val="120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vùng số lẻ không phải số nguyên tố: </a:t>
            </a:r>
            <a:r>
              <a:rPr b="1" i="0" lang="en-US" sz="2400" u="none" cap="none" strike="noStrike">
                <a:solidFill>
                  <a:srgbClr val="C00000"/>
                </a:solidFill>
                <a:latin typeface="Arial"/>
                <a:ea typeface="Arial"/>
                <a:cs typeface="Arial"/>
                <a:sym typeface="Arial"/>
              </a:rPr>
              <a:t>1</a:t>
            </a:r>
            <a:endParaRPr/>
          </a:p>
          <a:p>
            <a:pPr indent="-285750" lvl="1" marL="742950" marR="0" rtl="0" algn="just">
              <a:lnSpc>
                <a:spcPct val="100000"/>
              </a:lnSpc>
              <a:spcBef>
                <a:spcPts val="120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vùng số chẵn không là số nguyên tố: </a:t>
            </a:r>
            <a:r>
              <a:rPr b="1" i="0" lang="en-US" sz="2400" u="none" cap="none" strike="noStrike">
                <a:solidFill>
                  <a:srgbClr val="C00000"/>
                </a:solidFill>
                <a:latin typeface="Arial"/>
                <a:ea typeface="Arial"/>
                <a:cs typeface="Arial"/>
                <a:sym typeface="Arial"/>
              </a:rPr>
              <a:t>4</a:t>
            </a:r>
            <a:endParaRPr/>
          </a:p>
        </p:txBody>
      </p:sp>
      <p:sp>
        <p:nvSpPr>
          <p:cNvPr id="657" name="Google Shape;657;p26"/>
          <p:cNvSpPr txBox="1"/>
          <p:nvPr/>
        </p:nvSpPr>
        <p:spPr>
          <a:xfrm>
            <a:off x="6432550" y="3630612"/>
            <a:ext cx="1519237" cy="658812"/>
          </a:xfrm>
          <a:prstGeom prst="rect">
            <a:avLst/>
          </a:prstGeom>
          <a:solidFill>
            <a:schemeClr val="accent1">
              <a:alpha val="0"/>
            </a:schemeClr>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58" name="Google Shape;658;p26"/>
          <p:cNvPicPr preferRelativeResize="0"/>
          <p:nvPr/>
        </p:nvPicPr>
        <p:blipFill rotWithShape="1">
          <a:blip r:embed="rId4">
            <a:alphaModFix/>
          </a:blip>
          <a:srcRect b="0" l="0" r="0" t="0"/>
          <a:stretch/>
        </p:blipFill>
        <p:spPr>
          <a:xfrm>
            <a:off x="7596187" y="4818062"/>
            <a:ext cx="625475" cy="1520825"/>
          </a:xfrm>
          <a:prstGeom prst="rect">
            <a:avLst/>
          </a:prstGeom>
          <a:noFill/>
          <a:ln>
            <a:noFill/>
          </a:ln>
        </p:spPr>
      </p:pic>
      <p:cxnSp>
        <p:nvCxnSpPr>
          <p:cNvPr id="659" name="Google Shape;659;p26"/>
          <p:cNvCxnSpPr/>
          <p:nvPr/>
        </p:nvCxnSpPr>
        <p:spPr>
          <a:xfrm rot="10800000">
            <a:off x="7192962" y="4289425"/>
            <a:ext cx="715962" cy="528637"/>
          </a:xfrm>
          <a:prstGeom prst="straightConnector1">
            <a:avLst/>
          </a:prstGeom>
          <a:noFill/>
          <a:ln cap="flat" cmpd="sng" w="12700">
            <a:solidFill>
              <a:srgbClr val="C00000"/>
            </a:solidFill>
            <a:prstDash val="solid"/>
            <a:miter lim="800000"/>
            <a:headEnd len="med" w="med" type="none"/>
            <a:tailEnd len="med" w="med" type="none"/>
          </a:ln>
        </p:spPr>
      </p:cxnSp>
      <p:pic>
        <p:nvPicPr>
          <p:cNvPr id="660" name="Google Shape;660;p26"/>
          <p:cNvPicPr preferRelativeResize="0"/>
          <p:nvPr/>
        </p:nvPicPr>
        <p:blipFill rotWithShape="1">
          <a:blip r:embed="rId5">
            <a:alphaModFix/>
          </a:blip>
          <a:srcRect b="0" l="0" r="0" t="0"/>
          <a:stretch/>
        </p:blipFill>
        <p:spPr>
          <a:xfrm>
            <a:off x="8340725" y="4330700"/>
            <a:ext cx="473075" cy="473075"/>
          </a:xfrm>
          <a:prstGeom prst="rect">
            <a:avLst/>
          </a:prstGeom>
          <a:noFill/>
          <a:ln>
            <a:noFill/>
          </a:ln>
        </p:spPr>
      </p:pic>
      <p:sp>
        <p:nvSpPr>
          <p:cNvPr id="661" name="Google Shape;661;p26"/>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p:nvPr/>
        </p:nvSpPr>
        <p:spPr>
          <a:xfrm>
            <a:off x="1052093" y="2660298"/>
            <a:ext cx="6478259" cy="3740502"/>
          </a:xfrm>
          <a:prstGeom prst="rect">
            <a:avLst/>
          </a:prstGeom>
          <a:solidFill>
            <a:schemeClr val="lt1"/>
          </a:solidFill>
          <a:ln cap="flat" cmpd="sng" w="25400">
            <a:solidFill>
              <a:srgbClr val="4A73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bool</a:t>
            </a:r>
            <a:r>
              <a:rPr b="0" i="0" lang="en-US" sz="2400" u="none" cap="none" strike="noStrike">
                <a:solidFill>
                  <a:srgbClr val="000000"/>
                </a:solidFill>
                <a:highlight>
                  <a:srgbClr val="FFFFFF"/>
                </a:highlight>
                <a:latin typeface="Consolas"/>
                <a:ea typeface="Consolas"/>
                <a:cs typeface="Consolas"/>
                <a:sym typeface="Consolas"/>
              </a:rPr>
              <a:t> ktNguyenTo(</a:t>
            </a:r>
            <a:r>
              <a:rPr b="0" i="0" lang="en-US" sz="2400" u="none" cap="none" strike="noStrike">
                <a:solidFill>
                  <a:srgbClr val="0000FF"/>
                </a:solidFill>
                <a:highlight>
                  <a:srgbClr val="FFFFFF"/>
                </a:highlight>
                <a:latin typeface="Consolas"/>
                <a:ea typeface="Consolas"/>
                <a:cs typeface="Consolas"/>
                <a:sym typeface="Consolas"/>
              </a:rPr>
              <a:t>int</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808080"/>
                </a:solidFill>
                <a:highlight>
                  <a:srgbClr val="FFFFFF"/>
                </a:highlight>
                <a:latin typeface="Consolas"/>
                <a:ea typeface="Consolas"/>
                <a:cs typeface="Consolas"/>
                <a:sym typeface="Consolas"/>
              </a:rPr>
              <a:t>n</a:t>
            </a:r>
            <a:r>
              <a:rPr b="0" i="0" lang="en-US" sz="2400" u="none" cap="none" strike="noStrike">
                <a:solidFill>
                  <a:srgbClr val="000000"/>
                </a:solidFill>
                <a:highlight>
                  <a:srgbClr val="FFFFFF"/>
                </a:highlight>
                <a:latin typeface="Consolas"/>
                <a:ea typeface="Consolas"/>
                <a:cs typeface="Consolas"/>
                <a:sym typeface="Consolas"/>
              </a:rPr>
              <a:t>) {</a:t>
            </a:r>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if</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808080"/>
                </a:solidFill>
                <a:highlight>
                  <a:srgbClr val="FFFFFF"/>
                </a:highlight>
                <a:latin typeface="Consolas"/>
                <a:ea typeface="Consolas"/>
                <a:cs typeface="Consolas"/>
                <a:sym typeface="Consolas"/>
              </a:rPr>
              <a:t>n</a:t>
            </a:r>
            <a:r>
              <a:rPr b="0" i="0" lang="en-US" sz="2400" u="none" cap="none" strike="noStrike">
                <a:solidFill>
                  <a:srgbClr val="000000"/>
                </a:solidFill>
                <a:highlight>
                  <a:srgbClr val="FFFFFF"/>
                </a:highlight>
                <a:latin typeface="Consolas"/>
                <a:ea typeface="Consolas"/>
                <a:cs typeface="Consolas"/>
                <a:sym typeface="Consolas"/>
              </a:rPr>
              <a:t> &lt; 2)</a:t>
            </a:r>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return</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0000FF"/>
                </a:solidFill>
                <a:highlight>
                  <a:srgbClr val="FFFFFF"/>
                </a:highlight>
                <a:latin typeface="Consolas"/>
                <a:ea typeface="Consolas"/>
                <a:cs typeface="Consolas"/>
                <a:sym typeface="Consolas"/>
              </a:rPr>
              <a:t>false</a:t>
            </a:r>
            <a:r>
              <a:rPr b="0" i="0" lang="en-US" sz="2400" u="none" cap="none" strike="noStrike">
                <a:solidFill>
                  <a:srgbClr val="000000"/>
                </a:solidFill>
                <a:highlight>
                  <a:srgbClr val="FFFFFF"/>
                </a:highlight>
                <a:latin typeface="Consolas"/>
                <a:ea typeface="Consolas"/>
                <a:cs typeface="Consolas"/>
                <a:sym typeface="Consolas"/>
              </a:rPr>
              <a:t>;</a:t>
            </a:r>
            <a:endParaRPr/>
          </a:p>
          <a:p>
            <a:pPr indent="0" lvl="0" marL="0" marR="0" rtl="0" algn="l">
              <a:lnSpc>
                <a:spcPct val="100000"/>
              </a:lnSpc>
              <a:spcBef>
                <a:spcPts val="0"/>
              </a:spcBef>
              <a:spcAft>
                <a:spcPts val="0"/>
              </a:spcAft>
              <a:buClr>
                <a:schemeClr val="lt1"/>
              </a:buClr>
              <a:buSzPts val="2400"/>
              <a:buFont typeface="Arial"/>
              <a:buNone/>
            </a:pPr>
            <a:r>
              <a:t/>
            </a:r>
            <a:endParaRPr b="0" i="0" sz="2400" u="none" cap="none" strike="noStrike">
              <a:solidFill>
                <a:srgbClr val="000000"/>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for</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0000FF"/>
                </a:solidFill>
                <a:highlight>
                  <a:srgbClr val="FFFFFF"/>
                </a:highlight>
                <a:latin typeface="Consolas"/>
                <a:ea typeface="Consolas"/>
                <a:cs typeface="Consolas"/>
                <a:sym typeface="Consolas"/>
              </a:rPr>
              <a:t>int</a:t>
            </a:r>
            <a:r>
              <a:rPr b="0" i="0" lang="en-US" sz="2400" u="none" cap="none" strike="noStrike">
                <a:solidFill>
                  <a:srgbClr val="000000"/>
                </a:solidFill>
                <a:highlight>
                  <a:srgbClr val="FFFFFF"/>
                </a:highlight>
                <a:latin typeface="Consolas"/>
                <a:ea typeface="Consolas"/>
                <a:cs typeface="Consolas"/>
                <a:sym typeface="Consolas"/>
              </a:rPr>
              <a:t> i = 2; i &lt; sqrt(</a:t>
            </a:r>
            <a:r>
              <a:rPr b="0" i="0" lang="en-US" sz="2400" u="none" cap="none" strike="noStrike">
                <a:solidFill>
                  <a:srgbClr val="808080"/>
                </a:solidFill>
                <a:highlight>
                  <a:srgbClr val="FFFFFF"/>
                </a:highlight>
                <a:latin typeface="Consolas"/>
                <a:ea typeface="Consolas"/>
                <a:cs typeface="Consolas"/>
                <a:sym typeface="Consolas"/>
              </a:rPr>
              <a:t>n</a:t>
            </a:r>
            <a:r>
              <a:rPr b="0" i="0" lang="en-US" sz="2400" u="none" cap="none" strike="noStrike">
                <a:solidFill>
                  <a:srgbClr val="000000"/>
                </a:solidFill>
                <a:highlight>
                  <a:srgbClr val="FFFFFF"/>
                </a:highlight>
                <a:latin typeface="Consolas"/>
                <a:ea typeface="Consolas"/>
                <a:cs typeface="Consolas"/>
                <a:sym typeface="Consolas"/>
              </a:rPr>
              <a:t>); i++)</a:t>
            </a:r>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if</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808080"/>
                </a:solidFill>
                <a:highlight>
                  <a:srgbClr val="FFFFFF"/>
                </a:highlight>
                <a:latin typeface="Consolas"/>
                <a:ea typeface="Consolas"/>
                <a:cs typeface="Consolas"/>
                <a:sym typeface="Consolas"/>
              </a:rPr>
              <a:t>n</a:t>
            </a:r>
            <a:r>
              <a:rPr b="0" i="0" lang="en-US" sz="2400" u="none" cap="none" strike="noStrike">
                <a:solidFill>
                  <a:srgbClr val="000000"/>
                </a:solidFill>
                <a:highlight>
                  <a:srgbClr val="FFFFFF"/>
                </a:highlight>
                <a:latin typeface="Consolas"/>
                <a:ea typeface="Consolas"/>
                <a:cs typeface="Consolas"/>
                <a:sym typeface="Consolas"/>
              </a:rPr>
              <a:t> % i == 0)</a:t>
            </a:r>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return</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0000FF"/>
                </a:solidFill>
                <a:highlight>
                  <a:srgbClr val="FFFFFF"/>
                </a:highlight>
                <a:latin typeface="Consolas"/>
                <a:ea typeface="Consolas"/>
                <a:cs typeface="Consolas"/>
                <a:sym typeface="Consolas"/>
              </a:rPr>
              <a:t>false</a:t>
            </a:r>
            <a:r>
              <a:rPr b="0" i="0" lang="en-US" sz="2400" u="none" cap="none" strike="noStrike">
                <a:solidFill>
                  <a:srgbClr val="000000"/>
                </a:solidFill>
                <a:highlight>
                  <a:srgbClr val="FFFFFF"/>
                </a:highlight>
                <a:latin typeface="Consolas"/>
                <a:ea typeface="Consolas"/>
                <a:cs typeface="Consolas"/>
                <a:sym typeface="Consolas"/>
              </a:rPr>
              <a:t>;</a:t>
            </a:r>
            <a:endParaRPr/>
          </a:p>
          <a:p>
            <a:pPr indent="0" lvl="0" marL="0" marR="0" rtl="0" algn="l">
              <a:lnSpc>
                <a:spcPct val="100000"/>
              </a:lnSpc>
              <a:spcBef>
                <a:spcPts val="0"/>
              </a:spcBef>
              <a:spcAft>
                <a:spcPts val="0"/>
              </a:spcAft>
              <a:buClr>
                <a:schemeClr val="lt1"/>
              </a:buClr>
              <a:buSzPts val="2400"/>
              <a:buFont typeface="Arial"/>
              <a:buNone/>
            </a:pPr>
            <a:r>
              <a:t/>
            </a:r>
            <a:endParaRPr b="0" i="0" sz="2400" u="none" cap="none" strike="noStrike">
              <a:solidFill>
                <a:srgbClr val="000000"/>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FF"/>
              </a:buClr>
              <a:buSzPts val="2400"/>
              <a:buFont typeface="Consolas"/>
              <a:buNone/>
            </a:pPr>
            <a:r>
              <a:rPr b="0" i="0" lang="en-US" sz="2400" u="none" cap="none" strike="noStrike">
                <a:solidFill>
                  <a:srgbClr val="0000FF"/>
                </a:solidFill>
                <a:highlight>
                  <a:srgbClr val="FFFFFF"/>
                </a:highlight>
                <a:latin typeface="Consolas"/>
                <a:ea typeface="Consolas"/>
                <a:cs typeface="Consolas"/>
                <a:sym typeface="Consolas"/>
              </a:rPr>
              <a:t>   return</a:t>
            </a:r>
            <a:r>
              <a:rPr b="0" i="0" lang="en-US" sz="2400" u="none" cap="none" strike="noStrike">
                <a:solidFill>
                  <a:srgbClr val="000000"/>
                </a:solidFill>
                <a:highlight>
                  <a:srgbClr val="FFFFFF"/>
                </a:highlight>
                <a:latin typeface="Consolas"/>
                <a:ea typeface="Consolas"/>
                <a:cs typeface="Consolas"/>
                <a:sym typeface="Consolas"/>
              </a:rPr>
              <a:t> </a:t>
            </a:r>
            <a:r>
              <a:rPr b="0" i="0" lang="en-US" sz="2400" u="none" cap="none" strike="noStrike">
                <a:solidFill>
                  <a:srgbClr val="0000FF"/>
                </a:solidFill>
                <a:highlight>
                  <a:srgbClr val="FFFFFF"/>
                </a:highlight>
                <a:latin typeface="Consolas"/>
                <a:ea typeface="Consolas"/>
                <a:cs typeface="Consolas"/>
                <a:sym typeface="Consolas"/>
              </a:rPr>
              <a:t>true</a:t>
            </a:r>
            <a:r>
              <a:rPr b="0" i="0" lang="en-US" sz="2400" u="none" cap="none" strike="noStrike">
                <a:solidFill>
                  <a:srgbClr val="000000"/>
                </a:solidFill>
                <a:highlight>
                  <a:srgbClr val="FFFFFF"/>
                </a:highlight>
                <a:latin typeface="Consolas"/>
                <a:ea typeface="Consolas"/>
                <a:cs typeface="Consolas"/>
                <a:sym typeface="Consolas"/>
              </a:rPr>
              <a:t>;</a:t>
            </a:r>
            <a:endParaRPr/>
          </a:p>
          <a:p>
            <a:pPr indent="0" lvl="0" marL="0" marR="0" rtl="0" algn="l">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highlight>
                  <a:srgbClr val="FFFFFF"/>
                </a:highlight>
                <a:latin typeface="Consolas"/>
                <a:ea typeface="Consolas"/>
                <a:cs typeface="Consolas"/>
                <a:sym typeface="Consolas"/>
              </a:rPr>
              <a:t>}</a:t>
            </a:r>
            <a:endParaRPr b="0" i="0" sz="2200" u="none" cap="none" strike="noStrike">
              <a:solidFill>
                <a:schemeClr val="dk1"/>
              </a:solidFill>
              <a:latin typeface="Courier New"/>
              <a:ea typeface="Courier New"/>
              <a:cs typeface="Courier New"/>
              <a:sym typeface="Courier New"/>
            </a:endParaRPr>
          </a:p>
        </p:txBody>
      </p:sp>
      <p:sp>
        <p:nvSpPr>
          <p:cNvPr id="667" name="Google Shape;667;p27"/>
          <p:cNvSpPr txBox="1"/>
          <p:nvPr>
            <p:ph type="title"/>
          </p:nvPr>
        </p:nvSpPr>
        <p:spPr>
          <a:xfrm>
            <a:off x="784225"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Ví dụ 2</a:t>
            </a:r>
            <a:endParaRPr/>
          </a:p>
        </p:txBody>
      </p:sp>
      <p:sp>
        <p:nvSpPr>
          <p:cNvPr id="668" name="Google Shape;668;p27"/>
          <p:cNvSpPr txBox="1"/>
          <p:nvPr>
            <p:ph idx="1" type="body"/>
          </p:nvPr>
        </p:nvSpPr>
        <p:spPr>
          <a:xfrm>
            <a:off x="804862" y="1828800"/>
            <a:ext cx="8229600" cy="523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Developer mở chương trình kiểm tra</a:t>
            </a:r>
            <a:endParaRPr/>
          </a:p>
        </p:txBody>
      </p:sp>
      <p:sp>
        <p:nvSpPr>
          <p:cNvPr id="669" name="Google Shape;669;p27"/>
          <p:cNvSpPr/>
          <p:nvPr/>
        </p:nvSpPr>
        <p:spPr>
          <a:xfrm>
            <a:off x="4576762" y="4083050"/>
            <a:ext cx="520700" cy="519112"/>
          </a:xfrm>
          <a:prstGeom prst="ellipse">
            <a:avLst/>
          </a:prstGeom>
          <a:solidFill>
            <a:schemeClr val="accent1">
              <a:alpha val="0"/>
            </a:schemeClr>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0" name="Google Shape;670;p27"/>
          <p:cNvSpPr txBox="1"/>
          <p:nvPr/>
        </p:nvSpPr>
        <p:spPr>
          <a:xfrm>
            <a:off x="2743200" y="6405562"/>
            <a:ext cx="36671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1" lang="en-US" sz="1800" u="none">
                <a:solidFill>
                  <a:schemeClr val="dk1"/>
                </a:solidFill>
                <a:latin typeface="Tahoma"/>
                <a:ea typeface="Tahoma"/>
                <a:cs typeface="Tahoma"/>
                <a:sym typeface="Tahoma"/>
              </a:rPr>
              <a:t>Chương trình minh họa bằng C++</a:t>
            </a:r>
            <a:endParaRPr/>
          </a:p>
        </p:txBody>
      </p:sp>
      <p:sp>
        <p:nvSpPr>
          <p:cNvPr id="671" name="Google Shape;671;p27"/>
          <p:cNvSpPr txBox="1"/>
          <p:nvPr/>
        </p:nvSpPr>
        <p:spPr>
          <a:xfrm>
            <a:off x="4741862" y="4108450"/>
            <a:ext cx="3556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onsolas"/>
              <a:buNone/>
            </a:pPr>
            <a:r>
              <a:rPr b="1" i="0" lang="en-US" sz="2400" u="none">
                <a:solidFill>
                  <a:srgbClr val="C00000"/>
                </a:solidFill>
                <a:latin typeface="Consolas"/>
                <a:ea typeface="Consolas"/>
                <a:cs typeface="Consolas"/>
                <a:sym typeface="Consolas"/>
              </a:rPr>
              <a:t>=</a:t>
            </a:r>
            <a:endParaRPr/>
          </a:p>
        </p:txBody>
      </p:sp>
      <p:pic>
        <p:nvPicPr>
          <p:cNvPr id="672" name="Google Shape;672;p27"/>
          <p:cNvPicPr preferRelativeResize="0"/>
          <p:nvPr/>
        </p:nvPicPr>
        <p:blipFill rotWithShape="1">
          <a:blip r:embed="rId3">
            <a:alphaModFix/>
          </a:blip>
          <a:srcRect b="0" l="0" r="0" t="0"/>
          <a:stretch/>
        </p:blipFill>
        <p:spPr>
          <a:xfrm>
            <a:off x="7207250" y="4202112"/>
            <a:ext cx="1936750" cy="2573337"/>
          </a:xfrm>
          <a:prstGeom prst="rect">
            <a:avLst/>
          </a:prstGeom>
          <a:noFill/>
          <a:ln>
            <a:noFill/>
          </a:ln>
        </p:spPr>
      </p:pic>
      <p:sp>
        <p:nvSpPr>
          <p:cNvPr id="673" name="Google Shape;673;p27"/>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822"/>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2000"/>
                                        <p:tgtEl>
                                          <p:spTgt spid="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28"/>
          <p:cNvSpPr txBox="1"/>
          <p:nvPr>
            <p:ph type="title"/>
          </p:nvPr>
        </p:nvSpPr>
        <p:spPr>
          <a:xfrm>
            <a:off x="6096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Ưu điểm và khuyết điểm</a:t>
            </a:r>
            <a:endParaRPr/>
          </a:p>
        </p:txBody>
      </p:sp>
      <p:sp>
        <p:nvSpPr>
          <p:cNvPr id="679" name="Google Shape;679;p28"/>
          <p:cNvSpPr txBox="1"/>
          <p:nvPr>
            <p:ph idx="1" type="body"/>
          </p:nvPr>
        </p:nvSpPr>
        <p:spPr>
          <a:xfrm>
            <a:off x="914400" y="1381125"/>
            <a:ext cx="8001000" cy="55530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Ưu điểm</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Đơn giản.</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Hiệu quả cho các hàm có biến độc lập.</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Có thể tự động sinh test case khi xác định được giá trị biên của các biến.</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Khuyết điểm</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Không quan tâm đặc trưng của hàm, ngữ nghĩa các biến, cũng như quan hệ giữa các biến.</a:t>
            </a:r>
            <a:endParaRPr/>
          </a:p>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Khó áp dụng cho trường hợp các biến có quan hệ ràng buộc nhau.</a:t>
            </a:r>
            <a:endParaRPr/>
          </a:p>
        </p:txBody>
      </p:sp>
      <p:sp>
        <p:nvSpPr>
          <p:cNvPr id="680" name="Google Shape;680;p28"/>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9"/>
          <p:cNvSpPr txBox="1"/>
          <p:nvPr>
            <p:ph type="title"/>
          </p:nvPr>
        </p:nvSpPr>
        <p:spPr>
          <a:xfrm>
            <a:off x="7620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Bài tập </a:t>
            </a:r>
            <a:endParaRPr/>
          </a:p>
        </p:txBody>
      </p:sp>
      <p:sp>
        <p:nvSpPr>
          <p:cNvPr id="686" name="Google Shape;686;p29"/>
          <p:cNvSpPr txBox="1"/>
          <p:nvPr>
            <p:ph idx="1" type="body"/>
          </p:nvPr>
        </p:nvSpPr>
        <p:spPr>
          <a:xfrm>
            <a:off x="609600" y="1609725"/>
            <a:ext cx="8229600" cy="36480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hệ thống ngân hàng trực tuyến của ngân hàng ABC quy định không được chuyển khoản quá 10 triệu (tr) trong ngày, tối thiểu mỗi lần chuyển khoản là 1tr.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phương pháp phân tích giá trị biên thiết kế test case để kiểm tra số tiền chuyển khoản của khách hàng A có được phép chuyển trong ngày hiện tại không?</a:t>
            </a:r>
            <a:endParaRPr/>
          </a:p>
          <a:p>
            <a:pPr indent="-190500" lvl="0" marL="342900" marR="0" rtl="0" algn="l">
              <a:spcBef>
                <a:spcPts val="480"/>
              </a:spcBef>
              <a:spcAft>
                <a:spcPts val="0"/>
              </a:spcAft>
              <a:buClr>
                <a:schemeClr val="hlink"/>
              </a:buClr>
              <a:buSzPts val="2400"/>
              <a:buFont typeface="Noto Sans Symbols"/>
              <a:buNone/>
            </a:pPr>
            <a:r>
              <a:t/>
            </a:r>
            <a:endParaRPr b="0" i="1" sz="2400" u="none">
              <a:solidFill>
                <a:schemeClr val="dk1"/>
              </a:solidFill>
              <a:latin typeface="Arial"/>
              <a:ea typeface="Arial"/>
              <a:cs typeface="Arial"/>
              <a:sym typeface="Arial"/>
            </a:endParaRPr>
          </a:p>
        </p:txBody>
      </p:sp>
      <p:sp>
        <p:nvSpPr>
          <p:cNvPr id="687" name="Google Shape;687;p29"/>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4.3.2. PHÂN TÍCH GIÁ TRỊ BIÊN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3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
        <p:nvSpPr>
          <p:cNvPr id="693" name="Google Shape;693;p30"/>
          <p:cNvSpPr txBox="1"/>
          <p:nvPr>
            <p:ph idx="1" type="body"/>
          </p:nvPr>
        </p:nvSpPr>
        <p:spPr>
          <a:xfrm>
            <a:off x="685800" y="1076325"/>
            <a:ext cx="8229600" cy="5705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Bảng quyết định (DT: Decision table) là kỹ thuật kiểm thử hộp đen dùng xác định </a:t>
            </a:r>
            <a:r>
              <a:rPr b="1" i="0" lang="en-US" sz="2400" u="none">
                <a:solidFill>
                  <a:srgbClr val="C00000"/>
                </a:solidFill>
                <a:latin typeface="Arial"/>
                <a:ea typeface="Arial"/>
                <a:cs typeface="Arial"/>
                <a:sym typeface="Arial"/>
              </a:rPr>
              <a:t>những kịch bản </a:t>
            </a:r>
            <a:r>
              <a:rPr b="0" i="0" lang="en-US" sz="2400" u="none">
                <a:solidFill>
                  <a:schemeClr val="dk1"/>
                </a:solidFill>
                <a:latin typeface="Arial"/>
                <a:ea typeface="Arial"/>
                <a:cs typeface="Arial"/>
                <a:sym typeface="Arial"/>
              </a:rPr>
              <a:t>(scenario) kiểm thử cho những trường hợp có logic nghiệp vụ phức tạp.</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DT giúp tester xác định hiệu quả sự </a:t>
            </a:r>
            <a:r>
              <a:rPr b="1" i="0" lang="en-US" sz="2400" u="none">
                <a:solidFill>
                  <a:srgbClr val="C00000"/>
                </a:solidFill>
                <a:latin typeface="Arial"/>
                <a:ea typeface="Arial"/>
                <a:cs typeface="Arial"/>
                <a:sym typeface="Arial"/>
              </a:rPr>
              <a:t>kết hợp các đầu vào khác nhau </a:t>
            </a:r>
            <a:r>
              <a:rPr b="0" i="0" lang="en-US" sz="2400" u="none">
                <a:solidFill>
                  <a:schemeClr val="dk1"/>
                </a:solidFill>
                <a:latin typeface="Arial"/>
                <a:ea typeface="Arial"/>
                <a:cs typeface="Arial"/>
                <a:sym typeface="Arial"/>
              </a:rPr>
              <a:t>với các tình trạng phần mềm thực thi đúng quy tắc nghiệp vụ.</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DT nên được sử dụng trong những chương trình có </a:t>
            </a:r>
            <a:r>
              <a:rPr b="1" i="0" lang="en-US" sz="2400" u="none">
                <a:solidFill>
                  <a:srgbClr val="C00000"/>
                </a:solidFill>
                <a:latin typeface="Arial"/>
                <a:ea typeface="Arial"/>
                <a:cs typeface="Arial"/>
                <a:sym typeface="Arial"/>
              </a:rPr>
              <a:t>nhiều lệnh rẽ nhánh </a:t>
            </a:r>
            <a:r>
              <a:rPr b="0" i="0" lang="en-US" sz="2400" u="none">
                <a:solidFill>
                  <a:schemeClr val="dk1"/>
                </a:solidFill>
                <a:latin typeface="Arial"/>
                <a:ea typeface="Arial"/>
                <a:cs typeface="Arial"/>
                <a:sym typeface="Arial"/>
              </a:rPr>
              <a:t>và </a:t>
            </a:r>
            <a:r>
              <a:rPr b="1" i="0" lang="en-US" sz="2400" u="none">
                <a:solidFill>
                  <a:srgbClr val="C00000"/>
                </a:solidFill>
                <a:latin typeface="Arial"/>
                <a:ea typeface="Arial"/>
                <a:cs typeface="Arial"/>
                <a:sym typeface="Arial"/>
              </a:rPr>
              <a:t>các biến đầu vào có mối quan hệ với nhau</a:t>
            </a:r>
            <a:r>
              <a:rPr b="0" i="0" lang="en-US" sz="2400" u="none">
                <a:solidFill>
                  <a:schemeClr val="dk1"/>
                </a:solidFill>
                <a:latin typeface="Arial"/>
                <a:ea typeface="Arial"/>
                <a:cs typeface="Arial"/>
                <a:sym typeface="Arial"/>
              </a:rPr>
              <a:t>.</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31"/>
          <p:cNvSpPr txBox="1"/>
          <p:nvPr>
            <p:ph type="title"/>
          </p:nvPr>
        </p:nvSpPr>
        <p:spPr>
          <a:xfrm>
            <a:off x="64135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Cấu trúc bảng quyết định</a:t>
            </a:r>
            <a:endParaRPr/>
          </a:p>
        </p:txBody>
      </p:sp>
      <p:graphicFrame>
        <p:nvGraphicFramePr>
          <p:cNvPr id="699" name="Google Shape;699;p31"/>
          <p:cNvGraphicFramePr/>
          <p:nvPr/>
        </p:nvGraphicFramePr>
        <p:xfrm>
          <a:off x="1936750" y="3846512"/>
          <a:ext cx="3000000" cy="3000000"/>
        </p:xfrm>
        <a:graphic>
          <a:graphicData uri="http://schemas.openxmlformats.org/drawingml/2006/table">
            <a:tbl>
              <a:tblPr>
                <a:noFill/>
                <a:tableStyleId>{31D5217D-7989-4123-8A4E-5E50DADE823D}</a:tableStyleId>
              </a:tblPr>
              <a:tblGrid>
                <a:gridCol w="2420925"/>
                <a:gridCol w="3675050"/>
              </a:tblGrid>
              <a:tr h="427025">
                <a:tc>
                  <a:txBody>
                    <a:bodyPr/>
                    <a:lstStyle/>
                    <a:p>
                      <a:pPr indent="0" lvl="0" marL="0" marR="0" rtl="0" algn="l">
                        <a:lnSpc>
                          <a:spcPct val="100000"/>
                        </a:lnSpc>
                        <a:spcBef>
                          <a:spcPts val="0"/>
                        </a:spcBef>
                        <a:spcAft>
                          <a:spcPts val="0"/>
                        </a:spcAft>
                        <a:buClr>
                          <a:srgbClr val="C00000"/>
                        </a:buClr>
                        <a:buSzPts val="2200"/>
                        <a:buFont typeface="Tahoma"/>
                        <a:buNone/>
                      </a:pPr>
                      <a:r>
                        <a:rPr b="1" i="0" lang="en-US" sz="2200" u="none">
                          <a:solidFill>
                            <a:srgbClr val="C00000"/>
                          </a:solidFill>
                          <a:latin typeface="Tahoma"/>
                          <a:ea typeface="Tahoma"/>
                          <a:cs typeface="Tahoma"/>
                          <a:sym typeface="Tahoma"/>
                        </a:rPr>
                        <a:t>Các điều kiện</a:t>
                      </a:r>
                      <a:endParaRPr/>
                    </a:p>
                  </a:txBody>
                  <a:tcPr marT="45750" marB="45750"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2060"/>
                        </a:buClr>
                        <a:buSzPts val="2200"/>
                        <a:buFont typeface="Tahoma"/>
                        <a:buNone/>
                      </a:pPr>
                      <a:r>
                        <a:rPr b="0" i="0" lang="en-US" sz="2200" u="none">
                          <a:solidFill>
                            <a:srgbClr val="002060"/>
                          </a:solidFill>
                          <a:latin typeface="Tahoma"/>
                          <a:ea typeface="Tahoma"/>
                          <a:cs typeface="Tahoma"/>
                          <a:sym typeface="Tahoma"/>
                        </a:rPr>
                        <a:t>Các giá trị điều kiện</a:t>
                      </a:r>
                      <a:endParaRPr/>
                    </a:p>
                  </a:txBody>
                  <a:tcPr marT="45750" marB="45750"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427025">
                <a:tc>
                  <a:txBody>
                    <a:bodyPr/>
                    <a:lstStyle/>
                    <a:p>
                      <a:pPr indent="0" lvl="0" marL="0" marR="0" rtl="0" algn="l">
                        <a:lnSpc>
                          <a:spcPct val="100000"/>
                        </a:lnSpc>
                        <a:spcBef>
                          <a:spcPts val="0"/>
                        </a:spcBef>
                        <a:spcAft>
                          <a:spcPts val="0"/>
                        </a:spcAft>
                        <a:buClr>
                          <a:srgbClr val="C00000"/>
                        </a:buClr>
                        <a:buSzPts val="2200"/>
                        <a:buFont typeface="Tahoma"/>
                        <a:buNone/>
                      </a:pPr>
                      <a:r>
                        <a:rPr b="1" i="0" lang="en-US" sz="2200" u="none">
                          <a:solidFill>
                            <a:srgbClr val="C00000"/>
                          </a:solidFill>
                          <a:latin typeface="Tahoma"/>
                          <a:ea typeface="Tahoma"/>
                          <a:cs typeface="Tahoma"/>
                          <a:sym typeface="Tahoma"/>
                        </a:rPr>
                        <a:t>Hành động</a:t>
                      </a:r>
                      <a:endParaRPr/>
                    </a:p>
                  </a:txBody>
                  <a:tcPr marT="45750" marB="45750"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l">
                        <a:lnSpc>
                          <a:spcPct val="100000"/>
                        </a:lnSpc>
                        <a:spcBef>
                          <a:spcPts val="0"/>
                        </a:spcBef>
                        <a:spcAft>
                          <a:spcPts val="0"/>
                        </a:spcAft>
                        <a:buClr>
                          <a:srgbClr val="002060"/>
                        </a:buClr>
                        <a:buSzPts val="2200"/>
                        <a:buFont typeface="Tahoma"/>
                        <a:buNone/>
                      </a:pPr>
                      <a:r>
                        <a:rPr b="0" i="0" lang="en-US" sz="2200" u="none">
                          <a:solidFill>
                            <a:srgbClr val="002060"/>
                          </a:solidFill>
                          <a:latin typeface="Tahoma"/>
                          <a:ea typeface="Tahoma"/>
                          <a:cs typeface="Tahoma"/>
                          <a:sym typeface="Tahoma"/>
                        </a:rPr>
                        <a:t>Xảy ra hay không</a:t>
                      </a:r>
                      <a:endParaRPr/>
                    </a:p>
                  </a:txBody>
                  <a:tcPr marT="45750" marB="45750"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bl>
          </a:graphicData>
        </a:graphic>
      </p:graphicFrame>
      <p:sp>
        <p:nvSpPr>
          <p:cNvPr id="700" name="Google Shape;700;p31"/>
          <p:cNvSpPr/>
          <p:nvPr/>
        </p:nvSpPr>
        <p:spPr>
          <a:xfrm>
            <a:off x="5067300" y="1931987"/>
            <a:ext cx="4000500" cy="1509712"/>
          </a:xfrm>
          <a:prstGeom prst="wedgeEllipseCallout">
            <a:avLst>
              <a:gd fmla="val 4122" name="adj1"/>
              <a:gd fmla="val 27688" name="adj2"/>
            </a:avLst>
          </a:prstGeom>
          <a:solidFill>
            <a:schemeClr val="accent1">
              <a:alpha val="32549"/>
            </a:scheme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ahoma"/>
              <a:buNone/>
            </a:pPr>
            <a:r>
              <a:rPr b="0" i="0" lang="en-US" sz="2000" u="none">
                <a:solidFill>
                  <a:srgbClr val="002060"/>
                </a:solidFill>
                <a:latin typeface="Tahoma"/>
                <a:ea typeface="Tahoma"/>
                <a:cs typeface="Tahoma"/>
                <a:sym typeface="Tahoma"/>
              </a:rPr>
              <a:t>Các giá trị điều kiện: một giá trị nào đó của điều kiện (các cột quy tắc - rule). </a:t>
            </a:r>
            <a:endParaRPr/>
          </a:p>
        </p:txBody>
      </p:sp>
      <p:sp>
        <p:nvSpPr>
          <p:cNvPr id="701" name="Google Shape;701;p31"/>
          <p:cNvSpPr/>
          <p:nvPr/>
        </p:nvSpPr>
        <p:spPr>
          <a:xfrm>
            <a:off x="4537075" y="5062537"/>
            <a:ext cx="4530725" cy="1643062"/>
          </a:xfrm>
          <a:prstGeom prst="wedgeEllipseCallout">
            <a:avLst>
              <a:gd fmla="val 4630" name="adj1"/>
              <a:gd fmla="val -4288" name="adj2"/>
            </a:avLst>
          </a:prstGeom>
          <a:solidFill>
            <a:schemeClr val="accent1">
              <a:alpha val="32549"/>
            </a:scheme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ahoma"/>
              <a:buNone/>
            </a:pPr>
            <a:r>
              <a:rPr b="0" i="0" lang="en-US" sz="2000" u="none">
                <a:solidFill>
                  <a:srgbClr val="002060"/>
                </a:solidFill>
                <a:latin typeface="Tahoma"/>
                <a:ea typeface="Tahoma"/>
                <a:cs typeface="Tahoma"/>
                <a:sym typeface="Tahoma"/>
              </a:rPr>
              <a:t>Các giá trị của hành động: một hành động có thể xảy ra phụ thuộc vào tổ hợp các giá trị điều kiện.</a:t>
            </a:r>
            <a:endParaRPr/>
          </a:p>
        </p:txBody>
      </p:sp>
      <p:sp>
        <p:nvSpPr>
          <p:cNvPr id="702" name="Google Shape;702;p31"/>
          <p:cNvSpPr/>
          <p:nvPr/>
        </p:nvSpPr>
        <p:spPr>
          <a:xfrm>
            <a:off x="536575" y="2070100"/>
            <a:ext cx="4000500" cy="1371600"/>
          </a:xfrm>
          <a:prstGeom prst="wedgeEllipseCallout">
            <a:avLst>
              <a:gd fmla="val 13344" name="adj1"/>
              <a:gd fmla="val 28112" name="adj2"/>
            </a:avLst>
          </a:prstGeom>
          <a:solidFill>
            <a:schemeClr val="accent1">
              <a:alpha val="32549"/>
            </a:scheme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ahoma"/>
              <a:buNone/>
            </a:pPr>
            <a:r>
              <a:rPr b="0" i="0" lang="en-US" sz="2000" u="none">
                <a:solidFill>
                  <a:srgbClr val="002060"/>
                </a:solidFill>
                <a:latin typeface="Tahoma"/>
                <a:ea typeface="Tahoma"/>
                <a:cs typeface="Tahoma"/>
                <a:sym typeface="Tahoma"/>
              </a:rPr>
              <a:t>Các điện kiện: một biến, một quan hệ hoặc một mệnh đề.</a:t>
            </a:r>
            <a:endParaRPr/>
          </a:p>
        </p:txBody>
      </p:sp>
      <p:sp>
        <p:nvSpPr>
          <p:cNvPr id="703" name="Google Shape;703;p31"/>
          <p:cNvSpPr/>
          <p:nvPr/>
        </p:nvSpPr>
        <p:spPr>
          <a:xfrm>
            <a:off x="336550" y="5203825"/>
            <a:ext cx="4000500" cy="1371600"/>
          </a:xfrm>
          <a:prstGeom prst="wedgeEllipseCallout">
            <a:avLst>
              <a:gd fmla="val 15450" name="adj1"/>
              <a:gd fmla="val -8524" name="adj2"/>
            </a:avLst>
          </a:prstGeom>
          <a:solidFill>
            <a:schemeClr val="accent1">
              <a:alpha val="32549"/>
            </a:scheme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ahoma"/>
              <a:buNone/>
            </a:pPr>
            <a:r>
              <a:rPr b="0" i="0" lang="en-US" sz="2000" u="none">
                <a:solidFill>
                  <a:srgbClr val="002060"/>
                </a:solidFill>
                <a:latin typeface="Tahoma"/>
                <a:ea typeface="Tahoma"/>
                <a:cs typeface="Tahoma"/>
                <a:sym typeface="Tahoma"/>
              </a:rPr>
              <a:t>Hành động: một thủ tục hoặc thao tác cần thực hiện.</a:t>
            </a:r>
            <a:endParaRPr/>
          </a:p>
        </p:txBody>
      </p:sp>
      <p:sp>
        <p:nvSpPr>
          <p:cNvPr id="704" name="Google Shape;704;p31"/>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500"/>
                                        <p:tgtEl>
                                          <p:spTgt spid="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2"/>
          <p:cNvSpPr txBox="1"/>
          <p:nvPr>
            <p:ph type="title"/>
          </p:nvPr>
        </p:nvSpPr>
        <p:spPr>
          <a:xfrm>
            <a:off x="6858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Xây dựng bảng quyết định</a:t>
            </a:r>
            <a:endParaRPr/>
          </a:p>
        </p:txBody>
      </p:sp>
      <p:sp>
        <p:nvSpPr>
          <p:cNvPr id="710" name="Google Shape;710;p32"/>
          <p:cNvSpPr txBox="1"/>
          <p:nvPr>
            <p:ph idx="1" type="body"/>
          </p:nvPr>
        </p:nvSpPr>
        <p:spPr>
          <a:xfrm>
            <a:off x="762000" y="1609725"/>
            <a:ext cx="8229600" cy="47148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Liệt kê tất cả </a:t>
            </a:r>
            <a:r>
              <a:rPr b="1" i="0" lang="en-US" sz="2400" u="none">
                <a:solidFill>
                  <a:srgbClr val="C00000"/>
                </a:solidFill>
                <a:latin typeface="Arial"/>
                <a:ea typeface="Arial"/>
                <a:cs typeface="Arial"/>
                <a:sym typeface="Arial"/>
              </a:rPr>
              <a:t>các điều kiện/đầu vào</a:t>
            </a:r>
            <a:r>
              <a:rPr b="0" i="0" lang="en-US" sz="2400" u="none">
                <a:solidFill>
                  <a:schemeClr val="dk1"/>
                </a:solidFill>
                <a:latin typeface="Arial"/>
                <a:ea typeface="Arial"/>
                <a:cs typeface="Arial"/>
                <a:sym typeface="Arial"/>
              </a:rPr>
              <a:t>.</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Tính </a:t>
            </a:r>
            <a:r>
              <a:rPr b="1" i="0" lang="en-US" sz="2400" u="none">
                <a:solidFill>
                  <a:srgbClr val="C00000"/>
                </a:solidFill>
                <a:latin typeface="Arial"/>
                <a:ea typeface="Arial"/>
                <a:cs typeface="Arial"/>
                <a:sym typeface="Arial"/>
              </a:rPr>
              <a:t>số lượng kết hợp </a:t>
            </a:r>
            <a:r>
              <a:rPr b="0" i="0" lang="en-US" sz="2400" u="none">
                <a:solidFill>
                  <a:schemeClr val="dk1"/>
                </a:solidFill>
                <a:latin typeface="Arial"/>
                <a:ea typeface="Arial"/>
                <a:cs typeface="Arial"/>
                <a:sym typeface="Arial"/>
              </a:rPr>
              <a:t>các giá trị của các điều kiện/ đầu vào và đặt các kết hợp đó vào trong phần giá trị các điều kiện.</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1" i="0" lang="en-US" sz="2400" u="none">
                <a:solidFill>
                  <a:srgbClr val="C00000"/>
                </a:solidFill>
                <a:latin typeface="Arial"/>
                <a:ea typeface="Arial"/>
                <a:cs typeface="Arial"/>
                <a:sym typeface="Arial"/>
              </a:rPr>
              <a:t>Xác định các test case </a:t>
            </a:r>
            <a:r>
              <a:rPr b="0" i="0" lang="en-US" sz="2400" u="none">
                <a:solidFill>
                  <a:schemeClr val="dk1"/>
                </a:solidFill>
                <a:latin typeface="Arial"/>
                <a:ea typeface="Arial"/>
                <a:cs typeface="Arial"/>
                <a:sym typeface="Arial"/>
              </a:rPr>
              <a:t>tương ứng cho các điều kiện được thỏa mãn.</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1" i="0" lang="en-US" sz="2400" u="none">
                <a:solidFill>
                  <a:srgbClr val="C00000"/>
                </a:solidFill>
                <a:latin typeface="Arial"/>
                <a:ea typeface="Arial"/>
                <a:cs typeface="Arial"/>
                <a:sym typeface="Arial"/>
              </a:rPr>
              <a:t>Các hành động </a:t>
            </a:r>
            <a:r>
              <a:rPr b="0" i="0" lang="en-US" sz="2400" u="none">
                <a:solidFill>
                  <a:schemeClr val="dk1"/>
                </a:solidFill>
                <a:latin typeface="Arial"/>
                <a:ea typeface="Arial"/>
                <a:cs typeface="Arial"/>
                <a:sym typeface="Arial"/>
              </a:rPr>
              <a:t>chính là kết quả mong đợi của test case.</a:t>
            </a:r>
            <a:endParaRPr/>
          </a:p>
        </p:txBody>
      </p:sp>
      <p:sp>
        <p:nvSpPr>
          <p:cNvPr id="711" name="Google Shape;711;p3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0" st="0"/>
                                            </p:txEl>
                                          </p:spTgt>
                                        </p:tgtEl>
                                        <p:attrNameLst>
                                          <p:attrName>style.visibility</p:attrName>
                                        </p:attrNameLst>
                                      </p:cBhvr>
                                      <p:to>
                                        <p:strVal val="visible"/>
                                      </p:to>
                                    </p:set>
                                    <p:animEffect filter="fade" transition="in">
                                      <p:cBhvr>
                                        <p:cTn dur="500"/>
                                        <p:tgtEl>
                                          <p:spTgt spid="7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1" st="1"/>
                                            </p:txEl>
                                          </p:spTgt>
                                        </p:tgtEl>
                                        <p:attrNameLst>
                                          <p:attrName>style.visibility</p:attrName>
                                        </p:attrNameLst>
                                      </p:cBhvr>
                                      <p:to>
                                        <p:strVal val="visible"/>
                                      </p:to>
                                    </p:set>
                                    <p:animEffect filter="fade" transition="in">
                                      <p:cBhvr>
                                        <p:cTn dur="500"/>
                                        <p:tgtEl>
                                          <p:spTgt spid="7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2" st="2"/>
                                            </p:txEl>
                                          </p:spTgt>
                                        </p:tgtEl>
                                        <p:attrNameLst>
                                          <p:attrName>style.visibility</p:attrName>
                                        </p:attrNameLst>
                                      </p:cBhvr>
                                      <p:to>
                                        <p:strVal val="visible"/>
                                      </p:to>
                                    </p:set>
                                    <p:animEffect filter="fade" transition="in">
                                      <p:cBhvr>
                                        <p:cTn dur="500"/>
                                        <p:tgtEl>
                                          <p:spTgt spid="7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3" st="3"/>
                                            </p:txEl>
                                          </p:spTgt>
                                        </p:tgtEl>
                                        <p:attrNameLst>
                                          <p:attrName>style.visibility</p:attrName>
                                        </p:attrNameLst>
                                      </p:cBhvr>
                                      <p:to>
                                        <p:strVal val="visible"/>
                                      </p:to>
                                    </p:set>
                                    <p:animEffect filter="fade" transition="in">
                                      <p:cBhvr>
                                        <p:cTn dur="500"/>
                                        <p:tgtEl>
                                          <p:spTgt spid="71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3"/>
          <p:cNvSpPr txBox="1"/>
          <p:nvPr>
            <p:ph type="title"/>
          </p:nvPr>
        </p:nvSpPr>
        <p:spPr>
          <a:xfrm>
            <a:off x="609600" y="103663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Xây dựng bảng quyết định</a:t>
            </a:r>
            <a:endParaRPr/>
          </a:p>
        </p:txBody>
      </p:sp>
      <p:sp>
        <p:nvSpPr>
          <p:cNvPr id="717" name="Google Shape;717;p33"/>
          <p:cNvSpPr txBox="1"/>
          <p:nvPr>
            <p:ph idx="1" type="body"/>
          </p:nvPr>
        </p:nvSpPr>
        <p:spPr>
          <a:xfrm>
            <a:off x="685800" y="1762125"/>
            <a:ext cx="8229600" cy="23526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Trong giá trị các điệu kiện có một giá trị đặc biệt là “–” thể hiện cho các điều kiện kết hợp chỉ định không thể xảy ra.  </a:t>
            </a:r>
            <a:endParaRPr/>
          </a:p>
          <a:p>
            <a:pPr indent="-342900" lvl="0" marL="342900" marR="0" rtl="0" algn="just">
              <a:lnSpc>
                <a:spcPct val="10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Chú ý: thứ tự các điều kiện và thứ tự thực hiện hành động là không quan trọng.</a:t>
            </a:r>
            <a:endParaRPr/>
          </a:p>
        </p:txBody>
      </p:sp>
      <p:sp>
        <p:nvSpPr>
          <p:cNvPr id="718" name="Google Shape;718;p33"/>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4"/>
          <p:cNvSpPr txBox="1"/>
          <p:nvPr>
            <p:ph type="title"/>
          </p:nvPr>
        </p:nvSpPr>
        <p:spPr>
          <a:xfrm>
            <a:off x="609600" y="990600"/>
            <a:ext cx="78486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Xây dựng bảng quyết định</a:t>
            </a:r>
            <a:endParaRPr/>
          </a:p>
        </p:txBody>
      </p:sp>
      <p:sp>
        <p:nvSpPr>
          <p:cNvPr id="724" name="Google Shape;724;p34"/>
          <p:cNvSpPr txBox="1"/>
          <p:nvPr>
            <p:ph idx="1" type="body"/>
          </p:nvPr>
        </p:nvSpPr>
        <p:spPr>
          <a:xfrm>
            <a:off x="762000" y="1609725"/>
            <a:ext cx="8229600" cy="47148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Ví dụ: xây dựng bảng quyết định cho chức năng login với hai thông tin đầu vào là username và password trên một ứng dụng web.</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các điều kiện/đầu vào: username và password.</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Mỗi đầu vào trên nhận một trong 3 giá trị: rỗng (blank - B), hợp lệ (valid - V) và không hợp lệ (invalid - I).</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Số kết hợp giá trị các điều kiện có thể xảy ra là 9</a:t>
            </a:r>
            <a:endParaRPr/>
          </a:p>
        </p:txBody>
      </p:sp>
      <p:sp>
        <p:nvSpPr>
          <p:cNvPr id="725" name="Google Shape;725;p34"/>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35"/>
          <p:cNvSpPr txBox="1"/>
          <p:nvPr/>
        </p:nvSpPr>
        <p:spPr>
          <a:xfrm>
            <a:off x="685800" y="1066800"/>
            <a:ext cx="5457825" cy="49244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Chú thích:</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M1: Vui lòng nhập username</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M2: Vui lòng nhập password</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M3: Username không hợp lệ</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M4: Password không hợp lệ</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L: Trang login</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H: Trang home</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B: rỗng</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V: hợp lệ</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	I: không hợp lệ</a:t>
            </a:r>
            <a:endParaRPr/>
          </a:p>
        </p:txBody>
      </p:sp>
      <p:sp>
        <p:nvSpPr>
          <p:cNvPr id="731" name="Google Shape;731;p35"/>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
        <p:nvSpPr>
          <p:cNvPr id="732" name="Google Shape;732;p3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3600">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6"/>
          <p:cNvSpPr txBox="1"/>
          <p:nvPr>
            <p:ph type="title"/>
          </p:nvPr>
        </p:nvSpPr>
        <p:spPr>
          <a:xfrm>
            <a:off x="6858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Xây dựng bảng quyết định</a:t>
            </a:r>
            <a:endParaRPr/>
          </a:p>
        </p:txBody>
      </p:sp>
      <p:graphicFrame>
        <p:nvGraphicFramePr>
          <p:cNvPr id="738" name="Google Shape;738;p36"/>
          <p:cNvGraphicFramePr/>
          <p:nvPr/>
        </p:nvGraphicFramePr>
        <p:xfrm>
          <a:off x="1355725" y="1727200"/>
          <a:ext cx="3000000" cy="3000000"/>
        </p:xfrm>
        <a:graphic>
          <a:graphicData uri="http://schemas.openxmlformats.org/drawingml/2006/table">
            <a:tbl>
              <a:tblPr>
                <a:noFill/>
                <a:tableStyleId>{31D5217D-7989-4123-8A4E-5E50DADE823D}</a:tableStyleId>
              </a:tblPr>
              <a:tblGrid>
                <a:gridCol w="815975"/>
                <a:gridCol w="1330325"/>
                <a:gridCol w="574675"/>
                <a:gridCol w="560375"/>
                <a:gridCol w="574675"/>
                <a:gridCol w="588950"/>
                <a:gridCol w="587375"/>
                <a:gridCol w="574675"/>
                <a:gridCol w="574675"/>
                <a:gridCol w="574675"/>
                <a:gridCol w="574675"/>
              </a:tblGrid>
              <a:tr h="371475">
                <a:tc rowSpan="2">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Các điệu kiện</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Username</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542925">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Password</a:t>
                      </a:r>
                      <a:endParaRPr/>
                    </a:p>
                  </a:txBody>
                  <a:tcPr marT="45625" marB="45625" marR="91450" marL="91450" anchor="ctr">
                    <a:lnL cap="flat" cmpd="sng" w="254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639750">
                <a:tc rowSpan="2">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Các hành động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Thông điệp lỗi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M2</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M4</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639750">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Chuyển đến trang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H</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bl>
          </a:graphicData>
        </a:graphic>
      </p:graphicFrame>
      <p:sp>
        <p:nvSpPr>
          <p:cNvPr id="739" name="Google Shape;739;p36"/>
          <p:cNvSpPr txBox="1"/>
          <p:nvPr/>
        </p:nvSpPr>
        <p:spPr>
          <a:xfrm>
            <a:off x="1355725" y="4121150"/>
            <a:ext cx="4090987" cy="269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M1: Vui lòng nhập username</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M2: Vui lòng nhập password</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M3: Username không hợp lệ</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M4: Password không hợp lệ</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L: Trang login</a:t>
            </a:r>
            <a:endParaRPr/>
          </a:p>
          <a:p>
            <a:pPr indent="0" lvl="0" marL="0" marR="0" rtl="0" algn="l">
              <a:lnSpc>
                <a:spcPct val="100000"/>
              </a:lnSpc>
              <a:spcBef>
                <a:spcPts val="600"/>
              </a:spcBef>
              <a:spcAft>
                <a:spcPts val="0"/>
              </a:spcAft>
              <a:buClr>
                <a:srgbClr val="002060"/>
              </a:buClr>
              <a:buSzPts val="2400"/>
              <a:buFont typeface="Tahoma"/>
              <a:buNone/>
            </a:pPr>
            <a:r>
              <a:rPr b="0" i="0" lang="en-US" sz="2400" u="none">
                <a:solidFill>
                  <a:srgbClr val="002060"/>
                </a:solidFill>
                <a:latin typeface="Tahoma"/>
                <a:ea typeface="Tahoma"/>
                <a:cs typeface="Tahoma"/>
                <a:sym typeface="Tahoma"/>
              </a:rPr>
              <a:t>H: Trang home</a:t>
            </a:r>
            <a:endParaRPr/>
          </a:p>
        </p:txBody>
      </p:sp>
      <p:sp>
        <p:nvSpPr>
          <p:cNvPr id="740" name="Google Shape;740;p36"/>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7"/>
          <p:cNvSpPr txBox="1"/>
          <p:nvPr>
            <p:ph type="title"/>
          </p:nvPr>
        </p:nvSpPr>
        <p:spPr>
          <a:xfrm>
            <a:off x="6858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Trường hợp test</a:t>
            </a:r>
            <a:endParaRPr/>
          </a:p>
        </p:txBody>
      </p:sp>
      <p:sp>
        <p:nvSpPr>
          <p:cNvPr id="746" name="Google Shape;746;p37"/>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graphicFrame>
        <p:nvGraphicFramePr>
          <p:cNvPr id="747" name="Google Shape;747;p37"/>
          <p:cNvGraphicFramePr/>
          <p:nvPr/>
        </p:nvGraphicFramePr>
        <p:xfrm>
          <a:off x="685800" y="1600200"/>
          <a:ext cx="3000000" cy="3000000"/>
        </p:xfrm>
        <a:graphic>
          <a:graphicData uri="http://schemas.openxmlformats.org/drawingml/2006/table">
            <a:tbl>
              <a:tblPr>
                <a:noFill/>
                <a:tableStyleId>{31D5217D-7989-4123-8A4E-5E50DADE823D}</a:tableStyleId>
              </a:tblPr>
              <a:tblGrid>
                <a:gridCol w="995350"/>
                <a:gridCol w="3830625"/>
                <a:gridCol w="3479800"/>
              </a:tblGrid>
              <a:tr h="371475">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STT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Đầu vào</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KQ Mong đợi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39750">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Username: </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Password:</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Vui lòng nhập username</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Trang login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639750">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Username: </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Password:@!&amp;%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Vui lòng nhập username</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Trang login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639750">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Username: </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Password: 123456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Vui lòng nhập username</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Trang login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698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38"/>
          <p:cNvSpPr txBox="1"/>
          <p:nvPr>
            <p:ph type="title"/>
          </p:nvPr>
        </p:nvSpPr>
        <p:spPr>
          <a:xfrm>
            <a:off x="6096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Rút gọn bảng quyết định</a:t>
            </a:r>
            <a:endParaRPr/>
          </a:p>
        </p:txBody>
      </p:sp>
      <p:sp>
        <p:nvSpPr>
          <p:cNvPr id="753" name="Google Shape;753;p38"/>
          <p:cNvSpPr txBox="1"/>
          <p:nvPr>
            <p:ph idx="1" type="body"/>
          </p:nvPr>
        </p:nvSpPr>
        <p:spPr>
          <a:xfrm>
            <a:off x="762000" y="1676400"/>
            <a:ext cx="8229600" cy="47910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Rút gọn các kết hợp các giá trị đầu vào.</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Những trường hợp (cột quy tắc) có </a:t>
            </a:r>
            <a:r>
              <a:rPr b="1" i="0" lang="en-US" sz="2400" u="none" cap="none" strike="noStrike">
                <a:solidFill>
                  <a:srgbClr val="C00000"/>
                </a:solidFill>
                <a:latin typeface="Arial"/>
                <a:ea typeface="Arial"/>
                <a:cs typeface="Arial"/>
                <a:sym typeface="Arial"/>
              </a:rPr>
              <a:t>cùng giá trị hành động</a:t>
            </a:r>
            <a:r>
              <a:rPr b="0" i="0" lang="en-US" sz="2400" u="none" cap="none" strike="noStrike">
                <a:solidFill>
                  <a:schemeClr val="dk1"/>
                </a:solidFill>
                <a:latin typeface="Arial"/>
                <a:ea typeface="Arial"/>
                <a:cs typeface="Arial"/>
                <a:sym typeface="Arial"/>
              </a:rPr>
              <a:t>, nhưng chỉ </a:t>
            </a:r>
            <a:r>
              <a:rPr b="1" i="0" lang="en-US" sz="2400" u="none" cap="none" strike="noStrike">
                <a:solidFill>
                  <a:srgbClr val="C00000"/>
                </a:solidFill>
                <a:latin typeface="Arial"/>
                <a:ea typeface="Arial"/>
                <a:cs typeface="Arial"/>
                <a:sym typeface="Arial"/>
              </a:rPr>
              <a:t>khác giá trị của một điều kiện </a:t>
            </a:r>
            <a:r>
              <a:rPr b="0" i="0" lang="en-US" sz="2400" u="none" cap="none" strike="noStrike">
                <a:solidFill>
                  <a:schemeClr val="dk1"/>
                </a:solidFill>
                <a:latin typeface="Arial"/>
                <a:ea typeface="Arial"/>
                <a:cs typeface="Arial"/>
                <a:sym typeface="Arial"/>
              </a:rPr>
              <a:t>duy nhất.</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Chuyển giá trị của điều kiện khác nhau đó thành “-” và gôm các cột lại thành một.</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Lặp lại hai bước trên cho đến khi không còn các test case nào như thế.</a:t>
            </a:r>
            <a:endParaRPr/>
          </a:p>
        </p:txBody>
      </p:sp>
      <p:sp>
        <p:nvSpPr>
          <p:cNvPr id="754" name="Google Shape;754;p38"/>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9"/>
          <p:cNvSpPr txBox="1"/>
          <p:nvPr>
            <p:ph type="title"/>
          </p:nvPr>
        </p:nvSpPr>
        <p:spPr>
          <a:xfrm>
            <a:off x="658812"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Rút gọn bảng quyết định</a:t>
            </a:r>
            <a:endParaRPr/>
          </a:p>
        </p:txBody>
      </p:sp>
      <p:cxnSp>
        <p:nvCxnSpPr>
          <p:cNvPr id="760" name="Google Shape;760;p39"/>
          <p:cNvCxnSpPr/>
          <p:nvPr/>
        </p:nvCxnSpPr>
        <p:spPr>
          <a:xfrm>
            <a:off x="5080000" y="4135437"/>
            <a:ext cx="0" cy="436562"/>
          </a:xfrm>
          <a:prstGeom prst="straightConnector1">
            <a:avLst/>
          </a:prstGeom>
          <a:noFill/>
          <a:ln cap="flat" cmpd="sng" w="38100">
            <a:solidFill>
              <a:srgbClr val="C00000"/>
            </a:solidFill>
            <a:prstDash val="solid"/>
            <a:miter lim="800000"/>
            <a:headEnd len="med" w="med" type="none"/>
            <a:tailEnd len="med" w="med" type="triangle"/>
          </a:ln>
        </p:spPr>
      </p:cxnSp>
      <p:graphicFrame>
        <p:nvGraphicFramePr>
          <p:cNvPr id="761" name="Google Shape;761;p39"/>
          <p:cNvGraphicFramePr/>
          <p:nvPr/>
        </p:nvGraphicFramePr>
        <p:xfrm>
          <a:off x="1355725" y="1844675"/>
          <a:ext cx="3000000" cy="3000000"/>
        </p:xfrm>
        <a:graphic>
          <a:graphicData uri="http://schemas.openxmlformats.org/drawingml/2006/table">
            <a:tbl>
              <a:tblPr>
                <a:noFill/>
                <a:tableStyleId>{31D5217D-7989-4123-8A4E-5E50DADE823D}</a:tableStyleId>
              </a:tblPr>
              <a:tblGrid>
                <a:gridCol w="815975"/>
                <a:gridCol w="1330325"/>
                <a:gridCol w="574675"/>
                <a:gridCol w="560375"/>
                <a:gridCol w="574675"/>
                <a:gridCol w="588950"/>
                <a:gridCol w="587375"/>
                <a:gridCol w="574675"/>
                <a:gridCol w="574675"/>
                <a:gridCol w="574675"/>
                <a:gridCol w="574675"/>
              </a:tblGrid>
              <a:tr h="371475">
                <a:tc rowSpan="2">
                  <a:txBody>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Các điệu kiện</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Username</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542925">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Password</a:t>
                      </a:r>
                      <a:endParaRPr/>
                    </a:p>
                  </a:txBody>
                  <a:tcPr marT="45625" marB="45625" marR="91450" marL="91450" anchor="ctr">
                    <a:lnL cap="flat" cmpd="sng" w="254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639750">
                <a:tc rowSpan="2">
                  <a:txBody>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Các hành động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Thông điệp lỗi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M2</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M4</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639750">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Chuyển đến trang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H</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bl>
          </a:graphicData>
        </a:graphic>
      </p:graphicFrame>
      <p:graphicFrame>
        <p:nvGraphicFramePr>
          <p:cNvPr id="762" name="Google Shape;762;p39"/>
          <p:cNvGraphicFramePr/>
          <p:nvPr/>
        </p:nvGraphicFramePr>
        <p:xfrm>
          <a:off x="2505075" y="4587875"/>
          <a:ext cx="3000000" cy="3000000"/>
        </p:xfrm>
        <a:graphic>
          <a:graphicData uri="http://schemas.openxmlformats.org/drawingml/2006/table">
            <a:tbl>
              <a:tblPr>
                <a:noFill/>
                <a:tableStyleId>{31D5217D-7989-4123-8A4E-5E50DADE823D}</a:tableStyleId>
              </a:tblPr>
              <a:tblGrid>
                <a:gridCol w="814375"/>
                <a:gridCol w="1331900"/>
                <a:gridCol w="574675"/>
                <a:gridCol w="588950"/>
                <a:gridCol w="573075"/>
                <a:gridCol w="574675"/>
                <a:gridCol w="574675"/>
              </a:tblGrid>
              <a:tr h="371475">
                <a:tc rowSpan="2">
                  <a:txBody>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Các điệu kiện</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Username</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FF0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FFC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542925">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Password</a:t>
                      </a:r>
                      <a:endParaRPr/>
                    </a:p>
                  </a:txBody>
                  <a:tcPr marT="45625" marB="45625" marR="91450" marL="91450" anchor="ctr">
                    <a:lnL cap="flat" cmpd="sng" w="254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0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V</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639750">
                <a:tc rowSpan="2">
                  <a:txBody>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Các hành động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Thông điệp lỗi</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M1</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0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M3</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M2</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M4</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639750">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Chuyển đến trang</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0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0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L</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H</a:t>
                      </a:r>
                      <a:endParaRPr/>
                    </a:p>
                  </a:txBody>
                  <a:tcPr marT="45625" marB="456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bl>
          </a:graphicData>
        </a:graphic>
      </p:graphicFrame>
      <p:sp>
        <p:nvSpPr>
          <p:cNvPr id="763" name="Google Shape;763;p39"/>
          <p:cNvSpPr txBox="1"/>
          <p:nvPr/>
        </p:nvSpPr>
        <p:spPr>
          <a:xfrm>
            <a:off x="3494087" y="2724150"/>
            <a:ext cx="1719262" cy="1273175"/>
          </a:xfrm>
          <a:prstGeom prst="rect">
            <a:avLst/>
          </a:prstGeom>
          <a:solidFill>
            <a:srgbClr val="C00000">
              <a:alpha val="36470"/>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4" name="Google Shape;764;p39"/>
          <p:cNvSpPr txBox="1"/>
          <p:nvPr/>
        </p:nvSpPr>
        <p:spPr>
          <a:xfrm>
            <a:off x="5213350" y="2724150"/>
            <a:ext cx="1735137" cy="1273175"/>
          </a:xfrm>
          <a:prstGeom prst="rect">
            <a:avLst/>
          </a:prstGeom>
          <a:solidFill>
            <a:srgbClr val="FFC000">
              <a:alpha val="36470"/>
            </a:srgb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5" name="Google Shape;765;p39"/>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500"/>
                                        <p:tgtEl>
                                          <p:spTgt spid="7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500"/>
                                        <p:tgtEl>
                                          <p:spTgt spid="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40"/>
          <p:cNvSpPr txBox="1"/>
          <p:nvPr>
            <p:ph type="title"/>
          </p:nvPr>
        </p:nvSpPr>
        <p:spPr>
          <a:xfrm>
            <a:off x="7620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Chuyển thành các test case</a:t>
            </a:r>
            <a:endParaRPr/>
          </a:p>
        </p:txBody>
      </p:sp>
      <p:sp>
        <p:nvSpPr>
          <p:cNvPr id="771" name="Google Shape;771;p40"/>
          <p:cNvSpPr txBox="1"/>
          <p:nvPr>
            <p:ph idx="1" type="body"/>
          </p:nvPr>
        </p:nvSpPr>
        <p:spPr>
          <a:xfrm>
            <a:off x="990600" y="1533525"/>
            <a:ext cx="78486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quy tắc chuyển từ bảng quyết định thành các test case:</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Nếu giá trị các điều kiện nhập là các giá trị </a:t>
            </a:r>
            <a:r>
              <a:rPr b="1" i="0" lang="en-US" sz="2400" u="none" cap="none" strike="noStrike">
                <a:solidFill>
                  <a:srgbClr val="C00000"/>
                </a:solidFill>
                <a:latin typeface="Arial"/>
                <a:ea typeface="Arial"/>
                <a:cs typeface="Arial"/>
                <a:sym typeface="Arial"/>
              </a:rPr>
              <a:t>luận lý </a:t>
            </a:r>
            <a:r>
              <a:rPr b="0" i="0" lang="en-US" sz="2400" u="none" cap="none" strike="noStrike">
                <a:solidFill>
                  <a:schemeClr val="dk1"/>
                </a:solidFill>
                <a:latin typeface="Arial"/>
                <a:ea typeface="Arial"/>
                <a:cs typeface="Arial"/>
                <a:sym typeface="Arial"/>
              </a:rPr>
              <a:t>(true/false) thì </a:t>
            </a:r>
            <a:r>
              <a:rPr b="1" i="0" lang="en-US" sz="2400" u="none" cap="none" strike="noStrike">
                <a:solidFill>
                  <a:srgbClr val="C00000"/>
                </a:solidFill>
                <a:latin typeface="Arial"/>
                <a:ea typeface="Arial"/>
                <a:cs typeface="Arial"/>
                <a:sym typeface="Arial"/>
              </a:rPr>
              <a:t>mỗi cột </a:t>
            </a:r>
            <a:r>
              <a:rPr b="0" i="0" lang="en-US" sz="2400" u="none" cap="none" strike="noStrike">
                <a:solidFill>
                  <a:schemeClr val="dk1"/>
                </a:solidFill>
                <a:latin typeface="Arial"/>
                <a:ea typeface="Arial"/>
                <a:cs typeface="Arial"/>
                <a:sym typeface="Arial"/>
              </a:rPr>
              <a:t>quy tắc được chuyển thành một test case.</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Nếu giá trị các điều kiện nhập có </a:t>
            </a:r>
            <a:r>
              <a:rPr b="1" i="0" lang="en-US" sz="2400" u="none" cap="none" strike="noStrike">
                <a:solidFill>
                  <a:srgbClr val="C00000"/>
                </a:solidFill>
                <a:latin typeface="Arial"/>
                <a:ea typeface="Arial"/>
                <a:cs typeface="Arial"/>
                <a:sym typeface="Arial"/>
              </a:rPr>
              <a:t>nhiều giá trị </a:t>
            </a:r>
            <a:r>
              <a:rPr b="0" i="0" lang="en-US" sz="2400" u="none" cap="none" strike="noStrike">
                <a:solidFill>
                  <a:schemeClr val="dk1"/>
                </a:solidFill>
                <a:latin typeface="Arial"/>
                <a:ea typeface="Arial"/>
                <a:cs typeface="Arial"/>
                <a:sym typeface="Arial"/>
              </a:rPr>
              <a:t>thì mỗi cột quy tắc được chuyển thành nhiều test case sử dụng kỹ thuật phân vùng tương đương hoặc phân tích giá trị biên.</a:t>
            </a:r>
            <a:endParaRPr/>
          </a:p>
        </p:txBody>
      </p:sp>
      <p:sp>
        <p:nvSpPr>
          <p:cNvPr id="772" name="Google Shape;772;p40"/>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41"/>
          <p:cNvSpPr txBox="1"/>
          <p:nvPr>
            <p:ph type="title"/>
          </p:nvPr>
        </p:nvSpPr>
        <p:spPr>
          <a:xfrm>
            <a:off x="457200" y="8382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Bài tập 1</a:t>
            </a:r>
            <a:endParaRPr/>
          </a:p>
        </p:txBody>
      </p:sp>
      <p:sp>
        <p:nvSpPr>
          <p:cNvPr id="778" name="Google Shape;778;p41"/>
          <p:cNvSpPr txBox="1"/>
          <p:nvPr>
            <p:ph idx="1" type="body"/>
          </p:nvPr>
        </p:nvSpPr>
        <p:spPr>
          <a:xfrm>
            <a:off x="609600" y="1304925"/>
            <a:ext cx="8382000" cy="54006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Cho chương trình xác định một tam giác có phải là tam </a:t>
            </a:r>
            <a:r>
              <a:rPr b="1" i="0" lang="en-US" sz="2400" u="none">
                <a:solidFill>
                  <a:schemeClr val="dk1"/>
                </a:solidFill>
                <a:latin typeface="Arial"/>
                <a:ea typeface="Arial"/>
                <a:cs typeface="Arial"/>
                <a:sym typeface="Arial"/>
              </a:rPr>
              <a:t>giác cân không</a:t>
            </a:r>
            <a:r>
              <a:rPr b="0" i="0" lang="en-US" sz="2400" u="none">
                <a:solidFill>
                  <a:schemeClr val="dk1"/>
                </a:solidFill>
                <a:latin typeface="Arial"/>
                <a:ea typeface="Arial"/>
                <a:cs typeface="Arial"/>
                <a:sym typeface="Arial"/>
              </a:rPr>
              <a:t>, biết người dùng nhập vào </a:t>
            </a:r>
            <a:r>
              <a:rPr b="1" i="0" lang="en-US" sz="2400" u="none">
                <a:solidFill>
                  <a:schemeClr val="dk1"/>
                </a:solidFill>
                <a:latin typeface="Arial"/>
                <a:ea typeface="Arial"/>
                <a:cs typeface="Arial"/>
                <a:sym typeface="Arial"/>
              </a:rPr>
              <a:t>chiều dài 3 cạnh</a:t>
            </a:r>
            <a:r>
              <a:rPr b="0" i="0" lang="en-US" sz="2400" u="none">
                <a:solidFill>
                  <a:schemeClr val="dk1"/>
                </a:solidFill>
                <a:latin typeface="Arial"/>
                <a:ea typeface="Arial"/>
                <a:cs typeface="Arial"/>
                <a:sym typeface="Arial"/>
              </a:rPr>
              <a:t> a, b, c của tam giác. </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Sử dụng bảng quyết định thiết kế test case để kiểm thử chương trình trên.</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1" i="0" lang="en-US" sz="2400" u="none">
                <a:solidFill>
                  <a:schemeClr val="dk1"/>
                </a:solidFill>
                <a:latin typeface="Arial"/>
                <a:ea typeface="Arial"/>
                <a:cs typeface="Arial"/>
                <a:sym typeface="Arial"/>
              </a:rPr>
              <a:t>Gợi ý:</a:t>
            </a:r>
            <a:endParaRPr/>
          </a:p>
          <a:p>
            <a:pPr indent="-342900" lvl="0" marL="342900" marR="0" rtl="0" algn="just">
              <a:lnSpc>
                <a:spcPct val="150000"/>
              </a:lnSpc>
              <a:spcBef>
                <a:spcPts val="0"/>
              </a:spcBef>
              <a:spcAft>
                <a:spcPts val="0"/>
              </a:spcAft>
              <a:buClr>
                <a:schemeClr val="hlink"/>
              </a:buClr>
              <a:buSzPts val="2400"/>
              <a:buFont typeface="Noto Sans Symbols"/>
              <a:buNone/>
            </a:pPr>
            <a:r>
              <a:rPr b="1" i="0" lang="en-US" sz="2400" u="none">
                <a:solidFill>
                  <a:schemeClr val="dk1"/>
                </a:solidFill>
                <a:latin typeface="Arial"/>
                <a:ea typeface="Arial"/>
                <a:cs typeface="Arial"/>
                <a:sym typeface="Arial"/>
              </a:rPr>
              <a:t>Điều kiện</a:t>
            </a:r>
            <a:r>
              <a:rPr b="0" i="0" lang="en-US" sz="2400" u="none">
                <a:solidFill>
                  <a:schemeClr val="dk1"/>
                </a:solidFill>
                <a:latin typeface="Arial"/>
                <a:ea typeface="Arial"/>
                <a:cs typeface="Arial"/>
                <a:sym typeface="Arial"/>
              </a:rPr>
              <a:t>: điều kiện để 3 cạnh tạo thành tam giác và điều kiện tam giác cân</a:t>
            </a:r>
            <a:endParaRPr/>
          </a:p>
          <a:p>
            <a:pPr indent="-342900" lvl="0" marL="342900" marR="0" rtl="0" algn="just">
              <a:lnSpc>
                <a:spcPct val="150000"/>
              </a:lnSpc>
              <a:spcBef>
                <a:spcPts val="0"/>
              </a:spcBef>
              <a:spcAft>
                <a:spcPts val="0"/>
              </a:spcAft>
              <a:buClr>
                <a:schemeClr val="hlink"/>
              </a:buClr>
              <a:buSzPts val="2400"/>
              <a:buFont typeface="Noto Sans Symbols"/>
              <a:buNone/>
            </a:pPr>
            <a:r>
              <a:rPr b="1" i="0" lang="en-US" sz="2400" u="none">
                <a:solidFill>
                  <a:schemeClr val="dk1"/>
                </a:solidFill>
                <a:latin typeface="Arial"/>
                <a:ea typeface="Arial"/>
                <a:cs typeface="Arial"/>
                <a:sym typeface="Arial"/>
              </a:rPr>
              <a:t>Hành động</a:t>
            </a:r>
            <a:r>
              <a:rPr b="0" i="0" lang="en-US" sz="2400" u="none">
                <a:solidFill>
                  <a:schemeClr val="dk1"/>
                </a:solidFill>
                <a:latin typeface="Arial"/>
                <a:ea typeface="Arial"/>
                <a:cs typeface="Arial"/>
                <a:sym typeface="Arial"/>
              </a:rPr>
              <a:t>: tam giác cân?</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
        <p:nvSpPr>
          <p:cNvPr id="779" name="Google Shape;779;p41"/>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2"/>
          <p:cNvSpPr txBox="1"/>
          <p:nvPr>
            <p:ph type="title"/>
          </p:nvPr>
        </p:nvSpPr>
        <p:spPr>
          <a:xfrm>
            <a:off x="457200" y="8382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Hướng dẫn</a:t>
            </a:r>
            <a:endParaRPr/>
          </a:p>
        </p:txBody>
      </p:sp>
      <p:graphicFrame>
        <p:nvGraphicFramePr>
          <p:cNvPr id="785" name="Google Shape;785;p42"/>
          <p:cNvGraphicFramePr/>
          <p:nvPr/>
        </p:nvGraphicFramePr>
        <p:xfrm>
          <a:off x="533400" y="1438275"/>
          <a:ext cx="3000000" cy="3000000"/>
        </p:xfrm>
        <a:graphic>
          <a:graphicData uri="http://schemas.openxmlformats.org/drawingml/2006/table">
            <a:tbl>
              <a:tblPr>
                <a:noFill/>
                <a:tableStyleId>{31D5217D-7989-4123-8A4E-5E50DADE823D}</a:tableStyleId>
              </a:tblPr>
              <a:tblGrid>
                <a:gridCol w="2211375"/>
                <a:gridCol w="2493950"/>
                <a:gridCol w="522275"/>
                <a:gridCol w="522275"/>
                <a:gridCol w="523875"/>
                <a:gridCol w="522275"/>
                <a:gridCol w="523875"/>
                <a:gridCol w="531800"/>
                <a:gridCol w="530225"/>
              </a:tblGrid>
              <a:tr h="546100">
                <a:tc rowSpan="6">
                  <a:txBody>
                    <a:bodyPr/>
                    <a:lstStyle/>
                    <a:p>
                      <a:pPr indent="0" lvl="0" marL="0" marR="0" rtl="0" algn="l">
                        <a:lnSpc>
                          <a:spcPct val="100000"/>
                        </a:lnSpc>
                        <a:spcBef>
                          <a:spcPts val="0"/>
                        </a:spcBef>
                        <a:spcAft>
                          <a:spcPts val="0"/>
                        </a:spcAft>
                        <a:buClr>
                          <a:srgbClr val="C00000"/>
                        </a:buClr>
                        <a:buSzPts val="2000"/>
                        <a:buFont typeface="Tahoma"/>
                        <a:buNone/>
                      </a:pPr>
                      <a:r>
                        <a:rPr b="1" i="0" lang="en-US" sz="2000" u="none">
                          <a:solidFill>
                            <a:srgbClr val="C00000"/>
                          </a:solidFill>
                          <a:latin typeface="Tahoma"/>
                          <a:ea typeface="Tahoma"/>
                          <a:cs typeface="Tahoma"/>
                          <a:sym typeface="Tahoma"/>
                        </a:rPr>
                        <a:t>Điều kiện</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 + b &gt; c</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544500">
                <a:tc vMerge="1"/>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b + c &gt; a</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546100">
                <a:tc vMerge="1"/>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 + c &gt; b</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546100">
                <a:tc vMerge="1"/>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 = b</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546100">
                <a:tc vMerge="1"/>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b = c</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r h="544500">
                <a:tc vMerge="1"/>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c = a</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546100">
                <a:tc>
                  <a:txBody>
                    <a:bodyPr/>
                    <a:lstStyle/>
                    <a:p>
                      <a:pPr indent="0" lvl="0" marL="0" marR="0" rtl="0" algn="l">
                        <a:lnSpc>
                          <a:spcPct val="100000"/>
                        </a:lnSpc>
                        <a:spcBef>
                          <a:spcPts val="0"/>
                        </a:spcBef>
                        <a:spcAft>
                          <a:spcPts val="0"/>
                        </a:spcAft>
                        <a:buClr>
                          <a:srgbClr val="C00000"/>
                        </a:buClr>
                        <a:buSzPts val="2000"/>
                        <a:buFont typeface="Tahoma"/>
                        <a:buNone/>
                      </a:pPr>
                      <a:r>
                        <a:rPr b="1" i="0" lang="en-US" sz="2000" u="none">
                          <a:solidFill>
                            <a:srgbClr val="C00000"/>
                          </a:solidFill>
                          <a:latin typeface="Tahoma"/>
                          <a:ea typeface="Tahoma"/>
                          <a:cs typeface="Tahoma"/>
                          <a:sym typeface="Tahoma"/>
                        </a:rPr>
                        <a:t>Hành động</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Tam giác cân?</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T</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c>
                  <a:txBody>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F</a:t>
                      </a:r>
                      <a:endParaRPr/>
                    </a:p>
                  </a:txBody>
                  <a:tcPr marT="45700" marB="45700"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607"/>
                      </a:schemeClr>
                    </a:solidFill>
                  </a:tcPr>
                </a:tc>
              </a:tr>
            </a:tbl>
          </a:graphicData>
        </a:graphic>
      </p:graphicFrame>
      <p:sp>
        <p:nvSpPr>
          <p:cNvPr id="786" name="Google Shape;786;p4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43"/>
          <p:cNvSpPr txBox="1"/>
          <p:nvPr>
            <p:ph type="title"/>
          </p:nvPr>
        </p:nvSpPr>
        <p:spPr>
          <a:xfrm>
            <a:off x="6858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Trường hợp test</a:t>
            </a:r>
            <a:endParaRPr/>
          </a:p>
        </p:txBody>
      </p:sp>
      <p:sp>
        <p:nvSpPr>
          <p:cNvPr id="792" name="Google Shape;792;p43"/>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graphicFrame>
        <p:nvGraphicFramePr>
          <p:cNvPr id="793" name="Google Shape;793;p43"/>
          <p:cNvGraphicFramePr/>
          <p:nvPr/>
        </p:nvGraphicFramePr>
        <p:xfrm>
          <a:off x="685800" y="1600200"/>
          <a:ext cx="3000000" cy="3000000"/>
        </p:xfrm>
        <a:graphic>
          <a:graphicData uri="http://schemas.openxmlformats.org/drawingml/2006/table">
            <a:tbl>
              <a:tblPr>
                <a:noFill/>
                <a:tableStyleId>{31D5217D-7989-4123-8A4E-5E50DADE823D}</a:tableStyleId>
              </a:tblPr>
              <a:tblGrid>
                <a:gridCol w="995350"/>
                <a:gridCol w="3830625"/>
                <a:gridCol w="3479800"/>
              </a:tblGrid>
              <a:tr h="371475">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STT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Đầu vào</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a:solidFill>
                            <a:srgbClr val="FFFFFF"/>
                          </a:solidFill>
                          <a:latin typeface="Arial"/>
                          <a:ea typeface="Arial"/>
                          <a:cs typeface="Arial"/>
                          <a:sym typeface="Arial"/>
                        </a:rPr>
                        <a:t>KQ Mong đợi</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14400">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A = 3</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B= 3</a:t>
                      </a:r>
                      <a:endParaRPr/>
                    </a:p>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C= 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 Tam giác cân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698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698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r h="3698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0ED"/>
                    </a:solidFill>
                  </a:tcPr>
                </a:tc>
              </a:tr>
              <a:tr h="371475">
                <a:tc>
                  <a:txBody>
                    <a:bodyPr/>
                    <a:lstStyle/>
                    <a:p>
                      <a:pPr indent="0" lvl="0" marL="0" marR="0" rtl="0" algn="l">
                        <a:lnSpc>
                          <a:spcPct val="100000"/>
                        </a:lnSpc>
                        <a:spcBef>
                          <a:spcPts val="0"/>
                        </a:spcBef>
                        <a:spcAft>
                          <a:spcPts val="0"/>
                        </a:spcAft>
                        <a:buClr>
                          <a:srgbClr val="1D4940"/>
                        </a:buClr>
                        <a:buSzPts val="1800"/>
                        <a:buFont typeface="Arial"/>
                        <a:buNone/>
                      </a:pPr>
                      <a:r>
                        <a:rPr b="0" i="0" lang="en-US" sz="1800" u="none">
                          <a:solidFill>
                            <a:srgbClr val="1D4940"/>
                          </a:solidFill>
                          <a:latin typeface="Arial"/>
                          <a:ea typeface="Arial"/>
                          <a:cs typeface="Arial"/>
                          <a:sym typeface="Arial"/>
                        </a:rPr>
                        <a:t>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3DFD9"/>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4"/>
          <p:cNvSpPr txBox="1"/>
          <p:nvPr>
            <p:ph type="title"/>
          </p:nvPr>
        </p:nvSpPr>
        <p:spPr>
          <a:xfrm>
            <a:off x="533400" y="8382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Bài tập 2</a:t>
            </a:r>
            <a:endParaRPr/>
          </a:p>
        </p:txBody>
      </p:sp>
      <p:sp>
        <p:nvSpPr>
          <p:cNvPr id="800" name="Google Shape;800;p44"/>
          <p:cNvSpPr txBox="1"/>
          <p:nvPr>
            <p:ph idx="1" type="body"/>
          </p:nvPr>
        </p:nvSpPr>
        <p:spPr>
          <a:xfrm>
            <a:off x="762000" y="1228725"/>
            <a:ext cx="8229600" cy="5629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thư viện ABC có chức năng cho phép độc giả mượn sách. Theo đó, độc giả mượn sách không được quá </a:t>
            </a:r>
            <a:r>
              <a:rPr b="1" i="0" lang="en-US" sz="2400" u="none">
                <a:solidFill>
                  <a:schemeClr val="dk1"/>
                </a:solidFill>
                <a:latin typeface="Arial"/>
                <a:ea typeface="Arial"/>
                <a:cs typeface="Arial"/>
                <a:sym typeface="Arial"/>
              </a:rPr>
              <a:t>500</a:t>
            </a:r>
            <a:r>
              <a:rPr b="0" i="0" lang="en-US" sz="2400" u="none">
                <a:solidFill>
                  <a:schemeClr val="dk1"/>
                </a:solidFill>
                <a:latin typeface="Arial"/>
                <a:ea typeface="Arial"/>
                <a:cs typeface="Arial"/>
                <a:sym typeface="Arial"/>
              </a:rPr>
              <a:t> quyển sách trong năm (không phân biệt tên đầu sách), nhưng không được phép mượn quá </a:t>
            </a:r>
            <a:r>
              <a:rPr b="1" i="0" lang="en-US" sz="2400" u="none">
                <a:solidFill>
                  <a:schemeClr val="dk1"/>
                </a:solidFill>
                <a:latin typeface="Arial"/>
                <a:ea typeface="Arial"/>
                <a:cs typeface="Arial"/>
                <a:sym typeface="Arial"/>
              </a:rPr>
              <a:t>5</a:t>
            </a:r>
            <a:r>
              <a:rPr b="0" i="0" lang="en-US" sz="2400" u="none">
                <a:solidFill>
                  <a:schemeClr val="dk1"/>
                </a:solidFill>
                <a:latin typeface="Arial"/>
                <a:ea typeface="Arial"/>
                <a:cs typeface="Arial"/>
                <a:sym typeface="Arial"/>
              </a:rPr>
              <a:t> quyển trong </a:t>
            </a:r>
            <a:r>
              <a:rPr b="1" i="0" lang="en-US" sz="2400" u="none">
                <a:solidFill>
                  <a:schemeClr val="dk1"/>
                </a:solidFill>
                <a:latin typeface="Arial"/>
                <a:ea typeface="Arial"/>
                <a:cs typeface="Arial"/>
                <a:sym typeface="Arial"/>
              </a:rPr>
              <a:t>một lần</a:t>
            </a:r>
            <a:r>
              <a:rPr b="0" i="0" lang="en-US" sz="2400" u="none">
                <a:solidFill>
                  <a:schemeClr val="dk1"/>
                </a:solidFill>
                <a:latin typeface="Arial"/>
                <a:ea typeface="Arial"/>
                <a:cs typeface="Arial"/>
                <a:sym typeface="Arial"/>
              </a:rPr>
              <a:t> </a:t>
            </a:r>
            <a:r>
              <a:rPr b="1" i="0" lang="en-US" sz="2400" u="none">
                <a:solidFill>
                  <a:schemeClr val="dk1"/>
                </a:solidFill>
                <a:latin typeface="Arial"/>
                <a:ea typeface="Arial"/>
                <a:cs typeface="Arial"/>
                <a:sym typeface="Arial"/>
              </a:rPr>
              <a:t>mượn</a:t>
            </a:r>
            <a:r>
              <a:rPr b="0" i="0" lang="en-US" sz="2400" u="none">
                <a:solidFill>
                  <a:schemeClr val="dk1"/>
                </a:solidFill>
                <a:latin typeface="Arial"/>
                <a:ea typeface="Arial"/>
                <a:cs typeface="Arial"/>
                <a:sym typeface="Arial"/>
              </a:rPr>
              <a:t>, và phải trả các cuốn sách đã mượn mới được phép mượn tiếp nữa.</a:t>
            </a:r>
            <a:endParaRPr/>
          </a:p>
          <a:p>
            <a:pPr indent="-342900" lvl="0" marL="342900" marR="0" rtl="0" algn="just">
              <a:lnSpc>
                <a:spcPct val="150000"/>
              </a:lnSpc>
              <a:spcBef>
                <a:spcPts val="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bảng quyết định và phân tích giá trị biên thiết kế test case kiểm thử độc giả có được phép </a:t>
            </a:r>
            <a:r>
              <a:rPr b="1" i="1" lang="en-US" sz="2400" u="none">
                <a:solidFill>
                  <a:schemeClr val="dk1"/>
                </a:solidFill>
                <a:latin typeface="Arial"/>
                <a:ea typeface="Arial"/>
                <a:cs typeface="Arial"/>
                <a:sym typeface="Arial"/>
              </a:rPr>
              <a:t>mượn sách không</a:t>
            </a:r>
            <a:r>
              <a:rPr b="0" i="1" lang="en-US" sz="2400" u="none">
                <a:solidFill>
                  <a:schemeClr val="dk1"/>
                </a:solidFill>
                <a:latin typeface="Arial"/>
                <a:ea typeface="Arial"/>
                <a:cs typeface="Arial"/>
                <a:sym typeface="Arial"/>
              </a:rPr>
              <a:t> và </a:t>
            </a:r>
            <a:r>
              <a:rPr b="1" i="1" lang="en-US" sz="2400" u="none">
                <a:solidFill>
                  <a:schemeClr val="dk1"/>
                </a:solidFill>
                <a:latin typeface="Arial"/>
                <a:ea typeface="Arial"/>
                <a:cs typeface="Arial"/>
                <a:sym typeface="Arial"/>
              </a:rPr>
              <a:t>được mượn tối đa bao nhiêu quyển </a:t>
            </a:r>
            <a:r>
              <a:rPr b="0" i="1" lang="en-US" sz="2400" u="none">
                <a:solidFill>
                  <a:schemeClr val="dk1"/>
                </a:solidFill>
                <a:latin typeface="Arial"/>
                <a:ea typeface="Arial"/>
                <a:cs typeface="Arial"/>
                <a:sym typeface="Arial"/>
              </a:rPr>
              <a:t>trong lần mượn mới?</a:t>
            </a:r>
            <a:endParaRPr/>
          </a:p>
        </p:txBody>
      </p:sp>
      <p:sp>
        <p:nvSpPr>
          <p:cNvPr id="801" name="Google Shape;801;p44"/>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5"/>
          <p:cNvSpPr txBox="1"/>
          <p:nvPr>
            <p:ph type="title"/>
          </p:nvPr>
        </p:nvSpPr>
        <p:spPr>
          <a:xfrm>
            <a:off x="6858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Hướng dẫn</a:t>
            </a:r>
            <a:endParaRPr/>
          </a:p>
        </p:txBody>
      </p:sp>
      <p:sp>
        <p:nvSpPr>
          <p:cNvPr id="807" name="Google Shape;807;p45"/>
          <p:cNvSpPr txBox="1"/>
          <p:nvPr>
            <p:ph idx="1" type="body"/>
          </p:nvPr>
        </p:nvSpPr>
        <p:spPr>
          <a:xfrm>
            <a:off x="1066800" y="1652587"/>
            <a:ext cx="7696200" cy="44434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 = không còn nợ sách đã mượn.</a:t>
            </a:r>
            <a:endParaRPr/>
          </a:p>
          <a:p>
            <a:pPr indent="-342900" lvl="0" marL="342900" marR="0" rtl="0" algn="l">
              <a:lnSpc>
                <a:spcPct val="100000"/>
              </a:lnSpc>
              <a:spcBef>
                <a:spcPts val="180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 là số sách đã mượn trong năm đến thời điểm hiện tại (0 ≤ M ≤ 500). </a:t>
            </a:r>
            <a:endParaRPr/>
          </a:p>
          <a:p>
            <a:pPr indent="-342900" lvl="0" marL="342900" marR="0" rtl="0" algn="l">
              <a:lnSpc>
                <a:spcPct val="100000"/>
              </a:lnSpc>
              <a:spcBef>
                <a:spcPts val="180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X là số sách định mượn (1 ≤ X ≤ 5). </a:t>
            </a:r>
            <a:endParaRPr/>
          </a:p>
          <a:p>
            <a:pPr indent="-342900" lvl="0" marL="342900" marR="0" rtl="0" algn="l">
              <a:lnSpc>
                <a:spcPct val="100000"/>
              </a:lnSpc>
              <a:spcBef>
                <a:spcPts val="180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Độc giả sẽ được mượn số sách này nếu:</a:t>
            </a:r>
            <a:endParaRPr/>
          </a:p>
          <a:p>
            <a:pPr indent="-342900" lvl="0" marL="342900" marR="0" rtl="0" algn="l">
              <a:lnSpc>
                <a:spcPct val="100000"/>
              </a:lnSpc>
              <a:spcBef>
                <a:spcPts val="180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	 0 ≤ </a:t>
            </a:r>
            <a:r>
              <a:rPr b="1" i="0" lang="en-US" sz="2400" u="none">
                <a:solidFill>
                  <a:schemeClr val="dk1"/>
                </a:solidFill>
                <a:latin typeface="Arial"/>
                <a:ea typeface="Arial"/>
                <a:cs typeface="Arial"/>
                <a:sym typeface="Arial"/>
              </a:rPr>
              <a:t>M + X </a:t>
            </a:r>
            <a:r>
              <a:rPr b="0" i="0" lang="en-US" sz="2400" u="none">
                <a:solidFill>
                  <a:schemeClr val="dk1"/>
                </a:solidFill>
                <a:latin typeface="Arial"/>
                <a:ea typeface="Arial"/>
                <a:cs typeface="Arial"/>
                <a:sym typeface="Arial"/>
              </a:rPr>
              <a:t>≤ 500 và </a:t>
            </a:r>
            <a:r>
              <a:rPr b="1" i="0" lang="en-US" sz="2400" u="none">
                <a:solidFill>
                  <a:schemeClr val="dk1"/>
                </a:solidFill>
                <a:latin typeface="Arial"/>
                <a:ea typeface="Arial"/>
                <a:cs typeface="Arial"/>
                <a:sym typeface="Arial"/>
              </a:rPr>
              <a:t>K </a:t>
            </a:r>
            <a:r>
              <a:rPr b="0" i="0" lang="en-US" sz="2400" u="none">
                <a:solidFill>
                  <a:schemeClr val="dk1"/>
                </a:solidFill>
                <a:latin typeface="Arial"/>
                <a:ea typeface="Arial"/>
                <a:cs typeface="Arial"/>
                <a:sym typeface="Arial"/>
              </a:rPr>
              <a:t>đúng.</a:t>
            </a:r>
            <a:endParaRPr/>
          </a:p>
        </p:txBody>
      </p:sp>
      <p:sp>
        <p:nvSpPr>
          <p:cNvPr id="808" name="Google Shape;808;p45"/>
          <p:cNvSpPr txBox="1"/>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09" name="Google Shape;809;p45"/>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46"/>
          <p:cNvSpPr txBox="1"/>
          <p:nvPr>
            <p:ph type="title"/>
          </p:nvPr>
        </p:nvSpPr>
        <p:spPr>
          <a:xfrm>
            <a:off x="6858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Lập Bảng Quyết Định</a:t>
            </a:r>
            <a:endParaRPr/>
          </a:p>
        </p:txBody>
      </p:sp>
      <p:sp>
        <p:nvSpPr>
          <p:cNvPr id="815" name="Google Shape;815;p46"/>
          <p:cNvSpPr txBox="1"/>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graphicFrame>
        <p:nvGraphicFramePr>
          <p:cNvPr id="816" name="Google Shape;816;p46"/>
          <p:cNvGraphicFramePr/>
          <p:nvPr/>
        </p:nvGraphicFramePr>
        <p:xfrm>
          <a:off x="685800" y="1747837"/>
          <a:ext cx="3000000" cy="3000000"/>
        </p:xfrm>
        <a:graphic>
          <a:graphicData uri="http://schemas.openxmlformats.org/drawingml/2006/table">
            <a:tbl>
              <a:tblPr>
                <a:noFill/>
                <a:tableStyleId>{31D5217D-7989-4123-8A4E-5E50DADE823D}</a:tableStyleId>
              </a:tblPr>
              <a:tblGrid>
                <a:gridCol w="855650"/>
                <a:gridCol w="3279775"/>
                <a:gridCol w="469900"/>
                <a:gridCol w="474650"/>
                <a:gridCol w="474650"/>
                <a:gridCol w="2751125"/>
              </a:tblGrid>
              <a:tr h="420675">
                <a:tc gridSpan="2">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h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a:t>
                      </a:r>
                      <a:r>
                        <a:rPr b="0" baseline="-2500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a:t>
                      </a:r>
                      <a:r>
                        <a:rPr b="0" baseline="-2500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a:t>
                      </a:r>
                      <a:r>
                        <a:rPr b="0" baseline="-25000" i="0" lang="en-US" sz="1800" u="none">
                          <a:solidFill>
                            <a:schemeClr val="lt1"/>
                          </a:solidFill>
                          <a:latin typeface="Tahoma"/>
                          <a:ea typeface="Tahoma"/>
                          <a:cs typeface="Tahoma"/>
                          <a:sym typeface="Tahoma"/>
                        </a:rPr>
                        <a:t>3</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a:t>
                      </a:r>
                      <a:r>
                        <a:rPr b="0" baseline="-25000" i="0" lang="en-US" sz="1800" u="none">
                          <a:solidFill>
                            <a:schemeClr val="lt1"/>
                          </a:solidFill>
                          <a:latin typeface="Tahoma"/>
                          <a:ea typeface="Tahoma"/>
                          <a:cs typeface="Tahoma"/>
                          <a:sym typeface="Tahoma"/>
                        </a:rPr>
                        <a:t>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r>
              <a:tr h="419100">
                <a:tc rowSpan="3">
                  <a:txBody>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Điều kiện</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K</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420675">
                <a:tc vMerge="1"/>
                <a:tc>
                  <a:txBody>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 ≤ X ≤ 5</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419100">
                <a:tc vMerge="1"/>
                <a:tc>
                  <a:txBody>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 ≤ M + X ≤ 500</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420675">
                <a:tc rowSpan="2">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Hành động</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Mượn sách?</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r>
              <a:tr h="419100">
                <a:tc vMerge="1"/>
                <a:tc>
                  <a:txBody>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Số sách tối đa được mượn.</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500–M &lt; 5 ? 500–M:5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FCC00"/>
                    </a:solidFill>
                  </a:tcPr>
                </a:tc>
              </a:tr>
            </a:tbl>
          </a:graphicData>
        </a:graphic>
      </p:graphicFrame>
      <p:sp>
        <p:nvSpPr>
          <p:cNvPr id="817" name="Google Shape;817;p46"/>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47"/>
          <p:cNvSpPr txBox="1"/>
          <p:nvPr>
            <p:ph type="title"/>
          </p:nvPr>
        </p:nvSpPr>
        <p:spPr>
          <a:xfrm>
            <a:off x="457200" y="80803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Hướng dẫn</a:t>
            </a:r>
            <a:endParaRPr/>
          </a:p>
        </p:txBody>
      </p:sp>
      <p:graphicFrame>
        <p:nvGraphicFramePr>
          <p:cNvPr id="823" name="Google Shape;823;p47"/>
          <p:cNvGraphicFramePr/>
          <p:nvPr/>
        </p:nvGraphicFramePr>
        <p:xfrm>
          <a:off x="1579562" y="1295400"/>
          <a:ext cx="3000000" cy="3000000"/>
        </p:xfrm>
        <a:graphic>
          <a:graphicData uri="http://schemas.openxmlformats.org/drawingml/2006/table">
            <a:tbl>
              <a:tblPr>
                <a:noFill/>
                <a:tableStyleId>{31D5217D-7989-4123-8A4E-5E50DADE823D}</a:tableStyleId>
              </a:tblPr>
              <a:tblGrid>
                <a:gridCol w="652450"/>
                <a:gridCol w="349250"/>
                <a:gridCol w="354000"/>
                <a:gridCol w="696900"/>
                <a:gridCol w="1662100"/>
                <a:gridCol w="3240075"/>
              </a:tblGrid>
              <a:tr h="371475">
                <a:tc rowSpan="2">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Cột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gridSpan="3">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Đầu vào</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hMerge="1"/>
                <a:tc hMerge="1"/>
                <a:tc gridSpan="2">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Mong muốn</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solidFill>
                      <a:srgbClr val="0070C0"/>
                    </a:solidFill>
                  </a:tcPr>
                </a:tc>
                <a:tc hMerge="1"/>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K</a:t>
                      </a:r>
                      <a:endParaRPr/>
                    </a:p>
                  </a:txBody>
                  <a:tcPr marT="45725" marB="45725" marR="91450" marL="91450" anchor="ctr">
                    <a:lnL cap="flat" cmpd="sng" w="254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X</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M</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Mượn sách?</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Số sách tối đa được mượn.</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C</a:t>
                      </a:r>
                      <a:r>
                        <a:rPr b="1" baseline="-2500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499</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rowSpan="2">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C</a:t>
                      </a:r>
                      <a:r>
                        <a:rPr b="1" baseline="-2500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6</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6</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rowSpan="2">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C</a:t>
                      </a:r>
                      <a:r>
                        <a:rPr b="1" baseline="-25000" i="0" lang="en-US" sz="1800" u="none">
                          <a:solidFill>
                            <a:schemeClr val="lt1"/>
                          </a:solidFill>
                          <a:latin typeface="Tahoma"/>
                          <a:ea typeface="Tahoma"/>
                          <a:cs typeface="Tahoma"/>
                          <a:sym typeface="Tahoma"/>
                        </a:rPr>
                        <a:t>3</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500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496</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0</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rowSpan="8">
                  <a:txBody>
                    <a:bodyPr/>
                    <a:lstStyle/>
                    <a:p>
                      <a:pPr indent="0" lvl="0" marL="0" marR="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C</a:t>
                      </a:r>
                      <a:r>
                        <a:rPr b="1" baseline="-25000" i="0" lang="en-US" sz="1800" u="none">
                          <a:solidFill>
                            <a:schemeClr val="lt1"/>
                          </a:solidFill>
                          <a:latin typeface="Tahoma"/>
                          <a:ea typeface="Tahoma"/>
                          <a:cs typeface="Tahoma"/>
                          <a:sym typeface="Tahoma"/>
                        </a:rPr>
                        <a:t>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499</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1</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498</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498</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2</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497</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3</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496</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r h="371475">
                <a:tc vMerge="1"/>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495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5</a:t>
                      </a:r>
                      <a:endParaRPr/>
                    </a:p>
                  </a:txBody>
                  <a:tcPr marT="45725" marB="45725" marR="91450" marL="91450" anchor="ctr">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0070C0"/>
                    </a:solidFill>
                  </a:tcPr>
                </a:tc>
              </a:tr>
            </a:tbl>
          </a:graphicData>
        </a:graphic>
      </p:graphicFrame>
      <p:sp>
        <p:nvSpPr>
          <p:cNvPr id="824" name="Google Shape;824;p47"/>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48"/>
          <p:cNvSpPr txBox="1"/>
          <p:nvPr>
            <p:ph type="title"/>
          </p:nvPr>
        </p:nvSpPr>
        <p:spPr>
          <a:xfrm>
            <a:off x="6096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800"/>
              <a:buFont typeface="Arial"/>
              <a:buNone/>
            </a:pPr>
            <a:r>
              <a:rPr b="1" i="0" lang="en-US" sz="2800" u="none">
                <a:solidFill>
                  <a:srgbClr val="0E2520"/>
                </a:solidFill>
                <a:latin typeface="Arial"/>
                <a:ea typeface="Arial"/>
                <a:cs typeface="Arial"/>
                <a:sym typeface="Arial"/>
              </a:rPr>
              <a:t>Bài tập 3</a:t>
            </a:r>
            <a:endParaRPr/>
          </a:p>
        </p:txBody>
      </p:sp>
      <p:sp>
        <p:nvSpPr>
          <p:cNvPr id="830" name="Google Shape;830;p48"/>
          <p:cNvSpPr txBox="1"/>
          <p:nvPr>
            <p:ph idx="1" type="body"/>
          </p:nvPr>
        </p:nvSpPr>
        <p:spPr>
          <a:xfrm>
            <a:off x="685800" y="1533525"/>
            <a:ext cx="8229600" cy="5248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600"/>
              <a:buFont typeface="Noto Sans Symbols"/>
              <a:buChar char="❖"/>
            </a:pPr>
            <a:r>
              <a:rPr b="0" i="0" lang="en-US" sz="2600" u="none">
                <a:solidFill>
                  <a:schemeClr val="dk1"/>
                </a:solidFill>
                <a:latin typeface="Arial"/>
                <a:ea typeface="Arial"/>
                <a:cs typeface="Arial"/>
                <a:sym typeface="Arial"/>
              </a:rPr>
              <a:t>Công ty Honda trao học bổng cho những bạn sinh viên thỏa mãn ít nhất 1 trong 2 điều kiện sau:</a:t>
            </a:r>
            <a:endParaRPr/>
          </a:p>
          <a:p>
            <a:pPr indent="-342900" lvl="0" marL="342900" marR="0" rtl="0" algn="l">
              <a:lnSpc>
                <a:spcPct val="100000"/>
              </a:lnSpc>
              <a:spcBef>
                <a:spcPts val="520"/>
              </a:spcBef>
              <a:spcAft>
                <a:spcPts val="0"/>
              </a:spcAft>
              <a:buClr>
                <a:schemeClr val="hlink"/>
              </a:buClr>
              <a:buSzPts val="2600"/>
              <a:buFont typeface="Noto Sans Symbols"/>
              <a:buChar char="❖"/>
            </a:pPr>
            <a:r>
              <a:rPr b="0" i="0" lang="en-US" sz="2600" u="none">
                <a:solidFill>
                  <a:schemeClr val="dk1"/>
                </a:solidFill>
                <a:latin typeface="Arial"/>
                <a:ea typeface="Arial"/>
                <a:cs typeface="Arial"/>
                <a:sym typeface="Arial"/>
              </a:rPr>
              <a:t>Là sinh viên giỏi, là cán bộ lớp. </a:t>
            </a:r>
            <a:endParaRPr/>
          </a:p>
          <a:p>
            <a:pPr indent="-342900" lvl="0" marL="342900" marR="0" rtl="0" algn="l">
              <a:lnSpc>
                <a:spcPct val="100000"/>
              </a:lnSpc>
              <a:spcBef>
                <a:spcPts val="520"/>
              </a:spcBef>
              <a:spcAft>
                <a:spcPts val="0"/>
              </a:spcAft>
              <a:buClr>
                <a:schemeClr val="hlink"/>
              </a:buClr>
              <a:buSzPts val="2600"/>
              <a:buFont typeface="Noto Sans Symbols"/>
              <a:buChar char="❖"/>
            </a:pPr>
            <a:r>
              <a:rPr b="0" i="0" lang="en-US" sz="2600" u="none">
                <a:solidFill>
                  <a:schemeClr val="dk1"/>
                </a:solidFill>
                <a:latin typeface="Arial"/>
                <a:ea typeface="Arial"/>
                <a:cs typeface="Arial"/>
                <a:sym typeface="Arial"/>
              </a:rPr>
              <a:t>Nếu thỏa mãn cả 2 điều kiện sẽ được học bổng </a:t>
            </a:r>
            <a:r>
              <a:rPr b="1" i="0" lang="en-US" sz="2600" u="none">
                <a:solidFill>
                  <a:schemeClr val="dk1"/>
                </a:solidFill>
                <a:latin typeface="Arial"/>
                <a:ea typeface="Arial"/>
                <a:cs typeface="Arial"/>
                <a:sym typeface="Arial"/>
              </a:rPr>
              <a:t>600$</a:t>
            </a:r>
            <a:r>
              <a:rPr b="0" i="0" lang="en-US" sz="2600" u="none">
                <a:solidFill>
                  <a:schemeClr val="dk1"/>
                </a:solidFill>
                <a:latin typeface="Arial"/>
                <a:ea typeface="Arial"/>
                <a:cs typeface="Arial"/>
                <a:sym typeface="Arial"/>
              </a:rPr>
              <a:t>, nếu thỏa mãn là sinh viên giỏi được học bổng </a:t>
            </a:r>
            <a:r>
              <a:rPr b="1" i="0" lang="en-US" sz="2600" u="none">
                <a:solidFill>
                  <a:schemeClr val="dk1"/>
                </a:solidFill>
                <a:latin typeface="Arial"/>
                <a:ea typeface="Arial"/>
                <a:cs typeface="Arial"/>
                <a:sym typeface="Arial"/>
              </a:rPr>
              <a:t>400$</a:t>
            </a:r>
            <a:r>
              <a:rPr b="0" i="0" lang="en-US" sz="2600" u="none">
                <a:solidFill>
                  <a:schemeClr val="dk1"/>
                </a:solidFill>
                <a:latin typeface="Arial"/>
                <a:ea typeface="Arial"/>
                <a:cs typeface="Arial"/>
                <a:sym typeface="Arial"/>
              </a:rPr>
              <a:t>, nếu là cán bộ lớp được học bổng là </a:t>
            </a:r>
            <a:r>
              <a:rPr b="1" i="0" lang="en-US" sz="2600" u="none">
                <a:solidFill>
                  <a:schemeClr val="dk1"/>
                </a:solidFill>
                <a:latin typeface="Arial"/>
                <a:ea typeface="Arial"/>
                <a:cs typeface="Arial"/>
                <a:sym typeface="Arial"/>
              </a:rPr>
              <a:t>300$</a:t>
            </a:r>
            <a:r>
              <a:rPr b="0" i="0" lang="en-US" sz="2600" u="none">
                <a:solidFill>
                  <a:schemeClr val="dk1"/>
                </a:solidFill>
                <a:latin typeface="Arial"/>
                <a:ea typeface="Arial"/>
                <a:cs typeface="Arial"/>
                <a:sym typeface="Arial"/>
              </a:rPr>
              <a:t>. </a:t>
            </a:r>
            <a:endParaRPr/>
          </a:p>
          <a:p>
            <a:pPr indent="-342900" lvl="0" marL="342900" marR="0" rtl="0" algn="l">
              <a:lnSpc>
                <a:spcPct val="100000"/>
              </a:lnSpc>
              <a:spcBef>
                <a:spcPts val="520"/>
              </a:spcBef>
              <a:spcAft>
                <a:spcPts val="0"/>
              </a:spcAft>
              <a:buClr>
                <a:schemeClr val="hlink"/>
              </a:buClr>
              <a:buSzPts val="2600"/>
              <a:buFont typeface="Noto Sans Symbols"/>
              <a:buChar char="❖"/>
            </a:pPr>
            <a:r>
              <a:rPr b="0" i="0" lang="en-US" sz="2600" u="none">
                <a:solidFill>
                  <a:schemeClr val="dk1"/>
                </a:solidFill>
                <a:latin typeface="Arial"/>
                <a:ea typeface="Arial"/>
                <a:cs typeface="Arial"/>
                <a:sym typeface="Arial"/>
              </a:rPr>
              <a:t>Lập bảng hỗ trợ quyết định để thiết kế các ca kiểm thử</a:t>
            </a:r>
            <a:endParaRPr/>
          </a:p>
        </p:txBody>
      </p:sp>
      <p:sp>
        <p:nvSpPr>
          <p:cNvPr id="831" name="Google Shape;831;p48"/>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4.3.3. BẢNG QUYẾT ĐỊNH</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4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
        <p:nvSpPr>
          <p:cNvPr id="837" name="Google Shape;837;p49"/>
          <p:cNvSpPr txBox="1"/>
          <p:nvPr>
            <p:ph idx="1" type="body"/>
          </p:nvPr>
        </p:nvSpPr>
        <p:spPr>
          <a:xfrm>
            <a:off x="685800" y="1143000"/>
            <a:ext cx="8229600" cy="3200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khía cạnh của hệ thống được mô tả thông qua </a:t>
            </a:r>
            <a:r>
              <a:rPr b="1" i="0" lang="en-US" sz="2400" u="none">
                <a:solidFill>
                  <a:srgbClr val="C00000"/>
                </a:solidFill>
                <a:latin typeface="Arial"/>
                <a:ea typeface="Arial"/>
                <a:cs typeface="Arial"/>
                <a:sym typeface="Arial"/>
              </a:rPr>
              <a:t>lược đồ trạng thái</a:t>
            </a:r>
            <a:r>
              <a:rPr b="0" i="0" lang="en-US" sz="2400" u="none">
                <a:solidFill>
                  <a:schemeClr val="dk1"/>
                </a:solidFill>
                <a:latin typeface="Arial"/>
                <a:ea typeface="Arial"/>
                <a:cs typeface="Arial"/>
                <a:sym typeface="Arial"/>
              </a:rPr>
              <a:t>.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Hệ thống sẽ có nhiều trạng thái khác nhau, sự dịch chuyển từ một trạng thái này sang trạng thái khác được quyết định bởi một sự kiện nào đó.</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xEl>
                                              <p:pRg end="0" st="0"/>
                                            </p:txEl>
                                          </p:spTgt>
                                        </p:tgtEl>
                                        <p:attrNameLst>
                                          <p:attrName>style.visibility</p:attrName>
                                        </p:attrNameLst>
                                      </p:cBhvr>
                                      <p:to>
                                        <p:strVal val="visible"/>
                                      </p:to>
                                    </p:set>
                                    <p:animEffect filter="fade" transition="in">
                                      <p:cBhvr>
                                        <p:cTn dur="500"/>
                                        <p:tgtEl>
                                          <p:spTgt spid="8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xEl>
                                              <p:pRg end="1" st="1"/>
                                            </p:txEl>
                                          </p:spTgt>
                                        </p:tgtEl>
                                        <p:attrNameLst>
                                          <p:attrName>style.visibility</p:attrName>
                                        </p:attrNameLst>
                                      </p:cBhvr>
                                      <p:to>
                                        <p:strVal val="visible"/>
                                      </p:to>
                                    </p:set>
                                    <p:animEffect filter="fade" transition="in">
                                      <p:cBhvr>
                                        <p:cTn dur="500"/>
                                        <p:tgtEl>
                                          <p:spTgt spid="83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50"/>
          <p:cNvSpPr txBox="1"/>
          <p:nvPr>
            <p:ph idx="1" type="body"/>
          </p:nvPr>
        </p:nvSpPr>
        <p:spPr>
          <a:xfrm>
            <a:off x="685800" y="1076325"/>
            <a:ext cx="8229600" cy="47910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mô hình dịch chuyển trạng thái có 4 phần cơ bản:</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Các trạng thái (</a:t>
            </a:r>
            <a:r>
              <a:rPr b="1" i="0" lang="en-US" sz="2400" u="none" cap="none" strike="noStrike">
                <a:solidFill>
                  <a:srgbClr val="C00000"/>
                </a:solidFill>
                <a:latin typeface="Arial"/>
                <a:ea typeface="Arial"/>
                <a:cs typeface="Arial"/>
                <a:sym typeface="Arial"/>
              </a:rPr>
              <a:t>states</a:t>
            </a:r>
            <a:r>
              <a:rPr b="0" i="0" lang="en-US" sz="2400" u="none" cap="none" strike="noStrike">
                <a:solidFill>
                  <a:schemeClr val="dk1"/>
                </a:solidFill>
                <a:latin typeface="Arial"/>
                <a:ea typeface="Arial"/>
                <a:cs typeface="Arial"/>
                <a:sym typeface="Arial"/>
              </a:rPr>
              <a:t>) phần mềm có thể xảy ra.</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Sự dịch chuyển (</a:t>
            </a:r>
            <a:r>
              <a:rPr b="1" i="0" lang="en-US" sz="2400" u="none" cap="none" strike="noStrike">
                <a:solidFill>
                  <a:srgbClr val="C00000"/>
                </a:solidFill>
                <a:latin typeface="Arial"/>
                <a:ea typeface="Arial"/>
                <a:cs typeface="Arial"/>
                <a:sym typeface="Arial"/>
              </a:rPr>
              <a:t>transitions</a:t>
            </a:r>
            <a:r>
              <a:rPr b="0" i="0" lang="en-US" sz="2400" u="none" cap="none" strike="noStrike">
                <a:solidFill>
                  <a:schemeClr val="dk1"/>
                </a:solidFill>
                <a:latin typeface="Arial"/>
                <a:ea typeface="Arial"/>
                <a:cs typeface="Arial"/>
                <a:sym typeface="Arial"/>
              </a:rPr>
              <a:t>) từ trạng thái này sang trạng thái khác.</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Các sự kiện (</a:t>
            </a:r>
            <a:r>
              <a:rPr b="1" i="0" lang="en-US" sz="2400" u="none" cap="none" strike="noStrike">
                <a:solidFill>
                  <a:srgbClr val="C00000"/>
                </a:solidFill>
                <a:latin typeface="Arial"/>
                <a:ea typeface="Arial"/>
                <a:cs typeface="Arial"/>
                <a:sym typeface="Arial"/>
              </a:rPr>
              <a:t>events</a:t>
            </a:r>
            <a:r>
              <a:rPr b="0" i="0" lang="en-US" sz="2400" u="none" cap="none" strike="noStrike">
                <a:solidFill>
                  <a:schemeClr val="dk1"/>
                </a:solidFill>
                <a:latin typeface="Arial"/>
                <a:ea typeface="Arial"/>
                <a:cs typeface="Arial"/>
                <a:sym typeface="Arial"/>
              </a:rPr>
              <a:t>) dẫn đến sự dịch chuyển trạng thái.</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Các hành động (</a:t>
            </a:r>
            <a:r>
              <a:rPr b="1" i="0" lang="en-US" sz="2400" u="none" cap="none" strike="noStrike">
                <a:solidFill>
                  <a:srgbClr val="C00000"/>
                </a:solidFill>
                <a:latin typeface="Arial"/>
                <a:ea typeface="Arial"/>
                <a:cs typeface="Arial"/>
                <a:sym typeface="Arial"/>
              </a:rPr>
              <a:t>actions</a:t>
            </a:r>
            <a:r>
              <a:rPr b="0" i="0" lang="en-US" sz="2400" u="none" cap="none" strike="noStrike">
                <a:solidFill>
                  <a:schemeClr val="dk1"/>
                </a:solidFill>
                <a:latin typeface="Arial"/>
                <a:ea typeface="Arial"/>
                <a:cs typeface="Arial"/>
                <a:sym typeface="Arial"/>
              </a:rPr>
              <a:t>) là kết quả của việc dịch chuyển trạng thái.</a:t>
            </a:r>
            <a:endParaRPr/>
          </a:p>
        </p:txBody>
      </p:sp>
      <p:sp>
        <p:nvSpPr>
          <p:cNvPr id="843" name="Google Shape;843;p5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51"/>
          <p:cNvSpPr txBox="1"/>
          <p:nvPr>
            <p:ph type="title"/>
          </p:nvPr>
        </p:nvSpPr>
        <p:spPr>
          <a:xfrm>
            <a:off x="6858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49" name="Google Shape;849;p51"/>
          <p:cNvSpPr txBox="1"/>
          <p:nvPr>
            <p:ph idx="1" type="body"/>
          </p:nvPr>
        </p:nvSpPr>
        <p:spPr>
          <a:xfrm>
            <a:off x="685800" y="1533525"/>
            <a:ext cx="8229600" cy="4943475"/>
          </a:xfrm>
          <a:prstGeom prst="rect">
            <a:avLst/>
          </a:prstGeom>
          <a:noFill/>
          <a:ln>
            <a:noFill/>
          </a:ln>
        </p:spPr>
        <p:txBody>
          <a:bodyPr anchorCtr="0" anchor="t" bIns="45700" lIns="91425" spcFirstLastPara="1" rIns="91425" wrap="square" tIns="45700">
            <a:normAutofit/>
          </a:bodyPr>
          <a:lstStyle/>
          <a:p>
            <a:pPr indent="0" lvl="0" marL="0" marR="0" rtl="0" algn="just">
              <a:lnSpc>
                <a:spcPct val="14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Một quy trình sửa lỗi (fix bug) của một hệ thống bug tracking ở một công ty phần mềm như sau:</a:t>
            </a:r>
            <a:endParaRPr/>
          </a:p>
          <a:p>
            <a:pPr indent="-152400" lvl="0" marL="0" marR="0" rtl="0" algn="just">
              <a:lnSpc>
                <a:spcPct val="14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Tester phát hiện bug và tạo báo cáo bug bắt đầu với trạng thái “</a:t>
            </a:r>
            <a:r>
              <a:rPr b="1" i="0" lang="en-US" sz="2400" u="none">
                <a:solidFill>
                  <a:schemeClr val="dk1"/>
                </a:solidFill>
                <a:latin typeface="Arial"/>
                <a:ea typeface="Arial"/>
                <a:cs typeface="Arial"/>
                <a:sym typeface="Arial"/>
              </a:rPr>
              <a:t>Open</a:t>
            </a:r>
            <a:r>
              <a:rPr b="0" i="0" lang="en-US" sz="2400" u="none">
                <a:solidFill>
                  <a:schemeClr val="dk1"/>
                </a:solidFill>
                <a:latin typeface="Arial"/>
                <a:ea typeface="Arial"/>
                <a:cs typeface="Arial"/>
                <a:sym typeface="Arial"/>
              </a:rPr>
              <a:t>”.</a:t>
            </a:r>
            <a:endParaRPr/>
          </a:p>
          <a:p>
            <a:pPr indent="-152400" lvl="0" marL="0" marR="0" rtl="0" algn="just">
              <a:lnSpc>
                <a:spcPct val="14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Developer xem xét nếu thấy nó không phải bug thì chuyển bug sang thái “</a:t>
            </a:r>
            <a:r>
              <a:rPr b="1" i="0" lang="en-US" sz="2400" u="none">
                <a:solidFill>
                  <a:schemeClr val="dk1"/>
                </a:solidFill>
                <a:latin typeface="Arial"/>
                <a:ea typeface="Arial"/>
                <a:cs typeface="Arial"/>
                <a:sym typeface="Arial"/>
              </a:rPr>
              <a:t>Wont Fix</a:t>
            </a:r>
            <a:r>
              <a:rPr b="0" i="0" lang="en-US" sz="2400" u="none">
                <a:solidFill>
                  <a:schemeClr val="dk1"/>
                </a:solidFill>
                <a:latin typeface="Arial"/>
                <a:ea typeface="Arial"/>
                <a:cs typeface="Arial"/>
                <a:sym typeface="Arial"/>
              </a:rPr>
              <a:t>” và giải thích cho tester. </a:t>
            </a:r>
            <a:endParaRPr/>
          </a:p>
          <a:p>
            <a:pPr indent="-152400" lvl="0" marL="0" marR="0" rtl="0" algn="just">
              <a:lnSpc>
                <a:spcPct val="14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Nếu tester cũng đồng ý đó không phải bug thì chuyển bug sang trạng thái “</a:t>
            </a:r>
            <a:r>
              <a:rPr b="1" i="0" lang="en-US" sz="2400" u="none">
                <a:solidFill>
                  <a:schemeClr val="dk1"/>
                </a:solidFill>
                <a:latin typeface="Arial"/>
                <a:ea typeface="Arial"/>
                <a:cs typeface="Arial"/>
                <a:sym typeface="Arial"/>
              </a:rPr>
              <a:t>Closed</a:t>
            </a:r>
            <a:r>
              <a:rPr b="0" i="0" lang="en-US" sz="2400" u="none">
                <a:solidFill>
                  <a:schemeClr val="dk1"/>
                </a:solidFill>
                <a:latin typeface="Arial"/>
                <a:ea typeface="Arial"/>
                <a:cs typeface="Arial"/>
                <a:sym typeface="Arial"/>
              </a:rPr>
              <a:t>”, ngược lại chuyển về trạng thái “</a:t>
            </a:r>
            <a:r>
              <a:rPr b="1" i="0" lang="en-US" sz="2400" u="none">
                <a:solidFill>
                  <a:schemeClr val="dk1"/>
                </a:solidFill>
                <a:latin typeface="Arial"/>
                <a:ea typeface="Arial"/>
                <a:cs typeface="Arial"/>
                <a:sym typeface="Arial"/>
              </a:rPr>
              <a:t>Open</a:t>
            </a:r>
            <a:r>
              <a:rPr b="0" i="0" lang="en-US" sz="2400" u="none">
                <a:solidFill>
                  <a:schemeClr val="dk1"/>
                </a:solidFill>
                <a:latin typeface="Arial"/>
                <a:ea typeface="Arial"/>
                <a:cs typeface="Arial"/>
                <a:sym typeface="Arial"/>
              </a:rPr>
              <a:t>”.</a:t>
            </a:r>
            <a:endParaRPr/>
          </a:p>
        </p:txBody>
      </p:sp>
      <p:sp>
        <p:nvSpPr>
          <p:cNvPr id="850" name="Google Shape;850;p51"/>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52"/>
          <p:cNvSpPr txBox="1"/>
          <p:nvPr>
            <p:ph type="title"/>
          </p:nvPr>
        </p:nvSpPr>
        <p:spPr>
          <a:xfrm>
            <a:off x="7620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56" name="Google Shape;856;p52"/>
          <p:cNvSpPr txBox="1"/>
          <p:nvPr>
            <p:ph idx="1" type="body"/>
          </p:nvPr>
        </p:nvSpPr>
        <p:spPr>
          <a:xfrm>
            <a:off x="762000" y="1609725"/>
            <a:ext cx="82296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Nếu developer xem qua thấy bug được tạo đúng là lỗi phần mềm và tiến hành fix bug thì chuyển bug sang trạng thái “</a:t>
            </a:r>
            <a:r>
              <a:rPr b="1" i="0" lang="en-US" sz="2400" u="none">
                <a:solidFill>
                  <a:schemeClr val="dk1"/>
                </a:solidFill>
                <a:latin typeface="Arial"/>
                <a:ea typeface="Arial"/>
                <a:cs typeface="Arial"/>
                <a:sym typeface="Arial"/>
              </a:rPr>
              <a:t>In Progress</a:t>
            </a:r>
            <a:r>
              <a:rPr b="0" i="0" lang="en-US" sz="2400" u="none">
                <a:solidFill>
                  <a:schemeClr val="dk1"/>
                </a:solidFill>
                <a:latin typeface="Arial"/>
                <a:ea typeface="Arial"/>
                <a:cs typeface="Arial"/>
                <a:sym typeface="Arial"/>
              </a:rPr>
              <a:t>”.</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Sau khi fix bug xong, developer chuyển nó sang trạng thái “</a:t>
            </a:r>
            <a:r>
              <a:rPr b="1" i="0" lang="en-US" sz="2400" u="none">
                <a:solidFill>
                  <a:schemeClr val="dk1"/>
                </a:solidFill>
                <a:latin typeface="Arial"/>
                <a:ea typeface="Arial"/>
                <a:cs typeface="Arial"/>
                <a:sym typeface="Arial"/>
              </a:rPr>
              <a:t>Testing</a:t>
            </a:r>
            <a:r>
              <a:rPr b="0" i="0" lang="en-US" sz="2400" u="none">
                <a:solidFill>
                  <a:schemeClr val="dk1"/>
                </a:solidFill>
                <a:latin typeface="Arial"/>
                <a:ea typeface="Arial"/>
                <a:cs typeface="Arial"/>
                <a:sym typeface="Arial"/>
              </a:rPr>
              <a:t>” để tester tiến hành xác nhận (verify) thật sự bug đã được fix.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Trong quá trình đang fix bug, developer nhận ra nó không phải lỗi phần mềm thì developer chuyển về trạng thái “</a:t>
            </a:r>
            <a:r>
              <a:rPr b="1" i="0" lang="en-US" sz="2400" u="none">
                <a:solidFill>
                  <a:schemeClr val="dk1"/>
                </a:solidFill>
                <a:latin typeface="Arial"/>
                <a:ea typeface="Arial"/>
                <a:cs typeface="Arial"/>
                <a:sym typeface="Arial"/>
              </a:rPr>
              <a:t>Wont Fix</a:t>
            </a:r>
            <a:r>
              <a:rPr b="0" i="0" lang="en-US" sz="2400" u="none">
                <a:solidFill>
                  <a:schemeClr val="dk1"/>
                </a:solidFill>
                <a:latin typeface="Arial"/>
                <a:ea typeface="Arial"/>
                <a:cs typeface="Arial"/>
                <a:sym typeface="Arial"/>
              </a:rPr>
              <a:t>”.</a:t>
            </a:r>
            <a:endParaRPr/>
          </a:p>
        </p:txBody>
      </p:sp>
      <p:sp>
        <p:nvSpPr>
          <p:cNvPr id="857" name="Google Shape;857;p5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53"/>
          <p:cNvSpPr txBox="1"/>
          <p:nvPr>
            <p:ph type="title"/>
          </p:nvPr>
        </p:nvSpPr>
        <p:spPr>
          <a:xfrm>
            <a:off x="7620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63" name="Google Shape;863;p53"/>
          <p:cNvSpPr txBox="1"/>
          <p:nvPr>
            <p:ph idx="1" type="body"/>
          </p:nvPr>
        </p:nvSpPr>
        <p:spPr>
          <a:xfrm>
            <a:off x="762000" y="1685925"/>
            <a:ext cx="8229600" cy="3419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Nếu tester kiểm tra qua bug đã được fix và thấy ổn thì chuyển bug sang trạng thái “</a:t>
            </a:r>
            <a:r>
              <a:rPr b="1" i="0" lang="en-US" sz="2400" u="none">
                <a:solidFill>
                  <a:schemeClr val="dk1"/>
                </a:solidFill>
                <a:latin typeface="Arial"/>
                <a:ea typeface="Arial"/>
                <a:cs typeface="Arial"/>
                <a:sym typeface="Arial"/>
              </a:rPr>
              <a:t>Closed</a:t>
            </a:r>
            <a:r>
              <a:rPr b="0" i="0" lang="en-US" sz="2400" u="none">
                <a:solidFill>
                  <a:schemeClr val="dk1"/>
                </a:solidFill>
                <a:latin typeface="Arial"/>
                <a:ea typeface="Arial"/>
                <a:cs typeface="Arial"/>
                <a:sym typeface="Arial"/>
              </a:rPr>
              <a:t>”, ngược lại chuyển nó về trạng thái “</a:t>
            </a:r>
            <a:r>
              <a:rPr b="1" i="0" lang="en-US" sz="2400" u="none">
                <a:solidFill>
                  <a:schemeClr val="dk1"/>
                </a:solidFill>
                <a:latin typeface="Arial"/>
                <a:ea typeface="Arial"/>
                <a:cs typeface="Arial"/>
                <a:sym typeface="Arial"/>
              </a:rPr>
              <a:t>Open</a:t>
            </a:r>
            <a:r>
              <a:rPr b="0" i="0" lang="en-US" sz="2400" u="none">
                <a:solidFill>
                  <a:schemeClr val="dk1"/>
                </a:solidFill>
                <a:latin typeface="Arial"/>
                <a:ea typeface="Arial"/>
                <a:cs typeface="Arial"/>
                <a:sym typeface="Arial"/>
              </a:rPr>
              <a:t>” và yêu cầu developer fix lại.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Sau khi bug đã đóng, nhưng quá trình test sau đó lại thấy nó tái xuất hiện thì tester có thể chuyển nó về trạng thái “</a:t>
            </a:r>
            <a:r>
              <a:rPr b="1" i="0" lang="en-US" sz="2400" u="none">
                <a:solidFill>
                  <a:schemeClr val="dk1"/>
                </a:solidFill>
                <a:latin typeface="Arial"/>
                <a:ea typeface="Arial"/>
                <a:cs typeface="Arial"/>
                <a:sym typeface="Arial"/>
              </a:rPr>
              <a:t>Open</a:t>
            </a:r>
            <a:r>
              <a:rPr b="0" i="0" lang="en-US" sz="2400" u="none">
                <a:solidFill>
                  <a:schemeClr val="dk1"/>
                </a:solidFill>
                <a:latin typeface="Arial"/>
                <a:ea typeface="Arial"/>
                <a:cs typeface="Arial"/>
                <a:sym typeface="Arial"/>
              </a:rPr>
              <a:t>” và yêu cầu developer tiếp tục fix.</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
        <p:nvSpPr>
          <p:cNvPr id="864" name="Google Shape;864;p53"/>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4"/>
          <p:cNvSpPr txBox="1"/>
          <p:nvPr>
            <p:ph type="title"/>
          </p:nvPr>
        </p:nvSpPr>
        <p:spPr>
          <a:xfrm>
            <a:off x="762000"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70" name="Google Shape;870;p54"/>
          <p:cNvSpPr txBox="1"/>
          <p:nvPr>
            <p:ph idx="1" type="body"/>
          </p:nvPr>
        </p:nvSpPr>
        <p:spPr>
          <a:xfrm>
            <a:off x="838200" y="1609725"/>
            <a:ext cx="8229600" cy="4943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trạng thái: O = Open, IP = In Progress, WF = Wont Fix, T = Testing, C = Closed.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dịch chuyển:</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Open 🡪 In Progress, Wont Fix</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In Progress 🡪 Wont Fix, Testing</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Wont Fix 🡪 Open, Close</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Testing 🡪 Open, Closed</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Closed 🡪 Open</a:t>
            </a:r>
            <a:endParaRPr/>
          </a:p>
        </p:txBody>
      </p:sp>
      <p:sp>
        <p:nvSpPr>
          <p:cNvPr id="871" name="Google Shape;871;p54"/>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55"/>
          <p:cNvSpPr txBox="1"/>
          <p:nvPr>
            <p:ph type="title"/>
          </p:nvPr>
        </p:nvSpPr>
        <p:spPr>
          <a:xfrm>
            <a:off x="609600" y="88423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77" name="Google Shape;877;p55"/>
          <p:cNvSpPr txBox="1"/>
          <p:nvPr>
            <p:ph idx="1" type="body"/>
          </p:nvPr>
        </p:nvSpPr>
        <p:spPr>
          <a:xfrm>
            <a:off x="838200" y="1304925"/>
            <a:ext cx="8229600" cy="55530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sự kiện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E1: bắt đầu fix bug</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E2: không phải bug</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E3: bug đã được fix</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E4: xác nhận bug đã được fix</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E5: bug được fix chưa đúng hoặc chưa đầy đủ</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E6: xác nhận không phải bug</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E7: bug cần fix</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E8: tái xuất hiện bug</a:t>
            </a:r>
            <a:endParaRPr/>
          </a:p>
        </p:txBody>
      </p:sp>
      <p:sp>
        <p:nvSpPr>
          <p:cNvPr id="878" name="Google Shape;878;p55"/>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56"/>
          <p:cNvSpPr txBox="1"/>
          <p:nvPr>
            <p:ph type="title"/>
          </p:nvPr>
        </p:nvSpPr>
        <p:spPr>
          <a:xfrm>
            <a:off x="6858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84" name="Google Shape;884;p56"/>
          <p:cNvSpPr txBox="1"/>
          <p:nvPr>
            <p:ph idx="1" type="body"/>
          </p:nvPr>
        </p:nvSpPr>
        <p:spPr>
          <a:xfrm>
            <a:off x="762000" y="1524000"/>
            <a:ext cx="8229600" cy="2667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hành động kết quả: khi có bất kỳ sự thay đổi trạng thái nào của bug, hệ thống sẽ gửi email thông báo đến tất cả các thành viên có liên quan đến bug đó về trạng thái hiện tại của bug.</a:t>
            </a:r>
            <a:endParaRPr/>
          </a:p>
        </p:txBody>
      </p:sp>
      <p:sp>
        <p:nvSpPr>
          <p:cNvPr id="885" name="Google Shape;885;p56"/>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57"/>
          <p:cNvSpPr txBox="1"/>
          <p:nvPr>
            <p:ph type="title"/>
          </p:nvPr>
        </p:nvSpPr>
        <p:spPr>
          <a:xfrm>
            <a:off x="614362" y="10668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891" name="Google Shape;891;p57"/>
          <p:cNvSpPr/>
          <p:nvPr/>
        </p:nvSpPr>
        <p:spPr>
          <a:xfrm>
            <a:off x="1991048" y="3764681"/>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2" name="Google Shape;892;p57"/>
          <p:cNvSpPr txBox="1"/>
          <p:nvPr/>
        </p:nvSpPr>
        <p:spPr>
          <a:xfrm>
            <a:off x="2133600" y="4102100"/>
            <a:ext cx="7508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Open</a:t>
            </a:r>
            <a:endParaRPr/>
          </a:p>
        </p:txBody>
      </p:sp>
      <p:sp>
        <p:nvSpPr>
          <p:cNvPr id="893" name="Google Shape;893;p57"/>
          <p:cNvSpPr/>
          <p:nvPr/>
        </p:nvSpPr>
        <p:spPr>
          <a:xfrm>
            <a:off x="4802719" y="2078450"/>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4" name="Google Shape;894;p57"/>
          <p:cNvSpPr txBox="1"/>
          <p:nvPr/>
        </p:nvSpPr>
        <p:spPr>
          <a:xfrm>
            <a:off x="4781550" y="2227262"/>
            <a:ext cx="109061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In Progress</a:t>
            </a:r>
            <a:endParaRPr/>
          </a:p>
        </p:txBody>
      </p:sp>
      <p:sp>
        <p:nvSpPr>
          <p:cNvPr id="895" name="Google Shape;895;p57"/>
          <p:cNvSpPr/>
          <p:nvPr/>
        </p:nvSpPr>
        <p:spPr>
          <a:xfrm>
            <a:off x="7665708" y="2596815"/>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6" name="Google Shape;896;p57"/>
          <p:cNvSpPr txBox="1"/>
          <p:nvPr/>
        </p:nvSpPr>
        <p:spPr>
          <a:xfrm>
            <a:off x="7732712" y="2933700"/>
            <a:ext cx="9064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Testing</a:t>
            </a:r>
            <a:endParaRPr/>
          </a:p>
        </p:txBody>
      </p:sp>
      <p:sp>
        <p:nvSpPr>
          <p:cNvPr id="897" name="Google Shape;897;p57"/>
          <p:cNvSpPr/>
          <p:nvPr/>
        </p:nvSpPr>
        <p:spPr>
          <a:xfrm>
            <a:off x="7665708" y="5032065"/>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8" name="Google Shape;898;p57"/>
          <p:cNvSpPr txBox="1"/>
          <p:nvPr/>
        </p:nvSpPr>
        <p:spPr>
          <a:xfrm>
            <a:off x="7780337" y="5375275"/>
            <a:ext cx="8540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Closed</a:t>
            </a:r>
            <a:endParaRPr/>
          </a:p>
        </p:txBody>
      </p:sp>
      <p:sp>
        <p:nvSpPr>
          <p:cNvPr id="899" name="Google Shape;899;p57"/>
          <p:cNvSpPr/>
          <p:nvPr/>
        </p:nvSpPr>
        <p:spPr>
          <a:xfrm>
            <a:off x="4742207" y="5237365"/>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0" name="Google Shape;900;p57"/>
          <p:cNvSpPr txBox="1"/>
          <p:nvPr/>
        </p:nvSpPr>
        <p:spPr>
          <a:xfrm>
            <a:off x="4733925" y="5565775"/>
            <a:ext cx="107473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Wont Fix</a:t>
            </a:r>
            <a:endParaRPr/>
          </a:p>
        </p:txBody>
      </p:sp>
      <p:cxnSp>
        <p:nvCxnSpPr>
          <p:cNvPr id="901" name="Google Shape;901;p57"/>
          <p:cNvCxnSpPr/>
          <p:nvPr/>
        </p:nvCxnSpPr>
        <p:spPr>
          <a:xfrm flipH="1" rot="10800000">
            <a:off x="2508250" y="2597150"/>
            <a:ext cx="2293937" cy="1166812"/>
          </a:xfrm>
          <a:prstGeom prst="straightConnector1">
            <a:avLst/>
          </a:prstGeom>
          <a:noFill/>
          <a:ln cap="flat" cmpd="sng" w="28575">
            <a:solidFill>
              <a:srgbClr val="629C83"/>
            </a:solidFill>
            <a:prstDash val="solid"/>
            <a:miter lim="800000"/>
            <a:headEnd len="med" w="med" type="none"/>
            <a:tailEnd len="med" w="med" type="stealth"/>
          </a:ln>
        </p:spPr>
      </p:cxnSp>
      <p:cxnSp>
        <p:nvCxnSpPr>
          <p:cNvPr id="902" name="Google Shape;902;p57"/>
          <p:cNvCxnSpPr/>
          <p:nvPr/>
        </p:nvCxnSpPr>
        <p:spPr>
          <a:xfrm>
            <a:off x="2508250" y="4800600"/>
            <a:ext cx="2233612" cy="954087"/>
          </a:xfrm>
          <a:prstGeom prst="straightConnector1">
            <a:avLst/>
          </a:prstGeom>
          <a:noFill/>
          <a:ln cap="flat" cmpd="sng" w="28575">
            <a:solidFill>
              <a:srgbClr val="629C83"/>
            </a:solidFill>
            <a:prstDash val="solid"/>
            <a:miter lim="800000"/>
            <a:headEnd len="med" w="med" type="none"/>
            <a:tailEnd len="med" w="med" type="stealth"/>
          </a:ln>
        </p:spPr>
      </p:cxnSp>
      <p:cxnSp>
        <p:nvCxnSpPr>
          <p:cNvPr id="903" name="Google Shape;903;p57"/>
          <p:cNvCxnSpPr/>
          <p:nvPr/>
        </p:nvCxnSpPr>
        <p:spPr>
          <a:xfrm>
            <a:off x="5838825" y="2597150"/>
            <a:ext cx="1827212" cy="517525"/>
          </a:xfrm>
          <a:prstGeom prst="straightConnector1">
            <a:avLst/>
          </a:prstGeom>
          <a:noFill/>
          <a:ln cap="flat" cmpd="sng" w="28575">
            <a:solidFill>
              <a:srgbClr val="629C83"/>
            </a:solidFill>
            <a:prstDash val="solid"/>
            <a:miter lim="800000"/>
            <a:headEnd len="med" w="med" type="none"/>
            <a:tailEnd len="med" w="med" type="stealth"/>
          </a:ln>
        </p:spPr>
      </p:cxnSp>
      <p:cxnSp>
        <p:nvCxnSpPr>
          <p:cNvPr id="904" name="Google Shape;904;p57"/>
          <p:cNvCxnSpPr/>
          <p:nvPr/>
        </p:nvCxnSpPr>
        <p:spPr>
          <a:xfrm flipH="1" rot="10800000">
            <a:off x="5778500" y="5549900"/>
            <a:ext cx="1887537" cy="204787"/>
          </a:xfrm>
          <a:prstGeom prst="straightConnector1">
            <a:avLst/>
          </a:prstGeom>
          <a:noFill/>
          <a:ln cap="flat" cmpd="sng" w="28575">
            <a:solidFill>
              <a:srgbClr val="629C83"/>
            </a:solidFill>
            <a:prstDash val="solid"/>
            <a:miter lim="800000"/>
            <a:headEnd len="med" w="med" type="none"/>
            <a:tailEnd len="med" w="med" type="stealth"/>
          </a:ln>
        </p:spPr>
      </p:cxnSp>
      <p:cxnSp>
        <p:nvCxnSpPr>
          <p:cNvPr id="905" name="Google Shape;905;p57"/>
          <p:cNvCxnSpPr/>
          <p:nvPr/>
        </p:nvCxnSpPr>
        <p:spPr>
          <a:xfrm>
            <a:off x="8183562" y="3632200"/>
            <a:ext cx="0" cy="1400175"/>
          </a:xfrm>
          <a:prstGeom prst="straightConnector1">
            <a:avLst/>
          </a:prstGeom>
          <a:noFill/>
          <a:ln cap="flat" cmpd="sng" w="28575">
            <a:solidFill>
              <a:srgbClr val="629C83"/>
            </a:solidFill>
            <a:prstDash val="solid"/>
            <a:miter lim="800000"/>
            <a:headEnd len="med" w="med" type="none"/>
            <a:tailEnd len="med" w="med" type="stealth"/>
          </a:ln>
        </p:spPr>
      </p:cxnSp>
      <p:cxnSp>
        <p:nvCxnSpPr>
          <p:cNvPr id="906" name="Google Shape;906;p57"/>
          <p:cNvCxnSpPr/>
          <p:nvPr/>
        </p:nvCxnSpPr>
        <p:spPr>
          <a:xfrm flipH="1">
            <a:off x="5259387" y="3114675"/>
            <a:ext cx="61912" cy="2122487"/>
          </a:xfrm>
          <a:prstGeom prst="straightConnector1">
            <a:avLst/>
          </a:prstGeom>
          <a:noFill/>
          <a:ln cap="flat" cmpd="sng" w="28575">
            <a:solidFill>
              <a:srgbClr val="629C83"/>
            </a:solidFill>
            <a:prstDash val="solid"/>
            <a:miter lim="800000"/>
            <a:headEnd len="med" w="med" type="none"/>
            <a:tailEnd len="med" w="med" type="stealth"/>
          </a:ln>
        </p:spPr>
      </p:cxnSp>
      <p:cxnSp>
        <p:nvCxnSpPr>
          <p:cNvPr id="907" name="Google Shape;907;p57"/>
          <p:cNvCxnSpPr/>
          <p:nvPr/>
        </p:nvCxnSpPr>
        <p:spPr>
          <a:xfrm rot="10800000">
            <a:off x="3027362" y="4283162"/>
            <a:ext cx="1866900" cy="1106400"/>
          </a:xfrm>
          <a:prstGeom prst="curvedConnector2">
            <a:avLst/>
          </a:prstGeom>
          <a:noFill/>
          <a:ln cap="flat" cmpd="sng" w="28575">
            <a:solidFill>
              <a:srgbClr val="629C83"/>
            </a:solidFill>
            <a:prstDash val="solid"/>
            <a:miter lim="800000"/>
            <a:headEnd len="med" w="med" type="none"/>
            <a:tailEnd len="med" w="med" type="stealth"/>
          </a:ln>
        </p:spPr>
      </p:cxnSp>
      <p:sp>
        <p:nvSpPr>
          <p:cNvPr id="908" name="Google Shape;908;p57"/>
          <p:cNvSpPr txBox="1"/>
          <p:nvPr/>
        </p:nvSpPr>
        <p:spPr>
          <a:xfrm>
            <a:off x="2886075" y="2895600"/>
            <a:ext cx="1325562"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E1</a:t>
            </a:r>
            <a:r>
              <a:rPr b="0" i="0" lang="en-US" sz="1600" u="none">
                <a:solidFill>
                  <a:schemeClr val="dk1"/>
                </a:solidFill>
                <a:latin typeface="Tahoma"/>
                <a:ea typeface="Tahoma"/>
                <a:cs typeface="Tahoma"/>
                <a:sym typeface="Tahoma"/>
              </a:rPr>
              <a:t>: Bắt đầu fix bug</a:t>
            </a:r>
            <a:endParaRPr/>
          </a:p>
        </p:txBody>
      </p:sp>
      <p:sp>
        <p:nvSpPr>
          <p:cNvPr id="909" name="Google Shape;909;p57"/>
          <p:cNvSpPr txBox="1"/>
          <p:nvPr/>
        </p:nvSpPr>
        <p:spPr>
          <a:xfrm>
            <a:off x="6091237" y="2630487"/>
            <a:ext cx="135572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E3</a:t>
            </a:r>
            <a:r>
              <a:rPr b="0" i="0" lang="en-US" sz="1600" u="none">
                <a:solidFill>
                  <a:schemeClr val="dk1"/>
                </a:solidFill>
                <a:latin typeface="Tahoma"/>
                <a:ea typeface="Tahoma"/>
                <a:cs typeface="Tahoma"/>
                <a:sym typeface="Tahoma"/>
              </a:rPr>
              <a:t>: Bug đã được fix</a:t>
            </a:r>
            <a:endParaRPr/>
          </a:p>
        </p:txBody>
      </p:sp>
      <p:sp>
        <p:nvSpPr>
          <p:cNvPr id="910" name="Google Shape;910;p57"/>
          <p:cNvSpPr txBox="1"/>
          <p:nvPr/>
        </p:nvSpPr>
        <p:spPr>
          <a:xfrm>
            <a:off x="7386637" y="4008437"/>
            <a:ext cx="1681162"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E4</a:t>
            </a:r>
            <a:r>
              <a:rPr b="0" i="0" lang="en-US" sz="1600" u="none">
                <a:solidFill>
                  <a:schemeClr val="dk1"/>
                </a:solidFill>
                <a:latin typeface="Tahoma"/>
                <a:ea typeface="Tahoma"/>
                <a:cs typeface="Tahoma"/>
                <a:sym typeface="Tahoma"/>
              </a:rPr>
              <a:t>: Xác nhận bug đã được fix</a:t>
            </a:r>
            <a:endParaRPr/>
          </a:p>
        </p:txBody>
      </p:sp>
      <p:sp>
        <p:nvSpPr>
          <p:cNvPr id="911" name="Google Shape;911;p57"/>
          <p:cNvSpPr txBox="1"/>
          <p:nvPr/>
        </p:nvSpPr>
        <p:spPr>
          <a:xfrm>
            <a:off x="2009775" y="2044700"/>
            <a:ext cx="2581275"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E5</a:t>
            </a:r>
            <a:r>
              <a:rPr b="0" i="0" lang="en-US" sz="1600" u="none">
                <a:solidFill>
                  <a:schemeClr val="dk1"/>
                </a:solidFill>
                <a:latin typeface="Tahoma"/>
                <a:ea typeface="Tahoma"/>
                <a:cs typeface="Tahoma"/>
                <a:sym typeface="Tahoma"/>
              </a:rPr>
              <a:t>: Bug được fix chưa đúng hoặc chưa đầy đủ</a:t>
            </a:r>
            <a:endParaRPr/>
          </a:p>
        </p:txBody>
      </p:sp>
      <p:sp>
        <p:nvSpPr>
          <p:cNvPr id="912" name="Google Shape;912;p57"/>
          <p:cNvSpPr txBox="1"/>
          <p:nvPr/>
        </p:nvSpPr>
        <p:spPr>
          <a:xfrm>
            <a:off x="2989262" y="5013325"/>
            <a:ext cx="1385887"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E2</a:t>
            </a:r>
            <a:r>
              <a:rPr b="0" i="0" lang="en-US" sz="1600" u="none">
                <a:solidFill>
                  <a:schemeClr val="dk1"/>
                </a:solidFill>
                <a:latin typeface="Tahoma"/>
                <a:ea typeface="Tahoma"/>
                <a:cs typeface="Tahoma"/>
                <a:sym typeface="Tahoma"/>
              </a:rPr>
              <a:t>: Không phải bug</a:t>
            </a:r>
            <a:endParaRPr/>
          </a:p>
        </p:txBody>
      </p:sp>
      <p:sp>
        <p:nvSpPr>
          <p:cNvPr id="913" name="Google Shape;913;p57"/>
          <p:cNvSpPr txBox="1"/>
          <p:nvPr/>
        </p:nvSpPr>
        <p:spPr>
          <a:xfrm>
            <a:off x="3563937" y="4373562"/>
            <a:ext cx="1385887"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E7</a:t>
            </a:r>
            <a:r>
              <a:rPr b="0" i="0" lang="en-US" sz="1600" u="none">
                <a:solidFill>
                  <a:schemeClr val="dk1"/>
                </a:solidFill>
                <a:latin typeface="Tahoma"/>
                <a:ea typeface="Tahoma"/>
                <a:cs typeface="Tahoma"/>
                <a:sym typeface="Tahoma"/>
              </a:rPr>
              <a:t>: Bug cần fix</a:t>
            </a:r>
            <a:endParaRPr/>
          </a:p>
        </p:txBody>
      </p:sp>
      <p:sp>
        <p:nvSpPr>
          <p:cNvPr id="914" name="Google Shape;914;p57"/>
          <p:cNvSpPr txBox="1"/>
          <p:nvPr/>
        </p:nvSpPr>
        <p:spPr>
          <a:xfrm>
            <a:off x="5800725" y="5395912"/>
            <a:ext cx="1738312"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E6</a:t>
            </a:r>
            <a:r>
              <a:rPr b="0" i="0" lang="en-US" sz="1600" u="none">
                <a:solidFill>
                  <a:schemeClr val="dk1"/>
                </a:solidFill>
                <a:latin typeface="Tahoma"/>
                <a:ea typeface="Tahoma"/>
                <a:cs typeface="Tahoma"/>
                <a:sym typeface="Tahoma"/>
              </a:rPr>
              <a:t>: Xác nhận không phải bug</a:t>
            </a:r>
            <a:endParaRPr/>
          </a:p>
        </p:txBody>
      </p:sp>
      <p:cxnSp>
        <p:nvCxnSpPr>
          <p:cNvPr id="915" name="Google Shape;915;p57"/>
          <p:cNvCxnSpPr/>
          <p:nvPr/>
        </p:nvCxnSpPr>
        <p:spPr>
          <a:xfrm rot="10800000">
            <a:off x="2143062" y="4648124"/>
            <a:ext cx="6040500" cy="1419300"/>
          </a:xfrm>
          <a:prstGeom prst="curvedConnector3">
            <a:avLst>
              <a:gd fmla="val 0" name="adj1"/>
            </a:avLst>
          </a:prstGeom>
          <a:noFill/>
          <a:ln cap="flat" cmpd="sng" w="28575">
            <a:solidFill>
              <a:srgbClr val="629C83"/>
            </a:solidFill>
            <a:prstDash val="solid"/>
            <a:miter lim="800000"/>
            <a:headEnd len="med" w="med" type="none"/>
            <a:tailEnd len="med" w="med" type="stealth"/>
          </a:ln>
        </p:spPr>
      </p:cxnSp>
      <p:sp>
        <p:nvSpPr>
          <p:cNvPr id="916" name="Google Shape;916;p57"/>
          <p:cNvSpPr txBox="1"/>
          <p:nvPr/>
        </p:nvSpPr>
        <p:spPr>
          <a:xfrm>
            <a:off x="3873500" y="6273800"/>
            <a:ext cx="1385887"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E8</a:t>
            </a:r>
            <a:r>
              <a:rPr b="0" i="0" lang="en-US" sz="1600" u="none">
                <a:solidFill>
                  <a:schemeClr val="dk1"/>
                </a:solidFill>
                <a:latin typeface="Tahoma"/>
                <a:ea typeface="Tahoma"/>
                <a:cs typeface="Tahoma"/>
                <a:sym typeface="Tahoma"/>
              </a:rPr>
              <a:t>: Tái xuất hiện bug</a:t>
            </a:r>
            <a:endParaRPr/>
          </a:p>
        </p:txBody>
      </p:sp>
      <p:cxnSp>
        <p:nvCxnSpPr>
          <p:cNvPr id="917" name="Google Shape;917;p57"/>
          <p:cNvCxnSpPr/>
          <p:nvPr/>
        </p:nvCxnSpPr>
        <p:spPr>
          <a:xfrm>
            <a:off x="854075" y="4283075"/>
            <a:ext cx="1136650" cy="0"/>
          </a:xfrm>
          <a:prstGeom prst="straightConnector1">
            <a:avLst/>
          </a:prstGeom>
          <a:noFill/>
          <a:ln cap="flat" cmpd="sng" w="28575">
            <a:solidFill>
              <a:srgbClr val="629C83"/>
            </a:solidFill>
            <a:prstDash val="solid"/>
            <a:miter lim="800000"/>
            <a:headEnd len="med" w="med" type="none"/>
            <a:tailEnd len="med" w="med" type="stealth"/>
          </a:ln>
        </p:spPr>
      </p:cxnSp>
      <p:sp>
        <p:nvSpPr>
          <p:cNvPr id="918" name="Google Shape;918;p57"/>
          <p:cNvSpPr txBox="1"/>
          <p:nvPr/>
        </p:nvSpPr>
        <p:spPr>
          <a:xfrm>
            <a:off x="614362" y="3694112"/>
            <a:ext cx="1184275"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Bug được phát hiện</a:t>
            </a:r>
            <a:endParaRPr/>
          </a:p>
        </p:txBody>
      </p:sp>
      <p:cxnSp>
        <p:nvCxnSpPr>
          <p:cNvPr id="919" name="Google Shape;919;p57"/>
          <p:cNvCxnSpPr/>
          <p:nvPr/>
        </p:nvCxnSpPr>
        <p:spPr>
          <a:xfrm flipH="1">
            <a:off x="2143249" y="2747963"/>
            <a:ext cx="5673600" cy="1168500"/>
          </a:xfrm>
          <a:prstGeom prst="curvedConnector3">
            <a:avLst>
              <a:gd fmla="val 0" name="adj1"/>
            </a:avLst>
          </a:prstGeom>
          <a:noFill/>
          <a:ln cap="flat" cmpd="sng" w="28575">
            <a:solidFill>
              <a:srgbClr val="629C83"/>
            </a:solidFill>
            <a:prstDash val="solid"/>
            <a:miter lim="800000"/>
            <a:headEnd len="med" w="med" type="none"/>
            <a:tailEnd len="med" w="med" type="stealth"/>
          </a:ln>
        </p:spPr>
      </p:cxnSp>
      <p:sp>
        <p:nvSpPr>
          <p:cNvPr id="920" name="Google Shape;920;p57"/>
          <p:cNvSpPr txBox="1"/>
          <p:nvPr/>
        </p:nvSpPr>
        <p:spPr>
          <a:xfrm>
            <a:off x="4525962" y="3697287"/>
            <a:ext cx="1385887"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600"/>
              <a:buFont typeface="Tahoma"/>
              <a:buNone/>
            </a:pPr>
            <a:r>
              <a:rPr b="1" i="0" lang="en-US" sz="1600" u="none">
                <a:solidFill>
                  <a:srgbClr val="C00000"/>
                </a:solidFill>
                <a:latin typeface="Tahoma"/>
                <a:ea typeface="Tahoma"/>
                <a:cs typeface="Tahoma"/>
                <a:sym typeface="Tahoma"/>
              </a:rPr>
              <a:t>E2</a:t>
            </a:r>
            <a:r>
              <a:rPr b="0" i="0" lang="en-US" sz="1600" u="none">
                <a:solidFill>
                  <a:schemeClr val="dk1"/>
                </a:solidFill>
                <a:latin typeface="Tahoma"/>
                <a:ea typeface="Tahoma"/>
                <a:cs typeface="Tahoma"/>
                <a:sym typeface="Tahoma"/>
              </a:rPr>
              <a:t>: Không phải bug</a:t>
            </a:r>
            <a:endParaRPr/>
          </a:p>
        </p:txBody>
      </p:sp>
      <p:sp>
        <p:nvSpPr>
          <p:cNvPr id="921" name="Google Shape;921;p57"/>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500"/>
                                        <p:tgtEl>
                                          <p:spTgt spid="8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500"/>
                                        <p:tgtEl>
                                          <p:spTgt spid="8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500"/>
                                        <p:tgtEl>
                                          <p:spTgt spid="89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500"/>
                                        <p:tgtEl>
                                          <p:spTgt spid="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par>
                                <p:cTn fill="hold" nodeType="with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500"/>
                                        <p:tgtEl>
                                          <p:spTgt spid="901"/>
                                        </p:tgtEl>
                                      </p:cBhvr>
                                    </p:animEffect>
                                  </p:childTnLst>
                                </p:cTn>
                              </p:par>
                              <p:par>
                                <p:cTn fill="hold" nodeType="with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par>
                                <p:cTn fill="hold" nodeType="with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par>
                                <p:cTn fill="hold" nodeType="with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5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500"/>
                                        <p:tgtEl>
                                          <p:spTgt spid="905"/>
                                        </p:tgtEl>
                                      </p:cBhvr>
                                    </p:animEffect>
                                  </p:childTnLst>
                                </p:cTn>
                              </p:par>
                              <p:par>
                                <p:cTn fill="hold" nodeType="with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500"/>
                                        <p:tgtEl>
                                          <p:spTgt spid="919"/>
                                        </p:tgtEl>
                                      </p:cBhvr>
                                    </p:animEffect>
                                  </p:childTnLst>
                                </p:cTn>
                              </p:par>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par>
                                <p:cTn fill="hold" nodeType="with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500"/>
                                        <p:tgtEl>
                                          <p:spTgt spid="913"/>
                                        </p:tgtEl>
                                      </p:cBhvr>
                                    </p:animEffect>
                                  </p:childTnLst>
                                </p:cTn>
                              </p:par>
                              <p:par>
                                <p:cTn fill="hold" nodeType="with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500"/>
                                        <p:tgtEl>
                                          <p:spTgt spid="904"/>
                                        </p:tgtEl>
                                      </p:cBhvr>
                                    </p:animEffect>
                                  </p:childTnLst>
                                </p:cTn>
                              </p:par>
                              <p:par>
                                <p:cTn fill="hold" nodeType="with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58"/>
          <p:cNvSpPr txBox="1"/>
          <p:nvPr>
            <p:ph type="title"/>
          </p:nvPr>
        </p:nvSpPr>
        <p:spPr>
          <a:xfrm>
            <a:off x="533400" y="9144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hệ thống bug tracking</a:t>
            </a:r>
            <a:endParaRPr/>
          </a:p>
        </p:txBody>
      </p:sp>
      <p:sp>
        <p:nvSpPr>
          <p:cNvPr id="927" name="Google Shape;927;p58"/>
          <p:cNvSpPr txBox="1"/>
          <p:nvPr>
            <p:ph idx="1" type="body"/>
          </p:nvPr>
        </p:nvSpPr>
        <p:spPr>
          <a:xfrm>
            <a:off x="838200" y="1304925"/>
            <a:ext cx="82296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Bảng mô tả trạng thái</a:t>
            </a:r>
            <a:endParaRPr/>
          </a:p>
          <a:p>
            <a:pPr indent="-190500" lvl="0" marL="342900" marR="0" rtl="0" algn="just">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just">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just">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just">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Dựa vào bảng trạng thái có thể thiết kế 9 test case hợp lệ: O 🡪 IP, O 🡪 WF, IP 🡪 WF, IP 🡪 T, T 🡪 C, T 🡪 O; C 🡪 O, WF 🡪 C, WF 🡪 O và một vài trường hợp không hợp lệ. </a:t>
            </a:r>
            <a:endParaRPr/>
          </a:p>
        </p:txBody>
      </p:sp>
      <p:graphicFrame>
        <p:nvGraphicFramePr>
          <p:cNvPr id="928" name="Google Shape;928;p58"/>
          <p:cNvGraphicFramePr/>
          <p:nvPr/>
        </p:nvGraphicFramePr>
        <p:xfrm>
          <a:off x="1757362" y="2041525"/>
          <a:ext cx="3000000" cy="3000000"/>
        </p:xfrm>
        <a:graphic>
          <a:graphicData uri="http://schemas.openxmlformats.org/drawingml/2006/table">
            <a:tbl>
              <a:tblPr>
                <a:noFill/>
                <a:tableStyleId>{31D5217D-7989-4123-8A4E-5E50DADE823D}</a:tableStyleId>
              </a:tblPr>
              <a:tblGrid>
                <a:gridCol w="604825"/>
                <a:gridCol w="646100"/>
                <a:gridCol w="644525"/>
                <a:gridCol w="658800"/>
                <a:gridCol w="658800"/>
                <a:gridCol w="646100"/>
                <a:gridCol w="631825"/>
                <a:gridCol w="658800"/>
                <a:gridCol w="631825"/>
              </a:tblGrid>
              <a:tr h="371475">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E1</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E2</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E3</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E4</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E5</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E6</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E7</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E8</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875">
                <a:tc>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IP</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WF</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IP</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WF</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T</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T</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C</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9875">
                <a:tc>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C</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C00000"/>
                        </a:buClr>
                        <a:buSzPts val="1800"/>
                        <a:buFont typeface="Tahoma"/>
                        <a:buNone/>
                      </a:pPr>
                      <a:r>
                        <a:rPr b="1" i="0" lang="en-US" sz="1800" u="none">
                          <a:solidFill>
                            <a:srgbClr val="C00000"/>
                          </a:solidFill>
                          <a:latin typeface="Tahoma"/>
                          <a:ea typeface="Tahoma"/>
                          <a:cs typeface="Tahoma"/>
                          <a:sym typeface="Tahoma"/>
                        </a:rPr>
                        <a:t>WF</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C</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1800"/>
                        <a:buFont typeface="Tahoma"/>
                        <a:buNone/>
                      </a:pPr>
                      <a:r>
                        <a:rPr b="1" i="0" lang="en-US" sz="1800" u="none">
                          <a:solidFill>
                            <a:srgbClr val="002060"/>
                          </a:solidFill>
                          <a:latin typeface="Tahoma"/>
                          <a:ea typeface="Tahoma"/>
                          <a:cs typeface="Tahoma"/>
                          <a:sym typeface="Tahoma"/>
                        </a:rPr>
                        <a:t>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29" name="Google Shape;929;p58"/>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59"/>
          <p:cNvSpPr txBox="1"/>
          <p:nvPr>
            <p:ph type="title"/>
          </p:nvPr>
        </p:nvSpPr>
        <p:spPr>
          <a:xfrm>
            <a:off x="677862" y="9413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Ví dụ sử dụng hệ thống ATM</a:t>
            </a:r>
            <a:endParaRPr/>
          </a:p>
        </p:txBody>
      </p:sp>
      <p:sp>
        <p:nvSpPr>
          <p:cNvPr id="935" name="Google Shape;935;p59"/>
          <p:cNvSpPr/>
          <p:nvPr/>
        </p:nvSpPr>
        <p:spPr>
          <a:xfrm>
            <a:off x="1537282" y="3517629"/>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6" name="Google Shape;936;p59"/>
          <p:cNvSpPr txBox="1"/>
          <p:nvPr/>
        </p:nvSpPr>
        <p:spPr>
          <a:xfrm>
            <a:off x="1566862" y="3851275"/>
            <a:ext cx="97631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Đọc thẻ</a:t>
            </a:r>
            <a:endParaRPr/>
          </a:p>
        </p:txBody>
      </p:sp>
      <p:sp>
        <p:nvSpPr>
          <p:cNvPr id="937" name="Google Shape;937;p59"/>
          <p:cNvSpPr/>
          <p:nvPr/>
        </p:nvSpPr>
        <p:spPr>
          <a:xfrm>
            <a:off x="4211120" y="3517629"/>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8" name="Google Shape;938;p59"/>
          <p:cNvSpPr txBox="1"/>
          <p:nvPr/>
        </p:nvSpPr>
        <p:spPr>
          <a:xfrm>
            <a:off x="4240212" y="3851275"/>
            <a:ext cx="10175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Đọc PIN</a:t>
            </a:r>
            <a:endParaRPr/>
          </a:p>
        </p:txBody>
      </p:sp>
      <p:sp>
        <p:nvSpPr>
          <p:cNvPr id="939" name="Google Shape;939;p59"/>
          <p:cNvSpPr/>
          <p:nvPr/>
        </p:nvSpPr>
        <p:spPr>
          <a:xfrm>
            <a:off x="6884958" y="3517629"/>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0" name="Google Shape;940;p59"/>
          <p:cNvSpPr txBox="1"/>
          <p:nvPr/>
        </p:nvSpPr>
        <p:spPr>
          <a:xfrm>
            <a:off x="6908800" y="3713162"/>
            <a:ext cx="98901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Chọn </a:t>
            </a:r>
            <a:endParaRPr/>
          </a:p>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giao tác</a:t>
            </a:r>
            <a:endParaRPr/>
          </a:p>
        </p:txBody>
      </p:sp>
      <p:sp>
        <p:nvSpPr>
          <p:cNvPr id="941" name="Google Shape;941;p59"/>
          <p:cNvSpPr/>
          <p:nvPr/>
        </p:nvSpPr>
        <p:spPr>
          <a:xfrm>
            <a:off x="6884958" y="5517340"/>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2" name="Google Shape;942;p59"/>
          <p:cNvSpPr txBox="1"/>
          <p:nvPr/>
        </p:nvSpPr>
        <p:spPr>
          <a:xfrm>
            <a:off x="6891337" y="5711825"/>
            <a:ext cx="102235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Thực thi</a:t>
            </a:r>
            <a:endParaRPr/>
          </a:p>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giao tác</a:t>
            </a:r>
            <a:endParaRPr/>
          </a:p>
        </p:txBody>
      </p:sp>
      <p:sp>
        <p:nvSpPr>
          <p:cNvPr id="943" name="Google Shape;943;p59"/>
          <p:cNvSpPr/>
          <p:nvPr/>
        </p:nvSpPr>
        <p:spPr>
          <a:xfrm>
            <a:off x="4211120" y="5517340"/>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4" name="Google Shape;944;p59"/>
          <p:cNvSpPr txBox="1"/>
          <p:nvPr/>
        </p:nvSpPr>
        <p:spPr>
          <a:xfrm>
            <a:off x="4235450" y="5849937"/>
            <a:ext cx="98742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Nhã thẻ</a:t>
            </a:r>
            <a:endParaRPr/>
          </a:p>
        </p:txBody>
      </p:sp>
      <p:cxnSp>
        <p:nvCxnSpPr>
          <p:cNvPr id="945" name="Google Shape;945;p59"/>
          <p:cNvCxnSpPr/>
          <p:nvPr/>
        </p:nvCxnSpPr>
        <p:spPr>
          <a:xfrm>
            <a:off x="573087" y="4035425"/>
            <a:ext cx="963612" cy="0"/>
          </a:xfrm>
          <a:prstGeom prst="straightConnector1">
            <a:avLst/>
          </a:prstGeom>
          <a:noFill/>
          <a:ln cap="flat" cmpd="sng" w="28575">
            <a:solidFill>
              <a:srgbClr val="629C83"/>
            </a:solidFill>
            <a:prstDash val="solid"/>
            <a:miter lim="800000"/>
            <a:headEnd len="med" w="med" type="none"/>
            <a:tailEnd len="med" w="med" type="stealth"/>
          </a:ln>
        </p:spPr>
      </p:cxnSp>
      <p:cxnSp>
        <p:nvCxnSpPr>
          <p:cNvPr id="946" name="Google Shape;946;p59"/>
          <p:cNvCxnSpPr/>
          <p:nvPr/>
        </p:nvCxnSpPr>
        <p:spPr>
          <a:xfrm>
            <a:off x="2573337" y="4035425"/>
            <a:ext cx="1666875" cy="0"/>
          </a:xfrm>
          <a:prstGeom prst="straightConnector1">
            <a:avLst/>
          </a:prstGeom>
          <a:noFill/>
          <a:ln cap="flat" cmpd="sng" w="28575">
            <a:solidFill>
              <a:srgbClr val="629C83"/>
            </a:solidFill>
            <a:prstDash val="solid"/>
            <a:miter lim="800000"/>
            <a:headEnd len="med" w="med" type="none"/>
            <a:tailEnd len="med" w="med" type="stealth"/>
          </a:ln>
        </p:spPr>
      </p:cxnSp>
      <p:cxnSp>
        <p:nvCxnSpPr>
          <p:cNvPr id="947" name="Google Shape;947;p59"/>
          <p:cNvCxnSpPr/>
          <p:nvPr/>
        </p:nvCxnSpPr>
        <p:spPr>
          <a:xfrm>
            <a:off x="5257800" y="4035425"/>
            <a:ext cx="1627187" cy="0"/>
          </a:xfrm>
          <a:prstGeom prst="straightConnector1">
            <a:avLst/>
          </a:prstGeom>
          <a:noFill/>
          <a:ln cap="flat" cmpd="sng" w="28575">
            <a:solidFill>
              <a:srgbClr val="629C83"/>
            </a:solidFill>
            <a:prstDash val="solid"/>
            <a:miter lim="800000"/>
            <a:headEnd len="med" w="med" type="none"/>
            <a:tailEnd len="med" w="med" type="stealth"/>
          </a:ln>
        </p:spPr>
      </p:cxnSp>
      <p:cxnSp>
        <p:nvCxnSpPr>
          <p:cNvPr id="948" name="Google Shape;948;p59"/>
          <p:cNvCxnSpPr/>
          <p:nvPr/>
        </p:nvCxnSpPr>
        <p:spPr>
          <a:xfrm>
            <a:off x="7402512" y="4552950"/>
            <a:ext cx="0" cy="963612"/>
          </a:xfrm>
          <a:prstGeom prst="straightConnector1">
            <a:avLst/>
          </a:prstGeom>
          <a:noFill/>
          <a:ln cap="flat" cmpd="sng" w="28575">
            <a:solidFill>
              <a:srgbClr val="629C83"/>
            </a:solidFill>
            <a:prstDash val="solid"/>
            <a:miter lim="800000"/>
            <a:headEnd len="med" w="med" type="none"/>
            <a:tailEnd len="med" w="med" type="stealth"/>
          </a:ln>
        </p:spPr>
      </p:cxnSp>
      <p:cxnSp>
        <p:nvCxnSpPr>
          <p:cNvPr id="949" name="Google Shape;949;p59"/>
          <p:cNvCxnSpPr/>
          <p:nvPr/>
        </p:nvCxnSpPr>
        <p:spPr>
          <a:xfrm rot="10800000">
            <a:off x="5246687" y="6035675"/>
            <a:ext cx="1638300" cy="0"/>
          </a:xfrm>
          <a:prstGeom prst="straightConnector1">
            <a:avLst/>
          </a:prstGeom>
          <a:noFill/>
          <a:ln cap="flat" cmpd="sng" w="28575">
            <a:solidFill>
              <a:srgbClr val="629C83"/>
            </a:solidFill>
            <a:prstDash val="solid"/>
            <a:miter lim="800000"/>
            <a:headEnd len="med" w="med" type="none"/>
            <a:tailEnd len="med" w="med" type="stealth"/>
          </a:ln>
        </p:spPr>
      </p:cxnSp>
      <p:cxnSp>
        <p:nvCxnSpPr>
          <p:cNvPr id="950" name="Google Shape;950;p59"/>
          <p:cNvCxnSpPr/>
          <p:nvPr/>
        </p:nvCxnSpPr>
        <p:spPr>
          <a:xfrm>
            <a:off x="4729162" y="4552950"/>
            <a:ext cx="0" cy="963612"/>
          </a:xfrm>
          <a:prstGeom prst="straightConnector1">
            <a:avLst/>
          </a:prstGeom>
          <a:noFill/>
          <a:ln cap="flat" cmpd="sng" w="28575">
            <a:solidFill>
              <a:srgbClr val="629C83"/>
            </a:solidFill>
            <a:prstDash val="solid"/>
            <a:miter lim="800000"/>
            <a:headEnd len="med" w="med" type="none"/>
            <a:tailEnd len="med" w="med" type="stealth"/>
          </a:ln>
        </p:spPr>
      </p:cxnSp>
      <p:cxnSp>
        <p:nvCxnSpPr>
          <p:cNvPr id="951" name="Google Shape;951;p59"/>
          <p:cNvCxnSpPr/>
          <p:nvPr/>
        </p:nvCxnSpPr>
        <p:spPr>
          <a:xfrm>
            <a:off x="2055812" y="4552949"/>
            <a:ext cx="2179500" cy="1482600"/>
          </a:xfrm>
          <a:prstGeom prst="bentConnector2">
            <a:avLst/>
          </a:prstGeom>
          <a:noFill/>
          <a:ln cap="flat" cmpd="sng" w="28575">
            <a:solidFill>
              <a:srgbClr val="629C83"/>
            </a:solidFill>
            <a:prstDash val="solid"/>
            <a:miter lim="800000"/>
            <a:headEnd len="med" w="med" type="none"/>
            <a:tailEnd len="med" w="med" type="stealth"/>
          </a:ln>
        </p:spPr>
      </p:cxnSp>
      <p:cxnSp>
        <p:nvCxnSpPr>
          <p:cNvPr id="952" name="Google Shape;952;p59"/>
          <p:cNvCxnSpPr/>
          <p:nvPr/>
        </p:nvCxnSpPr>
        <p:spPr>
          <a:xfrm flipH="1" rot="5400000">
            <a:off x="6402337" y="4517975"/>
            <a:ext cx="2517900" cy="517500"/>
          </a:xfrm>
          <a:prstGeom prst="bentConnector4">
            <a:avLst>
              <a:gd fmla="val 0" name="adj1"/>
              <a:gd fmla="val 0" name="adj2"/>
            </a:avLst>
          </a:prstGeom>
          <a:noFill/>
          <a:ln cap="flat" cmpd="sng" w="28575">
            <a:solidFill>
              <a:srgbClr val="629C83"/>
            </a:solidFill>
            <a:prstDash val="solid"/>
            <a:miter lim="800000"/>
            <a:headEnd len="med" w="med" type="none"/>
            <a:tailEnd len="med" w="med" type="stealth"/>
          </a:ln>
        </p:spPr>
      </p:cxnSp>
      <p:cxnSp>
        <p:nvCxnSpPr>
          <p:cNvPr id="953" name="Google Shape;953;p59"/>
          <p:cNvCxnSpPr/>
          <p:nvPr/>
        </p:nvCxnSpPr>
        <p:spPr>
          <a:xfrm flipH="1">
            <a:off x="4729212" y="4035425"/>
            <a:ext cx="3168600" cy="2517900"/>
          </a:xfrm>
          <a:prstGeom prst="bentConnector4">
            <a:avLst>
              <a:gd fmla="val -3553" name="adj1"/>
              <a:gd fmla="val 23560" name="adj2"/>
            </a:avLst>
          </a:prstGeom>
          <a:noFill/>
          <a:ln cap="flat" cmpd="sng" w="28575">
            <a:solidFill>
              <a:srgbClr val="629C83"/>
            </a:solidFill>
            <a:prstDash val="solid"/>
            <a:miter lim="800000"/>
            <a:headEnd len="med" w="med" type="none"/>
            <a:tailEnd len="med" w="med" type="stealth"/>
          </a:ln>
        </p:spPr>
      </p:cxnSp>
      <p:sp>
        <p:nvSpPr>
          <p:cNvPr id="954" name="Google Shape;954;p59"/>
          <p:cNvSpPr txBox="1"/>
          <p:nvPr/>
        </p:nvSpPr>
        <p:spPr>
          <a:xfrm>
            <a:off x="2654300" y="3389312"/>
            <a:ext cx="13858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Đọc thẻ thành công</a:t>
            </a:r>
            <a:endParaRPr/>
          </a:p>
        </p:txBody>
      </p:sp>
      <p:sp>
        <p:nvSpPr>
          <p:cNvPr id="955" name="Google Shape;955;p59"/>
          <p:cNvSpPr txBox="1"/>
          <p:nvPr/>
        </p:nvSpPr>
        <p:spPr>
          <a:xfrm>
            <a:off x="2205037" y="5354637"/>
            <a:ext cx="13858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Không đọc được thẻ</a:t>
            </a:r>
            <a:endParaRPr/>
          </a:p>
        </p:txBody>
      </p:sp>
      <p:sp>
        <p:nvSpPr>
          <p:cNvPr id="956" name="Google Shape;956;p59"/>
          <p:cNvSpPr txBox="1"/>
          <p:nvPr/>
        </p:nvSpPr>
        <p:spPr>
          <a:xfrm>
            <a:off x="4013200" y="4841875"/>
            <a:ext cx="13858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Bấm Cancel</a:t>
            </a:r>
            <a:endParaRPr/>
          </a:p>
        </p:txBody>
      </p:sp>
      <p:sp>
        <p:nvSpPr>
          <p:cNvPr id="957" name="Google Shape;957;p59"/>
          <p:cNvSpPr txBox="1"/>
          <p:nvPr/>
        </p:nvSpPr>
        <p:spPr>
          <a:xfrm>
            <a:off x="5373687" y="3343275"/>
            <a:ext cx="13843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Nhập đúng PIN</a:t>
            </a:r>
            <a:endParaRPr/>
          </a:p>
        </p:txBody>
      </p:sp>
      <p:sp>
        <p:nvSpPr>
          <p:cNvPr id="958" name="Google Shape;958;p59"/>
          <p:cNvSpPr txBox="1"/>
          <p:nvPr/>
        </p:nvSpPr>
        <p:spPr>
          <a:xfrm>
            <a:off x="6710362" y="4713287"/>
            <a:ext cx="13858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Đã chọn giao tác</a:t>
            </a:r>
            <a:endParaRPr/>
          </a:p>
        </p:txBody>
      </p:sp>
      <p:sp>
        <p:nvSpPr>
          <p:cNvPr id="959" name="Google Shape;959;p59"/>
          <p:cNvSpPr txBox="1"/>
          <p:nvPr/>
        </p:nvSpPr>
        <p:spPr>
          <a:xfrm>
            <a:off x="7402512" y="2403475"/>
            <a:ext cx="13858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Chọn giao tác khác</a:t>
            </a:r>
            <a:endParaRPr/>
          </a:p>
        </p:txBody>
      </p:sp>
      <p:sp>
        <p:nvSpPr>
          <p:cNvPr id="960" name="Google Shape;960;p59"/>
          <p:cNvSpPr txBox="1"/>
          <p:nvPr/>
        </p:nvSpPr>
        <p:spPr>
          <a:xfrm>
            <a:off x="7856537" y="4984750"/>
            <a:ext cx="105886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Bấm Cancel</a:t>
            </a:r>
            <a:endParaRPr/>
          </a:p>
        </p:txBody>
      </p:sp>
      <p:sp>
        <p:nvSpPr>
          <p:cNvPr id="961" name="Google Shape;961;p59"/>
          <p:cNvSpPr txBox="1"/>
          <p:nvPr/>
        </p:nvSpPr>
        <p:spPr>
          <a:xfrm>
            <a:off x="5399087" y="5405437"/>
            <a:ext cx="1384300" cy="647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Hoàn thành giao tác</a:t>
            </a:r>
            <a:endParaRPr/>
          </a:p>
        </p:txBody>
      </p:sp>
      <p:sp>
        <p:nvSpPr>
          <p:cNvPr id="962" name="Google Shape;962;p59"/>
          <p:cNvSpPr/>
          <p:nvPr/>
        </p:nvSpPr>
        <p:spPr>
          <a:xfrm>
            <a:off x="4211120" y="1505675"/>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3" name="Google Shape;963;p59"/>
          <p:cNvSpPr txBox="1"/>
          <p:nvPr/>
        </p:nvSpPr>
        <p:spPr>
          <a:xfrm>
            <a:off x="4240212" y="1838325"/>
            <a:ext cx="9302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Giữ thẻ</a:t>
            </a:r>
            <a:endParaRPr/>
          </a:p>
        </p:txBody>
      </p:sp>
      <p:cxnSp>
        <p:nvCxnSpPr>
          <p:cNvPr id="964" name="Google Shape;964;p59"/>
          <p:cNvCxnSpPr/>
          <p:nvPr/>
        </p:nvCxnSpPr>
        <p:spPr>
          <a:xfrm rot="10800000">
            <a:off x="4729162" y="2541587"/>
            <a:ext cx="0" cy="976312"/>
          </a:xfrm>
          <a:prstGeom prst="straightConnector1">
            <a:avLst/>
          </a:prstGeom>
          <a:noFill/>
          <a:ln cap="flat" cmpd="sng" w="28575">
            <a:solidFill>
              <a:srgbClr val="629C83"/>
            </a:solidFill>
            <a:prstDash val="solid"/>
            <a:miter lim="800000"/>
            <a:headEnd len="med" w="med" type="none"/>
            <a:tailEnd len="med" w="med" type="stealth"/>
          </a:ln>
        </p:spPr>
      </p:cxnSp>
      <p:sp>
        <p:nvSpPr>
          <p:cNvPr id="965" name="Google Shape;965;p59"/>
          <p:cNvSpPr txBox="1"/>
          <p:nvPr/>
        </p:nvSpPr>
        <p:spPr>
          <a:xfrm>
            <a:off x="3943350" y="2720975"/>
            <a:ext cx="161131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Nhập PIN sai nhiều lần</a:t>
            </a:r>
            <a:endParaRPr/>
          </a:p>
        </p:txBody>
      </p:sp>
      <p:sp>
        <p:nvSpPr>
          <p:cNvPr id="966" name="Google Shape;966;p59"/>
          <p:cNvSpPr/>
          <p:nvPr/>
        </p:nvSpPr>
        <p:spPr>
          <a:xfrm>
            <a:off x="644525" y="1663700"/>
            <a:ext cx="3173412" cy="1354137"/>
          </a:xfrm>
          <a:custGeom>
            <a:rect b="b" l="l" r="r" t="t"/>
            <a:pathLst>
              <a:path extrusionOk="0" h="43200" w="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extrusionOk="0" fill="none" h="43200" w="43200">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alpha val="19607"/>
            </a:schemeClr>
          </a:solidFill>
          <a:ln cap="flat" cmpd="sng" w="25400">
            <a:solidFill>
              <a:srgbClr val="4973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2060"/>
              </a:buClr>
              <a:buSzPts val="1800"/>
              <a:buFont typeface="Tahoma"/>
              <a:buNone/>
            </a:pPr>
            <a:r>
              <a:rPr b="0" i="0" lang="en-US" sz="1800" u="none">
                <a:solidFill>
                  <a:srgbClr val="002060"/>
                </a:solidFill>
                <a:latin typeface="Tahoma"/>
                <a:ea typeface="Tahoma"/>
                <a:cs typeface="Tahoma"/>
                <a:sym typeface="Tahoma"/>
              </a:rPr>
              <a:t>Thiết kế test case cho sử dụng hệ thống ATM?</a:t>
            </a:r>
            <a:endParaRPr/>
          </a:p>
        </p:txBody>
      </p:sp>
      <p:sp>
        <p:nvSpPr>
          <p:cNvPr id="967" name="Google Shape;967;p59"/>
          <p:cNvSpPr txBox="1"/>
          <p:nvPr/>
        </p:nvSpPr>
        <p:spPr>
          <a:xfrm>
            <a:off x="342900" y="3335337"/>
            <a:ext cx="13858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Đưa thẻ vào máy</a:t>
            </a:r>
            <a:endParaRPr/>
          </a:p>
        </p:txBody>
      </p:sp>
      <p:sp>
        <p:nvSpPr>
          <p:cNvPr id="968" name="Google Shape;968;p59"/>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60"/>
          <p:cNvSpPr txBox="1"/>
          <p:nvPr>
            <p:ph type="title"/>
          </p:nvPr>
        </p:nvSpPr>
        <p:spPr>
          <a:xfrm>
            <a:off x="609600"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Bài tập 1</a:t>
            </a:r>
            <a:endParaRPr/>
          </a:p>
        </p:txBody>
      </p:sp>
      <p:sp>
        <p:nvSpPr>
          <p:cNvPr id="974" name="Google Shape;974;p60"/>
          <p:cNvSpPr txBox="1"/>
          <p:nvPr>
            <p:ph idx="1" type="body"/>
          </p:nvPr>
        </p:nvSpPr>
        <p:spPr>
          <a:xfrm>
            <a:off x="1028700" y="1611312"/>
            <a:ext cx="7962900" cy="46370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hệ thống quản lý cho phép gửi và nhận tin nhắn trong hệ thống, khi người dùng nhận tin mới có trạng thái là tin chưa đọc, nếu người nhận mở ra đọc thì tin đó thành trạng thái đã đọc. </a:t>
            </a:r>
            <a:endParaRPr/>
          </a:p>
          <a:p>
            <a:pPr indent="-342900" lvl="0" marL="342900" marR="0" rtl="0" algn="just">
              <a:lnSpc>
                <a:spcPct val="10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Sau khi đọc tin, người dùng cũng có thế chuyển nó thành tin chưa đọc để ghi nhớ. </a:t>
            </a:r>
            <a:endParaRPr/>
          </a:p>
          <a:p>
            <a:pPr indent="-342900" lvl="0" marL="342900" marR="0" rtl="0" algn="just">
              <a:lnSpc>
                <a:spcPct val="10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Ngoài ra, người dùng cũng có thể xóa tin tức, ban đầu tin xóa tạm nằm trong thùng rác, trong 24h kể từ lúc xóa người dùng có thể phục hồi lại trạng thái trước khi xóa, sau khoảng thời gian này tin sẽ bị xóa vĩnh viễn. </a:t>
            </a:r>
            <a:endParaRPr/>
          </a:p>
          <a:p>
            <a:pPr indent="-342900" lvl="0" marL="342900" marR="0" rtl="0" algn="just">
              <a:lnSpc>
                <a:spcPct val="10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Vẽ lược đồ dịch chuyển trạng thái tin nhắn và viết các test case cho chúng.</a:t>
            </a:r>
            <a:endParaRPr/>
          </a:p>
        </p:txBody>
      </p:sp>
      <p:sp>
        <p:nvSpPr>
          <p:cNvPr id="975" name="Google Shape;975;p60"/>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61"/>
          <p:cNvSpPr txBox="1"/>
          <p:nvPr>
            <p:ph type="title"/>
          </p:nvPr>
        </p:nvSpPr>
        <p:spPr>
          <a:xfrm>
            <a:off x="703262" y="990600"/>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Hướng dẫn</a:t>
            </a:r>
            <a:endParaRPr/>
          </a:p>
        </p:txBody>
      </p:sp>
      <p:sp>
        <p:nvSpPr>
          <p:cNvPr id="981" name="Google Shape;981;p61"/>
          <p:cNvSpPr/>
          <p:nvPr/>
        </p:nvSpPr>
        <p:spPr>
          <a:xfrm>
            <a:off x="1256057" y="2866478"/>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2" name="Google Shape;982;p61"/>
          <p:cNvSpPr txBox="1"/>
          <p:nvPr/>
        </p:nvSpPr>
        <p:spPr>
          <a:xfrm>
            <a:off x="1219200" y="3186112"/>
            <a:ext cx="11477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Chưa đọc</a:t>
            </a:r>
            <a:endParaRPr/>
          </a:p>
        </p:txBody>
      </p:sp>
      <p:sp>
        <p:nvSpPr>
          <p:cNvPr id="983" name="Google Shape;983;p61"/>
          <p:cNvSpPr/>
          <p:nvPr/>
        </p:nvSpPr>
        <p:spPr>
          <a:xfrm>
            <a:off x="4738843" y="2866478"/>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4" name="Google Shape;984;p61"/>
          <p:cNvSpPr txBox="1"/>
          <p:nvPr/>
        </p:nvSpPr>
        <p:spPr>
          <a:xfrm>
            <a:off x="4808537" y="3186112"/>
            <a:ext cx="9048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Đã đọc</a:t>
            </a:r>
            <a:endParaRPr/>
          </a:p>
        </p:txBody>
      </p:sp>
      <p:sp>
        <p:nvSpPr>
          <p:cNvPr id="985" name="Google Shape;985;p61"/>
          <p:cNvSpPr/>
          <p:nvPr/>
        </p:nvSpPr>
        <p:spPr>
          <a:xfrm>
            <a:off x="8042738" y="5541339"/>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6" name="Google Shape;986;p61"/>
          <p:cNvSpPr txBox="1"/>
          <p:nvPr/>
        </p:nvSpPr>
        <p:spPr>
          <a:xfrm>
            <a:off x="8112125" y="5861050"/>
            <a:ext cx="9017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Đã xóa</a:t>
            </a:r>
            <a:endParaRPr/>
          </a:p>
        </p:txBody>
      </p:sp>
      <p:sp>
        <p:nvSpPr>
          <p:cNvPr id="987" name="Google Shape;987;p61"/>
          <p:cNvSpPr/>
          <p:nvPr/>
        </p:nvSpPr>
        <p:spPr>
          <a:xfrm>
            <a:off x="4738843" y="5554786"/>
            <a:ext cx="1035860" cy="1035860"/>
          </a:xfrm>
          <a:prstGeom prst="ellipse">
            <a:avLst/>
          </a:prstGeom>
          <a:gradFill>
            <a:gsLst>
              <a:gs pos="0">
                <a:srgbClr val="729883"/>
              </a:gs>
              <a:gs pos="80000">
                <a:srgbClr val="96C8AD"/>
              </a:gs>
              <a:gs pos="100000">
                <a:srgbClr val="96CAAE"/>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8" name="Google Shape;988;p61"/>
          <p:cNvSpPr txBox="1"/>
          <p:nvPr/>
        </p:nvSpPr>
        <p:spPr>
          <a:xfrm>
            <a:off x="4741862" y="5875337"/>
            <a:ext cx="10683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ahoma"/>
              <a:buNone/>
            </a:pPr>
            <a:r>
              <a:rPr b="0" i="0" lang="en-US" sz="1800" u="none">
                <a:solidFill>
                  <a:schemeClr val="lt1"/>
                </a:solidFill>
                <a:latin typeface="Tahoma"/>
                <a:ea typeface="Tahoma"/>
                <a:cs typeface="Tahoma"/>
                <a:sym typeface="Tahoma"/>
              </a:rPr>
              <a:t>Tạm xóa</a:t>
            </a:r>
            <a:endParaRPr/>
          </a:p>
        </p:txBody>
      </p:sp>
      <p:cxnSp>
        <p:nvCxnSpPr>
          <p:cNvPr id="989" name="Google Shape;989;p61"/>
          <p:cNvCxnSpPr/>
          <p:nvPr/>
        </p:nvCxnSpPr>
        <p:spPr>
          <a:xfrm flipH="1" rot="10800000">
            <a:off x="381000" y="3370262"/>
            <a:ext cx="838200" cy="12700"/>
          </a:xfrm>
          <a:prstGeom prst="straightConnector1">
            <a:avLst/>
          </a:prstGeom>
          <a:noFill/>
          <a:ln cap="flat" cmpd="sng" w="12700">
            <a:solidFill>
              <a:srgbClr val="190C6A"/>
            </a:solidFill>
            <a:prstDash val="solid"/>
            <a:miter lim="800000"/>
            <a:headEnd len="med" w="med" type="none"/>
            <a:tailEnd len="med" w="med" type="stealth"/>
          </a:ln>
        </p:spPr>
      </p:cxnSp>
      <p:cxnSp>
        <p:nvCxnSpPr>
          <p:cNvPr id="990" name="Google Shape;990;p61"/>
          <p:cNvCxnSpPr/>
          <p:nvPr/>
        </p:nvCxnSpPr>
        <p:spPr>
          <a:xfrm>
            <a:off x="2366962" y="3370262"/>
            <a:ext cx="2371725" cy="14287"/>
          </a:xfrm>
          <a:prstGeom prst="straightConnector1">
            <a:avLst/>
          </a:prstGeom>
          <a:noFill/>
          <a:ln cap="flat" cmpd="sng" w="12700">
            <a:solidFill>
              <a:srgbClr val="190C6A"/>
            </a:solidFill>
            <a:prstDash val="solid"/>
            <a:miter lim="800000"/>
            <a:headEnd len="med" w="med" type="none"/>
            <a:tailEnd len="med" w="med" type="stealth"/>
          </a:ln>
        </p:spPr>
      </p:cxnSp>
      <p:sp>
        <p:nvSpPr>
          <p:cNvPr id="991" name="Google Shape;991;p61"/>
          <p:cNvSpPr txBox="1"/>
          <p:nvPr/>
        </p:nvSpPr>
        <p:spPr>
          <a:xfrm>
            <a:off x="2630487" y="2987675"/>
            <a:ext cx="17684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1</a:t>
            </a:r>
            <a:r>
              <a:rPr b="0" i="0" lang="en-US" sz="1800" u="none">
                <a:solidFill>
                  <a:schemeClr val="dk1"/>
                </a:solidFill>
                <a:latin typeface="Tahoma"/>
                <a:ea typeface="Tahoma"/>
                <a:cs typeface="Tahoma"/>
                <a:sym typeface="Tahoma"/>
              </a:rPr>
              <a:t>: mở tin nhắn</a:t>
            </a:r>
            <a:endParaRPr/>
          </a:p>
        </p:txBody>
      </p:sp>
      <p:cxnSp>
        <p:nvCxnSpPr>
          <p:cNvPr id="992" name="Google Shape;992;p61"/>
          <p:cNvCxnSpPr/>
          <p:nvPr/>
        </p:nvCxnSpPr>
        <p:spPr>
          <a:xfrm rot="10800000">
            <a:off x="1779563" y="2860775"/>
            <a:ext cx="3483000" cy="12600"/>
          </a:xfrm>
          <a:prstGeom prst="curvedConnector3">
            <a:avLst>
              <a:gd fmla="val 0" name="adj1"/>
            </a:avLst>
          </a:prstGeom>
          <a:noFill/>
          <a:ln cap="flat" cmpd="sng" w="12700">
            <a:solidFill>
              <a:srgbClr val="190C6A"/>
            </a:solidFill>
            <a:prstDash val="solid"/>
            <a:miter lim="800000"/>
            <a:headEnd len="med" w="med" type="none"/>
            <a:tailEnd len="med" w="med" type="stealth"/>
          </a:ln>
        </p:spPr>
      </p:cxnSp>
      <p:sp>
        <p:nvSpPr>
          <p:cNvPr id="993" name="Google Shape;993;p61"/>
          <p:cNvSpPr txBox="1"/>
          <p:nvPr/>
        </p:nvSpPr>
        <p:spPr>
          <a:xfrm>
            <a:off x="2514600" y="1722437"/>
            <a:ext cx="25161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2</a:t>
            </a:r>
            <a:r>
              <a:rPr b="0" i="0" lang="en-US" sz="1800" u="none">
                <a:solidFill>
                  <a:schemeClr val="dk1"/>
                </a:solidFill>
                <a:latin typeface="Tahoma"/>
                <a:ea typeface="Tahoma"/>
                <a:cs typeface="Tahoma"/>
                <a:sym typeface="Tahoma"/>
              </a:rPr>
              <a:t>: đánh dấu chưa đọc</a:t>
            </a:r>
            <a:endParaRPr/>
          </a:p>
        </p:txBody>
      </p:sp>
      <p:cxnSp>
        <p:nvCxnSpPr>
          <p:cNvPr id="994" name="Google Shape;994;p61"/>
          <p:cNvCxnSpPr/>
          <p:nvPr/>
        </p:nvCxnSpPr>
        <p:spPr>
          <a:xfrm>
            <a:off x="2139950" y="3751262"/>
            <a:ext cx="2751137" cy="1955800"/>
          </a:xfrm>
          <a:prstGeom prst="straightConnector1">
            <a:avLst/>
          </a:prstGeom>
          <a:noFill/>
          <a:ln cap="flat" cmpd="sng" w="12700">
            <a:solidFill>
              <a:srgbClr val="190C6A"/>
            </a:solidFill>
            <a:prstDash val="solid"/>
            <a:miter lim="800000"/>
            <a:headEnd len="med" w="med" type="none"/>
            <a:tailEnd len="med" w="med" type="stealth"/>
          </a:ln>
        </p:spPr>
      </p:cxnSp>
      <p:cxnSp>
        <p:nvCxnSpPr>
          <p:cNvPr id="995" name="Google Shape;995;p61"/>
          <p:cNvCxnSpPr/>
          <p:nvPr/>
        </p:nvCxnSpPr>
        <p:spPr>
          <a:xfrm>
            <a:off x="5256212" y="3902075"/>
            <a:ext cx="0" cy="1652587"/>
          </a:xfrm>
          <a:prstGeom prst="straightConnector1">
            <a:avLst/>
          </a:prstGeom>
          <a:noFill/>
          <a:ln cap="flat" cmpd="sng" w="12700">
            <a:solidFill>
              <a:srgbClr val="190C6A"/>
            </a:solidFill>
            <a:prstDash val="solid"/>
            <a:miter lim="800000"/>
            <a:headEnd len="med" w="med" type="none"/>
            <a:tailEnd len="med" w="med" type="stealth"/>
          </a:ln>
        </p:spPr>
      </p:cxnSp>
      <p:sp>
        <p:nvSpPr>
          <p:cNvPr id="996" name="Google Shape;996;p61"/>
          <p:cNvSpPr txBox="1"/>
          <p:nvPr/>
        </p:nvSpPr>
        <p:spPr>
          <a:xfrm>
            <a:off x="4391025" y="4433887"/>
            <a:ext cx="182086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3</a:t>
            </a:r>
            <a:r>
              <a:rPr b="0" i="0" lang="en-US" sz="1800" u="none">
                <a:solidFill>
                  <a:schemeClr val="dk1"/>
                </a:solidFill>
                <a:latin typeface="Tahoma"/>
                <a:ea typeface="Tahoma"/>
                <a:cs typeface="Tahoma"/>
                <a:sym typeface="Tahoma"/>
              </a:rPr>
              <a:t>: xóa tin nhắn</a:t>
            </a:r>
            <a:endParaRPr/>
          </a:p>
        </p:txBody>
      </p:sp>
      <p:sp>
        <p:nvSpPr>
          <p:cNvPr id="997" name="Google Shape;997;p61"/>
          <p:cNvSpPr txBox="1"/>
          <p:nvPr/>
        </p:nvSpPr>
        <p:spPr>
          <a:xfrm>
            <a:off x="2306637" y="4356100"/>
            <a:ext cx="182086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3</a:t>
            </a:r>
            <a:r>
              <a:rPr b="0" i="0" lang="en-US" sz="1800" u="none">
                <a:solidFill>
                  <a:schemeClr val="dk1"/>
                </a:solidFill>
                <a:latin typeface="Tahoma"/>
                <a:ea typeface="Tahoma"/>
                <a:cs typeface="Tahoma"/>
                <a:sym typeface="Tahoma"/>
              </a:rPr>
              <a:t>: xóa tin nhắn</a:t>
            </a:r>
            <a:endParaRPr/>
          </a:p>
        </p:txBody>
      </p:sp>
      <p:cxnSp>
        <p:nvCxnSpPr>
          <p:cNvPr id="998" name="Google Shape;998;p61"/>
          <p:cNvCxnSpPr/>
          <p:nvPr/>
        </p:nvCxnSpPr>
        <p:spPr>
          <a:xfrm flipH="1" rot="5400000">
            <a:off x="4455450" y="4704687"/>
            <a:ext cx="2674800" cy="34800"/>
          </a:xfrm>
          <a:prstGeom prst="curvedConnector3">
            <a:avLst>
              <a:gd fmla="val 0" name="adj1"/>
            </a:avLst>
          </a:prstGeom>
          <a:noFill/>
          <a:ln cap="flat" cmpd="sng" w="12700">
            <a:solidFill>
              <a:srgbClr val="190C6A"/>
            </a:solidFill>
            <a:prstDash val="solid"/>
            <a:miter lim="800000"/>
            <a:headEnd len="med" w="med" type="none"/>
            <a:tailEnd len="med" w="med" type="stealth"/>
          </a:ln>
        </p:spPr>
      </p:cxnSp>
      <p:sp>
        <p:nvSpPr>
          <p:cNvPr id="999" name="Google Shape;999;p61"/>
          <p:cNvSpPr txBox="1"/>
          <p:nvPr/>
        </p:nvSpPr>
        <p:spPr>
          <a:xfrm>
            <a:off x="5713412" y="5026025"/>
            <a:ext cx="23288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4</a:t>
            </a:r>
            <a:r>
              <a:rPr b="0" i="0" lang="en-US" sz="1800" u="none">
                <a:solidFill>
                  <a:schemeClr val="dk1"/>
                </a:solidFill>
                <a:latin typeface="Tahoma"/>
                <a:ea typeface="Tahoma"/>
                <a:cs typeface="Tahoma"/>
                <a:sym typeface="Tahoma"/>
              </a:rPr>
              <a:t>: phục hồi tin nhắn</a:t>
            </a:r>
            <a:endParaRPr/>
          </a:p>
        </p:txBody>
      </p:sp>
      <p:cxnSp>
        <p:nvCxnSpPr>
          <p:cNvPr id="1000" name="Google Shape;1000;p61"/>
          <p:cNvCxnSpPr/>
          <p:nvPr/>
        </p:nvCxnSpPr>
        <p:spPr>
          <a:xfrm rot="10800000">
            <a:off x="1408262" y="3751287"/>
            <a:ext cx="3333600" cy="2308200"/>
          </a:xfrm>
          <a:prstGeom prst="curvedConnector2">
            <a:avLst/>
          </a:prstGeom>
          <a:noFill/>
          <a:ln cap="flat" cmpd="sng" w="12700">
            <a:solidFill>
              <a:srgbClr val="190C6A"/>
            </a:solidFill>
            <a:prstDash val="solid"/>
            <a:miter lim="800000"/>
            <a:headEnd len="med" w="med" type="none"/>
            <a:tailEnd len="med" w="med" type="stealth"/>
          </a:ln>
        </p:spPr>
      </p:cxnSp>
      <p:sp>
        <p:nvSpPr>
          <p:cNvPr id="1001" name="Google Shape;1001;p61"/>
          <p:cNvSpPr txBox="1"/>
          <p:nvPr/>
        </p:nvSpPr>
        <p:spPr>
          <a:xfrm>
            <a:off x="1433512" y="5081587"/>
            <a:ext cx="23304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4</a:t>
            </a:r>
            <a:r>
              <a:rPr b="0" i="0" lang="en-US" sz="1800" u="none">
                <a:solidFill>
                  <a:schemeClr val="dk1"/>
                </a:solidFill>
                <a:latin typeface="Tahoma"/>
                <a:ea typeface="Tahoma"/>
                <a:cs typeface="Tahoma"/>
                <a:sym typeface="Tahoma"/>
              </a:rPr>
              <a:t>: phục hồi tin nhắn</a:t>
            </a:r>
            <a:endParaRPr/>
          </a:p>
        </p:txBody>
      </p:sp>
      <p:cxnSp>
        <p:nvCxnSpPr>
          <p:cNvPr id="1002" name="Google Shape;1002;p61"/>
          <p:cNvCxnSpPr/>
          <p:nvPr/>
        </p:nvCxnSpPr>
        <p:spPr>
          <a:xfrm>
            <a:off x="5810250" y="6059487"/>
            <a:ext cx="2232025" cy="0"/>
          </a:xfrm>
          <a:prstGeom prst="straightConnector1">
            <a:avLst/>
          </a:prstGeom>
          <a:noFill/>
          <a:ln cap="flat" cmpd="sng" w="12700">
            <a:solidFill>
              <a:srgbClr val="190C6A"/>
            </a:solidFill>
            <a:prstDash val="solid"/>
            <a:miter lim="800000"/>
            <a:headEnd len="med" w="med" type="none"/>
            <a:tailEnd len="med" w="med" type="stealth"/>
          </a:ln>
        </p:spPr>
      </p:cxnSp>
      <p:sp>
        <p:nvSpPr>
          <p:cNvPr id="1003" name="Google Shape;1003;p61"/>
          <p:cNvSpPr txBox="1"/>
          <p:nvPr/>
        </p:nvSpPr>
        <p:spPr>
          <a:xfrm>
            <a:off x="6032500" y="6059487"/>
            <a:ext cx="184626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E</a:t>
            </a:r>
            <a:r>
              <a:rPr b="0" baseline="-25000" i="0" lang="en-US" sz="1800" u="none">
                <a:solidFill>
                  <a:schemeClr val="dk1"/>
                </a:solidFill>
                <a:latin typeface="Tahoma"/>
                <a:ea typeface="Tahoma"/>
                <a:cs typeface="Tahoma"/>
                <a:sym typeface="Tahoma"/>
              </a:rPr>
              <a:t>5</a:t>
            </a:r>
            <a:r>
              <a:rPr b="0" i="0" lang="en-US" sz="1800" u="none">
                <a:solidFill>
                  <a:schemeClr val="dk1"/>
                </a:solidFill>
                <a:latin typeface="Tahoma"/>
                <a:ea typeface="Tahoma"/>
                <a:cs typeface="Tahoma"/>
                <a:sym typeface="Tahoma"/>
              </a:rPr>
              <a:t>: tin tạm xóa sau 24h</a:t>
            </a:r>
            <a:endParaRPr/>
          </a:p>
        </p:txBody>
      </p:sp>
      <p:sp>
        <p:nvSpPr>
          <p:cNvPr id="1004" name="Google Shape;1004;p61"/>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62"/>
          <p:cNvSpPr txBox="1"/>
          <p:nvPr>
            <p:ph type="title"/>
          </p:nvPr>
        </p:nvSpPr>
        <p:spPr>
          <a:xfrm>
            <a:off x="533400" y="88423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E2520"/>
              </a:buClr>
              <a:buSzPts val="2400"/>
              <a:buFont typeface="Arial"/>
              <a:buNone/>
            </a:pPr>
            <a:r>
              <a:rPr b="1" i="0" lang="en-US" sz="2400" u="none">
                <a:solidFill>
                  <a:srgbClr val="0E2520"/>
                </a:solidFill>
                <a:latin typeface="Arial"/>
                <a:ea typeface="Arial"/>
                <a:cs typeface="Arial"/>
                <a:sym typeface="Arial"/>
              </a:rPr>
              <a:t>Bài tập 2</a:t>
            </a:r>
            <a:endParaRPr/>
          </a:p>
        </p:txBody>
      </p:sp>
      <p:sp>
        <p:nvSpPr>
          <p:cNvPr id="1010" name="Google Shape;1010;p62"/>
          <p:cNvSpPr txBox="1"/>
          <p:nvPr>
            <p:ph idx="1" type="body"/>
          </p:nvPr>
        </p:nvSpPr>
        <p:spPr>
          <a:xfrm>
            <a:off x="838200" y="1457325"/>
            <a:ext cx="8077200" cy="524827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Một hệ thống quản lý học tập có chức năng cho phép đăng bài viết, một bài viết khi đăng mới chỉ được phép cập nhật hoặc xóa trong vòng 15 phút kể từ lúc submit đăng bài, sau khoảng thời gian này bài viết không được phép chính sửa hay xóa nửa và bài viết sẽ tự động được xuất bản trên hệ thống để người khác có thể đọc. </a:t>
            </a:r>
            <a:endParaRPr/>
          </a:p>
          <a:p>
            <a:pPr indent="0" lvl="0" marL="0" marR="0" rtl="0" algn="just">
              <a:lnSpc>
                <a:spcPct val="10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Ngoài ra, khi vừa soạn xong bài viết hoặc trong vòng 15 phút từ lúc submit bài viết, tác giả bài viết có quyền bấm nút “Publish” để xuất bản bài viết, và tất nhiên không được xóa hoặc cập nhật bài viết sau khi đã xuất bản. Sau khi một bài viết được xuất bản, tác giả bài viết muốn xóa hoặc cập nhật bài viết cần phải liên hệ với admin thực hiện. Chú ý sau khi admin chỉnh sửa bài viết đã xuất bản, bài viết đó vẫn ở trạng thái xuất bản để người khác đọc. </a:t>
            </a:r>
            <a:endParaRPr/>
          </a:p>
        </p:txBody>
      </p:sp>
      <p:sp>
        <p:nvSpPr>
          <p:cNvPr id="1011" name="Google Shape;1011;p62"/>
          <p:cNvSpPr txBox="1"/>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4.3.4. DỊCH CHUYỂN TRẠNG THÁI</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63"/>
          <p:cNvSpPr txBox="1"/>
          <p:nvPr>
            <p:ph type="title"/>
          </p:nvPr>
        </p:nvSpPr>
        <p:spPr>
          <a:xfrm>
            <a:off x="381000" y="319087"/>
            <a:ext cx="75438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4.4. MỘT SỐ LOẠI KIỂM THỬ HỘP ĐEN</a:t>
            </a:r>
            <a:endParaRPr/>
          </a:p>
        </p:txBody>
      </p:sp>
      <p:sp>
        <p:nvSpPr>
          <p:cNvPr id="1017" name="Google Shape;1017;p63"/>
          <p:cNvSpPr txBox="1"/>
          <p:nvPr>
            <p:ph idx="1" type="body"/>
          </p:nvPr>
        </p:nvSpPr>
        <p:spPr>
          <a:xfrm>
            <a:off x="1219200" y="1219200"/>
            <a:ext cx="7467600" cy="3800475"/>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4.4.1. Function testing</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4.4.2. Domain testing</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4.4.3. Stress testing</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4.4.4. Scenario testing</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4.4.5. User testing</a:t>
            </a:r>
            <a:endParaRPr/>
          </a:p>
          <a:p>
            <a:pPr indent="0" lvl="0" marL="0" marR="0" rtl="0" algn="l">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4.4.6. Regression testing</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64"/>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4.4.1. FUNCTION TESTING</a:t>
            </a:r>
            <a:endParaRPr/>
          </a:p>
        </p:txBody>
      </p:sp>
      <p:sp>
        <p:nvSpPr>
          <p:cNvPr id="1023" name="Google Shape;1023;p64"/>
          <p:cNvSpPr txBox="1"/>
          <p:nvPr>
            <p:ph idx="1" type="body"/>
          </p:nvPr>
        </p:nvSpPr>
        <p:spPr>
          <a:xfrm>
            <a:off x="914400" y="1219200"/>
            <a:ext cx="8001000" cy="5248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kiểm thử qua các chức năng. </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chức năng (function) là một công việc mà phần mềm có thể làm được.</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bước thực hiện</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các chức năng</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tiêu chuẩn biết chức năng đó làm việc đúng.</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Mỗi chức năng nên được kiểm thử ít nhất một lần.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65"/>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4.4.2. DOMAIN TESTING</a:t>
            </a:r>
            <a:endParaRPr/>
          </a:p>
        </p:txBody>
      </p:sp>
      <p:sp>
        <p:nvSpPr>
          <p:cNvPr id="1029" name="Google Shape;1029;p65"/>
          <p:cNvSpPr txBox="1"/>
          <p:nvPr>
            <p:ph idx="1" type="body"/>
          </p:nvPr>
        </p:nvSpPr>
        <p:spPr>
          <a:xfrm>
            <a:off x="762000" y="1076325"/>
            <a:ext cx="8229600" cy="4333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dựa trên chiến lược “chia để trị”</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Một miền (domain) là tập dữ liệu (test data) để kiểm thử. </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bước thực hiện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Phân tích giới hạn và các thuộc tính của mỗi miền.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sự kết hợp giữa các miền đề kiểm thử</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Chọn chiến lược test: exhaustive (đầy đủ), boundary (*biên), best representative (giá trị tốt nhất).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66"/>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4.4.3. STRESS TESTING</a:t>
            </a:r>
            <a:endParaRPr/>
          </a:p>
        </p:txBody>
      </p:sp>
      <p:sp>
        <p:nvSpPr>
          <p:cNvPr id="1035" name="Google Shape;1035;p66"/>
          <p:cNvSpPr txBox="1"/>
          <p:nvPr>
            <p:ph idx="1" type="body"/>
          </p:nvPr>
        </p:nvSpPr>
        <p:spPr>
          <a:xfrm>
            <a:off x="762000" y="914400"/>
            <a:ext cx="8229600" cy="4773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kiểm thử với điều kiện bất thường để xem ứng xử của phần mềm.</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bước thực hiện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Chọn mục muốn thực hiện stress test.</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dữ liệu và các thành phần liên quan.</a:t>
            </a:r>
            <a:endParaRPr/>
          </a:p>
          <a:p>
            <a:pPr indent="-285750" lvl="1" marL="742950" marR="0" rtl="0" algn="l">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Tạo dữ liệu (challenge data) và thực hiện cấu hình kiểm thử với: cấu trúc dữ liệu lớn và phức tạp, hoặc tải lớn (high load), ...</a:t>
            </a:r>
            <a:endParaRPr/>
          </a:p>
        </p:txBody>
      </p:sp>
      <p:pic>
        <p:nvPicPr>
          <p:cNvPr id="1036" name="Google Shape;1036;p66"/>
          <p:cNvPicPr preferRelativeResize="0"/>
          <p:nvPr/>
        </p:nvPicPr>
        <p:blipFill rotWithShape="1">
          <a:blip r:embed="rId3">
            <a:alphaModFix/>
          </a:blip>
          <a:srcRect b="0" l="0" r="0" t="0"/>
          <a:stretch/>
        </p:blipFill>
        <p:spPr>
          <a:xfrm>
            <a:off x="3124200" y="5376862"/>
            <a:ext cx="5287962" cy="148113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67"/>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4.4.4. SCENARIO TESTING</a:t>
            </a:r>
            <a:endParaRPr/>
          </a:p>
        </p:txBody>
      </p:sp>
      <p:sp>
        <p:nvSpPr>
          <p:cNvPr id="1042" name="Google Shape;1042;p67"/>
          <p:cNvSpPr txBox="1"/>
          <p:nvPr>
            <p:ph idx="1" type="body"/>
          </p:nvPr>
        </p:nvSpPr>
        <p:spPr>
          <a:xfrm>
            <a:off x="762000" y="1076325"/>
            <a:ext cx="8229600" cy="2962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Kiểm tra kịch bản (scenario) thực hiện bằng cách đặt các kịch bản sử dụng hệ thống và sử dụng nó để viết test case.</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Kịch bản (scenario) là một câu chuyện (story) mô tả cách thức mà hệ thống được sử dụng. </a:t>
            </a:r>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68"/>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4.4.5. USER TESTING</a:t>
            </a:r>
            <a:endParaRPr/>
          </a:p>
        </p:txBody>
      </p:sp>
      <p:sp>
        <p:nvSpPr>
          <p:cNvPr id="1048" name="Google Shape;1048;p68"/>
          <p:cNvSpPr txBox="1"/>
          <p:nvPr>
            <p:ph idx="1" type="body"/>
          </p:nvPr>
        </p:nvSpPr>
        <p:spPr>
          <a:xfrm>
            <a:off x="762000" y="1076325"/>
            <a:ext cx="8229600" cy="31908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người dùng kiểm thử sản phẩm.</a:t>
            </a:r>
            <a:endParaRPr/>
          </a:p>
          <a:p>
            <a:pPr indent="-342900" lvl="0" marL="342900" marR="0" rtl="0" algn="just">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Các bước thực hiện:</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Xác định danh mục người dùng.</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Arial"/>
                <a:ea typeface="Arial"/>
                <a:cs typeface="Arial"/>
                <a:sym typeface="Arial"/>
              </a:rPr>
              <a:t>Tìm người dùng nhờ kiểm thử hoặc hỗ trợ thiết kế test case.</a:t>
            </a:r>
            <a:endParaRPr/>
          </a:p>
          <a:p>
            <a:pPr indent="-190500" lvl="0" marL="342900" marR="0" rtl="0" algn="just">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69"/>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4.4.6. REGRESSION TESTING</a:t>
            </a:r>
            <a:endParaRPr/>
          </a:p>
        </p:txBody>
      </p:sp>
      <p:sp>
        <p:nvSpPr>
          <p:cNvPr id="1054" name="Google Shape;1054;p69"/>
          <p:cNvSpPr txBox="1"/>
          <p:nvPr>
            <p:ph idx="1" type="body"/>
          </p:nvPr>
        </p:nvSpPr>
        <p:spPr>
          <a:xfrm>
            <a:off x="762000" y="1076325"/>
            <a:ext cx="8229600" cy="4333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Ý tưởng: kiểm tra sự thay đổi</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Kiểm thử hồi quy (Regression testing) được thực hiện mỗi khi hệ thống có thay đổi, nhằm xác định sự thay đổi không ảnh hướng các chức năng đã được kiểm thử trước đó.</a:t>
            </a:r>
            <a:endParaRPr/>
          </a:p>
          <a:p>
            <a:pPr indent="-342900" lvl="0" marL="342900" marR="0" rtl="0" algn="l">
              <a:lnSpc>
                <a:spcPct val="150000"/>
              </a:lnSpc>
              <a:spcBef>
                <a:spcPts val="480"/>
              </a:spcBef>
              <a:spcAft>
                <a:spcPts val="0"/>
              </a:spcAft>
              <a:buClr>
                <a:schemeClr val="hlink"/>
              </a:buClr>
              <a:buSzPts val="2400"/>
              <a:buFont typeface="Noto Sans Symbols"/>
              <a:buChar char="✔"/>
            </a:pPr>
            <a:r>
              <a:rPr b="0" i="0" lang="en-US" sz="2400" u="none">
                <a:solidFill>
                  <a:schemeClr val="dk1"/>
                </a:solidFill>
                <a:latin typeface="Arial"/>
                <a:ea typeface="Arial"/>
                <a:cs typeface="Arial"/>
                <a:sym typeface="Arial"/>
              </a:rPr>
              <a:t>Kiểm thử hồi quy có thể thực hiện ở bất cứ mức độ kiểm thử nào.</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70"/>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4.4.6. REGRESSION TESTING</a:t>
            </a:r>
            <a:endParaRPr/>
          </a:p>
        </p:txBody>
      </p:sp>
      <p:sp>
        <p:nvSpPr>
          <p:cNvPr id="1060" name="Google Shape;1060;p70"/>
          <p:cNvSpPr txBox="1"/>
          <p:nvPr>
            <p:ph idx="1" type="body"/>
          </p:nvPr>
        </p:nvSpPr>
        <p:spPr>
          <a:xfrm>
            <a:off x="762000" y="1076325"/>
            <a:ext cx="8229600" cy="433387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BTVN</a:t>
            </a:r>
            <a:endParaRPr/>
          </a:p>
          <a:p>
            <a:pPr indent="0" lvl="0" marL="0" marR="0" rtl="0" algn="just">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1. Chức năng đăng ký tài khoản của một ứng dụng học tập yêu cầu mật khẩu phải có chứa chữ hoa, chữ thường, số, ký tự đặc biệt và chiều dài tối thiểu là 6.</a:t>
            </a:r>
            <a:endParaRPr/>
          </a:p>
          <a:p>
            <a:pPr indent="0" lvl="0" marL="0" marR="0" rtl="0" algn="just">
              <a:lnSpc>
                <a:spcPct val="150000"/>
              </a:lnSpc>
              <a:spcBef>
                <a:spcPts val="480"/>
              </a:spcBef>
              <a:spcAft>
                <a:spcPts val="0"/>
              </a:spcAft>
              <a:buClr>
                <a:schemeClr val="hlink"/>
              </a:buClr>
              <a:buSzPts val="2400"/>
              <a:buFont typeface="Noto Sans Symbols"/>
              <a:buNone/>
            </a:pPr>
            <a:r>
              <a:rPr b="0" i="1" lang="en-US" sz="2400" u="none">
                <a:solidFill>
                  <a:schemeClr val="dk1"/>
                </a:solidFill>
                <a:latin typeface="Arial"/>
                <a:ea typeface="Arial"/>
                <a:cs typeface="Arial"/>
                <a:sym typeface="Arial"/>
              </a:rPr>
              <a:t>Sử dụng kỹ thuật phân vùng tương đương viết các test case kiểm tra ô nhập liệu mật khẩu. </a:t>
            </a:r>
            <a:endParaRPr/>
          </a:p>
          <a:p>
            <a:pPr indent="0" lvl="0" marL="0" marR="0" rtl="0" algn="l">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1"/>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4.4.6. REGRESSION TESTING</a:t>
            </a:r>
            <a:endParaRPr/>
          </a:p>
        </p:txBody>
      </p:sp>
      <p:sp>
        <p:nvSpPr>
          <p:cNvPr id="1066" name="Google Shape;1066;p71"/>
          <p:cNvSpPr txBox="1"/>
          <p:nvPr>
            <p:ph idx="1" type="body"/>
          </p:nvPr>
        </p:nvSpPr>
        <p:spPr>
          <a:xfrm>
            <a:off x="762000" y="1076325"/>
            <a:ext cx="8229600" cy="433387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BTVN</a:t>
            </a:r>
            <a:endParaRPr/>
          </a:p>
          <a:p>
            <a:pPr indent="0" lvl="0" marL="0" marR="0" rtl="0" algn="just">
              <a:lnSpc>
                <a:spcPct val="150000"/>
              </a:lnSpc>
              <a:spcBef>
                <a:spcPts val="48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1. Chức năng đăng ký tài khoản của một ứng dụng học tập yêu cầu mật khẩu phải có chứa chữ hoa, chữ thường, số, ký tự đặc biệt và chiều dài tối thiểu là 6.</a:t>
            </a:r>
            <a:endParaRPr/>
          </a:p>
          <a:p>
            <a:pPr indent="0" lvl="0" marL="0" marR="0" rtl="0" algn="just">
              <a:lnSpc>
                <a:spcPct val="150000"/>
              </a:lnSpc>
              <a:spcBef>
                <a:spcPts val="480"/>
              </a:spcBef>
              <a:spcAft>
                <a:spcPts val="0"/>
              </a:spcAft>
              <a:buClr>
                <a:schemeClr val="hlink"/>
              </a:buClr>
              <a:buSzPts val="2400"/>
              <a:buFont typeface="Noto Sans Symbols"/>
              <a:buNone/>
            </a:pPr>
            <a:r>
              <a:rPr b="0" i="1" lang="en-US" sz="2400" u="none">
                <a:solidFill>
                  <a:schemeClr val="dk1"/>
                </a:solidFill>
                <a:latin typeface="Arial"/>
                <a:ea typeface="Arial"/>
                <a:cs typeface="Arial"/>
                <a:sym typeface="Arial"/>
              </a:rPr>
              <a:t>Sử dụng kỹ thuật phân vùng tương đương viết các test case kiểm tra ô nhập liệu mật khẩu. </a:t>
            </a:r>
            <a:endParaRPr/>
          </a:p>
          <a:p>
            <a:pPr indent="0" lvl="0" marL="0" marR="0" rtl="0" algn="l">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2"/>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4.4.6. REGRESSION TESTING</a:t>
            </a:r>
            <a:endParaRPr/>
          </a:p>
        </p:txBody>
      </p:sp>
      <p:sp>
        <p:nvSpPr>
          <p:cNvPr id="1072" name="Google Shape;1072;p72"/>
          <p:cNvSpPr txBox="1"/>
          <p:nvPr>
            <p:ph idx="1" type="body"/>
          </p:nvPr>
        </p:nvSpPr>
        <p:spPr>
          <a:xfrm>
            <a:off x="762000" y="1076325"/>
            <a:ext cx="8229600" cy="433387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hlink"/>
              </a:buClr>
              <a:buSzPts val="2400"/>
              <a:buFont typeface="Noto Sans Symbols"/>
              <a:buNone/>
            </a:pPr>
            <a:r>
              <a:rPr b="0" i="0" lang="en-US" sz="2400" u="none">
                <a:solidFill>
                  <a:schemeClr val="dk1"/>
                </a:solidFill>
                <a:latin typeface="Arial"/>
                <a:ea typeface="Arial"/>
                <a:cs typeface="Arial"/>
                <a:sym typeface="Arial"/>
              </a:rPr>
              <a:t>BTVN</a:t>
            </a:r>
            <a:endParaRPr/>
          </a:p>
          <a:p>
            <a:pPr indent="-152400" lvl="0" marL="0" marR="0" rtl="0" algn="l">
              <a:lnSpc>
                <a:spcPct val="150000"/>
              </a:lnSpc>
              <a:spcBef>
                <a:spcPts val="480"/>
              </a:spcBef>
              <a:spcAft>
                <a:spcPts val="0"/>
              </a:spcAft>
              <a:buClr>
                <a:schemeClr val="hlink"/>
              </a:buClr>
              <a:buSzPts val="2400"/>
              <a:buFont typeface="Arial"/>
              <a:buAutoNum type="arabicPeriod" startAt="2"/>
            </a:pPr>
            <a:r>
              <a:rPr b="0" i="0" lang="en-US" sz="2400" u="none">
                <a:solidFill>
                  <a:schemeClr val="dk1"/>
                </a:solidFill>
                <a:latin typeface="Arial"/>
                <a:ea typeface="Arial"/>
                <a:cs typeface="Arial"/>
                <a:sym typeface="Arial"/>
              </a:rPr>
              <a:t> Một hệ thống ngân hàng trực tuyến của ngân hàng ABC quy định không được chuyển khoản quá 10 triệu (tr) trong ngày, tối thiểu mỗi lần chuyển khoản là 1tr. </a:t>
            </a:r>
            <a:endParaRPr/>
          </a:p>
          <a:p>
            <a:pPr indent="-152400" lvl="0" marL="0" marR="0" rtl="0" algn="just">
              <a:lnSpc>
                <a:spcPct val="150000"/>
              </a:lnSpc>
              <a:spcBef>
                <a:spcPts val="480"/>
              </a:spcBef>
              <a:spcAft>
                <a:spcPts val="0"/>
              </a:spcAft>
              <a:buClr>
                <a:schemeClr val="hlink"/>
              </a:buClr>
              <a:buSzPts val="2400"/>
              <a:buFont typeface="Noto Sans Symbols"/>
              <a:buChar char="✔"/>
            </a:pPr>
            <a:r>
              <a:rPr b="0" i="1" lang="en-US" sz="2400" u="none">
                <a:solidFill>
                  <a:schemeClr val="dk1"/>
                </a:solidFill>
                <a:latin typeface="Arial"/>
                <a:ea typeface="Arial"/>
                <a:cs typeface="Arial"/>
                <a:sym typeface="Arial"/>
              </a:rPr>
              <a:t>Sử dụng phương pháp phân tích giá trị biên thiết kế test case để kiểm tra số tiền chuyển khoản của khách hàng A có được phép chuyển trong ngày hiện tại không?</a:t>
            </a:r>
            <a:endParaRPr/>
          </a:p>
          <a:p>
            <a:pPr indent="0" lvl="0" marL="0" marR="0" rtl="0" algn="l">
              <a:lnSpc>
                <a:spcPct val="150000"/>
              </a:lnSpc>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a:p>
            <a:pPr indent="-190500" lvl="0" marL="342900" marR="0" rtl="0" algn="l">
              <a:spcBef>
                <a:spcPts val="480"/>
              </a:spcBef>
              <a:spcAft>
                <a:spcPts val="0"/>
              </a:spcAft>
              <a:buClr>
                <a:schemeClr val="hlink"/>
              </a:buClr>
              <a:buSzPts val="2400"/>
              <a:buFont typeface="Noto Sans Symbols"/>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73"/>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4.4.6. REGRESSION TESTING</a:t>
            </a:r>
            <a:endParaRPr/>
          </a:p>
        </p:txBody>
      </p:sp>
      <p:sp>
        <p:nvSpPr>
          <p:cNvPr id="1078" name="Google Shape;1078;p73"/>
          <p:cNvSpPr txBox="1"/>
          <p:nvPr>
            <p:ph idx="1" type="body"/>
          </p:nvPr>
        </p:nvSpPr>
        <p:spPr>
          <a:xfrm>
            <a:off x="762000" y="1076325"/>
            <a:ext cx="8229600" cy="547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Bài 3: TPPM “ Quản lý hồ sơ nhân lực” với đặc tả chức năng như sau: sau mỗi lần nhận 1 hồ sơ xin việc, TPPM sẽ ra quyết định ban đầu dựa và tuổi của ứng viên theo bảng sau: </a:t>
            </a:r>
            <a:endParaRPr/>
          </a:p>
          <a:p>
            <a:pPr indent="0" lvl="0" marL="0" marR="0" rtl="0" algn="l">
              <a:lnSpc>
                <a:spcPct val="100000"/>
              </a:lnSpc>
              <a:spcBef>
                <a:spcPts val="44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 Tuổi ứng viên Kết quả sơ bộ </a:t>
            </a:r>
            <a:endParaRPr/>
          </a:p>
          <a:p>
            <a:pPr indent="0" lvl="0" marL="0" marR="0" rtl="0" algn="l">
              <a:lnSpc>
                <a:spcPct val="100000"/>
              </a:lnSpc>
              <a:spcBef>
                <a:spcPts val="44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 0-15 Không thuê </a:t>
            </a:r>
            <a:endParaRPr/>
          </a:p>
          <a:p>
            <a:pPr indent="0" lvl="0" marL="0" marR="0" rtl="0" algn="l">
              <a:lnSpc>
                <a:spcPct val="100000"/>
              </a:lnSpc>
              <a:spcBef>
                <a:spcPts val="44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 16-17 Thuê dạng bán thời gian </a:t>
            </a:r>
            <a:endParaRPr/>
          </a:p>
          <a:p>
            <a:pPr indent="0" lvl="0" marL="0" marR="0" rtl="0" algn="l">
              <a:lnSpc>
                <a:spcPct val="100000"/>
              </a:lnSpc>
              <a:spcBef>
                <a:spcPts val="44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 18-54 Thuê toàn thời gian </a:t>
            </a:r>
            <a:endParaRPr/>
          </a:p>
          <a:p>
            <a:pPr indent="0" lvl="0" marL="0" marR="0" rtl="0" algn="l">
              <a:lnSpc>
                <a:spcPct val="100000"/>
              </a:lnSpc>
              <a:spcBef>
                <a:spcPts val="440"/>
              </a:spcBef>
              <a:spcAft>
                <a:spcPts val="0"/>
              </a:spcAft>
              <a:buClr>
                <a:schemeClr val="hlink"/>
              </a:buClr>
              <a:buSzPts val="2200"/>
              <a:buFont typeface="Noto Sans Symbols"/>
              <a:buNone/>
            </a:pPr>
            <a:r>
              <a:rPr b="0" i="0" lang="en-US" sz="2200" u="none">
                <a:solidFill>
                  <a:schemeClr val="dk1"/>
                </a:solidFill>
                <a:latin typeface="Arial"/>
                <a:ea typeface="Arial"/>
                <a:cs typeface="Arial"/>
                <a:sym typeface="Arial"/>
              </a:rPr>
              <a:t>• 55-99 Không thuê </a:t>
            </a:r>
            <a:endParaRPr/>
          </a:p>
          <a:p>
            <a:pPr indent="-139700" lvl="0" marL="0" marR="0" rtl="0" algn="l">
              <a:lnSpc>
                <a:spcPct val="100000"/>
              </a:lnSpc>
              <a:spcBef>
                <a:spcPts val="440"/>
              </a:spcBef>
              <a:spcAft>
                <a:spcPts val="0"/>
              </a:spcAft>
              <a:buClr>
                <a:schemeClr val="hlink"/>
              </a:buClr>
              <a:buSzPts val="2200"/>
              <a:buFont typeface="Noto Sans Symbols"/>
              <a:buChar char="❖"/>
            </a:pPr>
            <a:r>
              <a:rPr b="0" i="0" lang="en-US" sz="2200" u="none">
                <a:solidFill>
                  <a:schemeClr val="dk1"/>
                </a:solidFill>
                <a:latin typeface="Arial"/>
                <a:ea typeface="Arial"/>
                <a:cs typeface="Arial"/>
                <a:sym typeface="Arial"/>
              </a:rPr>
              <a:t>Yc1: sử dụng bảng quyết định để đưa ra TC </a:t>
            </a:r>
            <a:endParaRPr/>
          </a:p>
          <a:p>
            <a:pPr indent="-139700" lvl="0" marL="0" marR="0" rtl="0" algn="l">
              <a:lnSpc>
                <a:spcPct val="100000"/>
              </a:lnSpc>
              <a:spcBef>
                <a:spcPts val="440"/>
              </a:spcBef>
              <a:spcAft>
                <a:spcPts val="0"/>
              </a:spcAft>
              <a:buClr>
                <a:schemeClr val="hlink"/>
              </a:buClr>
              <a:buSzPts val="2200"/>
              <a:buFont typeface="Noto Sans Symbols"/>
              <a:buChar char="❖"/>
            </a:pPr>
            <a:r>
              <a:rPr b="0" i="0" lang="en-US" sz="2200" u="none">
                <a:solidFill>
                  <a:schemeClr val="dk1"/>
                </a:solidFill>
                <a:latin typeface="Arial"/>
                <a:ea typeface="Arial"/>
                <a:cs typeface="Arial"/>
                <a:sym typeface="Arial"/>
              </a:rPr>
              <a:t>Yc2: phân vùng tương đương + pt giá trị biên + bảng quyết định =&gt; TC</a:t>
            </a:r>
            <a:endParaRPr/>
          </a:p>
          <a:p>
            <a:pPr indent="-139700" lvl="0" marL="0" marR="0" rtl="0" algn="l">
              <a:lnSpc>
                <a:spcPct val="100000"/>
              </a:lnSpc>
              <a:spcBef>
                <a:spcPts val="440"/>
              </a:spcBef>
              <a:spcAft>
                <a:spcPts val="0"/>
              </a:spcAft>
              <a:buClr>
                <a:schemeClr val="hlink"/>
              </a:buClr>
              <a:buSzPts val="2200"/>
              <a:buFont typeface="Noto Sans Symbols"/>
              <a:buChar char="❖"/>
            </a:pPr>
            <a:r>
              <a:rPr b="0" i="0" lang="en-US" sz="2200" u="none">
                <a:solidFill>
                  <a:schemeClr val="dk1"/>
                </a:solidFill>
                <a:latin typeface="Arial"/>
                <a:ea typeface="Arial"/>
                <a:cs typeface="Arial"/>
                <a:sym typeface="Arial"/>
              </a:rPr>
              <a:t>Bằng phương pháp phân hoạch tương đương và phân tích giá trị biên, hãy thiết kế các trường hợp kiểm thử cho TPPM trên.</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74"/>
          <p:cNvSpPr txBox="1"/>
          <p:nvPr>
            <p:ph type="title"/>
          </p:nvPr>
        </p:nvSpPr>
        <p:spPr>
          <a:xfrm>
            <a:off x="457200" y="319087"/>
            <a:ext cx="73914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Làm bài tập nhóm</a:t>
            </a:r>
            <a:endParaRPr/>
          </a:p>
        </p:txBody>
      </p:sp>
      <p:sp>
        <p:nvSpPr>
          <p:cNvPr id="1084" name="Google Shape;1084;p74"/>
          <p:cNvSpPr txBox="1"/>
          <p:nvPr>
            <p:ph idx="1" type="body"/>
          </p:nvPr>
        </p:nvSpPr>
        <p:spPr>
          <a:xfrm>
            <a:off x="762000" y="1076325"/>
            <a:ext cx="8229600" cy="547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hlink"/>
              </a:buClr>
              <a:buSzPts val="3600"/>
              <a:buFont typeface="Noto Sans Symbols"/>
              <a:buNone/>
            </a:pPr>
            <a:r>
              <a:rPr b="0" i="0" lang="en-US" sz="3600" u="none">
                <a:solidFill>
                  <a:schemeClr val="dk1"/>
                </a:solidFill>
                <a:latin typeface="Arial"/>
                <a:ea typeface="Arial"/>
                <a:cs typeface="Arial"/>
                <a:sym typeface="Arial"/>
              </a:rPr>
              <a:t>Chú ý: Mỗi nhóm chỉ nộp 1 file, đặt tên file là tên nhóm</a:t>
            </a:r>
            <a:endParaRPr/>
          </a:p>
          <a:p>
            <a:pPr indent="0" lvl="0" marL="0" marR="0" rtl="0" algn="l">
              <a:lnSpc>
                <a:spcPct val="100000"/>
              </a:lnSpc>
              <a:spcBef>
                <a:spcPts val="720"/>
              </a:spcBef>
              <a:spcAft>
                <a:spcPts val="0"/>
              </a:spcAft>
              <a:buClr>
                <a:schemeClr val="hlink"/>
              </a:buClr>
              <a:buSzPts val="3600"/>
              <a:buFont typeface="Noto Sans Symbols"/>
              <a:buNone/>
            </a:pPr>
            <a:r>
              <a:rPr b="0" i="0" lang="en-US" sz="3600" u="none">
                <a:solidFill>
                  <a:schemeClr val="dk1"/>
                </a:solidFill>
                <a:latin typeface="Arial"/>
                <a:ea typeface="Arial"/>
                <a:cs typeface="Arial"/>
                <a:sym typeface="Arial"/>
              </a:rPr>
              <a:t>Đại diện 1 người trong nhóm nộp thôi</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75"/>
          <p:cNvSpPr txBox="1"/>
          <p:nvPr/>
        </p:nvSpPr>
        <p:spPr>
          <a:xfrm>
            <a:off x="0" y="2514600"/>
            <a:ext cx="9144000" cy="6096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lt1"/>
              </a:buClr>
              <a:buSzPts val="4000"/>
              <a:buFont typeface="Arial"/>
              <a:buNone/>
            </a:pPr>
            <a:r>
              <a:rPr b="1" i="0" lang="en-US" sz="4000" u="none">
                <a:solidFill>
                  <a:schemeClr val="lt1"/>
                </a:solidFill>
                <a:latin typeface="Arial"/>
                <a:ea typeface="Arial"/>
                <a:cs typeface="Arial"/>
                <a:sym typeface="Arial"/>
              </a:rPr>
              <a:t>THIẾT KẾ TEST CASE BACKBOX</a:t>
            </a:r>
            <a:endParaRPr/>
          </a:p>
        </p:txBody>
      </p:sp>
      <p:sp>
        <p:nvSpPr>
          <p:cNvPr id="1090" name="Google Shape;1090;p75"/>
          <p:cNvSpPr txBox="1"/>
          <p:nvPr/>
        </p:nvSpPr>
        <p:spPr>
          <a:xfrm>
            <a:off x="76200" y="2190750"/>
            <a:ext cx="11080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Bài  4:</a:t>
            </a:r>
            <a:endParaRPr/>
          </a:p>
        </p:txBody>
      </p:sp>
      <p:sp>
        <p:nvSpPr>
          <p:cNvPr id="1091" name="Google Shape;1091;p75"/>
          <p:cNvSpPr txBox="1"/>
          <p:nvPr/>
        </p:nvSpPr>
        <p:spPr>
          <a:xfrm>
            <a:off x="2732087" y="3733800"/>
            <a:ext cx="4659312" cy="2216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3800"/>
              <a:buFont typeface="Arial"/>
              <a:buNone/>
            </a:pPr>
            <a:r>
              <a:rPr b="1" i="0" lang="en-US" sz="13800" u="none">
                <a:solidFill>
                  <a:srgbClr val="C00000"/>
                </a:solidFill>
                <a:latin typeface="Arial"/>
                <a:ea typeface="Arial"/>
                <a:cs typeface="Arial"/>
                <a:sym typeface="Arial"/>
              </a:rPr>
              <a:t>Q&amp;A</a:t>
            </a:r>
            <a:endParaRPr/>
          </a:p>
        </p:txBody>
      </p:sp>
      <p:pic>
        <p:nvPicPr>
          <p:cNvPr id="1092" name="Google Shape;1092;p75"/>
          <p:cNvPicPr preferRelativeResize="0"/>
          <p:nvPr/>
        </p:nvPicPr>
        <p:blipFill rotWithShape="1">
          <a:blip r:embed="rId3">
            <a:alphaModFix/>
          </a:blip>
          <a:srcRect b="0" l="0" r="0" t="0"/>
          <a:stretch/>
        </p:blipFill>
        <p:spPr>
          <a:xfrm>
            <a:off x="36512" y="0"/>
            <a:ext cx="3781425" cy="1209675"/>
          </a:xfrm>
          <a:prstGeom prst="rect">
            <a:avLst/>
          </a:prstGeom>
          <a:noFill/>
          <a:ln>
            <a:noFill/>
          </a:ln>
        </p:spPr>
      </p:pic>
      <p:sp>
        <p:nvSpPr>
          <p:cNvPr id="1093" name="Google Shape;1093;p75"/>
          <p:cNvSpPr txBox="1"/>
          <p:nvPr/>
        </p:nvSpPr>
        <p:spPr>
          <a:xfrm>
            <a:off x="0" y="1371600"/>
            <a:ext cx="91440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0000"/>
              </a:buClr>
              <a:buSzPts val="4000"/>
              <a:buFont typeface="Arial"/>
              <a:buNone/>
            </a:pPr>
            <a:r>
              <a:rPr b="1" i="0" lang="en-US" sz="4000" u="none">
                <a:solidFill>
                  <a:srgbClr val="FF0000"/>
                </a:solidFill>
                <a:latin typeface="Arial"/>
                <a:ea typeface="Arial"/>
                <a:cs typeface="Arial"/>
                <a:sym typeface="Arial"/>
              </a:rPr>
              <a:t>KIỂM THỬ PHẦN MỀM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7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9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8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3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4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5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2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6_cdb2004158l">
  <a:themeElements>
    <a:clrScheme name="cdb2004158l 1">
      <a:dk1>
        <a:srgbClr val="1D4940"/>
      </a:dk1>
      <a:lt1>
        <a:srgbClr val="FFFFFF"/>
      </a:lt1>
      <a:dk2>
        <a:srgbClr val="3F716F"/>
      </a:dk2>
      <a:lt2>
        <a:srgbClr val="C0C0C0"/>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2011-11-18T09:36:58Z</dcterms:created>
  <dc:creator>Thanh An</dc:creator>
</cp:coreProperties>
</file>
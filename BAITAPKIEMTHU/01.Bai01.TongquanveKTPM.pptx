
<file path=[Content_Types].xml><?xml version="1.0" encoding="utf-8"?>
<Types xmlns="http://schemas.openxmlformats.org/package/2006/content-types">
  <Default ContentType="image/jpeg" Extension="jpg"/>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0" r:id="rId6"/>
    <p:sldMasterId id="214748365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67" r:id="rId120"/>
    <p:sldId id="368" r:id="rId121"/>
    <p:sldId id="369" r:id="rId122"/>
    <p:sldId id="370" r:id="rId123"/>
    <p:sldId id="371" r:id="rId124"/>
    <p:sldId id="372" r:id="rId125"/>
    <p:sldId id="373" r:id="rId12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27" roundtripDataSignature="AMtx7mh03Ndat4+poMexW2k9iatOH2ds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50E6997-ECCD-4BAB-849E-128523D4728A}">
  <a:tblStyle styleId="{050E6997-ECCD-4BAB-849E-128523D4728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07" Type="http://schemas.openxmlformats.org/officeDocument/2006/relationships/slide" Target="slides/slide99.xml"/><Relationship Id="rId106" Type="http://schemas.openxmlformats.org/officeDocument/2006/relationships/slide" Target="slides/slide98.xml"/><Relationship Id="rId105" Type="http://schemas.openxmlformats.org/officeDocument/2006/relationships/slide" Target="slides/slide97.xml"/><Relationship Id="rId104" Type="http://schemas.openxmlformats.org/officeDocument/2006/relationships/slide" Target="slides/slide96.xml"/><Relationship Id="rId109" Type="http://schemas.openxmlformats.org/officeDocument/2006/relationships/slide" Target="slides/slide101.xml"/><Relationship Id="rId108" Type="http://schemas.openxmlformats.org/officeDocument/2006/relationships/slide" Target="slides/slide100.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3" Type="http://schemas.openxmlformats.org/officeDocument/2006/relationships/slide" Target="slides/slide95.xml"/><Relationship Id="rId102" Type="http://schemas.openxmlformats.org/officeDocument/2006/relationships/slide" Target="slides/slide94.xml"/><Relationship Id="rId101" Type="http://schemas.openxmlformats.org/officeDocument/2006/relationships/slide" Target="slides/slide93.xml"/><Relationship Id="rId100" Type="http://schemas.openxmlformats.org/officeDocument/2006/relationships/slide" Target="slides/slide92.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27" Type="http://customschemas.google.com/relationships/presentationmetadata" Target="metadata"/><Relationship Id="rId126" Type="http://schemas.openxmlformats.org/officeDocument/2006/relationships/slide" Target="slides/slide118.xml"/><Relationship Id="rId26" Type="http://schemas.openxmlformats.org/officeDocument/2006/relationships/slide" Target="slides/slide18.xml"/><Relationship Id="rId121" Type="http://schemas.openxmlformats.org/officeDocument/2006/relationships/slide" Target="slides/slide113.xml"/><Relationship Id="rId25" Type="http://schemas.openxmlformats.org/officeDocument/2006/relationships/slide" Target="slides/slide17.xml"/><Relationship Id="rId120" Type="http://schemas.openxmlformats.org/officeDocument/2006/relationships/slide" Target="slides/slide112.xml"/><Relationship Id="rId28" Type="http://schemas.openxmlformats.org/officeDocument/2006/relationships/slide" Target="slides/slide20.xml"/><Relationship Id="rId27" Type="http://schemas.openxmlformats.org/officeDocument/2006/relationships/slide" Target="slides/slide19.xml"/><Relationship Id="rId125" Type="http://schemas.openxmlformats.org/officeDocument/2006/relationships/slide" Target="slides/slide117.xml"/><Relationship Id="rId29" Type="http://schemas.openxmlformats.org/officeDocument/2006/relationships/slide" Target="slides/slide21.xml"/><Relationship Id="rId124" Type="http://schemas.openxmlformats.org/officeDocument/2006/relationships/slide" Target="slides/slide116.xml"/><Relationship Id="rId123" Type="http://schemas.openxmlformats.org/officeDocument/2006/relationships/slide" Target="slides/slide115.xml"/><Relationship Id="rId122" Type="http://schemas.openxmlformats.org/officeDocument/2006/relationships/slide" Target="slides/slide114.xml"/><Relationship Id="rId95" Type="http://schemas.openxmlformats.org/officeDocument/2006/relationships/slide" Target="slides/slide87.xml"/><Relationship Id="rId94" Type="http://schemas.openxmlformats.org/officeDocument/2006/relationships/slide" Target="slides/slide86.xml"/><Relationship Id="rId97" Type="http://schemas.openxmlformats.org/officeDocument/2006/relationships/slide" Target="slides/slide89.xml"/><Relationship Id="rId96" Type="http://schemas.openxmlformats.org/officeDocument/2006/relationships/slide" Target="slides/slide88.xml"/><Relationship Id="rId11" Type="http://schemas.openxmlformats.org/officeDocument/2006/relationships/slide" Target="slides/slide3.xml"/><Relationship Id="rId99" Type="http://schemas.openxmlformats.org/officeDocument/2006/relationships/slide" Target="slides/slide91.xml"/><Relationship Id="rId10" Type="http://schemas.openxmlformats.org/officeDocument/2006/relationships/slide" Target="slides/slide2.xml"/><Relationship Id="rId98" Type="http://schemas.openxmlformats.org/officeDocument/2006/relationships/slide" Target="slides/slide90.xml"/><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slide" Target="slides/slide85.xml"/><Relationship Id="rId92" Type="http://schemas.openxmlformats.org/officeDocument/2006/relationships/slide" Target="slides/slide84.xml"/><Relationship Id="rId118" Type="http://schemas.openxmlformats.org/officeDocument/2006/relationships/slide" Target="slides/slide110.xml"/><Relationship Id="rId117" Type="http://schemas.openxmlformats.org/officeDocument/2006/relationships/slide" Target="slides/slide109.xml"/><Relationship Id="rId116" Type="http://schemas.openxmlformats.org/officeDocument/2006/relationships/slide" Target="slides/slide108.xml"/><Relationship Id="rId115" Type="http://schemas.openxmlformats.org/officeDocument/2006/relationships/slide" Target="slides/slide107.xml"/><Relationship Id="rId119" Type="http://schemas.openxmlformats.org/officeDocument/2006/relationships/slide" Target="slides/slide111.xml"/><Relationship Id="rId15" Type="http://schemas.openxmlformats.org/officeDocument/2006/relationships/slide" Target="slides/slide7.xml"/><Relationship Id="rId110" Type="http://schemas.openxmlformats.org/officeDocument/2006/relationships/slide" Target="slides/slide102.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14" Type="http://schemas.openxmlformats.org/officeDocument/2006/relationships/slide" Target="slides/slide106.xml"/><Relationship Id="rId18" Type="http://schemas.openxmlformats.org/officeDocument/2006/relationships/slide" Target="slides/slide10.xml"/><Relationship Id="rId113" Type="http://schemas.openxmlformats.org/officeDocument/2006/relationships/slide" Target="slides/slide105.xml"/><Relationship Id="rId112" Type="http://schemas.openxmlformats.org/officeDocument/2006/relationships/slide" Target="slides/slide104.xml"/><Relationship Id="rId111" Type="http://schemas.openxmlformats.org/officeDocument/2006/relationships/slide" Target="slides/slide103.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81" name="Google Shape;581;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6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0" name="Google Shape;590;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 name="Google Shape;597;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1" name="Google Shape;611;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 name="Google Shape;618;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7" name="Google Shape;627;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36" name="Google Shape;636;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637" name="Google Shape;637;p6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44" name="Google Shape;644;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645" name="Google Shape;645;p7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52" name="Google Shape;652;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653" name="Google Shape;653;p7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60" name="Google Shape;660;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661" name="Google Shape;661;p7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68" name="Google Shape;668;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669" name="Google Shape;669;p7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76" name="Google Shape;676;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677" name="Google Shape;677;p7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84" name="Google Shape;684;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685" name="Google Shape;685;p7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92" name="Google Shape;692;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693" name="Google Shape;693;p7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00" name="Google Shape;700;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701" name="Google Shape;701;p7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08" name="Google Shape;708;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709" name="Google Shape;709;p7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16" name="Google Shape;716;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717" name="Google Shape;717;p7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24" name="Google Shape;724;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725" name="Google Shape;725;p8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32" name="Google Shape;732;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733" name="Google Shape;733;p8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40" name="Google Shape;740;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741" name="Google Shape;741;p8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48" name="Google Shape;748;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749" name="Google Shape;749;p8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56" name="Google Shape;756;p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757" name="Google Shape;757;p8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64" name="Google Shape;764;p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765" name="Google Shape;765;p8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72" name="Google Shape;772;p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773" name="Google Shape;773;p8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80" name="Google Shape;780;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781" name="Google Shape;781;p8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88" name="Google Shape;788;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789" name="Google Shape;789;p8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96" name="Google Shape;796;p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797" name="Google Shape;797;p8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04" name="Google Shape;804;p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805" name="Google Shape;805;p9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12" name="Google Shape;812;p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813" name="Google Shape;813;p9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20" name="Google Shape;820;p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821" name="Google Shape;821;p9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28" name="Google Shape;828;p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829" name="Google Shape;829;p9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36" name="Google Shape;836;p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837" name="Google Shape;837;p9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44" name="Google Shape;844;p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845" name="Google Shape;845;p9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52" name="Google Shape;852;p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853" name="Google Shape;853;p9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60" name="Google Shape;860;p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861" name="Google Shape;861;p9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68" name="Google Shape;868;p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869" name="Google Shape;869;p9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76" name="Google Shape;876;p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877" name="Google Shape;877;p9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84" name="Google Shape;884;p1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885" name="Google Shape;885;p10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92" name="Google Shape;892;p1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893" name="Google Shape;893;p10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00" name="Google Shape;900;p1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901" name="Google Shape;901;p10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08" name="Google Shape;908;p1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909" name="Google Shape;909;p10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16" name="Google Shape;916;p1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917" name="Google Shape;917;p10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24" name="Google Shape;924;p1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925" name="Google Shape;925;p10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32" name="Google Shape;932;p1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933" name="Google Shape;933;p10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40" name="Google Shape;940;p1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941" name="Google Shape;941;p10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48" name="Google Shape;948;p1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949" name="Google Shape;949;p10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56" name="Google Shape;956;p1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957" name="Google Shape;957;p10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64" name="Google Shape;964;p1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965" name="Google Shape;965;p1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p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72" name="Google Shape;972;p1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973" name="Google Shape;973;p1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80" name="Google Shape;980;p1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981" name="Google Shape;981;p1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1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88" name="Google Shape;988;p1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989" name="Google Shape;989;p1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p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96" name="Google Shape;996;p1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997" name="Google Shape;997;p1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p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04" name="Google Shape;1004;p1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1005" name="Google Shape;1005;p1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12" name="Google Shape;1012;p1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1013" name="Google Shape;1013;p1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1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20" name="Google Shape;1020;p1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t>
            </a:r>
            <a:endParaRPr/>
          </a:p>
        </p:txBody>
      </p:sp>
      <p:sp>
        <p:nvSpPr>
          <p:cNvPr id="1021" name="Google Shape;1021;p1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28" name="Google Shape;1028;p1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D</a:t>
            </a:r>
            <a:endParaRPr/>
          </a:p>
        </p:txBody>
      </p:sp>
      <p:sp>
        <p:nvSpPr>
          <p:cNvPr id="1029" name="Google Shape;1029;p1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Tree>
  </p:cSld>
  <p:clrMapOvr>
    <a:masterClrMapping/>
  </p:clrMapOvr>
  <p:transition advTm="25000" spd="slow">
    <p:randomBar dir="vert"/>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123"/>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123"/>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123"/>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23"/>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23"/>
          <p:cNvSpPr txBox="1"/>
          <p:nvPr>
            <p:ph idx="12" type="sldNum"/>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25000" spd="slow">
    <p:randomBar dir="vert"/>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3" name="Shape 43"/>
        <p:cNvGrpSpPr/>
        <p:nvPr/>
      </p:nvGrpSpPr>
      <p:grpSpPr>
        <a:xfrm>
          <a:off x="0" y="0"/>
          <a:ext cx="0" cy="0"/>
          <a:chOff x="0" y="0"/>
          <a:chExt cx="0" cy="0"/>
        </a:xfrm>
      </p:grpSpPr>
      <p:sp>
        <p:nvSpPr>
          <p:cNvPr id="44" name="Google Shape;44;p125"/>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125"/>
          <p:cNvSpPr txBox="1"/>
          <p:nvPr>
            <p:ph idx="1" type="body"/>
          </p:nvPr>
        </p:nvSpPr>
        <p:spPr>
          <a:xfrm rot="5400000">
            <a:off x="1947863" y="-414337"/>
            <a:ext cx="5248275"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 name="Google Shape;46;p125"/>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25"/>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25"/>
          <p:cNvSpPr txBox="1"/>
          <p:nvPr>
            <p:ph idx="12" type="sldNum"/>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25000" spd="slow">
    <p:randomBar dir="vert"/>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9" name="Shape 49"/>
        <p:cNvGrpSpPr/>
        <p:nvPr/>
      </p:nvGrpSpPr>
      <p:grpSpPr>
        <a:xfrm>
          <a:off x="0" y="0"/>
          <a:ext cx="0" cy="0"/>
          <a:chOff x="0" y="0"/>
          <a:chExt cx="0" cy="0"/>
        </a:xfrm>
      </p:grpSpPr>
      <p:sp>
        <p:nvSpPr>
          <p:cNvPr id="50" name="Google Shape;50;p126"/>
          <p:cNvSpPr txBox="1"/>
          <p:nvPr>
            <p:ph type="title"/>
          </p:nvPr>
        </p:nvSpPr>
        <p:spPr>
          <a:xfrm rot="5400000">
            <a:off x="4655344" y="2293144"/>
            <a:ext cx="6005512"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126"/>
          <p:cNvSpPr txBox="1"/>
          <p:nvPr>
            <p:ph idx="1" type="body"/>
          </p:nvPr>
        </p:nvSpPr>
        <p:spPr>
          <a:xfrm rot="5400000">
            <a:off x="464344" y="311944"/>
            <a:ext cx="6005512"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2" name="Google Shape;52;p126"/>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6"/>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26"/>
          <p:cNvSpPr txBox="1"/>
          <p:nvPr>
            <p:ph idx="12" type="sldNum"/>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25000" spd="slow">
    <p:randomBar dir="vert"/>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1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127"/>
          <p:cNvSpPr/>
          <p:nvPr>
            <p:ph idx="2" type="pic"/>
          </p:nvPr>
        </p:nvSpPr>
        <p:spPr>
          <a:xfrm>
            <a:off x="1792288" y="612775"/>
            <a:ext cx="5486400" cy="4114800"/>
          </a:xfrm>
          <a:prstGeom prst="rect">
            <a:avLst/>
          </a:prstGeom>
          <a:noFill/>
          <a:ln>
            <a:noFill/>
          </a:ln>
        </p:spPr>
      </p:sp>
      <p:sp>
        <p:nvSpPr>
          <p:cNvPr id="58" name="Google Shape;58;p1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400"/>
              <a:buNone/>
              <a:defRPr sz="14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9" name="Google Shape;59;p127"/>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7"/>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27"/>
          <p:cNvSpPr txBox="1"/>
          <p:nvPr>
            <p:ph idx="12" type="sldNum"/>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25000" spd="slow">
    <p:randomBar dir="vert"/>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12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12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SzPts val="3200"/>
              <a:buChar char="❖"/>
              <a:defRPr sz="3200"/>
            </a:lvl1pPr>
            <a:lvl2pPr indent="-406400" lvl="1" marL="914400" algn="l">
              <a:spcBef>
                <a:spcPts val="560"/>
              </a:spcBef>
              <a:spcAft>
                <a:spcPts val="0"/>
              </a:spcAft>
              <a:buSzPts val="2800"/>
              <a:buChar char="▪"/>
              <a:defRPr sz="2800"/>
            </a:lvl2pPr>
            <a:lvl3pPr indent="-381000" lvl="2" marL="1371600" algn="l">
              <a:spcBef>
                <a:spcPts val="480"/>
              </a:spcBef>
              <a:spcAft>
                <a:spcPts val="0"/>
              </a:spcAft>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65" name="Google Shape;65;p12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400"/>
              <a:buNone/>
              <a:defRPr sz="14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66" name="Google Shape;66;p128"/>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28"/>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28"/>
          <p:cNvSpPr txBox="1"/>
          <p:nvPr>
            <p:ph idx="12" type="sldNum"/>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25000" spd="slow">
    <p:randomBar dir="vert"/>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9" name="Shape 69"/>
        <p:cNvGrpSpPr/>
        <p:nvPr/>
      </p:nvGrpSpPr>
      <p:grpSpPr>
        <a:xfrm>
          <a:off x="0" y="0"/>
          <a:ext cx="0" cy="0"/>
          <a:chOff x="0" y="0"/>
          <a:chExt cx="0" cy="0"/>
        </a:xfrm>
      </p:grpSpPr>
      <p:sp>
        <p:nvSpPr>
          <p:cNvPr id="70" name="Google Shape;70;p129"/>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29"/>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29"/>
          <p:cNvSpPr txBox="1"/>
          <p:nvPr>
            <p:ph idx="12" type="sldNum"/>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25000" spd="slow">
    <p:randomBar dir="vert"/>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130"/>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 name="Google Shape;75;p130"/>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30"/>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30"/>
          <p:cNvSpPr txBox="1"/>
          <p:nvPr>
            <p:ph idx="12" type="sldNum"/>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25000" spd="slow">
    <p:randomBar dir="vert"/>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8" name="Shape 78"/>
        <p:cNvGrpSpPr/>
        <p:nvPr/>
      </p:nvGrpSpPr>
      <p:grpSpPr>
        <a:xfrm>
          <a:off x="0" y="0"/>
          <a:ext cx="0" cy="0"/>
          <a:chOff x="0" y="0"/>
          <a:chExt cx="0" cy="0"/>
        </a:xfrm>
      </p:grpSpPr>
      <p:sp>
        <p:nvSpPr>
          <p:cNvPr id="79" name="Google Shape;79;p1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3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81" name="Google Shape;81;p13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82" name="Google Shape;82;p13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83" name="Google Shape;83;p13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84" name="Google Shape;84;p131"/>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31"/>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31"/>
          <p:cNvSpPr txBox="1"/>
          <p:nvPr>
            <p:ph idx="12" type="sldNum"/>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25000" spd="slow">
    <p:randomBar dir="vert"/>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7" name="Shape 87"/>
        <p:cNvGrpSpPr/>
        <p:nvPr/>
      </p:nvGrpSpPr>
      <p:grpSpPr>
        <a:xfrm>
          <a:off x="0" y="0"/>
          <a:ext cx="0" cy="0"/>
          <a:chOff x="0" y="0"/>
          <a:chExt cx="0" cy="0"/>
        </a:xfrm>
      </p:grpSpPr>
      <p:sp>
        <p:nvSpPr>
          <p:cNvPr id="88" name="Google Shape;88;p132"/>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9" name="Google Shape;89;p132"/>
          <p:cNvSpPr txBox="1"/>
          <p:nvPr>
            <p:ph idx="1" type="body"/>
          </p:nvPr>
        </p:nvSpPr>
        <p:spPr>
          <a:xfrm>
            <a:off x="457200" y="1076325"/>
            <a:ext cx="4038600" cy="5248275"/>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90" name="Google Shape;90;p132"/>
          <p:cNvSpPr txBox="1"/>
          <p:nvPr>
            <p:ph idx="2" type="body"/>
          </p:nvPr>
        </p:nvSpPr>
        <p:spPr>
          <a:xfrm>
            <a:off x="4648200" y="1076325"/>
            <a:ext cx="4038600" cy="5248275"/>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91" name="Google Shape;91;p132"/>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32"/>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32"/>
          <p:cNvSpPr txBox="1"/>
          <p:nvPr>
            <p:ph idx="12" type="sldNum"/>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25000" spd="slow">
    <p:randomBar dir="vert"/>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13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6" name="Google Shape;96;p13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SzPts val="2000"/>
              <a:buNone/>
              <a:defRPr sz="2000"/>
            </a:lvl1pPr>
            <a:lvl2pPr indent="-228600" lvl="1" marL="914400" algn="l">
              <a:spcBef>
                <a:spcPts val="360"/>
              </a:spcBef>
              <a:spcAft>
                <a:spcPts val="0"/>
              </a:spcAft>
              <a:buSzPts val="1800"/>
              <a:buNone/>
              <a:defRPr sz="1800"/>
            </a:lvl2pPr>
            <a:lvl3pPr indent="-228600" lvl="2" marL="1371600" algn="l">
              <a:spcBef>
                <a:spcPts val="320"/>
              </a:spcBef>
              <a:spcAft>
                <a:spcPts val="0"/>
              </a:spcAft>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97" name="Google Shape;97;p133"/>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33"/>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33"/>
          <p:cNvSpPr txBox="1"/>
          <p:nvPr>
            <p:ph idx="12" type="sldNum"/>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25000" spd="slow">
    <p:randomBar dir="vert"/>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10" Type="http://schemas.openxmlformats.org/officeDocument/2006/relationships/theme" Target="../theme/theme1.xml"/><Relationship Id="rId9" Type="http://schemas.openxmlformats.org/officeDocument/2006/relationships/slideLayout" Target="../slideLayouts/slideLayout11.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descr="Light horizontal" id="10" name="Google Shape;10;p120"/>
          <p:cNvSpPr txBox="1"/>
          <p:nvPr/>
        </p:nvSpPr>
        <p:spPr>
          <a:xfrm>
            <a:off x="9525" y="0"/>
            <a:ext cx="14732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 name="Google Shape;11;p120"/>
          <p:cNvSpPr txBox="1"/>
          <p:nvPr/>
        </p:nvSpPr>
        <p:spPr>
          <a:xfrm>
            <a:off x="0" y="2133600"/>
            <a:ext cx="9153525" cy="117951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 name="Google Shape;12;p120"/>
          <p:cNvSpPr/>
          <p:nvPr/>
        </p:nvSpPr>
        <p:spPr>
          <a:xfrm>
            <a:off x="79375" y="6400800"/>
            <a:ext cx="365125" cy="36512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fld id="{00000000-1234-1234-1234-123412341234}" type="slidenum">
              <a:rPr b="0" i="0" lang="en-US" sz="1600" u="none">
                <a:solidFill>
                  <a:schemeClr val="lt1"/>
                </a:solidFill>
                <a:latin typeface="Arial"/>
                <a:ea typeface="Arial"/>
                <a:cs typeface="Arial"/>
                <a:sym typeface="Arial"/>
              </a:rPr>
              <a:t>‹#›</a:t>
            </a:fld>
            <a:endParaRPr/>
          </a:p>
        </p:txBody>
      </p:sp>
      <p:sp>
        <p:nvSpPr>
          <p:cNvPr id="13" name="Google Shape;13;p120"/>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hlink"/>
              </a:buClr>
              <a:buSzPts val="3200"/>
              <a:buFont typeface="Noto Sans Symbols"/>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accent1"/>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4" name="Google Shape;14;p120"/>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1pPr>
            <a:lvl2pPr lvl="1"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2pPr>
            <a:lvl3pPr lvl="2"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3pPr>
            <a:lvl4pPr lvl="3"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4pPr>
            <a:lvl5pPr lvl="4"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5pPr>
            <a:lvl6pPr lvl="5"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6pPr>
            <a:lvl7pPr lvl="6"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7pPr>
            <a:lvl8pPr lvl="7"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8pPr>
            <a:lvl9pPr lvl="8"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Lst>
  <p:transition advTm="25000">
    <p:randomBar dir="vert"/>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descr="Light horizontal" id="17" name="Google Shape;17;p122"/>
          <p:cNvSpPr txBox="1"/>
          <p:nvPr/>
        </p:nvSpPr>
        <p:spPr>
          <a:xfrm>
            <a:off x="-9525" y="0"/>
            <a:ext cx="48101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 name="Google Shape;18;p122"/>
          <p:cNvSpPr txBox="1"/>
          <p:nvPr/>
        </p:nvSpPr>
        <p:spPr>
          <a:xfrm>
            <a:off x="0" y="0"/>
            <a:ext cx="9153525"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 name="Google Shape;19;p122"/>
          <p:cNvSpPr/>
          <p:nvPr/>
        </p:nvSpPr>
        <p:spPr>
          <a:xfrm>
            <a:off x="304800" y="288925"/>
            <a:ext cx="7670800" cy="644525"/>
          </a:xfrm>
          <a:prstGeom prst="roundRect">
            <a:avLst>
              <a:gd fmla="val 16667" name="adj"/>
            </a:avLst>
          </a:prstGeom>
          <a:solidFill>
            <a:schemeClr val="dk1"/>
          </a:solid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 name="Google Shape;20;p122"/>
          <p:cNvSpPr/>
          <p:nvPr/>
        </p:nvSpPr>
        <p:spPr>
          <a:xfrm>
            <a:off x="79375" y="6400800"/>
            <a:ext cx="365125" cy="36512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fld id="{00000000-1234-1234-1234-123412341234}" type="slidenum">
              <a:rPr b="0" i="0" lang="en-US" sz="1600" u="none">
                <a:solidFill>
                  <a:schemeClr val="lt1"/>
                </a:solidFill>
                <a:latin typeface="Arial"/>
                <a:ea typeface="Arial"/>
                <a:cs typeface="Arial"/>
                <a:sym typeface="Arial"/>
              </a:rPr>
              <a:t>‹#›</a:t>
            </a:fld>
            <a:endParaRPr/>
          </a:p>
        </p:txBody>
      </p:sp>
      <p:sp>
        <p:nvSpPr>
          <p:cNvPr id="21" name="Google Shape;21;p122"/>
          <p:cNvSpPr txBox="1"/>
          <p:nvPr/>
        </p:nvSpPr>
        <p:spPr>
          <a:xfrm rot="-5400000">
            <a:off x="-1834356" y="3199606"/>
            <a:ext cx="4038600"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KIỂM THỬ PHẦN MỀ PHẦN MỀM</a:t>
            </a:r>
            <a:endParaRPr/>
          </a:p>
        </p:txBody>
      </p:sp>
      <p:sp>
        <p:nvSpPr>
          <p:cNvPr id="22" name="Google Shape;22;p122"/>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hlink"/>
              </a:buClr>
              <a:buSzPts val="3200"/>
              <a:buFont typeface="Noto Sans Symbols"/>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accent1"/>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3" name="Google Shape;23;p122"/>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1pPr>
            <a:lvl2pPr lvl="1"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2pPr>
            <a:lvl3pPr lvl="2"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3pPr>
            <a:lvl4pPr lvl="3"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4pPr>
            <a:lvl5pPr lvl="4"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5pPr>
            <a:lvl6pPr lvl="5"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6pPr>
            <a:lvl7pPr lvl="6"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7pPr>
            <a:lvl8pPr lvl="7"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8pPr>
            <a:lvl9pPr lvl="8"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9pPr>
          </a:lstStyle>
          <a:p/>
        </p:txBody>
      </p:sp>
      <p:sp>
        <p:nvSpPr>
          <p:cNvPr id="24" name="Google Shape;24;p122"/>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5" name="Google Shape;25;p122"/>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6" name="Google Shape;26;p122"/>
          <p:cNvSpPr txBox="1"/>
          <p:nvPr>
            <p:ph idx="12" type="sldNum"/>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51" r:id="rId1"/>
  </p:sldLayoutIdLst>
  <p:transition advTm="25000">
    <p:randomBar dir="vert"/>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 name="Shape 33"/>
        <p:cNvGrpSpPr/>
        <p:nvPr/>
      </p:nvGrpSpPr>
      <p:grpSpPr>
        <a:xfrm>
          <a:off x="0" y="0"/>
          <a:ext cx="0" cy="0"/>
          <a:chOff x="0" y="0"/>
          <a:chExt cx="0" cy="0"/>
        </a:xfrm>
      </p:grpSpPr>
      <p:sp>
        <p:nvSpPr>
          <p:cNvPr descr="Light horizontal" id="34" name="Google Shape;34;p124"/>
          <p:cNvSpPr txBox="1"/>
          <p:nvPr/>
        </p:nvSpPr>
        <p:spPr>
          <a:xfrm>
            <a:off x="-9525" y="0"/>
            <a:ext cx="48101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 name="Google Shape;35;p124"/>
          <p:cNvSpPr txBox="1"/>
          <p:nvPr/>
        </p:nvSpPr>
        <p:spPr>
          <a:xfrm>
            <a:off x="0" y="0"/>
            <a:ext cx="9153525"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 name="Google Shape;36;p124"/>
          <p:cNvSpPr/>
          <p:nvPr/>
        </p:nvSpPr>
        <p:spPr>
          <a:xfrm>
            <a:off x="304800" y="288925"/>
            <a:ext cx="7670800" cy="644525"/>
          </a:xfrm>
          <a:prstGeom prst="roundRect">
            <a:avLst>
              <a:gd fmla="val 16667" name="adj"/>
            </a:avLst>
          </a:prstGeom>
          <a:solidFill>
            <a:schemeClr val="dk1"/>
          </a:solid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 name="Google Shape;37;p124"/>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hlink"/>
              </a:buClr>
              <a:buSzPts val="3200"/>
              <a:buFont typeface="Noto Sans Symbols"/>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accent1"/>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8" name="Google Shape;38;p124"/>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9" name="Google Shape;39;p124"/>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0" name="Google Shape;40;p124"/>
          <p:cNvSpPr txBox="1"/>
          <p:nvPr>
            <p:ph idx="12" type="sldNum"/>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
        <p:nvSpPr>
          <p:cNvPr id="41" name="Google Shape;41;p124"/>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1pPr>
            <a:lvl2pPr lvl="1"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2pPr>
            <a:lvl3pPr lvl="2"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3pPr>
            <a:lvl4pPr lvl="3"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4pPr>
            <a:lvl5pPr lvl="4"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5pPr>
            <a:lvl6pPr lvl="5"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6pPr>
            <a:lvl7pPr lvl="6"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7pPr>
            <a:lvl8pPr lvl="7"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8pPr>
            <a:lvl9pPr lvl="8"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9pPr>
          </a:lstStyle>
          <a:p/>
        </p:txBody>
      </p:sp>
      <p:sp>
        <p:nvSpPr>
          <p:cNvPr id="42" name="Google Shape;42;p124"/>
          <p:cNvSpPr/>
          <p:nvPr/>
        </p:nvSpPr>
        <p:spPr>
          <a:xfrm>
            <a:off x="79375" y="6400800"/>
            <a:ext cx="365125" cy="36512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fld id="{00000000-1234-1234-1234-123412341234}" type="slidenum">
              <a:rPr b="0" i="0" lang="en-US" sz="1600" u="none">
                <a:solidFill>
                  <a:schemeClr val="lt1"/>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Lst>
  <p:transition advTm="25000">
    <p:randomBar dir="vert"/>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image" Target="../media/image15.png"/><Relationship Id="rId6"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2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9.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2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2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
          <p:cNvSpPr txBox="1"/>
          <p:nvPr/>
        </p:nvSpPr>
        <p:spPr>
          <a:xfrm>
            <a:off x="0" y="2514600"/>
            <a:ext cx="9144000" cy="609600"/>
          </a:xfrm>
          <a:prstGeom prst="rect">
            <a:avLst/>
          </a:prstGeom>
          <a:noFill/>
          <a:ln>
            <a:noFill/>
          </a:ln>
        </p:spPr>
        <p:txBody>
          <a:bodyPr anchorCtr="0" anchor="t" bIns="45700" lIns="91425" spcFirstLastPara="1" rIns="91425" wrap="square" tIns="45700">
            <a:noAutofit/>
          </a:bodyPr>
          <a:lstStyle/>
          <a:p>
            <a:pPr indent="-285750" lvl="1" marL="742950" marR="0" rtl="0" algn="ctr">
              <a:lnSpc>
                <a:spcPct val="100000"/>
              </a:lnSpc>
              <a:spcBef>
                <a:spcPts val="0"/>
              </a:spcBef>
              <a:spcAft>
                <a:spcPts val="0"/>
              </a:spcAft>
              <a:buClr>
                <a:schemeClr val="lt1"/>
              </a:buClr>
              <a:buSzPts val="3200"/>
              <a:buFont typeface="Arial"/>
              <a:buNone/>
            </a:pPr>
            <a:r>
              <a:rPr b="1" i="0" lang="en-US" sz="3200" u="none" cap="none" strike="noStrike">
                <a:solidFill>
                  <a:schemeClr val="lt1"/>
                </a:solidFill>
                <a:latin typeface="Arial"/>
                <a:ea typeface="Arial"/>
                <a:cs typeface="Arial"/>
                <a:sym typeface="Arial"/>
              </a:rPr>
              <a:t>TỔNG QUAN VỀ KIỂM THỬ PHẦN MỀM</a:t>
            </a:r>
            <a:endParaRPr/>
          </a:p>
        </p:txBody>
      </p:sp>
      <p:sp>
        <p:nvSpPr>
          <p:cNvPr id="105" name="Google Shape;105;p1"/>
          <p:cNvSpPr txBox="1"/>
          <p:nvPr/>
        </p:nvSpPr>
        <p:spPr>
          <a:xfrm>
            <a:off x="76200" y="2190750"/>
            <a:ext cx="110807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Bài  1:</a:t>
            </a:r>
            <a:endParaRPr/>
          </a:p>
        </p:txBody>
      </p:sp>
      <p:sp>
        <p:nvSpPr>
          <p:cNvPr id="106" name="Google Shape;106;p1"/>
          <p:cNvSpPr txBox="1"/>
          <p:nvPr/>
        </p:nvSpPr>
        <p:spPr>
          <a:xfrm>
            <a:off x="6965950" y="3352800"/>
            <a:ext cx="210185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Arial"/>
              <a:buNone/>
            </a:pPr>
            <a:r>
              <a:rPr b="1" i="0" lang="en-US" sz="2000" u="none">
                <a:solidFill>
                  <a:srgbClr val="C00000"/>
                </a:solidFill>
                <a:latin typeface="Arial"/>
                <a:ea typeface="Arial"/>
                <a:cs typeface="Arial"/>
                <a:sym typeface="Arial"/>
              </a:rPr>
              <a:t>Thời gian: 5 tiết</a:t>
            </a:r>
            <a:endParaRPr/>
          </a:p>
        </p:txBody>
      </p:sp>
      <p:pic>
        <p:nvPicPr>
          <p:cNvPr id="107" name="Google Shape;107;p1"/>
          <p:cNvPicPr preferRelativeResize="0"/>
          <p:nvPr/>
        </p:nvPicPr>
        <p:blipFill rotWithShape="1">
          <a:blip r:embed="rId3">
            <a:alphaModFix/>
          </a:blip>
          <a:srcRect b="0" l="0" r="0" t="0"/>
          <a:stretch/>
        </p:blipFill>
        <p:spPr>
          <a:xfrm>
            <a:off x="36512" y="0"/>
            <a:ext cx="3781425" cy="1209675"/>
          </a:xfrm>
          <a:prstGeom prst="rect">
            <a:avLst/>
          </a:prstGeom>
          <a:noFill/>
          <a:ln>
            <a:noFill/>
          </a:ln>
        </p:spPr>
      </p:pic>
      <p:sp>
        <p:nvSpPr>
          <p:cNvPr id="108" name="Google Shape;108;p1"/>
          <p:cNvSpPr txBox="1"/>
          <p:nvPr/>
        </p:nvSpPr>
        <p:spPr>
          <a:xfrm>
            <a:off x="0" y="1371600"/>
            <a:ext cx="9144000" cy="685800"/>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rgbClr val="FF0000"/>
              </a:buClr>
              <a:buSzPts val="4000"/>
              <a:buFont typeface="Arial"/>
              <a:buNone/>
            </a:pPr>
            <a:r>
              <a:rPr b="1" i="0" lang="en-US" sz="4000" u="none">
                <a:solidFill>
                  <a:srgbClr val="FF0000"/>
                </a:solidFill>
                <a:latin typeface="Arial"/>
                <a:ea typeface="Arial"/>
                <a:cs typeface="Arial"/>
                <a:sym typeface="Arial"/>
              </a:rPr>
              <a:t>KIỂM THỬ PHẦN MỀM</a:t>
            </a:r>
            <a:endParaRPr/>
          </a:p>
        </p:txBody>
      </p:sp>
      <p:pic>
        <p:nvPicPr>
          <p:cNvPr id="109" name="Google Shape;109;p1"/>
          <p:cNvPicPr preferRelativeResize="0"/>
          <p:nvPr/>
        </p:nvPicPr>
        <p:blipFill rotWithShape="1">
          <a:blip r:embed="rId4">
            <a:alphaModFix/>
          </a:blip>
          <a:srcRect b="0" l="0" r="0" t="0"/>
          <a:stretch/>
        </p:blipFill>
        <p:spPr>
          <a:xfrm>
            <a:off x="2695575" y="3913187"/>
            <a:ext cx="5321300" cy="2752725"/>
          </a:xfrm>
          <a:prstGeom prst="rect">
            <a:avLst/>
          </a:prstGeom>
          <a:noFill/>
          <a:ln>
            <a:noFill/>
          </a:ln>
        </p:spPr>
      </p:pic>
    </p:spTree>
  </p:cSld>
  <p:clrMapOvr>
    <a:masterClrMapping/>
  </p:clrMapOvr>
  <p:transition advTm="25000">
    <p:randomBar dir="ver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685800" lvl="0" marL="68580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NỘI DUNG</a:t>
            </a:r>
            <a:endParaRPr/>
          </a:p>
        </p:txBody>
      </p:sp>
      <p:sp>
        <p:nvSpPr>
          <p:cNvPr id="115" name="Google Shape;115;p2"/>
          <p:cNvSpPr txBox="1"/>
          <p:nvPr/>
        </p:nvSpPr>
        <p:spPr>
          <a:xfrm>
            <a:off x="914400" y="1219200"/>
            <a:ext cx="7924800" cy="2543175"/>
          </a:xfrm>
          <a:prstGeom prst="rect">
            <a:avLst/>
          </a:prstGeom>
          <a:noFill/>
          <a:ln>
            <a:noFill/>
          </a:ln>
        </p:spPr>
        <p:txBody>
          <a:bodyPr anchorCtr="0" anchor="ctr" bIns="45700" lIns="91425" spcFirstLastPara="1" rIns="91425" wrap="square" tIns="45700">
            <a:spAutoFit/>
          </a:bodyPr>
          <a:lstStyle/>
          <a:p>
            <a:pPr indent="0" lvl="0" marL="0" marR="0" rtl="0" algn="l">
              <a:lnSpc>
                <a:spcPct val="2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1.1 Các mô hình phát triển phần mềm</a:t>
            </a:r>
            <a:endParaRPr/>
          </a:p>
          <a:p>
            <a:pPr indent="0" lvl="0" marL="0" marR="0" rtl="0" algn="l">
              <a:lnSpc>
                <a:spcPct val="2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1.2 Kiểm thử phần mềm</a:t>
            </a:r>
            <a:endParaRPr/>
          </a:p>
          <a:p>
            <a:pPr indent="0" lvl="0" marL="0" marR="0" rtl="0" algn="l">
              <a:lnSpc>
                <a:spcPct val="2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1.3 Vai trò của kiểm thử phần mềm</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
                                            <p:txEl>
                                              <p:pRg end="0" st="0"/>
                                            </p:txEl>
                                          </p:spTgt>
                                        </p:tgtEl>
                                        <p:attrNameLst>
                                          <p:attrName>style.visibility</p:attrName>
                                        </p:attrNameLst>
                                      </p:cBhvr>
                                      <p:to>
                                        <p:strVal val="visible"/>
                                      </p:to>
                                    </p:set>
                                    <p:anim calcmode="lin" valueType="num">
                                      <p:cBhvr additive="base">
                                        <p:cTn dur="500"/>
                                        <p:tgtEl>
                                          <p:spTgt spid="11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
                                            <p:txEl>
                                              <p:pRg end="1" st="1"/>
                                            </p:txEl>
                                          </p:spTgt>
                                        </p:tgtEl>
                                        <p:attrNameLst>
                                          <p:attrName>style.visibility</p:attrName>
                                        </p:attrNameLst>
                                      </p:cBhvr>
                                      <p:to>
                                        <p:strVal val="visible"/>
                                      </p:to>
                                    </p:set>
                                    <p:anim calcmode="lin" valueType="num">
                                      <p:cBhvr additive="base">
                                        <p:cTn dur="500"/>
                                        <p:tgtEl>
                                          <p:spTgt spid="11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
                                            <p:txEl>
                                              <p:pRg end="2" st="2"/>
                                            </p:txEl>
                                          </p:spTgt>
                                        </p:tgtEl>
                                        <p:attrNameLst>
                                          <p:attrName>style.visibility</p:attrName>
                                        </p:attrNameLst>
                                      </p:cBhvr>
                                      <p:to>
                                        <p:strVal val="visible"/>
                                      </p:to>
                                    </p:set>
                                    <p:anim calcmode="lin" valueType="num">
                                      <p:cBhvr additive="base">
                                        <p:cTn dur="500"/>
                                        <p:tgtEl>
                                          <p:spTgt spid="11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3"/>
          <p:cNvSpPr txBox="1"/>
          <p:nvPr>
            <p:ph type="title"/>
          </p:nvPr>
        </p:nvSpPr>
        <p:spPr>
          <a:xfrm>
            <a:off x="304800" y="228600"/>
            <a:ext cx="7696200" cy="685800"/>
          </a:xfrm>
          <a:prstGeom prst="rect">
            <a:avLst/>
          </a:prstGeom>
          <a:noFill/>
          <a:ln>
            <a:noFill/>
          </a:ln>
        </p:spPr>
        <p:txBody>
          <a:bodyPr anchorCtr="0" anchor="ctr" bIns="45700" lIns="91425" spcFirstLastPara="1" rIns="91425" wrap="square" tIns="45700">
            <a:noAutofit/>
          </a:bodyPr>
          <a:lstStyle/>
          <a:p>
            <a:pPr indent="0" lvl="0" marL="0" rtl="0" algn="l">
              <a:lnSpc>
                <a:spcPct val="2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1.1 CÁC MÔ HÌNH PHÁT TRIỂN PHẦN MỀM</a:t>
            </a:r>
            <a:endParaRPr/>
          </a:p>
        </p:txBody>
      </p:sp>
      <p:sp>
        <p:nvSpPr>
          <p:cNvPr id="121" name="Google Shape;121;p3"/>
          <p:cNvSpPr txBox="1"/>
          <p:nvPr/>
        </p:nvSpPr>
        <p:spPr>
          <a:xfrm>
            <a:off x="1219200" y="990600"/>
            <a:ext cx="6629400" cy="5262562"/>
          </a:xfrm>
          <a:prstGeom prst="rect">
            <a:avLst/>
          </a:prstGeom>
          <a:noFill/>
          <a:ln>
            <a:noFill/>
          </a:ln>
        </p:spPr>
        <p:txBody>
          <a:bodyPr anchorCtr="0" anchor="t" bIns="45700" lIns="91425" spcFirstLastPara="1" rIns="91425" wrap="square" tIns="45700">
            <a:spAutoFit/>
          </a:bodyPr>
          <a:lstStyle/>
          <a:p>
            <a:pPr indent="0" lvl="0" marL="0" marR="0" rtl="0" algn="just">
              <a:lnSpc>
                <a:spcPct val="200000"/>
              </a:lnSpc>
              <a:spcBef>
                <a:spcPts val="0"/>
              </a:spcBef>
              <a:spcAft>
                <a:spcPts val="0"/>
              </a:spcAft>
              <a:buClr>
                <a:srgbClr val="0E2520"/>
              </a:buClr>
              <a:buSzPts val="2800"/>
              <a:buFont typeface="Arial"/>
              <a:buNone/>
            </a:pPr>
            <a:r>
              <a:rPr b="0" i="0" lang="en-US" sz="2800" u="none">
                <a:solidFill>
                  <a:srgbClr val="0E2520"/>
                </a:solidFill>
                <a:latin typeface="Arial"/>
                <a:ea typeface="Arial"/>
                <a:cs typeface="Arial"/>
                <a:sym typeface="Arial"/>
              </a:rPr>
              <a:t>1.1.1 Waterfall Model</a:t>
            </a:r>
            <a:endParaRPr/>
          </a:p>
          <a:p>
            <a:pPr indent="0" lvl="0" marL="0" marR="0" rtl="0" algn="just">
              <a:lnSpc>
                <a:spcPct val="200000"/>
              </a:lnSpc>
              <a:spcBef>
                <a:spcPts val="0"/>
              </a:spcBef>
              <a:spcAft>
                <a:spcPts val="0"/>
              </a:spcAft>
              <a:buClr>
                <a:srgbClr val="0E2520"/>
              </a:buClr>
              <a:buSzPts val="2800"/>
              <a:buFont typeface="Arial"/>
              <a:buNone/>
            </a:pPr>
            <a:r>
              <a:rPr b="0" i="0" lang="en-US" sz="2800" u="none">
                <a:solidFill>
                  <a:srgbClr val="0E2520"/>
                </a:solidFill>
                <a:latin typeface="Arial"/>
                <a:ea typeface="Arial"/>
                <a:cs typeface="Arial"/>
                <a:sym typeface="Arial"/>
              </a:rPr>
              <a:t>1.1.2 Prototype Model</a:t>
            </a:r>
            <a:endParaRPr/>
          </a:p>
          <a:p>
            <a:pPr indent="0" lvl="0" marL="0" marR="0" rtl="0" algn="just">
              <a:lnSpc>
                <a:spcPct val="200000"/>
              </a:lnSpc>
              <a:spcBef>
                <a:spcPts val="0"/>
              </a:spcBef>
              <a:spcAft>
                <a:spcPts val="0"/>
              </a:spcAft>
              <a:buClr>
                <a:srgbClr val="0E2520"/>
              </a:buClr>
              <a:buSzPts val="2800"/>
              <a:buFont typeface="Arial"/>
              <a:buNone/>
            </a:pPr>
            <a:r>
              <a:rPr b="0" i="0" lang="en-US" sz="2800" u="none">
                <a:solidFill>
                  <a:srgbClr val="0E2520"/>
                </a:solidFill>
                <a:latin typeface="Arial"/>
                <a:ea typeface="Arial"/>
                <a:cs typeface="Arial"/>
                <a:sym typeface="Arial"/>
              </a:rPr>
              <a:t>1.1.3 Spiral Model</a:t>
            </a:r>
            <a:endParaRPr/>
          </a:p>
          <a:p>
            <a:pPr indent="0" lvl="0" marL="0" marR="0" rtl="0" algn="just">
              <a:lnSpc>
                <a:spcPct val="200000"/>
              </a:lnSpc>
              <a:spcBef>
                <a:spcPts val="0"/>
              </a:spcBef>
              <a:spcAft>
                <a:spcPts val="0"/>
              </a:spcAft>
              <a:buClr>
                <a:srgbClr val="0E2520"/>
              </a:buClr>
              <a:buSzPts val="2800"/>
              <a:buFont typeface="Arial"/>
              <a:buNone/>
            </a:pPr>
            <a:r>
              <a:rPr b="0" i="0" lang="en-US" sz="2800" u="none">
                <a:solidFill>
                  <a:srgbClr val="0E2520"/>
                </a:solidFill>
                <a:latin typeface="Arial"/>
                <a:ea typeface="Arial"/>
                <a:cs typeface="Arial"/>
                <a:sym typeface="Arial"/>
              </a:rPr>
              <a:t>1.1.4 SDLC Model</a:t>
            </a:r>
            <a:endParaRPr/>
          </a:p>
          <a:p>
            <a:pPr indent="0" lvl="0" marL="0" marR="0" rtl="0" algn="just">
              <a:lnSpc>
                <a:spcPct val="200000"/>
              </a:lnSpc>
              <a:spcBef>
                <a:spcPts val="0"/>
              </a:spcBef>
              <a:spcAft>
                <a:spcPts val="0"/>
              </a:spcAft>
              <a:buClr>
                <a:srgbClr val="0E2520"/>
              </a:buClr>
              <a:buSzPts val="2800"/>
              <a:buFont typeface="Arial"/>
              <a:buNone/>
            </a:pPr>
            <a:r>
              <a:rPr b="0" i="0" lang="en-US" sz="2800" u="none">
                <a:solidFill>
                  <a:srgbClr val="0E2520"/>
                </a:solidFill>
                <a:latin typeface="Arial"/>
                <a:ea typeface="Arial"/>
                <a:cs typeface="Arial"/>
                <a:sym typeface="Arial"/>
              </a:rPr>
              <a:t>1.1.5 Agile Model</a:t>
            </a:r>
            <a:endParaRPr/>
          </a:p>
          <a:p>
            <a:pPr indent="0" lvl="0" marL="0" marR="0" rtl="0" algn="just">
              <a:lnSpc>
                <a:spcPct val="200000"/>
              </a:lnSpc>
              <a:spcBef>
                <a:spcPts val="0"/>
              </a:spcBef>
              <a:spcAft>
                <a:spcPts val="0"/>
              </a:spcAft>
              <a:buClr>
                <a:srgbClr val="0E2520"/>
              </a:buClr>
              <a:buSzPts val="2800"/>
              <a:buFont typeface="Arial"/>
              <a:buNone/>
            </a:pPr>
            <a:r>
              <a:rPr b="0" i="0" lang="en-US" sz="2800" u="none">
                <a:solidFill>
                  <a:srgbClr val="0E2520"/>
                </a:solidFill>
                <a:latin typeface="Arial"/>
                <a:ea typeface="Arial"/>
                <a:cs typeface="Arial"/>
                <a:sym typeface="Arial"/>
              </a:rPr>
              <a:t>1.1.7 V- Model</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121">
                                            <p:txEl>
                                              <p:pRg end="0" st="0"/>
                                            </p:txEl>
                                          </p:spTgt>
                                        </p:tgtEl>
                                        <p:attrNameLst>
                                          <p:attrName>style.visibility</p:attrName>
                                        </p:attrNameLst>
                                      </p:cBhvr>
                                      <p:to>
                                        <p:strVal val="visible"/>
                                      </p:to>
                                    </p:set>
                                    <p:anim calcmode="lin" valueType="num">
                                      <p:cBhvr additive="base">
                                        <p:cTn dur="500"/>
                                        <p:tgtEl>
                                          <p:spTgt spid="121">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1">
                                            <p:txEl>
                                              <p:pRg end="1" st="1"/>
                                            </p:txEl>
                                          </p:spTgt>
                                        </p:tgtEl>
                                        <p:attrNameLst>
                                          <p:attrName>style.visibility</p:attrName>
                                        </p:attrNameLst>
                                      </p:cBhvr>
                                      <p:to>
                                        <p:strVal val="visible"/>
                                      </p:to>
                                    </p:set>
                                    <p:anim calcmode="lin" valueType="num">
                                      <p:cBhvr additive="base">
                                        <p:cTn dur="500"/>
                                        <p:tgtEl>
                                          <p:spTgt spid="121">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1">
                                            <p:txEl>
                                              <p:pRg end="2" st="2"/>
                                            </p:txEl>
                                          </p:spTgt>
                                        </p:tgtEl>
                                        <p:attrNameLst>
                                          <p:attrName>style.visibility</p:attrName>
                                        </p:attrNameLst>
                                      </p:cBhvr>
                                      <p:to>
                                        <p:strVal val="visible"/>
                                      </p:to>
                                    </p:set>
                                    <p:anim calcmode="lin" valueType="num">
                                      <p:cBhvr additive="base">
                                        <p:cTn dur="500"/>
                                        <p:tgtEl>
                                          <p:spTgt spid="121">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1">
                                            <p:txEl>
                                              <p:pRg end="3" st="3"/>
                                            </p:txEl>
                                          </p:spTgt>
                                        </p:tgtEl>
                                        <p:attrNameLst>
                                          <p:attrName>style.visibility</p:attrName>
                                        </p:attrNameLst>
                                      </p:cBhvr>
                                      <p:to>
                                        <p:strVal val="visible"/>
                                      </p:to>
                                    </p:set>
                                    <p:anim calcmode="lin" valueType="num">
                                      <p:cBhvr additive="base">
                                        <p:cTn dur="500"/>
                                        <p:tgtEl>
                                          <p:spTgt spid="121">
                                            <p:txEl>
                                              <p:pRg end="3" st="3"/>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1">
                                            <p:txEl>
                                              <p:pRg end="4" st="4"/>
                                            </p:txEl>
                                          </p:spTgt>
                                        </p:tgtEl>
                                        <p:attrNameLst>
                                          <p:attrName>style.visibility</p:attrName>
                                        </p:attrNameLst>
                                      </p:cBhvr>
                                      <p:to>
                                        <p:strVal val="visible"/>
                                      </p:to>
                                    </p:set>
                                    <p:anim calcmode="lin" valueType="num">
                                      <p:cBhvr additive="base">
                                        <p:cTn dur="500"/>
                                        <p:tgtEl>
                                          <p:spTgt spid="121">
                                            <p:txEl>
                                              <p:pRg end="4" st="4"/>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1">
                                            <p:txEl>
                                              <p:pRg end="5" st="5"/>
                                            </p:txEl>
                                          </p:spTgt>
                                        </p:tgtEl>
                                        <p:attrNameLst>
                                          <p:attrName>style.visibility</p:attrName>
                                        </p:attrNameLst>
                                      </p:cBhvr>
                                      <p:to>
                                        <p:strVal val="visible"/>
                                      </p:to>
                                    </p:set>
                                    <p:anim calcmode="lin" valueType="num">
                                      <p:cBhvr additive="base">
                                        <p:cTn dur="500"/>
                                        <p:tgtEl>
                                          <p:spTgt spid="12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4"/>
          <p:cNvSpPr txBox="1"/>
          <p:nvPr>
            <p:ph type="title"/>
          </p:nvPr>
        </p:nvSpPr>
        <p:spPr>
          <a:xfrm>
            <a:off x="307975" y="274637"/>
            <a:ext cx="8150225" cy="5635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1.1.1. MÔ HÌNH THÁC NƯỚC Waterfall Model</a:t>
            </a:r>
            <a:endParaRPr/>
          </a:p>
        </p:txBody>
      </p:sp>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127" name="Google Shape;127;p4"/>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8" name="Google Shape;128;p4"/>
          <p:cNvSpPr txBox="1"/>
          <p:nvPr/>
        </p:nvSpPr>
        <p:spPr>
          <a:xfrm>
            <a:off x="914400" y="1068387"/>
            <a:ext cx="7924800" cy="2538412"/>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0E2520"/>
              </a:buClr>
              <a:buSzPts val="2400"/>
              <a:buFont typeface="Noto Sans Symbols"/>
              <a:buChar char="✔"/>
            </a:pPr>
            <a:r>
              <a:rPr b="0" i="1" lang="en-US" sz="2400" u="none">
                <a:solidFill>
                  <a:srgbClr val="0E2520"/>
                </a:solidFill>
                <a:latin typeface="Arial"/>
                <a:ea typeface="Arial"/>
                <a:cs typeface="Arial"/>
                <a:sym typeface="Arial"/>
              </a:rPr>
              <a:t>Mô hình tuần tự tuyến tính. </a:t>
            </a:r>
            <a:r>
              <a:rPr b="0" i="0" lang="en-US" sz="2400" u="none">
                <a:solidFill>
                  <a:srgbClr val="0E2520"/>
                </a:solidFill>
                <a:latin typeface="Arial"/>
                <a:ea typeface="Arial"/>
                <a:cs typeface="Arial"/>
                <a:sym typeface="Arial"/>
              </a:rPr>
              <a:t>Một trong các mô hình đầu tiên và phổ biến. </a:t>
            </a:r>
            <a:endParaRPr/>
          </a:p>
          <a:p>
            <a:pPr indent="-342900" lvl="0" marL="342900" marR="0" rtl="0" algn="just">
              <a:lnSpc>
                <a:spcPct val="100000"/>
              </a:lnSpc>
              <a:spcBef>
                <a:spcPts val="1800"/>
              </a:spcBef>
              <a:spcAft>
                <a:spcPts val="0"/>
              </a:spcAft>
              <a:buClr>
                <a:srgbClr val="0E2520"/>
              </a:buClr>
              <a:buSzPts val="2400"/>
              <a:buFont typeface="Noto Sans Symbols"/>
              <a:buChar char="✔"/>
            </a:pPr>
            <a:r>
              <a:rPr b="0" i="0" lang="en-US" sz="2400" u="none">
                <a:solidFill>
                  <a:srgbClr val="0E2520"/>
                </a:solidFill>
                <a:latin typeface="Arial"/>
                <a:ea typeface="Arial"/>
                <a:cs typeface="Arial"/>
                <a:sym typeface="Arial"/>
              </a:rPr>
              <a:t>Chia quá trình phát triển PM thành những giai đoạn tuần tự nối tiếp. Mỗi giai đoạn có mục đích nhất định. Kết quả của giai đoạn trước là đầu vào cho giai đoạn tiếp theo sau. Mô hình thác nước có 5 giai đoạn:</a:t>
            </a:r>
            <a:endParaRPr/>
          </a:p>
        </p:txBody>
      </p:sp>
      <p:pic>
        <p:nvPicPr>
          <p:cNvPr id="129" name="Google Shape;129;p4"/>
          <p:cNvPicPr preferRelativeResize="0"/>
          <p:nvPr/>
        </p:nvPicPr>
        <p:blipFill rotWithShape="1">
          <a:blip r:embed="rId3">
            <a:alphaModFix/>
          </a:blip>
          <a:srcRect b="0" l="0" r="0" t="0"/>
          <a:stretch/>
        </p:blipFill>
        <p:spPr>
          <a:xfrm>
            <a:off x="1905000" y="3573462"/>
            <a:ext cx="6359525" cy="3284537"/>
          </a:xfrm>
          <a:prstGeom prst="rect">
            <a:avLst/>
          </a:prstGeom>
          <a:noFill/>
          <a:ln>
            <a:noFill/>
          </a:ln>
        </p:spPr>
      </p:pic>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8">
                                            <p:txEl>
                                              <p:pRg end="0" st="0"/>
                                            </p:txEl>
                                          </p:spTgt>
                                        </p:tgtEl>
                                        <p:attrNameLst>
                                          <p:attrName>style.visibility</p:attrName>
                                        </p:attrNameLst>
                                      </p:cBhvr>
                                      <p:to>
                                        <p:strVal val="visible"/>
                                      </p:to>
                                    </p:set>
                                    <p:anim calcmode="lin" valueType="num">
                                      <p:cBhvr additive="base">
                                        <p:cTn dur="500"/>
                                        <p:tgtEl>
                                          <p:spTgt spid="12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8">
                                            <p:txEl>
                                              <p:pRg end="1" st="1"/>
                                            </p:txEl>
                                          </p:spTgt>
                                        </p:tgtEl>
                                        <p:attrNameLst>
                                          <p:attrName>style.visibility</p:attrName>
                                        </p:attrNameLst>
                                      </p:cBhvr>
                                      <p:to>
                                        <p:strVal val="visible"/>
                                      </p:to>
                                    </p:set>
                                    <p:anim calcmode="lin" valueType="num">
                                      <p:cBhvr additive="base">
                                        <p:cTn dur="500"/>
                                        <p:tgtEl>
                                          <p:spTgt spid="12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
                                        </p:tgtEl>
                                        <p:attrNameLst>
                                          <p:attrName>style.visibility</p:attrName>
                                        </p:attrNameLst>
                                      </p:cBhvr>
                                      <p:to>
                                        <p:strVal val="visible"/>
                                      </p:to>
                                    </p:set>
                                    <p:anim calcmode="lin" valueType="num">
                                      <p:cBhvr additive="base">
                                        <p:cTn dur="500"/>
                                        <p:tgtEl>
                                          <p:spTgt spid="12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134" name="Google Shape;134;p5"/>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5" name="Google Shape;135;p5"/>
          <p:cNvSpPr txBox="1"/>
          <p:nvPr/>
        </p:nvSpPr>
        <p:spPr>
          <a:xfrm>
            <a:off x="685800" y="1068387"/>
            <a:ext cx="8305800" cy="34163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FF0000"/>
              </a:buClr>
              <a:buSzPts val="2400"/>
              <a:buFont typeface="Arial"/>
              <a:buNone/>
            </a:pPr>
            <a:r>
              <a:rPr b="1" i="1" lang="en-US" sz="2400" u="none">
                <a:solidFill>
                  <a:srgbClr val="FF0000"/>
                </a:solidFill>
                <a:latin typeface="Arial"/>
                <a:ea typeface="Arial"/>
                <a:cs typeface="Arial"/>
                <a:sym typeface="Arial"/>
              </a:rPr>
              <a:t>Xác định yêu cầu</a:t>
            </a:r>
            <a:r>
              <a:rPr b="1" i="0" lang="en-US" sz="2400" u="none">
                <a:solidFill>
                  <a:srgbClr val="FF0000"/>
                </a:solidFill>
                <a:latin typeface="Arial"/>
                <a:ea typeface="Arial"/>
                <a:cs typeface="Arial"/>
                <a:sym typeface="Arial"/>
              </a:rPr>
              <a:t>: </a:t>
            </a:r>
            <a:r>
              <a:rPr b="0" i="0" lang="en-US" sz="2400" u="none">
                <a:solidFill>
                  <a:schemeClr val="dk1"/>
                </a:solidFill>
                <a:latin typeface="Arial"/>
                <a:ea typeface="Arial"/>
                <a:cs typeface="Arial"/>
                <a:sym typeface="Arial"/>
              </a:rPr>
              <a:t>Tiến hành khi có nhu cầu xây dựng PM.</a:t>
            </a:r>
            <a:endParaRPr/>
          </a:p>
          <a:p>
            <a:pPr indent="-152400" lvl="0" marL="0" marR="0" rtl="0" algn="just">
              <a:lnSpc>
                <a:spcPct val="150000"/>
              </a:lnSpc>
              <a:spcBef>
                <a:spcPts val="0"/>
              </a:spcBef>
              <a:spcAft>
                <a:spcPts val="0"/>
              </a:spcAft>
              <a:buClr>
                <a:srgbClr val="C00000"/>
              </a:buClr>
              <a:buSzPts val="2400"/>
              <a:buFont typeface="Noto Sans Symbols"/>
              <a:buChar char="✔"/>
            </a:pPr>
            <a:r>
              <a:rPr b="0" i="0" lang="en-US" sz="2400" u="none">
                <a:solidFill>
                  <a:srgbClr val="C00000"/>
                </a:solidFill>
                <a:latin typeface="Arial"/>
                <a:ea typeface="Arial"/>
                <a:cs typeface="Arial"/>
                <a:sym typeface="Arial"/>
              </a:rPr>
              <a:t>Mục tiêu: </a:t>
            </a:r>
            <a:r>
              <a:rPr b="0" i="0" lang="en-US" sz="2400" u="none">
                <a:solidFill>
                  <a:schemeClr val="dk1"/>
                </a:solidFill>
                <a:latin typeface="Arial"/>
                <a:ea typeface="Arial"/>
                <a:cs typeface="Arial"/>
                <a:sym typeface="Arial"/>
              </a:rPr>
              <a:t>Xác định chính xác các yêu cầu cho P.Mềm.</a:t>
            </a:r>
            <a:endParaRPr/>
          </a:p>
          <a:p>
            <a:pPr indent="-152400" lvl="0" marL="0" marR="0" rtl="0" algn="just">
              <a:lnSpc>
                <a:spcPct val="150000"/>
              </a:lnSpc>
              <a:spcBef>
                <a:spcPts val="0"/>
              </a:spcBef>
              <a:spcAft>
                <a:spcPts val="0"/>
              </a:spcAft>
              <a:buClr>
                <a:srgbClr val="C00000"/>
              </a:buClr>
              <a:buSzPts val="2400"/>
              <a:buFont typeface="Noto Sans Symbols"/>
              <a:buChar char="✔"/>
            </a:pPr>
            <a:r>
              <a:rPr b="0" i="0" lang="en-US" sz="2400" u="none">
                <a:solidFill>
                  <a:srgbClr val="C00000"/>
                </a:solidFill>
                <a:latin typeface="Arial"/>
                <a:ea typeface="Arial"/>
                <a:cs typeface="Arial"/>
                <a:sym typeface="Arial"/>
              </a:rPr>
              <a:t>Kết quả nhận: </a:t>
            </a:r>
            <a:r>
              <a:rPr b="0" i="0" lang="en-US" sz="2400" u="none">
                <a:solidFill>
                  <a:schemeClr val="dk1"/>
                </a:solidFill>
                <a:latin typeface="Arial"/>
                <a:ea typeface="Arial"/>
                <a:cs typeface="Arial"/>
                <a:sym typeface="Arial"/>
              </a:rPr>
              <a:t>Thông tin về hoạt động của thế giới thực.</a:t>
            </a:r>
            <a:endParaRPr/>
          </a:p>
          <a:p>
            <a:pPr indent="-152400" lvl="0" marL="0" marR="0" rtl="0" algn="just">
              <a:lnSpc>
                <a:spcPct val="150000"/>
              </a:lnSpc>
              <a:spcBef>
                <a:spcPts val="0"/>
              </a:spcBef>
              <a:spcAft>
                <a:spcPts val="0"/>
              </a:spcAft>
              <a:buClr>
                <a:srgbClr val="C00000"/>
              </a:buClr>
              <a:buSzPts val="2400"/>
              <a:buFont typeface="Noto Sans Symbols"/>
              <a:buChar char="✔"/>
            </a:pPr>
            <a:r>
              <a:rPr b="0" i="0" lang="en-US" sz="2400" u="none">
                <a:solidFill>
                  <a:srgbClr val="C00000"/>
                </a:solidFill>
                <a:latin typeface="Arial"/>
                <a:ea typeface="Arial"/>
                <a:cs typeface="Arial"/>
                <a:sym typeface="Arial"/>
              </a:rPr>
              <a:t>Kết quả chuyển giao: </a:t>
            </a:r>
            <a:r>
              <a:rPr b="0" i="0" lang="en-US" sz="2400" u="none">
                <a:solidFill>
                  <a:schemeClr val="dk1"/>
                </a:solidFill>
                <a:latin typeface="Arial"/>
                <a:ea typeface="Arial"/>
                <a:cs typeface="Arial"/>
                <a:sym typeface="Arial"/>
              </a:rPr>
              <a:t>Các yêu cầu (công việc sẽ thực hiện trên máy tính) cùng với các thông tin mô tả chi tiết về các yêu cầu (cách thức thực hiện)</a:t>
            </a:r>
            <a:endParaRPr/>
          </a:p>
        </p:txBody>
      </p:sp>
      <p:sp>
        <p:nvSpPr>
          <p:cNvPr id="136" name="Google Shape;136;p5"/>
          <p:cNvSpPr txBox="1"/>
          <p:nvPr>
            <p:ph type="title"/>
          </p:nvPr>
        </p:nvSpPr>
        <p:spPr>
          <a:xfrm>
            <a:off x="307975" y="274637"/>
            <a:ext cx="8150225" cy="5635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1.1.1. MÔ HÌNH THÁC NƯỚC Waterfall Model</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anim calcmode="lin" valueType="num">
                                      <p:cBhvr additive="base">
                                        <p:cTn dur="500"/>
                                        <p:tgtEl>
                                          <p:spTgt spid="13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5">
                                            <p:txEl>
                                              <p:pRg end="1" st="1"/>
                                            </p:txEl>
                                          </p:spTgt>
                                        </p:tgtEl>
                                        <p:attrNameLst>
                                          <p:attrName>style.visibility</p:attrName>
                                        </p:attrNameLst>
                                      </p:cBhvr>
                                      <p:to>
                                        <p:strVal val="visible"/>
                                      </p:to>
                                    </p:set>
                                    <p:anim calcmode="lin" valueType="num">
                                      <p:cBhvr additive="base">
                                        <p:cTn dur="500"/>
                                        <p:tgtEl>
                                          <p:spTgt spid="13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5">
                                            <p:txEl>
                                              <p:pRg end="2" st="2"/>
                                            </p:txEl>
                                          </p:spTgt>
                                        </p:tgtEl>
                                        <p:attrNameLst>
                                          <p:attrName>style.visibility</p:attrName>
                                        </p:attrNameLst>
                                      </p:cBhvr>
                                      <p:to>
                                        <p:strVal val="visible"/>
                                      </p:to>
                                    </p:set>
                                    <p:anim calcmode="lin" valueType="num">
                                      <p:cBhvr additive="base">
                                        <p:cTn dur="500"/>
                                        <p:tgtEl>
                                          <p:spTgt spid="13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5">
                                            <p:txEl>
                                              <p:pRg end="3" st="3"/>
                                            </p:txEl>
                                          </p:spTgt>
                                        </p:tgtEl>
                                        <p:attrNameLst>
                                          <p:attrName>style.visibility</p:attrName>
                                        </p:attrNameLst>
                                      </p:cBhvr>
                                      <p:to>
                                        <p:strVal val="visible"/>
                                      </p:to>
                                    </p:set>
                                    <p:anim calcmode="lin" valueType="num">
                                      <p:cBhvr additive="base">
                                        <p:cTn dur="500"/>
                                        <p:tgtEl>
                                          <p:spTgt spid="13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141" name="Google Shape;141;p6"/>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2" name="Google Shape;142;p6"/>
          <p:cNvSpPr txBox="1"/>
          <p:nvPr/>
        </p:nvSpPr>
        <p:spPr>
          <a:xfrm>
            <a:off x="914400" y="990600"/>
            <a:ext cx="8153400" cy="397033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FF0000"/>
              </a:buClr>
              <a:buSzPts val="2400"/>
              <a:buFont typeface="Arial"/>
              <a:buNone/>
            </a:pPr>
            <a:r>
              <a:rPr b="1" i="1" lang="en-US" sz="2400" u="none">
                <a:solidFill>
                  <a:srgbClr val="FF0000"/>
                </a:solidFill>
                <a:latin typeface="Arial"/>
                <a:ea typeface="Arial"/>
                <a:cs typeface="Arial"/>
                <a:sym typeface="Arial"/>
              </a:rPr>
              <a:t>Phân tích</a:t>
            </a:r>
            <a:r>
              <a:rPr b="1" i="0" lang="en-US" sz="2400" u="none">
                <a:solidFill>
                  <a:srgbClr val="FF0000"/>
                </a:solidFill>
                <a:latin typeface="Arial"/>
                <a:ea typeface="Arial"/>
                <a:cs typeface="Arial"/>
                <a:sym typeface="Arial"/>
              </a:rPr>
              <a:t>: </a:t>
            </a:r>
            <a:r>
              <a:rPr b="0" i="0" lang="en-US" sz="2400" u="none">
                <a:solidFill>
                  <a:schemeClr val="dk1"/>
                </a:solidFill>
                <a:latin typeface="Arial"/>
                <a:ea typeface="Arial"/>
                <a:cs typeface="Arial"/>
                <a:sym typeface="Arial"/>
              </a:rPr>
              <a:t>Tiến hành ngay sau việc xác định yêu cầu.</a:t>
            </a:r>
            <a:endParaRPr/>
          </a:p>
          <a:p>
            <a:pPr indent="-152400" lvl="0" marL="0" marR="0" rtl="0" algn="l">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Mục tiêu: Mô tả yêu cầu bằng mô hình </a:t>
            </a:r>
            <a:endParaRPr/>
          </a:p>
          <a:p>
            <a:pPr indent="-152400" lvl="0" marL="0" marR="0" rtl="0" algn="l">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Kết quả nhận: Các yêu cầu cùng thông tin liên quan.</a:t>
            </a:r>
            <a:endParaRPr/>
          </a:p>
          <a:p>
            <a:pPr indent="-152400" lvl="0" marL="0" marR="0" rtl="0" algn="l">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Kết quả chuyển giao: </a:t>
            </a:r>
            <a:endParaRPr/>
          </a:p>
          <a:p>
            <a:pPr indent="-342900" lvl="1" marL="800100" marR="0" rtl="0" algn="l">
              <a:lnSpc>
                <a:spcPct val="15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Mô hình xử lý (các công việc và Quan hệ)</a:t>
            </a:r>
            <a:endParaRPr/>
          </a:p>
          <a:p>
            <a:pPr indent="-342900" lvl="1" marL="800100" marR="0" rtl="0" algn="l">
              <a:lnSpc>
                <a:spcPct val="15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Mô hình dữ liệu (các thông tin được sử dụng và QH)</a:t>
            </a:r>
            <a:endParaRPr/>
          </a:p>
          <a:p>
            <a:pPr indent="-342900" lvl="1" marL="800100" marR="0" rtl="0" algn="l">
              <a:lnSpc>
                <a:spcPct val="15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Mô hình khác (không gian, thời gian, con người…)</a:t>
            </a:r>
            <a:endParaRPr/>
          </a:p>
        </p:txBody>
      </p:sp>
      <p:pic>
        <p:nvPicPr>
          <p:cNvPr id="143" name="Google Shape;143;p6"/>
          <p:cNvPicPr preferRelativeResize="0"/>
          <p:nvPr/>
        </p:nvPicPr>
        <p:blipFill rotWithShape="1">
          <a:blip r:embed="rId3">
            <a:alphaModFix/>
          </a:blip>
          <a:srcRect b="17084" l="0" r="0" t="0"/>
          <a:stretch/>
        </p:blipFill>
        <p:spPr>
          <a:xfrm>
            <a:off x="3130550" y="4933950"/>
            <a:ext cx="4240212" cy="1814512"/>
          </a:xfrm>
          <a:prstGeom prst="rect">
            <a:avLst/>
          </a:prstGeom>
          <a:noFill/>
          <a:ln>
            <a:noFill/>
          </a:ln>
        </p:spPr>
      </p:pic>
      <p:sp>
        <p:nvSpPr>
          <p:cNvPr id="144" name="Google Shape;144;p6"/>
          <p:cNvSpPr/>
          <p:nvPr/>
        </p:nvSpPr>
        <p:spPr>
          <a:xfrm flipH="1" rot="-2040000">
            <a:off x="2795587" y="5205412"/>
            <a:ext cx="454025" cy="325437"/>
          </a:xfrm>
          <a:prstGeom prst="leftArrow">
            <a:avLst>
              <a:gd fmla="val 7741" name="adj1"/>
              <a:gd fmla="val 50000" name="adj2"/>
            </a:avLst>
          </a:prstGeom>
          <a:solidFill>
            <a:srgbClr val="FF0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5" name="Google Shape;145;p6"/>
          <p:cNvSpPr txBox="1"/>
          <p:nvPr>
            <p:ph type="title"/>
          </p:nvPr>
        </p:nvSpPr>
        <p:spPr>
          <a:xfrm>
            <a:off x="307975" y="274637"/>
            <a:ext cx="8150225" cy="5635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1.1.1. MÔ HÌNH THÁC NƯỚC Waterfall Model</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anim calcmode="lin" valueType="num">
                                      <p:cBhvr additive="base">
                                        <p:cTn dur="500"/>
                                        <p:tgtEl>
                                          <p:spTgt spid="14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anim calcmode="lin" valueType="num">
                                      <p:cBhvr additive="base">
                                        <p:cTn dur="500"/>
                                        <p:tgtEl>
                                          <p:spTgt spid="14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xEl>
                                              <p:pRg end="2" st="2"/>
                                            </p:txEl>
                                          </p:spTgt>
                                        </p:tgtEl>
                                        <p:attrNameLst>
                                          <p:attrName>style.visibility</p:attrName>
                                        </p:attrNameLst>
                                      </p:cBhvr>
                                      <p:to>
                                        <p:strVal val="visible"/>
                                      </p:to>
                                    </p:set>
                                    <p:anim calcmode="lin" valueType="num">
                                      <p:cBhvr additive="base">
                                        <p:cTn dur="500"/>
                                        <p:tgtEl>
                                          <p:spTgt spid="14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xEl>
                                              <p:pRg end="3" st="3"/>
                                            </p:txEl>
                                          </p:spTgt>
                                        </p:tgtEl>
                                        <p:attrNameLst>
                                          <p:attrName>style.visibility</p:attrName>
                                        </p:attrNameLst>
                                      </p:cBhvr>
                                      <p:to>
                                        <p:strVal val="visible"/>
                                      </p:to>
                                    </p:set>
                                    <p:anim calcmode="lin" valueType="num">
                                      <p:cBhvr additive="base">
                                        <p:cTn dur="500"/>
                                        <p:tgtEl>
                                          <p:spTgt spid="14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xEl>
                                              <p:pRg end="4" st="4"/>
                                            </p:txEl>
                                          </p:spTgt>
                                        </p:tgtEl>
                                        <p:attrNameLst>
                                          <p:attrName>style.visibility</p:attrName>
                                        </p:attrNameLst>
                                      </p:cBhvr>
                                      <p:to>
                                        <p:strVal val="visible"/>
                                      </p:to>
                                    </p:set>
                                    <p:anim calcmode="lin" valueType="num">
                                      <p:cBhvr additive="base">
                                        <p:cTn dur="500"/>
                                        <p:tgtEl>
                                          <p:spTgt spid="14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xEl>
                                              <p:pRg end="5" st="5"/>
                                            </p:txEl>
                                          </p:spTgt>
                                        </p:tgtEl>
                                        <p:attrNameLst>
                                          <p:attrName>style.visibility</p:attrName>
                                        </p:attrNameLst>
                                      </p:cBhvr>
                                      <p:to>
                                        <p:strVal val="visible"/>
                                      </p:to>
                                    </p:set>
                                    <p:anim calcmode="lin" valueType="num">
                                      <p:cBhvr additive="base">
                                        <p:cTn dur="500"/>
                                        <p:tgtEl>
                                          <p:spTgt spid="14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xEl>
                                              <p:pRg end="6" st="6"/>
                                            </p:txEl>
                                          </p:spTgt>
                                        </p:tgtEl>
                                        <p:attrNameLst>
                                          <p:attrName>style.visibility</p:attrName>
                                        </p:attrNameLst>
                                      </p:cBhvr>
                                      <p:to>
                                        <p:strVal val="visible"/>
                                      </p:to>
                                    </p:set>
                                    <p:anim calcmode="lin" valueType="num">
                                      <p:cBhvr additive="base">
                                        <p:cTn dur="500"/>
                                        <p:tgtEl>
                                          <p:spTgt spid="142">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150" name="Google Shape;150;p7"/>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1" name="Google Shape;151;p7"/>
          <p:cNvSpPr txBox="1"/>
          <p:nvPr/>
        </p:nvSpPr>
        <p:spPr>
          <a:xfrm>
            <a:off x="914400" y="990600"/>
            <a:ext cx="8001000" cy="397033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FF0000"/>
              </a:buClr>
              <a:buSzPts val="2400"/>
              <a:buFont typeface="Arial"/>
              <a:buNone/>
            </a:pPr>
            <a:r>
              <a:rPr b="1" i="1" lang="en-US" sz="2400" u="none">
                <a:solidFill>
                  <a:srgbClr val="FF0000"/>
                </a:solidFill>
                <a:latin typeface="Arial"/>
                <a:ea typeface="Arial"/>
                <a:cs typeface="Arial"/>
                <a:sym typeface="Arial"/>
              </a:rPr>
              <a:t>Thiết kế</a:t>
            </a:r>
            <a:r>
              <a:rPr b="1" i="0" lang="en-US" sz="2400" u="none">
                <a:solidFill>
                  <a:srgbClr val="FF0000"/>
                </a:solidFill>
                <a:latin typeface="Arial"/>
                <a:ea typeface="Arial"/>
                <a:cs typeface="Arial"/>
                <a:sym typeface="Arial"/>
              </a:rPr>
              <a:t>: </a:t>
            </a:r>
            <a:r>
              <a:rPr b="0" i="0" lang="en-US" sz="2400" u="none">
                <a:solidFill>
                  <a:schemeClr val="dk1"/>
                </a:solidFill>
                <a:latin typeface="Arial"/>
                <a:ea typeface="Arial"/>
                <a:cs typeface="Arial"/>
                <a:sym typeface="Arial"/>
              </a:rPr>
              <a:t>Tiến hành sau khi kết thúc việc phân tích.</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Mục tiêu: Mô tả các thành phần của phần mềm.</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Kết quả nhận: Mô hình thế giới thực.</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Kết quả chuyển giao:</a:t>
            </a:r>
            <a:endParaRPr/>
          </a:p>
          <a:p>
            <a:pPr indent="-342900" lvl="1" marL="800100" marR="0" rtl="0" algn="just">
              <a:lnSpc>
                <a:spcPct val="15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Mô tả thành phần giao diện: Các hàm/CTDL.</a:t>
            </a:r>
            <a:endParaRPr/>
          </a:p>
          <a:p>
            <a:pPr indent="-342900" lvl="1" marL="800100" marR="0" rtl="0" algn="just">
              <a:lnSpc>
                <a:spcPct val="15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Mô tả thành phần xử lý: Các hàm kiểm tra xử lý.</a:t>
            </a:r>
            <a:endParaRPr/>
          </a:p>
          <a:p>
            <a:pPr indent="-342900" lvl="1" marL="800100" marR="0" rtl="0" algn="just">
              <a:lnSpc>
                <a:spcPct val="15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Mô tả thành phần dữ liệu: Các hàm đọc/ghi...</a:t>
            </a:r>
            <a:endParaRPr/>
          </a:p>
        </p:txBody>
      </p:sp>
      <p:pic>
        <p:nvPicPr>
          <p:cNvPr id="152" name="Google Shape;152;p7"/>
          <p:cNvPicPr preferRelativeResize="0"/>
          <p:nvPr/>
        </p:nvPicPr>
        <p:blipFill rotWithShape="1">
          <a:blip r:embed="rId3">
            <a:alphaModFix/>
          </a:blip>
          <a:srcRect b="17084" l="0" r="0" t="0"/>
          <a:stretch/>
        </p:blipFill>
        <p:spPr>
          <a:xfrm>
            <a:off x="2514600" y="5005387"/>
            <a:ext cx="4240212" cy="1814512"/>
          </a:xfrm>
          <a:prstGeom prst="rect">
            <a:avLst/>
          </a:prstGeom>
          <a:noFill/>
          <a:ln>
            <a:noFill/>
          </a:ln>
        </p:spPr>
      </p:pic>
      <p:sp>
        <p:nvSpPr>
          <p:cNvPr id="153" name="Google Shape;153;p7"/>
          <p:cNvSpPr/>
          <p:nvPr/>
        </p:nvSpPr>
        <p:spPr>
          <a:xfrm rot="-2100000">
            <a:off x="4081462" y="5145087"/>
            <a:ext cx="533400" cy="325437"/>
          </a:xfrm>
          <a:prstGeom prst="leftArrow">
            <a:avLst>
              <a:gd fmla="val 6589" name="adj1"/>
              <a:gd fmla="val 50000" name="adj2"/>
            </a:avLst>
          </a:prstGeom>
          <a:solidFill>
            <a:srgbClr val="FF0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4" name="Google Shape;154;p7"/>
          <p:cNvSpPr txBox="1"/>
          <p:nvPr>
            <p:ph type="title"/>
          </p:nvPr>
        </p:nvSpPr>
        <p:spPr>
          <a:xfrm>
            <a:off x="307975" y="274637"/>
            <a:ext cx="8150225" cy="5635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1.1.1. MÔ HÌNH THÁC NƯỚC Waterfall Model</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anim calcmode="lin" valueType="num">
                                      <p:cBhvr additive="base">
                                        <p:cTn dur="500"/>
                                        <p:tgtEl>
                                          <p:spTgt spid="15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
                                            <p:txEl>
                                              <p:pRg end="1" st="1"/>
                                            </p:txEl>
                                          </p:spTgt>
                                        </p:tgtEl>
                                        <p:attrNameLst>
                                          <p:attrName>style.visibility</p:attrName>
                                        </p:attrNameLst>
                                      </p:cBhvr>
                                      <p:to>
                                        <p:strVal val="visible"/>
                                      </p:to>
                                    </p:set>
                                    <p:anim calcmode="lin" valueType="num">
                                      <p:cBhvr additive="base">
                                        <p:cTn dur="500"/>
                                        <p:tgtEl>
                                          <p:spTgt spid="15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
                                            <p:txEl>
                                              <p:pRg end="2" st="2"/>
                                            </p:txEl>
                                          </p:spTgt>
                                        </p:tgtEl>
                                        <p:attrNameLst>
                                          <p:attrName>style.visibility</p:attrName>
                                        </p:attrNameLst>
                                      </p:cBhvr>
                                      <p:to>
                                        <p:strVal val="visible"/>
                                      </p:to>
                                    </p:set>
                                    <p:anim calcmode="lin" valueType="num">
                                      <p:cBhvr additive="base">
                                        <p:cTn dur="500"/>
                                        <p:tgtEl>
                                          <p:spTgt spid="15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
                                            <p:txEl>
                                              <p:pRg end="3" st="3"/>
                                            </p:txEl>
                                          </p:spTgt>
                                        </p:tgtEl>
                                        <p:attrNameLst>
                                          <p:attrName>style.visibility</p:attrName>
                                        </p:attrNameLst>
                                      </p:cBhvr>
                                      <p:to>
                                        <p:strVal val="visible"/>
                                      </p:to>
                                    </p:set>
                                    <p:anim calcmode="lin" valueType="num">
                                      <p:cBhvr additive="base">
                                        <p:cTn dur="500"/>
                                        <p:tgtEl>
                                          <p:spTgt spid="15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
                                            <p:txEl>
                                              <p:pRg end="4" st="4"/>
                                            </p:txEl>
                                          </p:spTgt>
                                        </p:tgtEl>
                                        <p:attrNameLst>
                                          <p:attrName>style.visibility</p:attrName>
                                        </p:attrNameLst>
                                      </p:cBhvr>
                                      <p:to>
                                        <p:strVal val="visible"/>
                                      </p:to>
                                    </p:set>
                                    <p:anim calcmode="lin" valueType="num">
                                      <p:cBhvr additive="base">
                                        <p:cTn dur="500"/>
                                        <p:tgtEl>
                                          <p:spTgt spid="15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
                                            <p:txEl>
                                              <p:pRg end="5" st="5"/>
                                            </p:txEl>
                                          </p:spTgt>
                                        </p:tgtEl>
                                        <p:attrNameLst>
                                          <p:attrName>style.visibility</p:attrName>
                                        </p:attrNameLst>
                                      </p:cBhvr>
                                      <p:to>
                                        <p:strVal val="visible"/>
                                      </p:to>
                                    </p:set>
                                    <p:anim calcmode="lin" valueType="num">
                                      <p:cBhvr additive="base">
                                        <p:cTn dur="500"/>
                                        <p:tgtEl>
                                          <p:spTgt spid="15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
                                            <p:txEl>
                                              <p:pRg end="6" st="6"/>
                                            </p:txEl>
                                          </p:spTgt>
                                        </p:tgtEl>
                                        <p:attrNameLst>
                                          <p:attrName>style.visibility</p:attrName>
                                        </p:attrNameLst>
                                      </p:cBhvr>
                                      <p:to>
                                        <p:strVal val="visible"/>
                                      </p:to>
                                    </p:set>
                                    <p:anim calcmode="lin" valueType="num">
                                      <p:cBhvr additive="base">
                                        <p:cTn dur="500"/>
                                        <p:tgtEl>
                                          <p:spTgt spid="15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8"/>
          <p:cNvPicPr preferRelativeResize="0"/>
          <p:nvPr/>
        </p:nvPicPr>
        <p:blipFill rotWithShape="1">
          <a:blip r:embed="rId3">
            <a:alphaModFix/>
          </a:blip>
          <a:srcRect b="17084" l="0" r="0" t="0"/>
          <a:stretch/>
        </p:blipFill>
        <p:spPr>
          <a:xfrm>
            <a:off x="2362200" y="4343400"/>
            <a:ext cx="5516562" cy="2360612"/>
          </a:xfrm>
          <a:prstGeom prst="rect">
            <a:avLst/>
          </a:prstGeom>
          <a:noFill/>
          <a:ln>
            <a:noFill/>
          </a:ln>
        </p:spPr>
      </p:pic>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160" name="Google Shape;160;p8"/>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1" name="Google Shape;161;p8"/>
          <p:cNvSpPr/>
          <p:nvPr/>
        </p:nvSpPr>
        <p:spPr>
          <a:xfrm rot="-2100000">
            <a:off x="5291137" y="4846637"/>
            <a:ext cx="533400" cy="325437"/>
          </a:xfrm>
          <a:prstGeom prst="leftArrow">
            <a:avLst>
              <a:gd fmla="val 6589" name="adj1"/>
              <a:gd fmla="val 50000" name="adj2"/>
            </a:avLst>
          </a:prstGeom>
          <a:solidFill>
            <a:srgbClr val="FF0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2" name="Google Shape;162;p8"/>
          <p:cNvSpPr txBox="1"/>
          <p:nvPr/>
        </p:nvSpPr>
        <p:spPr>
          <a:xfrm>
            <a:off x="685800" y="1096962"/>
            <a:ext cx="8153400" cy="286226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FF0000"/>
              </a:buClr>
              <a:buSzPts val="2400"/>
              <a:buFont typeface="Arial"/>
              <a:buNone/>
            </a:pPr>
            <a:r>
              <a:rPr b="1" i="1" lang="en-US" sz="2400" u="none">
                <a:solidFill>
                  <a:srgbClr val="FF0000"/>
                </a:solidFill>
                <a:latin typeface="Arial"/>
                <a:ea typeface="Arial"/>
                <a:cs typeface="Arial"/>
                <a:sym typeface="Arial"/>
              </a:rPr>
              <a:t>Hiện thực</a:t>
            </a:r>
            <a:r>
              <a:rPr b="1" i="0" lang="en-US" sz="2400" u="none">
                <a:solidFill>
                  <a:srgbClr val="FF0000"/>
                </a:solidFill>
                <a:latin typeface="Arial"/>
                <a:ea typeface="Arial"/>
                <a:cs typeface="Arial"/>
                <a:sym typeface="Arial"/>
              </a:rPr>
              <a:t>:</a:t>
            </a:r>
            <a:r>
              <a:rPr b="0" i="0" lang="en-US" sz="2400" u="none">
                <a:solidFill>
                  <a:schemeClr val="dk1"/>
                </a:solidFill>
                <a:latin typeface="Arial"/>
                <a:ea typeface="Arial"/>
                <a:cs typeface="Arial"/>
                <a:sym typeface="Arial"/>
              </a:rPr>
              <a:t> Tiến hành ngay sau kết thúc việc thiết kế.</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Mục tiêu: Tạo lập phần mềm theo yêu cầu.</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Kết quả nhận: Mô hình phần mềm.</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Kết quả chuyển giao: Chương trình nguồn của phần mềm với CTDL tương ứng và chương trình thực hiện.</a:t>
            </a:r>
            <a:endParaRPr/>
          </a:p>
        </p:txBody>
      </p:sp>
      <p:sp>
        <p:nvSpPr>
          <p:cNvPr id="163" name="Google Shape;163;p8"/>
          <p:cNvSpPr txBox="1"/>
          <p:nvPr>
            <p:ph type="title"/>
          </p:nvPr>
        </p:nvSpPr>
        <p:spPr>
          <a:xfrm>
            <a:off x="307975" y="274637"/>
            <a:ext cx="8150225" cy="5635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1.1.1. MÔ HÌNH THÁC NƯỚC Waterfall Model</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anim calcmode="lin" valueType="num">
                                      <p:cBhvr additive="base">
                                        <p:cTn dur="500"/>
                                        <p:tgtEl>
                                          <p:spTgt spid="16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2">
                                            <p:txEl>
                                              <p:pRg end="1" st="1"/>
                                            </p:txEl>
                                          </p:spTgt>
                                        </p:tgtEl>
                                        <p:attrNameLst>
                                          <p:attrName>style.visibility</p:attrName>
                                        </p:attrNameLst>
                                      </p:cBhvr>
                                      <p:to>
                                        <p:strVal val="visible"/>
                                      </p:to>
                                    </p:set>
                                    <p:anim calcmode="lin" valueType="num">
                                      <p:cBhvr additive="base">
                                        <p:cTn dur="500"/>
                                        <p:tgtEl>
                                          <p:spTgt spid="16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2">
                                            <p:txEl>
                                              <p:pRg end="2" st="2"/>
                                            </p:txEl>
                                          </p:spTgt>
                                        </p:tgtEl>
                                        <p:attrNameLst>
                                          <p:attrName>style.visibility</p:attrName>
                                        </p:attrNameLst>
                                      </p:cBhvr>
                                      <p:to>
                                        <p:strVal val="visible"/>
                                      </p:to>
                                    </p:set>
                                    <p:anim calcmode="lin" valueType="num">
                                      <p:cBhvr additive="base">
                                        <p:cTn dur="500"/>
                                        <p:tgtEl>
                                          <p:spTgt spid="16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2">
                                            <p:txEl>
                                              <p:pRg end="3" st="3"/>
                                            </p:txEl>
                                          </p:spTgt>
                                        </p:tgtEl>
                                        <p:attrNameLst>
                                          <p:attrName>style.visibility</p:attrName>
                                        </p:attrNameLst>
                                      </p:cBhvr>
                                      <p:to>
                                        <p:strVal val="visible"/>
                                      </p:to>
                                    </p:set>
                                    <p:anim calcmode="lin" valueType="num">
                                      <p:cBhvr additive="base">
                                        <p:cTn dur="500"/>
                                        <p:tgtEl>
                                          <p:spTgt spid="16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168" name="Google Shape;168;p9"/>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9" name="Google Shape;169;p9"/>
          <p:cNvSpPr txBox="1"/>
          <p:nvPr/>
        </p:nvSpPr>
        <p:spPr>
          <a:xfrm>
            <a:off x="914400" y="990600"/>
            <a:ext cx="8001000" cy="2308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FF0000"/>
              </a:buClr>
              <a:buSzPts val="2400"/>
              <a:buFont typeface="Arial"/>
              <a:buNone/>
            </a:pPr>
            <a:r>
              <a:rPr b="1" i="1" lang="en-US" sz="2400" u="none">
                <a:solidFill>
                  <a:srgbClr val="FF0000"/>
                </a:solidFill>
                <a:latin typeface="Arial"/>
                <a:ea typeface="Arial"/>
                <a:cs typeface="Arial"/>
                <a:sym typeface="Arial"/>
              </a:rPr>
              <a:t>Kiểm thử</a:t>
            </a:r>
            <a:r>
              <a:rPr b="1" i="0" lang="en-US" sz="2400" u="none">
                <a:solidFill>
                  <a:srgbClr val="FF0000"/>
                </a:solidFill>
                <a:latin typeface="Arial"/>
                <a:ea typeface="Arial"/>
                <a:cs typeface="Arial"/>
                <a:sym typeface="Arial"/>
              </a:rPr>
              <a:t>: </a:t>
            </a:r>
            <a:r>
              <a:rPr b="0" i="0" lang="en-US" sz="2400" u="none">
                <a:solidFill>
                  <a:schemeClr val="dk1"/>
                </a:solidFill>
                <a:latin typeface="Arial"/>
                <a:ea typeface="Arial"/>
                <a:cs typeface="Arial"/>
                <a:sym typeface="Arial"/>
              </a:rPr>
              <a:t>Tiến hành sau kết quả hiện thực (lập trình).</a:t>
            </a:r>
            <a:endParaRPr/>
          </a:p>
          <a:p>
            <a:pPr indent="-152400" lvl="0" marL="0" marR="0" rtl="0" algn="l">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Mục tiêu: Tăng độ tin cậy của phần mềm.</a:t>
            </a:r>
            <a:endParaRPr/>
          </a:p>
          <a:p>
            <a:pPr indent="-152400" lvl="0" marL="0" marR="0" rtl="0" algn="l">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Kết quả nhận: các yêu cầu, mô hình phần mềm,…</a:t>
            </a:r>
            <a:endParaRPr/>
          </a:p>
          <a:p>
            <a:pPr indent="-152400" lvl="0" marL="0" marR="0" rtl="0" algn="l">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Kết quả chuyển giao: Phần mềm có độ tin cậy cao.</a:t>
            </a:r>
            <a:endParaRPr/>
          </a:p>
        </p:txBody>
      </p:sp>
      <p:pic>
        <p:nvPicPr>
          <p:cNvPr id="170" name="Google Shape;170;p9"/>
          <p:cNvPicPr preferRelativeResize="0"/>
          <p:nvPr/>
        </p:nvPicPr>
        <p:blipFill rotWithShape="1">
          <a:blip r:embed="rId3">
            <a:alphaModFix/>
          </a:blip>
          <a:srcRect b="17084" l="0" r="0" t="0"/>
          <a:stretch/>
        </p:blipFill>
        <p:spPr>
          <a:xfrm>
            <a:off x="2063750" y="3852862"/>
            <a:ext cx="6132512" cy="2624137"/>
          </a:xfrm>
          <a:prstGeom prst="rect">
            <a:avLst/>
          </a:prstGeom>
          <a:noFill/>
          <a:ln>
            <a:noFill/>
          </a:ln>
        </p:spPr>
      </p:pic>
      <p:sp>
        <p:nvSpPr>
          <p:cNvPr id="171" name="Google Shape;171;p9"/>
          <p:cNvSpPr/>
          <p:nvPr/>
        </p:nvSpPr>
        <p:spPr>
          <a:xfrm rot="-2100000">
            <a:off x="6575425" y="4846637"/>
            <a:ext cx="533400" cy="325437"/>
          </a:xfrm>
          <a:prstGeom prst="leftArrow">
            <a:avLst>
              <a:gd fmla="val 6589" name="adj1"/>
              <a:gd fmla="val 50000" name="adj2"/>
            </a:avLst>
          </a:prstGeom>
          <a:solidFill>
            <a:srgbClr val="FF0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2" name="Google Shape;172;p9"/>
          <p:cNvSpPr txBox="1"/>
          <p:nvPr>
            <p:ph type="title"/>
          </p:nvPr>
        </p:nvSpPr>
        <p:spPr>
          <a:xfrm>
            <a:off x="307975" y="274637"/>
            <a:ext cx="8150225" cy="5635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1.1.1. MÔ HÌNH THÁC NƯỚC Waterfall Model</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0" st="0"/>
                                            </p:txEl>
                                          </p:spTgt>
                                        </p:tgtEl>
                                        <p:attrNameLst>
                                          <p:attrName>style.visibility</p:attrName>
                                        </p:attrNameLst>
                                      </p:cBhvr>
                                      <p:to>
                                        <p:strVal val="visible"/>
                                      </p:to>
                                    </p:set>
                                    <p:anim calcmode="lin" valueType="num">
                                      <p:cBhvr additive="base">
                                        <p:cTn dur="500"/>
                                        <p:tgtEl>
                                          <p:spTgt spid="16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1" st="1"/>
                                            </p:txEl>
                                          </p:spTgt>
                                        </p:tgtEl>
                                        <p:attrNameLst>
                                          <p:attrName>style.visibility</p:attrName>
                                        </p:attrNameLst>
                                      </p:cBhvr>
                                      <p:to>
                                        <p:strVal val="visible"/>
                                      </p:to>
                                    </p:set>
                                    <p:anim calcmode="lin" valueType="num">
                                      <p:cBhvr additive="base">
                                        <p:cTn dur="500"/>
                                        <p:tgtEl>
                                          <p:spTgt spid="16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2" st="2"/>
                                            </p:txEl>
                                          </p:spTgt>
                                        </p:tgtEl>
                                        <p:attrNameLst>
                                          <p:attrName>style.visibility</p:attrName>
                                        </p:attrNameLst>
                                      </p:cBhvr>
                                      <p:to>
                                        <p:strVal val="visible"/>
                                      </p:to>
                                    </p:set>
                                    <p:anim calcmode="lin" valueType="num">
                                      <p:cBhvr additive="base">
                                        <p:cTn dur="500"/>
                                        <p:tgtEl>
                                          <p:spTgt spid="16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3" st="3"/>
                                            </p:txEl>
                                          </p:spTgt>
                                        </p:tgtEl>
                                        <p:attrNameLst>
                                          <p:attrName>style.visibility</p:attrName>
                                        </p:attrNameLst>
                                      </p:cBhvr>
                                      <p:to>
                                        <p:strVal val="visible"/>
                                      </p:to>
                                    </p:set>
                                    <p:anim calcmode="lin" valueType="num">
                                      <p:cBhvr additive="base">
                                        <p:cTn dur="500"/>
                                        <p:tgtEl>
                                          <p:spTgt spid="16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177" name="Google Shape;177;p10"/>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8" name="Google Shape;178;p10"/>
          <p:cNvSpPr txBox="1"/>
          <p:nvPr/>
        </p:nvSpPr>
        <p:spPr>
          <a:xfrm>
            <a:off x="914400" y="990600"/>
            <a:ext cx="8001000" cy="34163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FF0000"/>
              </a:buClr>
              <a:buSzPts val="2400"/>
              <a:buFont typeface="Arial"/>
              <a:buNone/>
            </a:pPr>
            <a:r>
              <a:rPr b="1" i="1" lang="en-US" sz="2400" u="none">
                <a:solidFill>
                  <a:srgbClr val="FF0000"/>
                </a:solidFill>
                <a:latin typeface="Arial"/>
                <a:ea typeface="Arial"/>
                <a:cs typeface="Arial"/>
                <a:sym typeface="Arial"/>
              </a:rPr>
              <a:t>Bảo trì</a:t>
            </a:r>
            <a:r>
              <a:rPr b="1" i="0" lang="en-US" sz="2400" u="none">
                <a:solidFill>
                  <a:srgbClr val="FF0000"/>
                </a:solidFill>
                <a:latin typeface="Arial"/>
                <a:ea typeface="Arial"/>
                <a:cs typeface="Arial"/>
                <a:sym typeface="Arial"/>
              </a:rPr>
              <a:t>: </a:t>
            </a:r>
            <a:r>
              <a:rPr b="0" i="0" lang="en-US" sz="2400" u="none">
                <a:solidFill>
                  <a:schemeClr val="dk1"/>
                </a:solidFill>
                <a:latin typeface="Arial"/>
                <a:ea typeface="Arial"/>
                <a:cs typeface="Arial"/>
                <a:sym typeface="Arial"/>
              </a:rPr>
              <a:t>Công việc của giai đoạn bao gồm việc cài đặt và vận hành phần mềm trong thực tế.</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Mục tiêu: Đảm bảo phần mềm vận hành tốt</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Kết quả nhận: Phần mềm đã hoàn thành</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Kết quả chuyển giao: Các phản ánh của khách hàng trong quá trình sử dụng.</a:t>
            </a:r>
            <a:endParaRPr/>
          </a:p>
        </p:txBody>
      </p:sp>
      <p:pic>
        <p:nvPicPr>
          <p:cNvPr id="179" name="Google Shape;179;p10"/>
          <p:cNvPicPr preferRelativeResize="0"/>
          <p:nvPr/>
        </p:nvPicPr>
        <p:blipFill rotWithShape="1">
          <a:blip r:embed="rId3">
            <a:alphaModFix/>
          </a:blip>
          <a:srcRect b="17084" l="0" r="0" t="0"/>
          <a:stretch/>
        </p:blipFill>
        <p:spPr>
          <a:xfrm>
            <a:off x="2514600" y="4406900"/>
            <a:ext cx="5394325" cy="2308225"/>
          </a:xfrm>
          <a:prstGeom prst="rect">
            <a:avLst/>
          </a:prstGeom>
          <a:noFill/>
          <a:ln>
            <a:noFill/>
          </a:ln>
        </p:spPr>
      </p:pic>
      <p:sp>
        <p:nvSpPr>
          <p:cNvPr id="180" name="Google Shape;180;p10"/>
          <p:cNvSpPr/>
          <p:nvPr/>
        </p:nvSpPr>
        <p:spPr>
          <a:xfrm rot="-2100000">
            <a:off x="7204075" y="5586412"/>
            <a:ext cx="533400" cy="325437"/>
          </a:xfrm>
          <a:prstGeom prst="leftArrow">
            <a:avLst>
              <a:gd fmla="val 6589" name="adj1"/>
              <a:gd fmla="val 50000" name="adj2"/>
            </a:avLst>
          </a:prstGeom>
          <a:solidFill>
            <a:srgbClr val="FF0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1" name="Google Shape;181;p10"/>
          <p:cNvSpPr txBox="1"/>
          <p:nvPr>
            <p:ph type="title"/>
          </p:nvPr>
        </p:nvSpPr>
        <p:spPr>
          <a:xfrm>
            <a:off x="307975" y="274637"/>
            <a:ext cx="8150225" cy="5635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1.1.1. MÔ HÌNH THÁC NƯỚC Waterfall Model</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8">
                                            <p:txEl>
                                              <p:pRg end="0" st="0"/>
                                            </p:txEl>
                                          </p:spTgt>
                                        </p:tgtEl>
                                        <p:attrNameLst>
                                          <p:attrName>style.visibility</p:attrName>
                                        </p:attrNameLst>
                                      </p:cBhvr>
                                      <p:to>
                                        <p:strVal val="visible"/>
                                      </p:to>
                                    </p:set>
                                    <p:anim calcmode="lin" valueType="num">
                                      <p:cBhvr additive="base">
                                        <p:cTn dur="500"/>
                                        <p:tgtEl>
                                          <p:spTgt spid="17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8">
                                            <p:txEl>
                                              <p:pRg end="1" st="1"/>
                                            </p:txEl>
                                          </p:spTgt>
                                        </p:tgtEl>
                                        <p:attrNameLst>
                                          <p:attrName>style.visibility</p:attrName>
                                        </p:attrNameLst>
                                      </p:cBhvr>
                                      <p:to>
                                        <p:strVal val="visible"/>
                                      </p:to>
                                    </p:set>
                                    <p:anim calcmode="lin" valueType="num">
                                      <p:cBhvr additive="base">
                                        <p:cTn dur="500"/>
                                        <p:tgtEl>
                                          <p:spTgt spid="17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8">
                                            <p:txEl>
                                              <p:pRg end="2" st="2"/>
                                            </p:txEl>
                                          </p:spTgt>
                                        </p:tgtEl>
                                        <p:attrNameLst>
                                          <p:attrName>style.visibility</p:attrName>
                                        </p:attrNameLst>
                                      </p:cBhvr>
                                      <p:to>
                                        <p:strVal val="visible"/>
                                      </p:to>
                                    </p:set>
                                    <p:anim calcmode="lin" valueType="num">
                                      <p:cBhvr additive="base">
                                        <p:cTn dur="500"/>
                                        <p:tgtEl>
                                          <p:spTgt spid="17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8">
                                            <p:txEl>
                                              <p:pRg end="3" st="3"/>
                                            </p:txEl>
                                          </p:spTgt>
                                        </p:tgtEl>
                                        <p:attrNameLst>
                                          <p:attrName>style.visibility</p:attrName>
                                        </p:attrNameLst>
                                      </p:cBhvr>
                                      <p:to>
                                        <p:strVal val="visible"/>
                                      </p:to>
                                    </p:set>
                                    <p:anim calcmode="lin" valueType="num">
                                      <p:cBhvr additive="base">
                                        <p:cTn dur="500"/>
                                        <p:tgtEl>
                                          <p:spTgt spid="17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186" name="Google Shape;186;p11"/>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7" name="Google Shape;187;p11"/>
          <p:cNvSpPr txBox="1"/>
          <p:nvPr/>
        </p:nvSpPr>
        <p:spPr>
          <a:xfrm>
            <a:off x="990600" y="1066800"/>
            <a:ext cx="8001000" cy="47704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Nhận xét:</a:t>
            </a:r>
            <a:endParaRPr/>
          </a:p>
          <a:p>
            <a:pPr indent="-152400" lvl="0" marL="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Dễ phân chia quá trình xây dựng PM thành những giai đoạn độc lập. </a:t>
            </a:r>
            <a:endParaRPr/>
          </a:p>
          <a:p>
            <a:pPr indent="-152400" lvl="0" marL="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Các dự án lớn ít khi tuân theo dòng chảy tuần tự của mô hình (cần lặp lại các bước để nâng chất lượng, khách hàng ít tuyên bố hết các yêu cầu trong giai đoạn phân tích).</a:t>
            </a:r>
            <a:endParaRPr/>
          </a:p>
          <a:p>
            <a:pPr indent="-152400" lvl="0" marL="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Rất khó thay đổi khi đã thực hiện xong một giai đoạn, khó thay đổi các yêu cầu theo ý khách hàng. </a:t>
            </a:r>
            <a:endParaRPr/>
          </a:p>
          <a:p>
            <a:pPr indent="-152400" lvl="0" marL="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Phương pháp này chỉ thích hợp đã hiểu rất rõ các yêu cầu của khách hàng, những thay đổi sẽ được giới hạn.</a:t>
            </a:r>
            <a:endParaRPr/>
          </a:p>
        </p:txBody>
      </p:sp>
      <p:sp>
        <p:nvSpPr>
          <p:cNvPr id="188" name="Google Shape;188;p11"/>
          <p:cNvSpPr txBox="1"/>
          <p:nvPr>
            <p:ph type="title"/>
          </p:nvPr>
        </p:nvSpPr>
        <p:spPr>
          <a:xfrm>
            <a:off x="307975" y="274637"/>
            <a:ext cx="8150225" cy="5635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1.1.1. MÔ HÌNH THÁC NƯỚC Waterfall Model</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7">
                                            <p:txEl>
                                              <p:pRg end="0" st="0"/>
                                            </p:txEl>
                                          </p:spTgt>
                                        </p:tgtEl>
                                        <p:attrNameLst>
                                          <p:attrName>style.visibility</p:attrName>
                                        </p:attrNameLst>
                                      </p:cBhvr>
                                      <p:to>
                                        <p:strVal val="visible"/>
                                      </p:to>
                                    </p:set>
                                    <p:anim calcmode="lin" valueType="num">
                                      <p:cBhvr additive="base">
                                        <p:cTn dur="500"/>
                                        <p:tgtEl>
                                          <p:spTgt spid="18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7">
                                            <p:txEl>
                                              <p:pRg end="1" st="1"/>
                                            </p:txEl>
                                          </p:spTgt>
                                        </p:tgtEl>
                                        <p:attrNameLst>
                                          <p:attrName>style.visibility</p:attrName>
                                        </p:attrNameLst>
                                      </p:cBhvr>
                                      <p:to>
                                        <p:strVal val="visible"/>
                                      </p:to>
                                    </p:set>
                                    <p:anim calcmode="lin" valueType="num">
                                      <p:cBhvr additive="base">
                                        <p:cTn dur="500"/>
                                        <p:tgtEl>
                                          <p:spTgt spid="18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7">
                                            <p:txEl>
                                              <p:pRg end="2" st="2"/>
                                            </p:txEl>
                                          </p:spTgt>
                                        </p:tgtEl>
                                        <p:attrNameLst>
                                          <p:attrName>style.visibility</p:attrName>
                                        </p:attrNameLst>
                                      </p:cBhvr>
                                      <p:to>
                                        <p:strVal val="visible"/>
                                      </p:to>
                                    </p:set>
                                    <p:anim calcmode="lin" valueType="num">
                                      <p:cBhvr additive="base">
                                        <p:cTn dur="500"/>
                                        <p:tgtEl>
                                          <p:spTgt spid="18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7">
                                            <p:txEl>
                                              <p:pRg end="3" st="3"/>
                                            </p:txEl>
                                          </p:spTgt>
                                        </p:tgtEl>
                                        <p:attrNameLst>
                                          <p:attrName>style.visibility</p:attrName>
                                        </p:attrNameLst>
                                      </p:cBhvr>
                                      <p:to>
                                        <p:strVal val="visible"/>
                                      </p:to>
                                    </p:set>
                                    <p:anim calcmode="lin" valueType="num">
                                      <p:cBhvr additive="base">
                                        <p:cTn dur="500"/>
                                        <p:tgtEl>
                                          <p:spTgt spid="18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7">
                                            <p:txEl>
                                              <p:pRg end="4" st="4"/>
                                            </p:txEl>
                                          </p:spTgt>
                                        </p:tgtEl>
                                        <p:attrNameLst>
                                          <p:attrName>style.visibility</p:attrName>
                                        </p:attrNameLst>
                                      </p:cBhvr>
                                      <p:to>
                                        <p:strVal val="visible"/>
                                      </p:to>
                                    </p:set>
                                    <p:anim calcmode="lin" valueType="num">
                                      <p:cBhvr additive="base">
                                        <p:cTn dur="500"/>
                                        <p:tgtEl>
                                          <p:spTgt spid="18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193" name="Google Shape;193;p12"/>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4" name="Google Shape;194;p12"/>
          <p:cNvSpPr txBox="1"/>
          <p:nvPr/>
        </p:nvSpPr>
        <p:spPr>
          <a:xfrm>
            <a:off x="914400" y="1066800"/>
            <a:ext cx="8153400" cy="175418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C00000"/>
              </a:buClr>
              <a:buSzPts val="2400"/>
              <a:buFont typeface="Arial"/>
              <a:buNone/>
            </a:pPr>
            <a:r>
              <a:rPr b="1" i="0" lang="en-US" sz="2400" u="none">
                <a:solidFill>
                  <a:srgbClr val="C00000"/>
                </a:solidFill>
                <a:latin typeface="Arial"/>
                <a:ea typeface="Arial"/>
                <a:cs typeface="Arial"/>
                <a:sym typeface="Arial"/>
              </a:rPr>
              <a:t>Chú ý:</a:t>
            </a:r>
            <a:endParaRPr/>
          </a:p>
          <a:p>
            <a:pPr indent="0" lvl="0" marL="0" marR="0" rtl="0" algn="just">
              <a:lnSpc>
                <a:spcPct val="15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Mô hình thác nước có thể được cải tiến bằng cách cho phép quay lui khi phát hiện lỗi trong giai đoạn phía trước.</a:t>
            </a:r>
            <a:endParaRPr/>
          </a:p>
        </p:txBody>
      </p:sp>
      <p:pic>
        <p:nvPicPr>
          <p:cNvPr id="195" name="Google Shape;195;p12"/>
          <p:cNvPicPr preferRelativeResize="0"/>
          <p:nvPr/>
        </p:nvPicPr>
        <p:blipFill rotWithShape="1">
          <a:blip r:embed="rId3">
            <a:alphaModFix/>
          </a:blip>
          <a:srcRect b="17084" l="0" r="0" t="0"/>
          <a:stretch/>
        </p:blipFill>
        <p:spPr>
          <a:xfrm>
            <a:off x="1752600" y="2820987"/>
            <a:ext cx="6583362" cy="2817812"/>
          </a:xfrm>
          <a:prstGeom prst="rect">
            <a:avLst/>
          </a:prstGeom>
          <a:noFill/>
          <a:ln>
            <a:noFill/>
          </a:ln>
        </p:spPr>
      </p:pic>
      <p:sp>
        <p:nvSpPr>
          <p:cNvPr id="196" name="Google Shape;196;p12"/>
          <p:cNvSpPr txBox="1"/>
          <p:nvPr>
            <p:ph type="title"/>
          </p:nvPr>
        </p:nvSpPr>
        <p:spPr>
          <a:xfrm>
            <a:off x="307975" y="274637"/>
            <a:ext cx="8150225" cy="5635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1.1.1. MÔ HÌNH THÁC NƯỚC Waterfall Model</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4">
                                            <p:txEl>
                                              <p:pRg end="0" st="0"/>
                                            </p:txEl>
                                          </p:spTgt>
                                        </p:tgtEl>
                                        <p:attrNameLst>
                                          <p:attrName>style.visibility</p:attrName>
                                        </p:attrNameLst>
                                      </p:cBhvr>
                                      <p:to>
                                        <p:strVal val="visible"/>
                                      </p:to>
                                    </p:set>
                                    <p:anim calcmode="lin" valueType="num">
                                      <p:cBhvr additive="base">
                                        <p:cTn dur="500"/>
                                        <p:tgtEl>
                                          <p:spTgt spid="19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4">
                                            <p:txEl>
                                              <p:pRg end="1" st="1"/>
                                            </p:txEl>
                                          </p:spTgt>
                                        </p:tgtEl>
                                        <p:attrNameLst>
                                          <p:attrName>style.visibility</p:attrName>
                                        </p:attrNameLst>
                                      </p:cBhvr>
                                      <p:to>
                                        <p:strVal val="visible"/>
                                      </p:to>
                                    </p:set>
                                    <p:anim calcmode="lin" valueType="num">
                                      <p:cBhvr additive="base">
                                        <p:cTn dur="500"/>
                                        <p:tgtEl>
                                          <p:spTgt spid="19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3"/>
          <p:cNvSpPr txBox="1"/>
          <p:nvPr>
            <p:ph type="title"/>
          </p:nvPr>
        </p:nvSpPr>
        <p:spPr>
          <a:xfrm>
            <a:off x="381000" y="2286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1.1.2. MÔ HÌNH BẢN MẪU </a:t>
            </a:r>
            <a:r>
              <a:rPr b="0" i="0" lang="en-US" sz="2800" u="none">
                <a:solidFill>
                  <a:schemeClr val="lt1"/>
                </a:solidFill>
                <a:latin typeface="Arial"/>
                <a:ea typeface="Arial"/>
                <a:cs typeface="Arial"/>
                <a:sym typeface="Arial"/>
              </a:rPr>
              <a:t>Prototype Model</a:t>
            </a:r>
            <a:endParaRPr/>
          </a:p>
        </p:txBody>
      </p:sp>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202" name="Google Shape;202;p13"/>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3" name="Google Shape;203;p13"/>
          <p:cNvSpPr txBox="1"/>
          <p:nvPr/>
        </p:nvSpPr>
        <p:spPr>
          <a:xfrm>
            <a:off x="914400" y="1068387"/>
            <a:ext cx="7924800" cy="230822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Tương tự như mô hình thác nước với việc bổ sung vào </a:t>
            </a:r>
            <a:r>
              <a:rPr b="0" i="1" lang="en-US" sz="2400" u="none">
                <a:solidFill>
                  <a:schemeClr val="dk1"/>
                </a:solidFill>
                <a:latin typeface="Arial"/>
                <a:ea typeface="Arial"/>
                <a:cs typeface="Arial"/>
                <a:sym typeface="Arial"/>
              </a:rPr>
              <a:t>giai đoạn thực hiện phần mềm mẫu</a:t>
            </a:r>
            <a:r>
              <a:rPr b="0" i="0" lang="en-US" sz="2400" u="none">
                <a:solidFill>
                  <a:schemeClr val="dk1"/>
                </a:solidFill>
                <a:latin typeface="Arial"/>
                <a:ea typeface="Arial"/>
                <a:cs typeface="Arial"/>
                <a:sym typeface="Arial"/>
              </a:rPr>
              <a:t>. </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Có thể tiến hành lặp lại mà không nhất thiết theo trình tự nhất định.</a:t>
            </a:r>
            <a:endParaRPr/>
          </a:p>
        </p:txBody>
      </p:sp>
      <p:pic>
        <p:nvPicPr>
          <p:cNvPr id="204" name="Google Shape;204;p13"/>
          <p:cNvPicPr preferRelativeResize="0"/>
          <p:nvPr/>
        </p:nvPicPr>
        <p:blipFill rotWithShape="1">
          <a:blip r:embed="rId3">
            <a:alphaModFix/>
          </a:blip>
          <a:srcRect b="0" l="0" r="0" t="0"/>
          <a:stretch/>
        </p:blipFill>
        <p:spPr>
          <a:xfrm>
            <a:off x="1752600" y="3429000"/>
            <a:ext cx="6716712" cy="2895600"/>
          </a:xfrm>
          <a:prstGeom prst="rect">
            <a:avLst/>
          </a:prstGeom>
          <a:noFill/>
          <a:ln>
            <a:noFill/>
          </a:ln>
        </p:spPr>
      </p:pic>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3">
                                            <p:txEl>
                                              <p:pRg end="0" st="0"/>
                                            </p:txEl>
                                          </p:spTgt>
                                        </p:tgtEl>
                                        <p:attrNameLst>
                                          <p:attrName>style.visibility</p:attrName>
                                        </p:attrNameLst>
                                      </p:cBhvr>
                                      <p:to>
                                        <p:strVal val="visible"/>
                                      </p:to>
                                    </p:set>
                                    <p:anim calcmode="lin" valueType="num">
                                      <p:cBhvr additive="base">
                                        <p:cTn dur="500"/>
                                        <p:tgtEl>
                                          <p:spTgt spid="20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3">
                                            <p:txEl>
                                              <p:pRg end="1" st="1"/>
                                            </p:txEl>
                                          </p:spTgt>
                                        </p:tgtEl>
                                        <p:attrNameLst>
                                          <p:attrName>style.visibility</p:attrName>
                                        </p:attrNameLst>
                                      </p:cBhvr>
                                      <p:to>
                                        <p:strVal val="visible"/>
                                      </p:to>
                                    </p:set>
                                    <p:anim calcmode="lin" valueType="num">
                                      <p:cBhvr additive="base">
                                        <p:cTn dur="500"/>
                                        <p:tgtEl>
                                          <p:spTgt spid="20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gtEl>
                                        <p:attrNameLst>
                                          <p:attrName>style.visibility</p:attrName>
                                        </p:attrNameLst>
                                      </p:cBhvr>
                                      <p:to>
                                        <p:strVal val="visible"/>
                                      </p:to>
                                    </p:set>
                                    <p:anim calcmode="lin" valueType="num">
                                      <p:cBhvr additive="base">
                                        <p:cTn dur="500"/>
                                        <p:tgtEl>
                                          <p:spTgt spid="20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209" name="Google Shape;209;p14"/>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0" name="Google Shape;210;p14"/>
          <p:cNvSpPr txBox="1"/>
          <p:nvPr/>
        </p:nvSpPr>
        <p:spPr>
          <a:xfrm>
            <a:off x="914400" y="1068387"/>
            <a:ext cx="7924800" cy="34163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Ngay sau giai đoạn Xác định yêu cầu phân tích, sẽ đưa ra một bản thiết kế sơ bộ</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 Tiếp theo tiến hành hiện thực bản mẫu đầu tiên, rồi chuyển cho người sử dụng. </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Bản mẫu này chỉ nhằm để mô tả cách thức phần mềm hoạt động cũng như cách người dùng tương tác.</a:t>
            </a:r>
            <a:endParaRPr/>
          </a:p>
        </p:txBody>
      </p:sp>
      <p:pic>
        <p:nvPicPr>
          <p:cNvPr id="211" name="Google Shape;211;p14"/>
          <p:cNvPicPr preferRelativeResize="0"/>
          <p:nvPr/>
        </p:nvPicPr>
        <p:blipFill rotWithShape="1">
          <a:blip r:embed="rId3">
            <a:alphaModFix/>
          </a:blip>
          <a:srcRect b="0" l="0" r="0" t="0"/>
          <a:stretch/>
        </p:blipFill>
        <p:spPr>
          <a:xfrm>
            <a:off x="2379662" y="4924425"/>
            <a:ext cx="4676775" cy="1704975"/>
          </a:xfrm>
          <a:prstGeom prst="rect">
            <a:avLst/>
          </a:prstGeom>
          <a:noFill/>
          <a:ln>
            <a:noFill/>
          </a:ln>
        </p:spPr>
      </p:pic>
      <p:sp>
        <p:nvSpPr>
          <p:cNvPr id="212" name="Google Shape;212;p14"/>
          <p:cNvSpPr/>
          <p:nvPr/>
        </p:nvSpPr>
        <p:spPr>
          <a:xfrm flipH="1" rot="4140000">
            <a:off x="3937793" y="4683918"/>
            <a:ext cx="533400" cy="319087"/>
          </a:xfrm>
          <a:prstGeom prst="leftArrow">
            <a:avLst>
              <a:gd fmla="val 6461" name="adj1"/>
              <a:gd fmla="val 50000" name="adj2"/>
            </a:avLst>
          </a:prstGeom>
          <a:solidFill>
            <a:srgbClr val="FF0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3" name="Google Shape;213;p14"/>
          <p:cNvSpPr/>
          <p:nvPr/>
        </p:nvSpPr>
        <p:spPr>
          <a:xfrm flipH="1" rot="4440000">
            <a:off x="5237956" y="4683918"/>
            <a:ext cx="533400" cy="319087"/>
          </a:xfrm>
          <a:prstGeom prst="leftArrow">
            <a:avLst>
              <a:gd fmla="val 6461" name="adj1"/>
              <a:gd fmla="val 50000" name="adj2"/>
            </a:avLst>
          </a:prstGeom>
          <a:solidFill>
            <a:srgbClr val="FF0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4" name="Google Shape;214;p14"/>
          <p:cNvSpPr/>
          <p:nvPr/>
        </p:nvSpPr>
        <p:spPr>
          <a:xfrm flipH="1" rot="3240000">
            <a:off x="6380956" y="5083968"/>
            <a:ext cx="533400" cy="319087"/>
          </a:xfrm>
          <a:prstGeom prst="leftArrow">
            <a:avLst>
              <a:gd fmla="val 6461" name="adj1"/>
              <a:gd fmla="val 50000" name="adj2"/>
            </a:avLst>
          </a:prstGeom>
          <a:solidFill>
            <a:srgbClr val="FF0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5" name="Google Shape;215;p14"/>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1.1.2. MÔ HÌNH BẢN MẪU </a:t>
            </a:r>
            <a:r>
              <a:rPr b="0" i="0" lang="en-US" sz="2800" u="none">
                <a:solidFill>
                  <a:schemeClr val="lt1"/>
                </a:solidFill>
                <a:latin typeface="Arial"/>
                <a:ea typeface="Arial"/>
                <a:cs typeface="Arial"/>
                <a:sym typeface="Arial"/>
              </a:rPr>
              <a:t>Prototype Model</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0">
                                            <p:txEl>
                                              <p:pRg end="0" st="0"/>
                                            </p:txEl>
                                          </p:spTgt>
                                        </p:tgtEl>
                                        <p:attrNameLst>
                                          <p:attrName>style.visibility</p:attrName>
                                        </p:attrNameLst>
                                      </p:cBhvr>
                                      <p:to>
                                        <p:strVal val="visible"/>
                                      </p:to>
                                    </p:set>
                                    <p:anim calcmode="lin" valueType="num">
                                      <p:cBhvr additive="base">
                                        <p:cTn dur="500"/>
                                        <p:tgtEl>
                                          <p:spTgt spid="21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0">
                                            <p:txEl>
                                              <p:pRg end="1" st="1"/>
                                            </p:txEl>
                                          </p:spTgt>
                                        </p:tgtEl>
                                        <p:attrNameLst>
                                          <p:attrName>style.visibility</p:attrName>
                                        </p:attrNameLst>
                                      </p:cBhvr>
                                      <p:to>
                                        <p:strVal val="visible"/>
                                      </p:to>
                                    </p:set>
                                    <p:anim calcmode="lin" valueType="num">
                                      <p:cBhvr additive="base">
                                        <p:cTn dur="500"/>
                                        <p:tgtEl>
                                          <p:spTgt spid="21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0">
                                            <p:txEl>
                                              <p:pRg end="2" st="2"/>
                                            </p:txEl>
                                          </p:spTgt>
                                        </p:tgtEl>
                                        <p:attrNameLst>
                                          <p:attrName>style.visibility</p:attrName>
                                        </p:attrNameLst>
                                      </p:cBhvr>
                                      <p:to>
                                        <p:strVal val="visible"/>
                                      </p:to>
                                    </p:set>
                                    <p:anim calcmode="lin" valueType="num">
                                      <p:cBhvr additive="base">
                                        <p:cTn dur="500"/>
                                        <p:tgtEl>
                                          <p:spTgt spid="21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220" name="Google Shape;220;p15"/>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1" name="Google Shape;221;p15"/>
          <p:cNvSpPr txBox="1"/>
          <p:nvPr/>
        </p:nvSpPr>
        <p:spPr>
          <a:xfrm>
            <a:off x="914400" y="1068387"/>
            <a:ext cx="7924800" cy="298608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Người dùng sau khi xem xét sẽ phản hồi thông tin cần thiết lại cho nhóm phát triển.</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Nếu người dùng đồng ý với bản mẫu, nhóm phát triển sẽ tiến hành hiện thực. Ngược lại, phải quay lại giai đoạn xác định yêu cầu. </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Lặp lại liên tục cho đến khi người sử dụng đồng ý với bản mẫu do nhà phát triển đưa ra.</a:t>
            </a:r>
            <a:endParaRPr/>
          </a:p>
        </p:txBody>
      </p:sp>
      <p:pic>
        <p:nvPicPr>
          <p:cNvPr id="222" name="Google Shape;222;p15"/>
          <p:cNvPicPr preferRelativeResize="0"/>
          <p:nvPr/>
        </p:nvPicPr>
        <p:blipFill rotWithShape="1">
          <a:blip r:embed="rId3">
            <a:alphaModFix/>
          </a:blip>
          <a:srcRect b="0" l="0" r="0" t="0"/>
          <a:stretch/>
        </p:blipFill>
        <p:spPr>
          <a:xfrm>
            <a:off x="3352800" y="4572000"/>
            <a:ext cx="4676775" cy="1704975"/>
          </a:xfrm>
          <a:prstGeom prst="rect">
            <a:avLst/>
          </a:prstGeom>
          <a:noFill/>
          <a:ln>
            <a:noFill/>
          </a:ln>
        </p:spPr>
      </p:pic>
      <p:sp>
        <p:nvSpPr>
          <p:cNvPr id="223" name="Google Shape;223;p15"/>
          <p:cNvSpPr/>
          <p:nvPr/>
        </p:nvSpPr>
        <p:spPr>
          <a:xfrm rot="5040000">
            <a:off x="5863431" y="6290468"/>
            <a:ext cx="533400" cy="325437"/>
          </a:xfrm>
          <a:prstGeom prst="leftArrow">
            <a:avLst>
              <a:gd fmla="val 6589" name="adj1"/>
              <a:gd fmla="val 50000" name="adj2"/>
            </a:avLst>
          </a:prstGeom>
          <a:solidFill>
            <a:srgbClr val="FF0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4" name="Google Shape;224;p15"/>
          <p:cNvSpPr/>
          <p:nvPr/>
        </p:nvSpPr>
        <p:spPr>
          <a:xfrm rot="5040000">
            <a:off x="4817268" y="6315868"/>
            <a:ext cx="533400" cy="325437"/>
          </a:xfrm>
          <a:prstGeom prst="leftArrow">
            <a:avLst>
              <a:gd fmla="val 6589" name="adj1"/>
              <a:gd fmla="val 50000" name="adj2"/>
            </a:avLst>
          </a:prstGeom>
          <a:solidFill>
            <a:srgbClr val="FF0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5" name="Google Shape;225;p15"/>
          <p:cNvSpPr/>
          <p:nvPr/>
        </p:nvSpPr>
        <p:spPr>
          <a:xfrm rot="5040000">
            <a:off x="3501231" y="5885656"/>
            <a:ext cx="533400" cy="325437"/>
          </a:xfrm>
          <a:prstGeom prst="leftArrow">
            <a:avLst>
              <a:gd fmla="val 6589" name="adj1"/>
              <a:gd fmla="val 50000" name="adj2"/>
            </a:avLst>
          </a:prstGeom>
          <a:solidFill>
            <a:srgbClr val="FF0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6" name="Google Shape;226;p15"/>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1.1.2. MÔ HÌNH BẢN MẪU </a:t>
            </a:r>
            <a:r>
              <a:rPr b="0" i="0" lang="en-US" sz="2800" u="none">
                <a:solidFill>
                  <a:schemeClr val="lt1"/>
                </a:solidFill>
                <a:latin typeface="Arial"/>
                <a:ea typeface="Arial"/>
                <a:cs typeface="Arial"/>
                <a:sym typeface="Arial"/>
              </a:rPr>
              <a:t>Prototype Model</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 calcmode="lin" valueType="num">
                                      <p:cBhvr additive="base">
                                        <p:cTn dur="500"/>
                                        <p:tgtEl>
                                          <p:spTgt spid="22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
                                            <p:txEl>
                                              <p:pRg end="1" st="1"/>
                                            </p:txEl>
                                          </p:spTgt>
                                        </p:tgtEl>
                                        <p:attrNameLst>
                                          <p:attrName>style.visibility</p:attrName>
                                        </p:attrNameLst>
                                      </p:cBhvr>
                                      <p:to>
                                        <p:strVal val="visible"/>
                                      </p:to>
                                    </p:set>
                                    <p:anim calcmode="lin" valueType="num">
                                      <p:cBhvr additive="base">
                                        <p:cTn dur="500"/>
                                        <p:tgtEl>
                                          <p:spTgt spid="22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
                                            <p:txEl>
                                              <p:pRg end="2" st="2"/>
                                            </p:txEl>
                                          </p:spTgt>
                                        </p:tgtEl>
                                        <p:attrNameLst>
                                          <p:attrName>style.visibility</p:attrName>
                                        </p:attrNameLst>
                                      </p:cBhvr>
                                      <p:to>
                                        <p:strVal val="visible"/>
                                      </p:to>
                                    </p:set>
                                    <p:anim calcmode="lin" valueType="num">
                                      <p:cBhvr additive="base">
                                        <p:cTn dur="500"/>
                                        <p:tgtEl>
                                          <p:spTgt spid="22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231" name="Google Shape;231;p16"/>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2" name="Google Shape;232;p16"/>
          <p:cNvSpPr txBox="1"/>
          <p:nvPr/>
        </p:nvSpPr>
        <p:spPr>
          <a:xfrm>
            <a:off x="914400" y="990600"/>
            <a:ext cx="7924800" cy="298608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Là một hướng tiếp cận tốt khi các yêu cầu chưa rõ ràng. </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Tính cấu trúc không cao dễ mất tin tưởng của khách hàng, và thiếu tầm nhìn của cả quy trình; </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Chỉ nên áp dụng với những hệ thống có tương tác ở mức độ nhỏ/vừa; một phần của hệ thống lớn; hoặc có thời gian chu kỳ tồn tại ngắn.</a:t>
            </a:r>
            <a:endParaRPr/>
          </a:p>
        </p:txBody>
      </p:sp>
      <p:pic>
        <p:nvPicPr>
          <p:cNvPr id="233" name="Google Shape;233;p16"/>
          <p:cNvPicPr preferRelativeResize="0"/>
          <p:nvPr/>
        </p:nvPicPr>
        <p:blipFill rotWithShape="1">
          <a:blip r:embed="rId3">
            <a:alphaModFix/>
          </a:blip>
          <a:srcRect b="0" l="0" r="0" t="0"/>
          <a:stretch/>
        </p:blipFill>
        <p:spPr>
          <a:xfrm>
            <a:off x="2209800" y="3989387"/>
            <a:ext cx="6061075" cy="2209800"/>
          </a:xfrm>
          <a:prstGeom prst="rect">
            <a:avLst/>
          </a:prstGeom>
          <a:noFill/>
          <a:ln>
            <a:noFill/>
          </a:ln>
        </p:spPr>
      </p:pic>
      <p:sp>
        <p:nvSpPr>
          <p:cNvPr id="234" name="Google Shape;234;p16"/>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1.1.2. MÔ HÌNH BẢN MẪU </a:t>
            </a:r>
            <a:r>
              <a:rPr b="0" i="0" lang="en-US" sz="2800" u="none">
                <a:solidFill>
                  <a:schemeClr val="lt1"/>
                </a:solidFill>
                <a:latin typeface="Arial"/>
                <a:ea typeface="Arial"/>
                <a:cs typeface="Arial"/>
                <a:sym typeface="Arial"/>
              </a:rPr>
              <a:t>Prototype Model</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2">
                                            <p:txEl>
                                              <p:pRg end="0" st="0"/>
                                            </p:txEl>
                                          </p:spTgt>
                                        </p:tgtEl>
                                        <p:attrNameLst>
                                          <p:attrName>style.visibility</p:attrName>
                                        </p:attrNameLst>
                                      </p:cBhvr>
                                      <p:to>
                                        <p:strVal val="visible"/>
                                      </p:to>
                                    </p:set>
                                    <p:anim calcmode="lin" valueType="num">
                                      <p:cBhvr additive="base">
                                        <p:cTn dur="500"/>
                                        <p:tgtEl>
                                          <p:spTgt spid="23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2">
                                            <p:txEl>
                                              <p:pRg end="1" st="1"/>
                                            </p:txEl>
                                          </p:spTgt>
                                        </p:tgtEl>
                                        <p:attrNameLst>
                                          <p:attrName>style.visibility</p:attrName>
                                        </p:attrNameLst>
                                      </p:cBhvr>
                                      <p:to>
                                        <p:strVal val="visible"/>
                                      </p:to>
                                    </p:set>
                                    <p:anim calcmode="lin" valueType="num">
                                      <p:cBhvr additive="base">
                                        <p:cTn dur="500"/>
                                        <p:tgtEl>
                                          <p:spTgt spid="23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2">
                                            <p:txEl>
                                              <p:pRg end="2" st="2"/>
                                            </p:txEl>
                                          </p:spTgt>
                                        </p:tgtEl>
                                        <p:attrNameLst>
                                          <p:attrName>style.visibility</p:attrName>
                                        </p:attrNameLst>
                                      </p:cBhvr>
                                      <p:to>
                                        <p:strVal val="visible"/>
                                      </p:to>
                                    </p:set>
                                    <p:anim calcmode="lin" valueType="num">
                                      <p:cBhvr additive="base">
                                        <p:cTn dur="500"/>
                                        <p:tgtEl>
                                          <p:spTgt spid="23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239" name="Google Shape;239;p17"/>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0" name="Google Shape;240;p17"/>
          <p:cNvSpPr txBox="1"/>
          <p:nvPr/>
        </p:nvSpPr>
        <p:spPr>
          <a:xfrm>
            <a:off x="914400" y="990600"/>
            <a:ext cx="7924800" cy="830262"/>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Là sự </a:t>
            </a:r>
            <a:r>
              <a:rPr b="0" i="1" lang="en-US" sz="2400" u="none">
                <a:solidFill>
                  <a:schemeClr val="dk1"/>
                </a:solidFill>
                <a:latin typeface="Arial"/>
                <a:ea typeface="Arial"/>
                <a:cs typeface="Arial"/>
                <a:sym typeface="Arial"/>
              </a:rPr>
              <a:t>kết hợp của mô hình bản mẫu thiết kế và mô hình thác nước</a:t>
            </a:r>
            <a:r>
              <a:rPr b="0" i="0" lang="en-US" sz="2400" u="none">
                <a:solidFill>
                  <a:schemeClr val="dk1"/>
                </a:solidFill>
                <a:latin typeface="Arial"/>
                <a:ea typeface="Arial"/>
                <a:cs typeface="Arial"/>
                <a:sym typeface="Arial"/>
              </a:rPr>
              <a:t> được </a:t>
            </a:r>
            <a:r>
              <a:rPr b="0" i="1" lang="en-US" sz="2400" u="none">
                <a:solidFill>
                  <a:schemeClr val="dk1"/>
                </a:solidFill>
                <a:latin typeface="Arial"/>
                <a:ea typeface="Arial"/>
                <a:cs typeface="Arial"/>
                <a:sym typeface="Arial"/>
              </a:rPr>
              <a:t>lặp lại nhiều lần</a:t>
            </a:r>
            <a:r>
              <a:rPr b="0" i="0" lang="en-US" sz="2400" u="none">
                <a:solidFill>
                  <a:schemeClr val="dk1"/>
                </a:solidFill>
                <a:latin typeface="Arial"/>
                <a:ea typeface="Arial"/>
                <a:cs typeface="Arial"/>
                <a:sym typeface="Arial"/>
              </a:rPr>
              <a:t>. </a:t>
            </a:r>
            <a:endParaRPr/>
          </a:p>
        </p:txBody>
      </p:sp>
      <p:grpSp>
        <p:nvGrpSpPr>
          <p:cNvPr id="241" name="Google Shape;241;p17"/>
          <p:cNvGrpSpPr/>
          <p:nvPr/>
        </p:nvGrpSpPr>
        <p:grpSpPr>
          <a:xfrm>
            <a:off x="1250950" y="2057400"/>
            <a:ext cx="7664450" cy="4648200"/>
            <a:chOff x="1250950" y="2057400"/>
            <a:chExt cx="7664450" cy="4648200"/>
          </a:xfrm>
        </p:grpSpPr>
        <p:pic>
          <p:nvPicPr>
            <p:cNvPr id="242" name="Google Shape;242;p17"/>
            <p:cNvPicPr preferRelativeResize="0"/>
            <p:nvPr/>
          </p:nvPicPr>
          <p:blipFill rotWithShape="1">
            <a:blip r:embed="rId3">
              <a:alphaModFix/>
            </a:blip>
            <a:srcRect b="0" l="0" r="0" t="0"/>
            <a:stretch/>
          </p:blipFill>
          <p:spPr>
            <a:xfrm>
              <a:off x="1250950" y="2057400"/>
              <a:ext cx="7664450" cy="4114800"/>
            </a:xfrm>
            <a:prstGeom prst="rect">
              <a:avLst/>
            </a:prstGeom>
            <a:noFill/>
            <a:ln cap="flat" cmpd="sng" w="9525">
              <a:solidFill>
                <a:schemeClr val="dk1"/>
              </a:solidFill>
              <a:prstDash val="solid"/>
              <a:miter lim="800000"/>
              <a:headEnd len="sm" w="sm" type="none"/>
              <a:tailEnd len="sm" w="sm" type="none"/>
            </a:ln>
          </p:spPr>
        </p:pic>
        <p:pic>
          <p:nvPicPr>
            <p:cNvPr id="243" name="Google Shape;243;p17"/>
            <p:cNvPicPr preferRelativeResize="0"/>
            <p:nvPr/>
          </p:nvPicPr>
          <p:blipFill rotWithShape="1">
            <a:blip r:embed="rId4">
              <a:alphaModFix/>
            </a:blip>
            <a:srcRect b="0" l="0" r="0" t="0"/>
            <a:stretch/>
          </p:blipFill>
          <p:spPr>
            <a:xfrm>
              <a:off x="3105150" y="6248400"/>
              <a:ext cx="3543300" cy="457200"/>
            </a:xfrm>
            <a:prstGeom prst="rect">
              <a:avLst/>
            </a:prstGeom>
            <a:noFill/>
            <a:ln>
              <a:noFill/>
            </a:ln>
          </p:spPr>
        </p:pic>
      </p:grpSp>
      <p:sp>
        <p:nvSpPr>
          <p:cNvPr id="244" name="Google Shape;244;p17"/>
          <p:cNvSpPr txBox="1"/>
          <p:nvPr>
            <p:ph type="title"/>
          </p:nvPr>
        </p:nvSpPr>
        <p:spPr>
          <a:xfrm>
            <a:off x="381000" y="2286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1.1.3. MÔ HÌNH XOẮN ỐC </a:t>
            </a:r>
            <a:r>
              <a:rPr b="0" i="0" lang="en-US" sz="2800" u="none">
                <a:solidFill>
                  <a:schemeClr val="lt1"/>
                </a:solidFill>
                <a:latin typeface="Arial"/>
                <a:ea typeface="Arial"/>
                <a:cs typeface="Arial"/>
                <a:sym typeface="Arial"/>
              </a:rPr>
              <a:t>Spiral Model</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0"/>
                                        </p:tgtEl>
                                        <p:attrNameLst>
                                          <p:attrName>style.visibility</p:attrName>
                                        </p:attrNameLst>
                                      </p:cBhvr>
                                      <p:to>
                                        <p:strVal val="visible"/>
                                      </p:to>
                                    </p:set>
                                    <p:anim calcmode="lin" valueType="num">
                                      <p:cBhvr additive="base">
                                        <p:cTn dur="500"/>
                                        <p:tgtEl>
                                          <p:spTgt spid="24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249" name="Google Shape;249;p18"/>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0" name="Google Shape;250;p18"/>
          <p:cNvSpPr txBox="1"/>
          <p:nvPr/>
        </p:nvSpPr>
        <p:spPr>
          <a:xfrm>
            <a:off x="914400" y="990600"/>
            <a:ext cx="7924800" cy="172402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Ở lần lặp tiếp theo, hệ thống sẽ được tìm hiểu và xây dựng hoàn thiện hơn ở lần lặp trước đó</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Yêu cầu của người dùng ngày càng rõ ràng hơn, và các bản mẫu phần mềm ngày một hoàn thiện hơn.</a:t>
            </a:r>
            <a:endParaRPr/>
          </a:p>
        </p:txBody>
      </p:sp>
      <p:pic>
        <p:nvPicPr>
          <p:cNvPr id="251" name="Google Shape;251;p18"/>
          <p:cNvPicPr preferRelativeResize="0"/>
          <p:nvPr/>
        </p:nvPicPr>
        <p:blipFill rotWithShape="1">
          <a:blip r:embed="rId3">
            <a:alphaModFix/>
          </a:blip>
          <a:srcRect b="0" l="0" r="0" t="0"/>
          <a:stretch/>
        </p:blipFill>
        <p:spPr>
          <a:xfrm>
            <a:off x="1600200" y="2971800"/>
            <a:ext cx="6386512" cy="3429000"/>
          </a:xfrm>
          <a:prstGeom prst="rect">
            <a:avLst/>
          </a:prstGeom>
          <a:noFill/>
          <a:ln cap="flat" cmpd="sng" w="9525">
            <a:solidFill>
              <a:schemeClr val="dk1"/>
            </a:solidFill>
            <a:prstDash val="solid"/>
            <a:miter lim="800000"/>
            <a:headEnd len="sm" w="sm" type="none"/>
            <a:tailEnd len="sm" w="sm" type="none"/>
          </a:ln>
        </p:spPr>
      </p:pic>
      <p:sp>
        <p:nvSpPr>
          <p:cNvPr id="252" name="Google Shape;252;p18"/>
          <p:cNvSpPr txBox="1"/>
          <p:nvPr>
            <p:ph type="title"/>
          </p:nvPr>
        </p:nvSpPr>
        <p:spPr>
          <a:xfrm>
            <a:off x="381000" y="2286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1.1.3. MÔ HÌNH XOẮN ỐC </a:t>
            </a:r>
            <a:r>
              <a:rPr b="0" i="0" lang="en-US" sz="2800" u="none">
                <a:solidFill>
                  <a:schemeClr val="lt1"/>
                </a:solidFill>
                <a:latin typeface="Arial"/>
                <a:ea typeface="Arial"/>
                <a:cs typeface="Arial"/>
                <a:sym typeface="Arial"/>
              </a:rPr>
              <a:t>Spiral Model</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0">
                                            <p:txEl>
                                              <p:pRg end="0" st="0"/>
                                            </p:txEl>
                                          </p:spTgt>
                                        </p:tgtEl>
                                        <p:attrNameLst>
                                          <p:attrName>style.visibility</p:attrName>
                                        </p:attrNameLst>
                                      </p:cBhvr>
                                      <p:to>
                                        <p:strVal val="visible"/>
                                      </p:to>
                                    </p:set>
                                    <p:anim calcmode="lin" valueType="num">
                                      <p:cBhvr additive="base">
                                        <p:cTn dur="500"/>
                                        <p:tgtEl>
                                          <p:spTgt spid="25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0">
                                            <p:txEl>
                                              <p:pRg end="1" st="1"/>
                                            </p:txEl>
                                          </p:spTgt>
                                        </p:tgtEl>
                                        <p:attrNameLst>
                                          <p:attrName>style.visibility</p:attrName>
                                        </p:attrNameLst>
                                      </p:cBhvr>
                                      <p:to>
                                        <p:strVal val="visible"/>
                                      </p:to>
                                    </p:set>
                                    <p:anim calcmode="lin" valueType="num">
                                      <p:cBhvr additive="base">
                                        <p:cTn dur="500"/>
                                        <p:tgtEl>
                                          <p:spTgt spid="25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1"/>
                                        </p:tgtEl>
                                        <p:attrNameLst>
                                          <p:attrName>style.visibility</p:attrName>
                                        </p:attrNameLst>
                                      </p:cBhvr>
                                      <p:to>
                                        <p:strVal val="visible"/>
                                      </p:to>
                                    </p:set>
                                    <p:anim calcmode="lin" valueType="num">
                                      <p:cBhvr additive="base">
                                        <p:cTn dur="500"/>
                                        <p:tgtEl>
                                          <p:spTgt spid="25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257" name="Google Shape;257;p19"/>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8" name="Google Shape;258;p19"/>
          <p:cNvSpPr txBox="1"/>
          <p:nvPr/>
        </p:nvSpPr>
        <p:spPr>
          <a:xfrm>
            <a:off x="914400" y="990600"/>
            <a:ext cx="7924800" cy="209232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Ngoài ra, ở cuối mỗi lần lặp sẽ có thêm công đoạn phân tích mức độ rủi ro để quyết định xem có nên đi tiếp theo hướng này hay không.</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 Mô hình này phù hợp với các hệ thống phần mềm lớn do có khả năng kiểm soát rủi ro ở từng bước tiến hóa.</a:t>
            </a:r>
            <a:endParaRPr/>
          </a:p>
        </p:txBody>
      </p:sp>
      <p:pic>
        <p:nvPicPr>
          <p:cNvPr id="259" name="Google Shape;259;p19"/>
          <p:cNvPicPr preferRelativeResize="0"/>
          <p:nvPr/>
        </p:nvPicPr>
        <p:blipFill rotWithShape="1">
          <a:blip r:embed="rId3">
            <a:alphaModFix/>
          </a:blip>
          <a:srcRect b="0" l="0" r="0" t="0"/>
          <a:stretch/>
        </p:blipFill>
        <p:spPr>
          <a:xfrm>
            <a:off x="1981200" y="3200400"/>
            <a:ext cx="6102350" cy="3276600"/>
          </a:xfrm>
          <a:prstGeom prst="rect">
            <a:avLst/>
          </a:prstGeom>
          <a:noFill/>
          <a:ln cap="flat" cmpd="sng" w="9525">
            <a:solidFill>
              <a:schemeClr val="dk1"/>
            </a:solidFill>
            <a:prstDash val="solid"/>
            <a:miter lim="800000"/>
            <a:headEnd len="sm" w="sm" type="none"/>
            <a:tailEnd len="sm" w="sm" type="none"/>
          </a:ln>
        </p:spPr>
      </p:pic>
      <p:sp>
        <p:nvSpPr>
          <p:cNvPr id="260" name="Google Shape;260;p19"/>
          <p:cNvSpPr txBox="1"/>
          <p:nvPr>
            <p:ph type="title"/>
          </p:nvPr>
        </p:nvSpPr>
        <p:spPr>
          <a:xfrm>
            <a:off x="381000" y="27463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1.1.3. MÔ HÌNH XOẮN ỐC </a:t>
            </a:r>
            <a:r>
              <a:rPr b="0" i="0" lang="en-US" sz="2800" u="none">
                <a:solidFill>
                  <a:schemeClr val="lt1"/>
                </a:solidFill>
                <a:latin typeface="Arial"/>
                <a:ea typeface="Arial"/>
                <a:cs typeface="Arial"/>
                <a:sym typeface="Arial"/>
              </a:rPr>
              <a:t>Spiral Model</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8">
                                            <p:txEl>
                                              <p:pRg end="0" st="0"/>
                                            </p:txEl>
                                          </p:spTgt>
                                        </p:tgtEl>
                                        <p:attrNameLst>
                                          <p:attrName>style.visibility</p:attrName>
                                        </p:attrNameLst>
                                      </p:cBhvr>
                                      <p:to>
                                        <p:strVal val="visible"/>
                                      </p:to>
                                    </p:set>
                                    <p:anim calcmode="lin" valueType="num">
                                      <p:cBhvr additive="base">
                                        <p:cTn dur="500"/>
                                        <p:tgtEl>
                                          <p:spTgt spid="25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8">
                                            <p:txEl>
                                              <p:pRg end="1" st="1"/>
                                            </p:txEl>
                                          </p:spTgt>
                                        </p:tgtEl>
                                        <p:attrNameLst>
                                          <p:attrName>style.visibility</p:attrName>
                                        </p:attrNameLst>
                                      </p:cBhvr>
                                      <p:to>
                                        <p:strVal val="visible"/>
                                      </p:to>
                                    </p:set>
                                    <p:anim calcmode="lin" valueType="num">
                                      <p:cBhvr additive="base">
                                        <p:cTn dur="500"/>
                                        <p:tgtEl>
                                          <p:spTgt spid="25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9"/>
                                        </p:tgtEl>
                                        <p:attrNameLst>
                                          <p:attrName>style.visibility</p:attrName>
                                        </p:attrNameLst>
                                      </p:cBhvr>
                                      <p:to>
                                        <p:strVal val="visible"/>
                                      </p:to>
                                    </p:set>
                                    <p:anim calcmode="lin" valueType="num">
                                      <p:cBhvr additive="base">
                                        <p:cTn dur="500"/>
                                        <p:tgtEl>
                                          <p:spTgt spid="25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265" name="Google Shape;265;p20"/>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6" name="Google Shape;266;p20"/>
          <p:cNvSpPr txBox="1"/>
          <p:nvPr>
            <p:ph type="title"/>
          </p:nvPr>
        </p:nvSpPr>
        <p:spPr>
          <a:xfrm>
            <a:off x="381000" y="198437"/>
            <a:ext cx="8382000" cy="563562"/>
          </a:xfrm>
          <a:prstGeom prst="rect">
            <a:avLst/>
          </a:prstGeom>
          <a:noFill/>
          <a:ln>
            <a:noFill/>
          </a:ln>
        </p:spPr>
        <p:txBody>
          <a:bodyPr anchorCtr="0" anchor="ctr" bIns="45700" lIns="91425" spcFirstLastPara="1" rIns="91425" wrap="square" tIns="45700">
            <a:noAutofit/>
          </a:bodyPr>
          <a:lstStyle/>
          <a:p>
            <a:pPr indent="0" lvl="0" marL="0" rtl="0" algn="l">
              <a:lnSpc>
                <a:spcPct val="2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1.1.4. VÒNG ĐỜI PHÁT TRIỂN PHẦN MỀM- </a:t>
            </a:r>
            <a:r>
              <a:rPr b="0" i="0" lang="en-US" sz="2400" u="none">
                <a:solidFill>
                  <a:schemeClr val="lt1"/>
                </a:solidFill>
                <a:latin typeface="Arial"/>
                <a:ea typeface="Arial"/>
                <a:cs typeface="Arial"/>
                <a:sym typeface="Arial"/>
              </a:rPr>
              <a:t>SDLC</a:t>
            </a:r>
            <a:endParaRPr/>
          </a:p>
        </p:txBody>
      </p:sp>
      <p:sp>
        <p:nvSpPr>
          <p:cNvPr id="267" name="Google Shape;267;p20"/>
          <p:cNvSpPr txBox="1"/>
          <p:nvPr/>
        </p:nvSpPr>
        <p:spPr>
          <a:xfrm>
            <a:off x="838200" y="1143000"/>
            <a:ext cx="7924800" cy="397033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Software Development Life Cycle - SDLC là tập hợp các hoạt động nhằm tạo ra một hệ thống chất lượng, đáp ứng mong đợi của khách hàng.</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Một quy trình tốt và hợp lý luôn tạo ra những sản phẩm đạt tiêu chuẩn.</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Quy trình phát triển phần mềm đem lại chất lượng, năng suất, giá thành, … </a:t>
            </a:r>
            <a:endParaRPr/>
          </a:p>
        </p:txBody>
      </p:sp>
      <p:pic>
        <p:nvPicPr>
          <p:cNvPr descr="https://images.viblo.asia/8678d3ba-acf2-4423-8890-2caa45b1b7be.png" id="268" name="Google Shape;268;p20"/>
          <p:cNvPicPr preferRelativeResize="0"/>
          <p:nvPr/>
        </p:nvPicPr>
        <p:blipFill rotWithShape="1">
          <a:blip r:embed="rId3">
            <a:alphaModFix/>
          </a:blip>
          <a:srcRect b="6217" l="0" r="0" t="0"/>
          <a:stretch/>
        </p:blipFill>
        <p:spPr>
          <a:xfrm>
            <a:off x="5029200" y="4454525"/>
            <a:ext cx="3429000" cy="2139950"/>
          </a:xfrm>
          <a:prstGeom prst="rect">
            <a:avLst/>
          </a:prstGeom>
          <a:noFill/>
          <a:ln>
            <a:noFill/>
          </a:ln>
        </p:spPr>
      </p:pic>
    </p:spTree>
  </p:cSld>
  <p:clrMapOvr>
    <a:masterClrMapping/>
  </p:clrMapOvr>
  <p:transition advTm="25000">
    <p:randomBar dir="ver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273" name="Google Shape;273;p21"/>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4" name="Google Shape;274;p21"/>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1.2. KIỂM THỬ PHẦN MỀM</a:t>
            </a:r>
            <a:endParaRPr/>
          </a:p>
        </p:txBody>
      </p:sp>
      <p:sp>
        <p:nvSpPr>
          <p:cNvPr id="275" name="Google Shape;275;p21"/>
          <p:cNvSpPr txBox="1"/>
          <p:nvPr/>
        </p:nvSpPr>
        <p:spPr>
          <a:xfrm>
            <a:off x="990600" y="990600"/>
            <a:ext cx="7848600" cy="563245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1.2.1 Phần mềm và chất lượng phần mềm</a:t>
            </a:r>
            <a:endParaRPr/>
          </a:p>
          <a:p>
            <a:pPr indent="0" lvl="0" marL="0" marR="0" rtl="0" algn="just">
              <a:lnSpc>
                <a:spcPct val="15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1.2.2 Các yếu tố ảnh hưởng đến chất lượng phần mềm</a:t>
            </a:r>
            <a:endParaRPr/>
          </a:p>
          <a:p>
            <a:pPr indent="0" lvl="0" marL="0" marR="0" rtl="0" algn="just">
              <a:lnSpc>
                <a:spcPct val="15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1.2.3 Khái niệm kiểm thử phần mềm</a:t>
            </a:r>
            <a:endParaRPr/>
          </a:p>
          <a:p>
            <a:pPr indent="0" lvl="0" marL="0" marR="0" rtl="0" algn="just">
              <a:lnSpc>
                <a:spcPct val="15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1.2.4 Mục tiêu kiểm thử</a:t>
            </a:r>
            <a:endParaRPr/>
          </a:p>
          <a:p>
            <a:pPr indent="0" lvl="0" marL="0" marR="0" rtl="0" algn="just">
              <a:lnSpc>
                <a:spcPct val="15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1.2.5 Tầm quan trọng của kiểm thử</a:t>
            </a:r>
            <a:endParaRPr/>
          </a:p>
          <a:p>
            <a:pPr indent="0" lvl="0" marL="0" marR="0" rtl="0" algn="just">
              <a:lnSpc>
                <a:spcPct val="15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1.2.6 Các nguyên tắc trong kiểm thử</a:t>
            </a:r>
            <a:endParaRPr/>
          </a:p>
          <a:p>
            <a:pPr indent="0" lvl="0" marL="0" marR="0" rtl="0" algn="just">
              <a:lnSpc>
                <a:spcPct val="15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1.2.7 Một số khái niệm liên quan kiểm thử</a:t>
            </a:r>
            <a:endParaRPr/>
          </a:p>
          <a:p>
            <a:pPr indent="0" lvl="0" marL="0" marR="0" rtl="0" algn="just">
              <a:lnSpc>
                <a:spcPct val="15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1.2.8 Các đối tượng thực hiện kiểm thử</a:t>
            </a:r>
            <a:endParaRPr/>
          </a:p>
          <a:p>
            <a:pPr indent="0" lvl="0" marL="0" marR="0" rtl="0" algn="just">
              <a:lnSpc>
                <a:spcPct val="15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1.2.9 Các điểm cần lưu ý khi kiểm thử</a:t>
            </a:r>
            <a:endParaRPr/>
          </a:p>
          <a:p>
            <a:pPr indent="0" lvl="0" marL="0" marR="0" rtl="0" algn="just">
              <a:lnSpc>
                <a:spcPct val="15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1.2.10 Các hạn chế của kiểm thử</a:t>
            </a:r>
            <a:endParaRPr/>
          </a:p>
        </p:txBody>
      </p:sp>
    </p:spTree>
  </p:cSld>
  <p:clrMapOvr>
    <a:masterClrMapping/>
  </p:clrMapOvr>
  <p:transition advTm="25000">
    <p:randomBar dir="ver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280" name="Google Shape;280;p22"/>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1" name="Google Shape;281;p22"/>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1.2.1 PHẦN MỀM VÀ CHẤT LƯỢNG PHẦN MỀM</a:t>
            </a:r>
            <a:endParaRPr/>
          </a:p>
        </p:txBody>
      </p:sp>
      <p:sp>
        <p:nvSpPr>
          <p:cNvPr id="282" name="Google Shape;282;p22"/>
          <p:cNvSpPr txBox="1"/>
          <p:nvPr/>
        </p:nvSpPr>
        <p:spPr>
          <a:xfrm>
            <a:off x="609600" y="990600"/>
            <a:ext cx="78486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Phần mềm</a:t>
            </a:r>
            <a:endParaRPr/>
          </a:p>
        </p:txBody>
      </p:sp>
      <p:sp>
        <p:nvSpPr>
          <p:cNvPr id="283" name="Google Shape;283;p22"/>
          <p:cNvSpPr txBox="1"/>
          <p:nvPr/>
        </p:nvSpPr>
        <p:spPr>
          <a:xfrm>
            <a:off x="609600" y="1474787"/>
            <a:ext cx="8382000" cy="5078412"/>
          </a:xfrm>
          <a:prstGeom prst="rect">
            <a:avLst/>
          </a:prstGeom>
          <a:noFill/>
          <a:ln>
            <a:noFill/>
          </a:ln>
        </p:spPr>
        <p:txBody>
          <a:bodyPr anchorCtr="0" anchor="ctr" bIns="45700" lIns="91425" spcFirstLastPara="1" rIns="91425" wrap="square" tIns="45700">
            <a:spAutoFit/>
          </a:bodyPr>
          <a:lstStyle/>
          <a:p>
            <a:pPr indent="-342900" lvl="0" marL="342900" marR="0" rtl="0" algn="just">
              <a:lnSpc>
                <a:spcPct val="150000"/>
              </a:lnSpc>
              <a:spcBef>
                <a:spcPts val="0"/>
              </a:spcBef>
              <a:spcAft>
                <a:spcPts val="0"/>
              </a:spcAft>
              <a:buClr>
                <a:srgbClr val="FF0000"/>
              </a:buClr>
              <a:buSzPts val="2400"/>
              <a:buFont typeface="Noto Sans Symbols"/>
              <a:buChar char="✔"/>
            </a:pPr>
            <a:r>
              <a:rPr b="0" i="1" lang="en-US" sz="2400" u="none">
                <a:solidFill>
                  <a:srgbClr val="FF0000"/>
                </a:solidFill>
                <a:latin typeface="Arial"/>
                <a:ea typeface="Arial"/>
                <a:cs typeface="Arial"/>
                <a:sym typeface="Arial"/>
              </a:rPr>
              <a:t>Chương trình máy tính</a:t>
            </a:r>
            <a:r>
              <a:rPr b="0" i="0" lang="en-US" sz="2400" u="none">
                <a:solidFill>
                  <a:srgbClr val="FF0000"/>
                </a:solidFill>
                <a:latin typeface="Arial"/>
                <a:ea typeface="Arial"/>
                <a:cs typeface="Arial"/>
                <a:sym typeface="Arial"/>
              </a:rPr>
              <a:t>: </a:t>
            </a:r>
            <a:r>
              <a:rPr b="0" i="0" lang="en-US" sz="2400" u="none">
                <a:solidFill>
                  <a:schemeClr val="dk1"/>
                </a:solidFill>
                <a:latin typeface="Arial"/>
                <a:ea typeface="Arial"/>
                <a:cs typeface="Arial"/>
                <a:sym typeface="Arial"/>
              </a:rPr>
              <a:t>Các chỉ thị để máy tính làm việc.</a:t>
            </a:r>
            <a:endParaRPr/>
          </a:p>
          <a:p>
            <a:pPr indent="-342900" lvl="0" marL="342900" marR="0" rtl="0" algn="just">
              <a:lnSpc>
                <a:spcPct val="150000"/>
              </a:lnSpc>
              <a:spcBef>
                <a:spcPts val="0"/>
              </a:spcBef>
              <a:spcAft>
                <a:spcPts val="0"/>
              </a:spcAft>
              <a:buClr>
                <a:srgbClr val="FF0000"/>
              </a:buClr>
              <a:buSzPts val="2400"/>
              <a:buFont typeface="Noto Sans Symbols"/>
              <a:buChar char="✔"/>
            </a:pPr>
            <a:r>
              <a:rPr b="0" i="1" lang="en-US" sz="2400" u="none">
                <a:solidFill>
                  <a:srgbClr val="FF0000"/>
                </a:solidFill>
                <a:latin typeface="Arial"/>
                <a:ea typeface="Arial"/>
                <a:cs typeface="Arial"/>
                <a:sym typeface="Arial"/>
              </a:rPr>
              <a:t>Phần mềm</a:t>
            </a:r>
            <a:r>
              <a:rPr b="0" i="0" lang="en-US" sz="2400" u="none">
                <a:solidFill>
                  <a:srgbClr val="FF0000"/>
                </a:solidFill>
                <a:latin typeface="Arial"/>
                <a:ea typeface="Arial"/>
                <a:cs typeface="Arial"/>
                <a:sym typeface="Arial"/>
              </a:rPr>
              <a:t>: </a:t>
            </a:r>
            <a:r>
              <a:rPr b="0" i="0" lang="en-US" sz="2400" u="none">
                <a:solidFill>
                  <a:schemeClr val="dk1"/>
                </a:solidFill>
                <a:latin typeface="Arial"/>
                <a:ea typeface="Arial"/>
                <a:cs typeface="Arial"/>
                <a:sym typeface="Arial"/>
              </a:rPr>
              <a:t>Các chương trình hỗ trợ thực hiện công việc theo lĩnh vực chuyên ngành. </a:t>
            </a:r>
            <a:endParaRPr/>
          </a:p>
          <a:p>
            <a:pPr indent="-342900" lvl="0" marL="342900" marR="0" rtl="0" algn="just">
              <a:lnSpc>
                <a:spcPct val="150000"/>
              </a:lnSpc>
              <a:spcBef>
                <a:spcPts val="0"/>
              </a:spcBef>
              <a:spcAft>
                <a:spcPts val="0"/>
              </a:spcAft>
              <a:buClr>
                <a:srgbClr val="FF0000"/>
              </a:buClr>
              <a:buSzPts val="2400"/>
              <a:buFont typeface="Noto Sans Symbols"/>
              <a:buChar char="✔"/>
            </a:pPr>
            <a:r>
              <a:rPr b="0" i="1" lang="en-US" sz="2400" u="none">
                <a:solidFill>
                  <a:srgbClr val="FF0000"/>
                </a:solidFill>
                <a:latin typeface="Arial"/>
                <a:ea typeface="Arial"/>
                <a:cs typeface="Arial"/>
                <a:sym typeface="Arial"/>
              </a:rPr>
              <a:t>Nhiệm vụ chính yếu của phần mềm</a:t>
            </a:r>
            <a:r>
              <a:rPr b="0" i="0" lang="en-US" sz="2400" u="none">
                <a:solidFill>
                  <a:srgbClr val="FF0000"/>
                </a:solidFill>
                <a:latin typeface="Arial"/>
                <a:ea typeface="Arial"/>
                <a:cs typeface="Arial"/>
                <a:sym typeface="Arial"/>
              </a:rPr>
              <a:t>: </a:t>
            </a:r>
            <a:r>
              <a:rPr b="0" i="0" lang="en-US" sz="2400" u="none">
                <a:solidFill>
                  <a:schemeClr val="dk1"/>
                </a:solidFill>
                <a:latin typeface="Arial"/>
                <a:ea typeface="Arial"/>
                <a:cs typeface="Arial"/>
                <a:sym typeface="Arial"/>
              </a:rPr>
              <a:t>Thực hiện các công việc dễ dàng và nhanh chóng.</a:t>
            </a:r>
            <a:endParaRPr/>
          </a:p>
          <a:p>
            <a:pPr indent="-342900" lvl="0" marL="342900" marR="0" rtl="0" algn="just">
              <a:lnSpc>
                <a:spcPct val="150000"/>
              </a:lnSpc>
              <a:spcBef>
                <a:spcPts val="0"/>
              </a:spcBef>
              <a:spcAft>
                <a:spcPts val="0"/>
              </a:spcAft>
              <a:buClr>
                <a:srgbClr val="FF0000"/>
              </a:buClr>
              <a:buSzPts val="2400"/>
              <a:buFont typeface="Noto Sans Symbols"/>
              <a:buChar char="✔"/>
            </a:pPr>
            <a:r>
              <a:rPr b="0" i="1" lang="en-US" sz="2400" u="none">
                <a:solidFill>
                  <a:srgbClr val="FF0000"/>
                </a:solidFill>
                <a:latin typeface="Arial"/>
                <a:ea typeface="Arial"/>
                <a:cs typeface="Arial"/>
                <a:sym typeface="Arial"/>
              </a:rPr>
              <a:t>Hoạt động của phần mềm</a:t>
            </a:r>
            <a:r>
              <a:rPr b="0" i="0" lang="en-US" sz="2400" u="none">
                <a:solidFill>
                  <a:srgbClr val="FF0000"/>
                </a:solidFill>
                <a:latin typeface="Arial"/>
                <a:ea typeface="Arial"/>
                <a:cs typeface="Arial"/>
                <a:sym typeface="Arial"/>
              </a:rPr>
              <a:t>: </a:t>
            </a:r>
            <a:r>
              <a:rPr b="0" i="0" lang="en-US" sz="2400" u="none">
                <a:solidFill>
                  <a:schemeClr val="dk1"/>
                </a:solidFill>
                <a:latin typeface="Arial"/>
                <a:ea typeface="Arial"/>
                <a:cs typeface="Arial"/>
                <a:sym typeface="Arial"/>
              </a:rPr>
              <a:t>Mô phỏng lại các họat động của thế giới thực. </a:t>
            </a:r>
            <a:endParaRPr/>
          </a:p>
          <a:p>
            <a:pPr indent="-342900" lvl="0" marL="342900" marR="0" rtl="0" algn="just">
              <a:lnSpc>
                <a:spcPct val="150000"/>
              </a:lnSpc>
              <a:spcBef>
                <a:spcPts val="0"/>
              </a:spcBef>
              <a:spcAft>
                <a:spcPts val="0"/>
              </a:spcAft>
              <a:buClr>
                <a:srgbClr val="FF0000"/>
              </a:buClr>
              <a:buSzPts val="2400"/>
              <a:buFont typeface="Noto Sans Symbols"/>
              <a:buChar char="✔"/>
            </a:pPr>
            <a:r>
              <a:rPr b="0" i="1" lang="en-US" sz="2400" u="none">
                <a:solidFill>
                  <a:srgbClr val="FF0000"/>
                </a:solidFill>
                <a:latin typeface="Arial"/>
                <a:ea typeface="Arial"/>
                <a:cs typeface="Arial"/>
                <a:sym typeface="Arial"/>
              </a:rPr>
              <a:t>Quá trình sử dụng một phần mềm</a:t>
            </a:r>
            <a:r>
              <a:rPr b="0" i="0" lang="en-US" sz="2400" u="none">
                <a:solidFill>
                  <a:srgbClr val="FF0000"/>
                </a:solidFill>
                <a:latin typeface="Arial"/>
                <a:ea typeface="Arial"/>
                <a:cs typeface="Arial"/>
                <a:sym typeface="Arial"/>
              </a:rPr>
              <a:t>: </a:t>
            </a:r>
            <a:r>
              <a:rPr b="0" i="0" lang="en-US" sz="2400" u="none">
                <a:solidFill>
                  <a:schemeClr val="dk1"/>
                </a:solidFill>
                <a:latin typeface="Arial"/>
                <a:ea typeface="Arial"/>
                <a:cs typeface="Arial"/>
                <a:sym typeface="Arial"/>
              </a:rPr>
              <a:t>Thực hiện các công việc trên máy tính để hoàn tất công việc.</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3">
                                            <p:txEl>
                                              <p:pRg end="0" st="0"/>
                                            </p:txEl>
                                          </p:spTgt>
                                        </p:tgtEl>
                                        <p:attrNameLst>
                                          <p:attrName>style.visibility</p:attrName>
                                        </p:attrNameLst>
                                      </p:cBhvr>
                                      <p:to>
                                        <p:strVal val="visible"/>
                                      </p:to>
                                    </p:set>
                                    <p:anim calcmode="lin" valueType="num">
                                      <p:cBhvr additive="base">
                                        <p:cTn dur="500"/>
                                        <p:tgtEl>
                                          <p:spTgt spid="28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3">
                                            <p:txEl>
                                              <p:pRg end="1" st="1"/>
                                            </p:txEl>
                                          </p:spTgt>
                                        </p:tgtEl>
                                        <p:attrNameLst>
                                          <p:attrName>style.visibility</p:attrName>
                                        </p:attrNameLst>
                                      </p:cBhvr>
                                      <p:to>
                                        <p:strVal val="visible"/>
                                      </p:to>
                                    </p:set>
                                    <p:anim calcmode="lin" valueType="num">
                                      <p:cBhvr additive="base">
                                        <p:cTn dur="500"/>
                                        <p:tgtEl>
                                          <p:spTgt spid="28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3">
                                            <p:txEl>
                                              <p:pRg end="2" st="2"/>
                                            </p:txEl>
                                          </p:spTgt>
                                        </p:tgtEl>
                                        <p:attrNameLst>
                                          <p:attrName>style.visibility</p:attrName>
                                        </p:attrNameLst>
                                      </p:cBhvr>
                                      <p:to>
                                        <p:strVal val="visible"/>
                                      </p:to>
                                    </p:set>
                                    <p:anim calcmode="lin" valueType="num">
                                      <p:cBhvr additive="base">
                                        <p:cTn dur="500"/>
                                        <p:tgtEl>
                                          <p:spTgt spid="28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3">
                                            <p:txEl>
                                              <p:pRg end="3" st="3"/>
                                            </p:txEl>
                                          </p:spTgt>
                                        </p:tgtEl>
                                        <p:attrNameLst>
                                          <p:attrName>style.visibility</p:attrName>
                                        </p:attrNameLst>
                                      </p:cBhvr>
                                      <p:to>
                                        <p:strVal val="visible"/>
                                      </p:to>
                                    </p:set>
                                    <p:anim calcmode="lin" valueType="num">
                                      <p:cBhvr additive="base">
                                        <p:cTn dur="500"/>
                                        <p:tgtEl>
                                          <p:spTgt spid="28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3">
                                            <p:txEl>
                                              <p:pRg end="4" st="4"/>
                                            </p:txEl>
                                          </p:spTgt>
                                        </p:tgtEl>
                                        <p:attrNameLst>
                                          <p:attrName>style.visibility</p:attrName>
                                        </p:attrNameLst>
                                      </p:cBhvr>
                                      <p:to>
                                        <p:strVal val="visible"/>
                                      </p:to>
                                    </p:set>
                                    <p:anim calcmode="lin" valueType="num">
                                      <p:cBhvr additive="base">
                                        <p:cTn dur="500"/>
                                        <p:tgtEl>
                                          <p:spTgt spid="28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288" name="Google Shape;288;p23"/>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9" name="Google Shape;289;p23"/>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1.2.1 PHẦN MỀM VÀ CHẤT LƯỢNG PHẦN MỀM</a:t>
            </a:r>
            <a:endParaRPr/>
          </a:p>
        </p:txBody>
      </p:sp>
      <p:sp>
        <p:nvSpPr>
          <p:cNvPr id="290" name="Google Shape;290;p23"/>
          <p:cNvSpPr txBox="1"/>
          <p:nvPr/>
        </p:nvSpPr>
        <p:spPr>
          <a:xfrm>
            <a:off x="1066800" y="1981200"/>
            <a:ext cx="7467600" cy="230822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C00000"/>
              </a:buClr>
              <a:buSzPts val="2400"/>
              <a:buFont typeface="Arial"/>
              <a:buNone/>
            </a:pPr>
            <a:r>
              <a:rPr b="0" i="1" lang="en-US" sz="2400" u="none">
                <a:solidFill>
                  <a:srgbClr val="C00000"/>
                </a:solidFill>
                <a:latin typeface="Arial"/>
                <a:ea typeface="Arial"/>
                <a:cs typeface="Arial"/>
                <a:sym typeface="Arial"/>
              </a:rPr>
              <a:t>«Phần mềm tốt là phần mềm phải đáp ứng các chức năng theo </a:t>
            </a:r>
            <a:r>
              <a:rPr b="1" i="1" lang="en-US" sz="2400" u="none">
                <a:solidFill>
                  <a:srgbClr val="C00000"/>
                </a:solidFill>
                <a:latin typeface="Arial"/>
                <a:ea typeface="Arial"/>
                <a:cs typeface="Arial"/>
                <a:sym typeface="Arial"/>
              </a:rPr>
              <a:t>yêu cầu</a:t>
            </a:r>
            <a:r>
              <a:rPr b="0" i="1" lang="en-US" sz="2400" u="none">
                <a:solidFill>
                  <a:srgbClr val="C00000"/>
                </a:solidFill>
                <a:latin typeface="Arial"/>
                <a:ea typeface="Arial"/>
                <a:cs typeface="Arial"/>
                <a:sym typeface="Arial"/>
              </a:rPr>
              <a:t>, có </a:t>
            </a:r>
            <a:r>
              <a:rPr b="1" i="1" lang="en-US" sz="2400" u="none">
                <a:solidFill>
                  <a:srgbClr val="C00000"/>
                </a:solidFill>
                <a:latin typeface="Arial"/>
                <a:ea typeface="Arial"/>
                <a:cs typeface="Arial"/>
                <a:sym typeface="Arial"/>
              </a:rPr>
              <a:t>hiệu năng tốt</a:t>
            </a:r>
            <a:r>
              <a:rPr b="0" i="1" lang="en-US" sz="2400" u="none">
                <a:solidFill>
                  <a:srgbClr val="C00000"/>
                </a:solidFill>
                <a:latin typeface="Arial"/>
                <a:ea typeface="Arial"/>
                <a:cs typeface="Arial"/>
                <a:sym typeface="Arial"/>
              </a:rPr>
              <a:t>, có khả năng </a:t>
            </a:r>
            <a:r>
              <a:rPr b="1" i="1" lang="en-US" sz="2400" u="none">
                <a:solidFill>
                  <a:srgbClr val="C00000"/>
                </a:solidFill>
                <a:latin typeface="Arial"/>
                <a:ea typeface="Arial"/>
                <a:cs typeface="Arial"/>
                <a:sym typeface="Arial"/>
              </a:rPr>
              <a:t>bảo trì</a:t>
            </a:r>
            <a:r>
              <a:rPr b="0" i="1" lang="en-US" sz="2400" u="none">
                <a:solidFill>
                  <a:srgbClr val="C00000"/>
                </a:solidFill>
                <a:latin typeface="Arial"/>
                <a:ea typeface="Arial"/>
                <a:cs typeface="Arial"/>
                <a:sym typeface="Arial"/>
              </a:rPr>
              <a:t>, </a:t>
            </a:r>
            <a:r>
              <a:rPr b="1" i="1" lang="en-US" sz="2400" u="none">
                <a:solidFill>
                  <a:srgbClr val="C00000"/>
                </a:solidFill>
                <a:latin typeface="Arial"/>
                <a:ea typeface="Arial"/>
                <a:cs typeface="Arial"/>
                <a:sym typeface="Arial"/>
              </a:rPr>
              <a:t>đáng tin cậy</a:t>
            </a:r>
            <a:r>
              <a:rPr b="0" i="1" lang="en-US" sz="2400" u="none">
                <a:solidFill>
                  <a:srgbClr val="C00000"/>
                </a:solidFill>
                <a:latin typeface="Arial"/>
                <a:ea typeface="Arial"/>
                <a:cs typeface="Arial"/>
                <a:sym typeface="Arial"/>
              </a:rPr>
              <a:t>, và được </a:t>
            </a:r>
            <a:r>
              <a:rPr b="1" i="1" lang="en-US" sz="2400" u="none">
                <a:solidFill>
                  <a:srgbClr val="C00000"/>
                </a:solidFill>
                <a:latin typeface="Arial"/>
                <a:ea typeface="Arial"/>
                <a:cs typeface="Arial"/>
                <a:sym typeface="Arial"/>
              </a:rPr>
              <a:t>người sử dụng chấp nhận</a:t>
            </a:r>
            <a:r>
              <a:rPr b="0" i="1" lang="en-US" sz="2400" u="none">
                <a:solidFill>
                  <a:srgbClr val="C00000"/>
                </a:solidFill>
                <a:latin typeface="Arial"/>
                <a:ea typeface="Arial"/>
                <a:cs typeface="Arial"/>
                <a:sym typeface="Arial"/>
              </a:rPr>
              <a:t>»</a:t>
            </a:r>
            <a:r>
              <a:rPr b="0" i="1" lang="en-US" sz="2400" u="none">
                <a:solidFill>
                  <a:schemeClr val="dk1"/>
                </a:solidFill>
                <a:latin typeface="Arial"/>
                <a:ea typeface="Arial"/>
                <a:cs typeface="Arial"/>
                <a:sym typeface="Arial"/>
              </a:rPr>
              <a:t>. </a:t>
            </a:r>
            <a:endParaRPr/>
          </a:p>
        </p:txBody>
      </p:sp>
      <p:sp>
        <p:nvSpPr>
          <p:cNvPr id="291" name="Google Shape;291;p23"/>
          <p:cNvSpPr txBox="1"/>
          <p:nvPr/>
        </p:nvSpPr>
        <p:spPr>
          <a:xfrm>
            <a:off x="838200" y="1143000"/>
            <a:ext cx="34798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Chất lượng phần mềm</a:t>
            </a:r>
            <a:endParaRPr/>
          </a:p>
        </p:txBody>
      </p:sp>
    </p:spTree>
  </p:cSld>
  <p:clrMapOvr>
    <a:masterClrMapping/>
  </p:clrMapOvr>
  <p:transition advTm="25000">
    <p:randomBar dir="ver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296" name="Google Shape;296;p24"/>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7" name="Google Shape;297;p24"/>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1.2.2 CÁC YẾU TỐ ẢNH HƯỞNG ĐẾN CHẤT LƯỢNG PM</a:t>
            </a:r>
            <a:endParaRPr/>
          </a:p>
        </p:txBody>
      </p:sp>
      <p:pic>
        <p:nvPicPr>
          <p:cNvPr id="298" name="Google Shape;298;p24"/>
          <p:cNvPicPr preferRelativeResize="0"/>
          <p:nvPr/>
        </p:nvPicPr>
        <p:blipFill rotWithShape="1">
          <a:blip r:embed="rId3">
            <a:alphaModFix/>
          </a:blip>
          <a:srcRect b="0" l="0" r="0" t="0"/>
          <a:stretch/>
        </p:blipFill>
        <p:spPr>
          <a:xfrm>
            <a:off x="993775" y="1371600"/>
            <a:ext cx="7467600" cy="4572000"/>
          </a:xfrm>
          <a:prstGeom prst="rect">
            <a:avLst/>
          </a:prstGeom>
          <a:noFill/>
          <a:ln>
            <a:noFill/>
          </a:ln>
        </p:spPr>
      </p:pic>
    </p:spTree>
  </p:cSld>
  <p:clrMapOvr>
    <a:masterClrMapping/>
  </p:clrMapOvr>
  <p:transition advTm="25000">
    <p:randomBar dir="vert"/>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303" name="Google Shape;303;p25"/>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4" name="Google Shape;304;p25"/>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1.2.2 CÁC YẾU TỐ ẢNH HƯỞNG ĐẾN CHẤT LƯỢNG PM</a:t>
            </a:r>
            <a:endParaRPr/>
          </a:p>
        </p:txBody>
      </p:sp>
      <p:sp>
        <p:nvSpPr>
          <p:cNvPr id="305" name="Google Shape;305;p25"/>
          <p:cNvSpPr txBox="1"/>
          <p:nvPr/>
        </p:nvSpPr>
        <p:spPr>
          <a:xfrm>
            <a:off x="914400" y="990600"/>
            <a:ext cx="7848600" cy="47085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C00000"/>
              </a:buClr>
              <a:buSzPts val="2400"/>
              <a:buFont typeface="Arial"/>
              <a:buNone/>
            </a:pPr>
            <a:r>
              <a:rPr b="1" i="0" lang="en-US" sz="2400" u="none">
                <a:solidFill>
                  <a:srgbClr val="C00000"/>
                </a:solidFill>
                <a:latin typeface="Arial"/>
                <a:ea typeface="Arial"/>
                <a:cs typeface="Arial"/>
                <a:sym typeface="Arial"/>
              </a:rPr>
              <a:t>Tính đúng đắn</a:t>
            </a:r>
            <a:r>
              <a:rPr b="1" i="0" lang="en-US" sz="2400" u="none">
                <a:solidFill>
                  <a:schemeClr val="dk1"/>
                </a:solidFill>
                <a:latin typeface="Arial"/>
                <a:ea typeface="Arial"/>
                <a:cs typeface="Arial"/>
                <a:sym typeface="Arial"/>
              </a:rPr>
              <a:t>:</a:t>
            </a:r>
            <a:endParaRPr/>
          </a:p>
          <a:p>
            <a:pPr indent="-152400" lvl="0" marL="0" marR="0" rtl="0" algn="just">
              <a:lnSpc>
                <a:spcPct val="100000"/>
              </a:lnSpc>
              <a:spcBef>
                <a:spcPts val="1200"/>
              </a:spcBef>
              <a:spcAft>
                <a:spcPts val="0"/>
              </a:spcAft>
              <a:buClr>
                <a:srgbClr val="0E2520"/>
              </a:buClr>
              <a:buSzPts val="2400"/>
              <a:buFont typeface="Noto Sans Symbols"/>
              <a:buChar char="✔"/>
            </a:pPr>
            <a:r>
              <a:rPr b="0" i="0" lang="en-US" sz="2400" u="none">
                <a:solidFill>
                  <a:srgbClr val="0E2520"/>
                </a:solidFill>
                <a:latin typeface="Arial"/>
                <a:ea typeface="Arial"/>
                <a:cs typeface="Arial"/>
                <a:sym typeface="Arial"/>
              </a:rPr>
              <a:t>Thực hiện đầy đủ và chính xác các yêu cầu.</a:t>
            </a:r>
            <a:endParaRPr/>
          </a:p>
          <a:p>
            <a:pPr indent="0" lvl="0" marL="0" marR="0" rtl="0" algn="just">
              <a:lnSpc>
                <a:spcPct val="100000"/>
              </a:lnSpc>
              <a:spcBef>
                <a:spcPts val="120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Tính đúng đắn xác định trên cơ sở:</a:t>
            </a:r>
            <a:endParaRPr b="0" i="0" sz="2400" u="none">
              <a:solidFill>
                <a:schemeClr val="dk1"/>
              </a:solidFill>
              <a:latin typeface="Arial"/>
              <a:ea typeface="Arial"/>
              <a:cs typeface="Arial"/>
              <a:sym typeface="Arial"/>
            </a:endParaRPr>
          </a:p>
          <a:p>
            <a:pPr indent="-152400" lvl="0" marL="0" marR="0" rtl="0" algn="just">
              <a:lnSpc>
                <a:spcPct val="100000"/>
              </a:lnSpc>
              <a:spcBef>
                <a:spcPts val="1200"/>
              </a:spcBef>
              <a:spcAft>
                <a:spcPts val="0"/>
              </a:spcAft>
              <a:buClr>
                <a:srgbClr val="0E2520"/>
              </a:buClr>
              <a:buSzPts val="2400"/>
              <a:buFont typeface="Noto Sans Symbols"/>
              <a:buChar char="▪"/>
            </a:pPr>
            <a:r>
              <a:rPr b="0" i="0" lang="en-US" sz="2400" u="none">
                <a:solidFill>
                  <a:srgbClr val="0E2520"/>
                </a:solidFill>
                <a:latin typeface="Arial"/>
                <a:ea typeface="Arial"/>
                <a:cs typeface="Arial"/>
                <a:sym typeface="Arial"/>
              </a:rPr>
              <a:t>Tính đúng đắn của giải pháp xử lý / thuật toán,</a:t>
            </a:r>
            <a:endParaRPr/>
          </a:p>
          <a:p>
            <a:pPr indent="-152400" lvl="0" marL="0" marR="0" rtl="0" algn="just">
              <a:lnSpc>
                <a:spcPct val="100000"/>
              </a:lnSpc>
              <a:spcBef>
                <a:spcPts val="1200"/>
              </a:spcBef>
              <a:spcAft>
                <a:spcPts val="0"/>
              </a:spcAft>
              <a:buClr>
                <a:srgbClr val="0E2520"/>
              </a:buClr>
              <a:buSzPts val="2400"/>
              <a:buFont typeface="Noto Sans Symbols"/>
              <a:buChar char="▪"/>
            </a:pPr>
            <a:r>
              <a:rPr b="0" i="0" lang="en-US" sz="2400" u="none">
                <a:solidFill>
                  <a:srgbClr val="0E2520"/>
                </a:solidFill>
                <a:latin typeface="Arial"/>
                <a:ea typeface="Arial"/>
                <a:cs typeface="Arial"/>
                <a:sym typeface="Arial"/>
              </a:rPr>
              <a:t>Tính đúng đắn của tập mã lệnh hoặc nội dung của chương trình,</a:t>
            </a:r>
            <a:endParaRPr/>
          </a:p>
          <a:p>
            <a:pPr indent="-152400" lvl="0" marL="0" marR="0" rtl="0" algn="just">
              <a:lnSpc>
                <a:spcPct val="100000"/>
              </a:lnSpc>
              <a:spcBef>
                <a:spcPts val="1200"/>
              </a:spcBef>
              <a:spcAft>
                <a:spcPts val="0"/>
              </a:spcAft>
              <a:buClr>
                <a:srgbClr val="0E2520"/>
              </a:buClr>
              <a:buSzPts val="2400"/>
              <a:buFont typeface="Noto Sans Symbols"/>
              <a:buChar char="▪"/>
            </a:pPr>
            <a:r>
              <a:rPr b="0" i="0" lang="en-US" sz="2400" u="none">
                <a:solidFill>
                  <a:srgbClr val="0E2520"/>
                </a:solidFill>
                <a:latin typeface="Arial"/>
                <a:ea typeface="Arial"/>
                <a:cs typeface="Arial"/>
                <a:sym typeface="Arial"/>
              </a:rPr>
              <a:t>Tính đúng đắn qua kiểm thử, việc áp dụng chương trình trong một khoảng thời gian dài, trên diện rộng và với tần suất sử dụng cao,</a:t>
            </a:r>
            <a:endParaRPr/>
          </a:p>
          <a:p>
            <a:pPr indent="-152400" lvl="0" marL="0" marR="0" rtl="0" algn="just">
              <a:lnSpc>
                <a:spcPct val="100000"/>
              </a:lnSpc>
              <a:spcBef>
                <a:spcPts val="1200"/>
              </a:spcBef>
              <a:spcAft>
                <a:spcPts val="0"/>
              </a:spcAft>
              <a:buClr>
                <a:srgbClr val="0E2520"/>
              </a:buClr>
              <a:buSzPts val="2400"/>
              <a:buFont typeface="Noto Sans Symbols"/>
              <a:buChar char="▪"/>
            </a:pPr>
            <a:r>
              <a:rPr b="0" i="0" lang="en-US" sz="2400" u="none">
                <a:solidFill>
                  <a:srgbClr val="0E2520"/>
                </a:solidFill>
                <a:latin typeface="Arial"/>
                <a:ea typeface="Arial"/>
                <a:cs typeface="Arial"/>
                <a:sym typeface="Arial"/>
              </a:rPr>
              <a:t>Tính tương đương của chương trình với thuật toán, </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5">
                                            <p:txEl>
                                              <p:pRg end="0" st="0"/>
                                            </p:txEl>
                                          </p:spTgt>
                                        </p:tgtEl>
                                        <p:attrNameLst>
                                          <p:attrName>style.visibility</p:attrName>
                                        </p:attrNameLst>
                                      </p:cBhvr>
                                      <p:to>
                                        <p:strVal val="visible"/>
                                      </p:to>
                                    </p:set>
                                    <p:anim calcmode="lin" valueType="num">
                                      <p:cBhvr additive="base">
                                        <p:cTn dur="500"/>
                                        <p:tgtEl>
                                          <p:spTgt spid="30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5">
                                            <p:txEl>
                                              <p:pRg end="1" st="1"/>
                                            </p:txEl>
                                          </p:spTgt>
                                        </p:tgtEl>
                                        <p:attrNameLst>
                                          <p:attrName>style.visibility</p:attrName>
                                        </p:attrNameLst>
                                      </p:cBhvr>
                                      <p:to>
                                        <p:strVal val="visible"/>
                                      </p:to>
                                    </p:set>
                                    <p:anim calcmode="lin" valueType="num">
                                      <p:cBhvr additive="base">
                                        <p:cTn dur="500"/>
                                        <p:tgtEl>
                                          <p:spTgt spid="30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5">
                                            <p:txEl>
                                              <p:pRg end="2" st="2"/>
                                            </p:txEl>
                                          </p:spTgt>
                                        </p:tgtEl>
                                        <p:attrNameLst>
                                          <p:attrName>style.visibility</p:attrName>
                                        </p:attrNameLst>
                                      </p:cBhvr>
                                      <p:to>
                                        <p:strVal val="visible"/>
                                      </p:to>
                                    </p:set>
                                    <p:anim calcmode="lin" valueType="num">
                                      <p:cBhvr additive="base">
                                        <p:cTn dur="500"/>
                                        <p:tgtEl>
                                          <p:spTgt spid="30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5">
                                            <p:txEl>
                                              <p:pRg end="3" st="3"/>
                                            </p:txEl>
                                          </p:spTgt>
                                        </p:tgtEl>
                                        <p:attrNameLst>
                                          <p:attrName>style.visibility</p:attrName>
                                        </p:attrNameLst>
                                      </p:cBhvr>
                                      <p:to>
                                        <p:strVal val="visible"/>
                                      </p:to>
                                    </p:set>
                                    <p:anim calcmode="lin" valueType="num">
                                      <p:cBhvr additive="base">
                                        <p:cTn dur="500"/>
                                        <p:tgtEl>
                                          <p:spTgt spid="30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5">
                                            <p:txEl>
                                              <p:pRg end="4" st="4"/>
                                            </p:txEl>
                                          </p:spTgt>
                                        </p:tgtEl>
                                        <p:attrNameLst>
                                          <p:attrName>style.visibility</p:attrName>
                                        </p:attrNameLst>
                                      </p:cBhvr>
                                      <p:to>
                                        <p:strVal val="visible"/>
                                      </p:to>
                                    </p:set>
                                    <p:anim calcmode="lin" valueType="num">
                                      <p:cBhvr additive="base">
                                        <p:cTn dur="500"/>
                                        <p:tgtEl>
                                          <p:spTgt spid="30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5">
                                            <p:txEl>
                                              <p:pRg end="5" st="5"/>
                                            </p:txEl>
                                          </p:spTgt>
                                        </p:tgtEl>
                                        <p:attrNameLst>
                                          <p:attrName>style.visibility</p:attrName>
                                        </p:attrNameLst>
                                      </p:cBhvr>
                                      <p:to>
                                        <p:strVal val="visible"/>
                                      </p:to>
                                    </p:set>
                                    <p:anim calcmode="lin" valueType="num">
                                      <p:cBhvr additive="base">
                                        <p:cTn dur="500"/>
                                        <p:tgtEl>
                                          <p:spTgt spid="30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5">
                                            <p:txEl>
                                              <p:pRg end="6" st="6"/>
                                            </p:txEl>
                                          </p:spTgt>
                                        </p:tgtEl>
                                        <p:attrNameLst>
                                          <p:attrName>style.visibility</p:attrName>
                                        </p:attrNameLst>
                                      </p:cBhvr>
                                      <p:to>
                                        <p:strVal val="visible"/>
                                      </p:to>
                                    </p:set>
                                    <p:anim calcmode="lin" valueType="num">
                                      <p:cBhvr additive="base">
                                        <p:cTn dur="500"/>
                                        <p:tgtEl>
                                          <p:spTgt spid="30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310" name="Google Shape;310;p26"/>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1" name="Google Shape;311;p26"/>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1.2.2 CÁC YẾU TỐ ẢNH HƯỞNG ĐẾN CHẤT LƯỢNG PM</a:t>
            </a:r>
            <a:endParaRPr/>
          </a:p>
        </p:txBody>
      </p:sp>
      <p:sp>
        <p:nvSpPr>
          <p:cNvPr id="312" name="Google Shape;312;p26"/>
          <p:cNvSpPr txBox="1"/>
          <p:nvPr/>
        </p:nvSpPr>
        <p:spPr>
          <a:xfrm>
            <a:off x="914400" y="995362"/>
            <a:ext cx="8077200" cy="334803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C00000"/>
              </a:buClr>
              <a:buSzPts val="2400"/>
              <a:buFont typeface="Arial"/>
              <a:buNone/>
            </a:pPr>
            <a:r>
              <a:rPr b="1" i="0" lang="en-US" sz="2400" u="none">
                <a:solidFill>
                  <a:srgbClr val="C00000"/>
                </a:solidFill>
                <a:latin typeface="Arial"/>
                <a:ea typeface="Arial"/>
                <a:cs typeface="Arial"/>
                <a:sym typeface="Arial"/>
              </a:rPr>
              <a:t>Tính tiến hóa</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Sản phẩm có thể mở rộng, tăng cường về mặt chức năng dễ dàng,</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Người dùng khai báo thay đổi về quy định với phần mềm tùy theo thay đổi trong thế giới thực liên quan (như thay công thức tiền phạt …)</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2">
                                            <p:txEl>
                                              <p:pRg end="0" st="0"/>
                                            </p:txEl>
                                          </p:spTgt>
                                        </p:tgtEl>
                                        <p:attrNameLst>
                                          <p:attrName>style.visibility</p:attrName>
                                        </p:attrNameLst>
                                      </p:cBhvr>
                                      <p:to>
                                        <p:strVal val="visible"/>
                                      </p:to>
                                    </p:set>
                                    <p:anim calcmode="lin" valueType="num">
                                      <p:cBhvr additive="base">
                                        <p:cTn dur="500"/>
                                        <p:tgtEl>
                                          <p:spTgt spid="31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2">
                                            <p:txEl>
                                              <p:pRg end="1" st="1"/>
                                            </p:txEl>
                                          </p:spTgt>
                                        </p:tgtEl>
                                        <p:attrNameLst>
                                          <p:attrName>style.visibility</p:attrName>
                                        </p:attrNameLst>
                                      </p:cBhvr>
                                      <p:to>
                                        <p:strVal val="visible"/>
                                      </p:to>
                                    </p:set>
                                    <p:anim calcmode="lin" valueType="num">
                                      <p:cBhvr additive="base">
                                        <p:cTn dur="500"/>
                                        <p:tgtEl>
                                          <p:spTgt spid="31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2">
                                            <p:txEl>
                                              <p:pRg end="2" st="2"/>
                                            </p:txEl>
                                          </p:spTgt>
                                        </p:tgtEl>
                                        <p:attrNameLst>
                                          <p:attrName>style.visibility</p:attrName>
                                        </p:attrNameLst>
                                      </p:cBhvr>
                                      <p:to>
                                        <p:strVal val="visible"/>
                                      </p:to>
                                    </p:set>
                                    <p:anim calcmode="lin" valueType="num">
                                      <p:cBhvr additive="base">
                                        <p:cTn dur="500"/>
                                        <p:tgtEl>
                                          <p:spTgt spid="31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317" name="Google Shape;317;p27"/>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8" name="Google Shape;318;p27"/>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1.2.2 CÁC YẾU TỐ ẢNH HƯỞNG ĐẾN CHẤT LƯỢNG PM</a:t>
            </a:r>
            <a:endParaRPr/>
          </a:p>
        </p:txBody>
      </p:sp>
      <p:sp>
        <p:nvSpPr>
          <p:cNvPr id="319" name="Google Shape;319;p27"/>
          <p:cNvSpPr txBox="1"/>
          <p:nvPr/>
        </p:nvSpPr>
        <p:spPr>
          <a:xfrm>
            <a:off x="914400" y="914400"/>
            <a:ext cx="8077200" cy="286226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C00000"/>
              </a:buClr>
              <a:buSzPts val="2400"/>
              <a:buFont typeface="Arial"/>
              <a:buNone/>
            </a:pPr>
            <a:r>
              <a:rPr b="1" i="0" lang="en-US" sz="2400" u="none">
                <a:solidFill>
                  <a:srgbClr val="C00000"/>
                </a:solidFill>
                <a:latin typeface="Arial"/>
                <a:ea typeface="Arial"/>
                <a:cs typeface="Arial"/>
                <a:sym typeface="Arial"/>
              </a:rPr>
              <a:t>Tính hiệu quả:</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Hiệu quả </a:t>
            </a:r>
            <a:r>
              <a:rPr b="0" i="1" lang="en-US" sz="2400" u="none">
                <a:solidFill>
                  <a:schemeClr val="dk1"/>
                </a:solidFill>
                <a:latin typeface="Arial"/>
                <a:ea typeface="Arial"/>
                <a:cs typeface="Arial"/>
                <a:sym typeface="Arial"/>
              </a:rPr>
              <a:t>kinh tế, ý nghĩa, giá trị</a:t>
            </a:r>
            <a:r>
              <a:rPr b="0" i="0" lang="en-US" sz="2400" u="none">
                <a:solidFill>
                  <a:schemeClr val="dk1"/>
                </a:solidFill>
                <a:latin typeface="Arial"/>
                <a:ea typeface="Arial"/>
                <a:cs typeface="Arial"/>
                <a:sym typeface="Arial"/>
              </a:rPr>
              <a:t> thu được.</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Hiệu quả </a:t>
            </a:r>
            <a:r>
              <a:rPr b="0" i="1" lang="en-US" sz="2400" u="none">
                <a:solidFill>
                  <a:schemeClr val="dk1"/>
                </a:solidFill>
                <a:latin typeface="Arial"/>
                <a:ea typeface="Arial"/>
                <a:cs typeface="Arial"/>
                <a:sym typeface="Arial"/>
              </a:rPr>
              <a:t>sử dụng</a:t>
            </a:r>
            <a:r>
              <a:rPr b="0" i="0" lang="en-US" sz="2400" u="none">
                <a:solidFill>
                  <a:schemeClr val="dk1"/>
                </a:solidFill>
                <a:latin typeface="Arial"/>
                <a:ea typeface="Arial"/>
                <a:cs typeface="Arial"/>
                <a:sym typeface="Arial"/>
              </a:rPr>
              <a:t> (tốc độ xử lý của phần mềm …)</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Hiệu quả </a:t>
            </a:r>
            <a:r>
              <a:rPr b="0" i="1" lang="en-US" sz="2400" u="none">
                <a:solidFill>
                  <a:schemeClr val="dk1"/>
                </a:solidFill>
                <a:latin typeface="Arial"/>
                <a:ea typeface="Arial"/>
                <a:cs typeface="Arial"/>
                <a:sym typeface="Arial"/>
              </a:rPr>
              <a:t>kỹ thuật</a:t>
            </a:r>
            <a:r>
              <a:rPr b="0" i="0" lang="en-US" sz="2400" u="none">
                <a:solidFill>
                  <a:schemeClr val="dk1"/>
                </a:solidFill>
                <a:latin typeface="Arial"/>
                <a:ea typeface="Arial"/>
                <a:cs typeface="Arial"/>
                <a:sym typeface="Arial"/>
              </a:rPr>
              <a:t> (tối ưu tài nguyên của máy tính: CPU, bộ nhớ, không gian xử lý …)</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9">
                                            <p:txEl>
                                              <p:pRg end="0" st="0"/>
                                            </p:txEl>
                                          </p:spTgt>
                                        </p:tgtEl>
                                        <p:attrNameLst>
                                          <p:attrName>style.visibility</p:attrName>
                                        </p:attrNameLst>
                                      </p:cBhvr>
                                      <p:to>
                                        <p:strVal val="visible"/>
                                      </p:to>
                                    </p:set>
                                    <p:anim calcmode="lin" valueType="num">
                                      <p:cBhvr additive="base">
                                        <p:cTn dur="500"/>
                                        <p:tgtEl>
                                          <p:spTgt spid="31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9">
                                            <p:txEl>
                                              <p:pRg end="1" st="1"/>
                                            </p:txEl>
                                          </p:spTgt>
                                        </p:tgtEl>
                                        <p:attrNameLst>
                                          <p:attrName>style.visibility</p:attrName>
                                        </p:attrNameLst>
                                      </p:cBhvr>
                                      <p:to>
                                        <p:strVal val="visible"/>
                                      </p:to>
                                    </p:set>
                                    <p:anim calcmode="lin" valueType="num">
                                      <p:cBhvr additive="base">
                                        <p:cTn dur="500"/>
                                        <p:tgtEl>
                                          <p:spTgt spid="31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9">
                                            <p:txEl>
                                              <p:pRg end="2" st="2"/>
                                            </p:txEl>
                                          </p:spTgt>
                                        </p:tgtEl>
                                        <p:attrNameLst>
                                          <p:attrName>style.visibility</p:attrName>
                                        </p:attrNameLst>
                                      </p:cBhvr>
                                      <p:to>
                                        <p:strVal val="visible"/>
                                      </p:to>
                                    </p:set>
                                    <p:anim calcmode="lin" valueType="num">
                                      <p:cBhvr additive="base">
                                        <p:cTn dur="500"/>
                                        <p:tgtEl>
                                          <p:spTgt spid="31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9">
                                            <p:txEl>
                                              <p:pRg end="3" st="3"/>
                                            </p:txEl>
                                          </p:spTgt>
                                        </p:tgtEl>
                                        <p:attrNameLst>
                                          <p:attrName>style.visibility</p:attrName>
                                        </p:attrNameLst>
                                      </p:cBhvr>
                                      <p:to>
                                        <p:strVal val="visible"/>
                                      </p:to>
                                    </p:set>
                                    <p:anim calcmode="lin" valueType="num">
                                      <p:cBhvr additive="base">
                                        <p:cTn dur="500"/>
                                        <p:tgtEl>
                                          <p:spTgt spid="31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324" name="Google Shape;324;p28"/>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5" name="Google Shape;325;p28"/>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1.2.2 CÁC YẾU TỐ ẢNH HƯỞNG ĐẾN CHẤT LƯỢNG PM</a:t>
            </a:r>
            <a:endParaRPr/>
          </a:p>
        </p:txBody>
      </p:sp>
      <p:sp>
        <p:nvSpPr>
          <p:cNvPr id="326" name="Google Shape;326;p28"/>
          <p:cNvSpPr txBox="1"/>
          <p:nvPr/>
        </p:nvSpPr>
        <p:spPr>
          <a:xfrm>
            <a:off x="914400" y="914400"/>
            <a:ext cx="8077200" cy="286226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C00000"/>
              </a:buClr>
              <a:buSzPts val="2400"/>
              <a:buFont typeface="Arial"/>
              <a:buNone/>
            </a:pPr>
            <a:r>
              <a:rPr b="1" i="0" lang="en-US" sz="2400" u="none">
                <a:solidFill>
                  <a:srgbClr val="C00000"/>
                </a:solidFill>
                <a:latin typeface="Arial"/>
                <a:ea typeface="Arial"/>
                <a:cs typeface="Arial"/>
                <a:sym typeface="Arial"/>
              </a:rPr>
              <a:t>Tính tiện dụng</a:t>
            </a:r>
            <a:r>
              <a:rPr b="1" i="0" lang="en-US" sz="2400" u="none">
                <a:solidFill>
                  <a:schemeClr val="dk1"/>
                </a:solidFill>
                <a:latin typeface="Arial"/>
                <a:ea typeface="Arial"/>
                <a:cs typeface="Arial"/>
                <a:sym typeface="Arial"/>
              </a:rPr>
              <a:t>:</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Tính cơ động và linh hoạt của sản phẩm</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Cảm nhận (về mặt tâm lý) của người dùng về:</a:t>
            </a:r>
            <a:endParaRPr/>
          </a:p>
          <a:p>
            <a:pPr indent="-342900" lvl="1" marL="800100" marR="0" rtl="0" algn="just">
              <a:lnSpc>
                <a:spcPct val="15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Dễ học, có giao diện trực quan tự nhiên.</a:t>
            </a:r>
            <a:endParaRPr/>
          </a:p>
          <a:p>
            <a:pPr indent="-342900" lvl="1" marL="800100" marR="0" rtl="0" algn="just">
              <a:lnSpc>
                <a:spcPct val="15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Các </a:t>
            </a:r>
            <a:r>
              <a:rPr b="0" i="1" lang="en-US" sz="2400" u="none" cap="none" strike="noStrike">
                <a:solidFill>
                  <a:schemeClr val="dk1"/>
                </a:solidFill>
                <a:latin typeface="Arial"/>
                <a:ea typeface="Arial"/>
                <a:cs typeface="Arial"/>
                <a:sym typeface="Arial"/>
              </a:rPr>
              <a:t>chức năng</a:t>
            </a:r>
            <a:r>
              <a:rPr b="0" i="0" lang="en-US" sz="2400" u="none" cap="none" strike="noStrike">
                <a:solidFill>
                  <a:schemeClr val="dk1"/>
                </a:solidFill>
                <a:latin typeface="Arial"/>
                <a:ea typeface="Arial"/>
                <a:cs typeface="Arial"/>
                <a:sym typeface="Arial"/>
              </a:rPr>
              <a:t> của sản phẩm </a:t>
            </a:r>
            <a:r>
              <a:rPr b="0" i="1" lang="en-US" sz="2400" u="none" cap="none" strike="noStrike">
                <a:solidFill>
                  <a:schemeClr val="dk1"/>
                </a:solidFill>
                <a:latin typeface="Arial"/>
                <a:ea typeface="Arial"/>
                <a:cs typeface="Arial"/>
                <a:sym typeface="Arial"/>
              </a:rPr>
              <a:t>dễ thao tác</a:t>
            </a:r>
            <a:r>
              <a:rPr b="0" i="0" lang="en-US" sz="2400" u="none" cap="none" strike="noStrike">
                <a:solidFill>
                  <a:schemeClr val="dk1"/>
                </a:solidFill>
                <a:latin typeface="Arial"/>
                <a:ea typeface="Arial"/>
                <a:cs typeface="Arial"/>
                <a:sym typeface="Arial"/>
              </a:rPr>
              <a:t> …</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xEl>
                                              <p:pRg end="0" st="0"/>
                                            </p:txEl>
                                          </p:spTgt>
                                        </p:tgtEl>
                                        <p:attrNameLst>
                                          <p:attrName>style.visibility</p:attrName>
                                        </p:attrNameLst>
                                      </p:cBhvr>
                                      <p:to>
                                        <p:strVal val="visible"/>
                                      </p:to>
                                    </p:set>
                                    <p:anim calcmode="lin" valueType="num">
                                      <p:cBhvr additive="base">
                                        <p:cTn dur="500"/>
                                        <p:tgtEl>
                                          <p:spTgt spid="32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xEl>
                                              <p:pRg end="1" st="1"/>
                                            </p:txEl>
                                          </p:spTgt>
                                        </p:tgtEl>
                                        <p:attrNameLst>
                                          <p:attrName>style.visibility</p:attrName>
                                        </p:attrNameLst>
                                      </p:cBhvr>
                                      <p:to>
                                        <p:strVal val="visible"/>
                                      </p:to>
                                    </p:set>
                                    <p:anim calcmode="lin" valueType="num">
                                      <p:cBhvr additive="base">
                                        <p:cTn dur="500"/>
                                        <p:tgtEl>
                                          <p:spTgt spid="32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xEl>
                                              <p:pRg end="2" st="2"/>
                                            </p:txEl>
                                          </p:spTgt>
                                        </p:tgtEl>
                                        <p:attrNameLst>
                                          <p:attrName>style.visibility</p:attrName>
                                        </p:attrNameLst>
                                      </p:cBhvr>
                                      <p:to>
                                        <p:strVal val="visible"/>
                                      </p:to>
                                    </p:set>
                                    <p:anim calcmode="lin" valueType="num">
                                      <p:cBhvr additive="base">
                                        <p:cTn dur="500"/>
                                        <p:tgtEl>
                                          <p:spTgt spid="32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xEl>
                                              <p:pRg end="3" st="3"/>
                                            </p:txEl>
                                          </p:spTgt>
                                        </p:tgtEl>
                                        <p:attrNameLst>
                                          <p:attrName>style.visibility</p:attrName>
                                        </p:attrNameLst>
                                      </p:cBhvr>
                                      <p:to>
                                        <p:strVal val="visible"/>
                                      </p:to>
                                    </p:set>
                                    <p:anim calcmode="lin" valueType="num">
                                      <p:cBhvr additive="base">
                                        <p:cTn dur="500"/>
                                        <p:tgtEl>
                                          <p:spTgt spid="32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xEl>
                                              <p:pRg end="4" st="4"/>
                                            </p:txEl>
                                          </p:spTgt>
                                        </p:tgtEl>
                                        <p:attrNameLst>
                                          <p:attrName>style.visibility</p:attrName>
                                        </p:attrNameLst>
                                      </p:cBhvr>
                                      <p:to>
                                        <p:strVal val="visible"/>
                                      </p:to>
                                    </p:set>
                                    <p:anim calcmode="lin" valueType="num">
                                      <p:cBhvr additive="base">
                                        <p:cTn dur="500"/>
                                        <p:tgtEl>
                                          <p:spTgt spid="32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331" name="Google Shape;331;p29"/>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2" name="Google Shape;332;p29"/>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1.2.2 CÁC YẾU TỐ ẢNH HƯỞNG ĐẾN CHẤT LƯỢNG PM</a:t>
            </a:r>
            <a:endParaRPr/>
          </a:p>
        </p:txBody>
      </p:sp>
      <p:sp>
        <p:nvSpPr>
          <p:cNvPr id="333" name="Google Shape;333;p29"/>
          <p:cNvSpPr txBox="1"/>
          <p:nvPr/>
        </p:nvSpPr>
        <p:spPr>
          <a:xfrm>
            <a:off x="914400" y="1033462"/>
            <a:ext cx="8077200" cy="223996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C00000"/>
              </a:buClr>
              <a:buSzPts val="2400"/>
              <a:buFont typeface="Arial"/>
              <a:buNone/>
            </a:pPr>
            <a:r>
              <a:rPr b="1" i="0" lang="en-US" sz="2400" u="none">
                <a:solidFill>
                  <a:srgbClr val="C00000"/>
                </a:solidFill>
                <a:latin typeface="Arial"/>
                <a:ea typeface="Arial"/>
                <a:cs typeface="Arial"/>
                <a:sym typeface="Arial"/>
              </a:rPr>
              <a:t>Tính tương thích:</a:t>
            </a:r>
            <a:endParaRPr/>
          </a:p>
          <a:p>
            <a:pPr indent="-152400" lvl="0" marL="0" marR="0" rtl="0" algn="just">
              <a:lnSpc>
                <a:spcPct val="150000"/>
              </a:lnSpc>
              <a:spcBef>
                <a:spcPts val="0"/>
              </a:spcBef>
              <a:spcAft>
                <a:spcPts val="0"/>
              </a:spcAft>
              <a:buClr>
                <a:schemeClr val="dk1"/>
              </a:buClr>
              <a:buSzPts val="2400"/>
              <a:buFont typeface="Noto Sans Symbols"/>
              <a:buChar char="✔"/>
            </a:pPr>
            <a:r>
              <a:rPr b="0" i="1" lang="en-US" sz="2400" u="none">
                <a:solidFill>
                  <a:schemeClr val="dk1"/>
                </a:solidFill>
                <a:latin typeface="Arial"/>
                <a:ea typeface="Arial"/>
                <a:cs typeface="Arial"/>
                <a:sym typeface="Arial"/>
              </a:rPr>
              <a:t>Khả năng trao đổi dữ liệu với các phần mềm khác</a:t>
            </a:r>
            <a:r>
              <a:rPr b="0" i="0" lang="en-US" sz="2400" u="none">
                <a:solidFill>
                  <a:schemeClr val="dk1"/>
                </a:solidFill>
                <a:latin typeface="Arial"/>
                <a:ea typeface="Arial"/>
                <a:cs typeface="Arial"/>
                <a:sym typeface="Arial"/>
              </a:rPr>
              <a:t> (như: nhận danh sách nhân viên từ tập tin Excel …), </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Gồm Giao tiếp nội bộ và giao tiếp bên ngoài.</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3">
                                            <p:txEl>
                                              <p:pRg end="0" st="0"/>
                                            </p:txEl>
                                          </p:spTgt>
                                        </p:tgtEl>
                                        <p:attrNameLst>
                                          <p:attrName>style.visibility</p:attrName>
                                        </p:attrNameLst>
                                      </p:cBhvr>
                                      <p:to>
                                        <p:strVal val="visible"/>
                                      </p:to>
                                    </p:set>
                                    <p:anim calcmode="lin" valueType="num">
                                      <p:cBhvr additive="base">
                                        <p:cTn dur="500"/>
                                        <p:tgtEl>
                                          <p:spTgt spid="33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3">
                                            <p:txEl>
                                              <p:pRg end="1" st="1"/>
                                            </p:txEl>
                                          </p:spTgt>
                                        </p:tgtEl>
                                        <p:attrNameLst>
                                          <p:attrName>style.visibility</p:attrName>
                                        </p:attrNameLst>
                                      </p:cBhvr>
                                      <p:to>
                                        <p:strVal val="visible"/>
                                      </p:to>
                                    </p:set>
                                    <p:anim calcmode="lin" valueType="num">
                                      <p:cBhvr additive="base">
                                        <p:cTn dur="500"/>
                                        <p:tgtEl>
                                          <p:spTgt spid="33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3">
                                            <p:txEl>
                                              <p:pRg end="2" st="2"/>
                                            </p:txEl>
                                          </p:spTgt>
                                        </p:tgtEl>
                                        <p:attrNameLst>
                                          <p:attrName>style.visibility</p:attrName>
                                        </p:attrNameLst>
                                      </p:cBhvr>
                                      <p:to>
                                        <p:strVal val="visible"/>
                                      </p:to>
                                    </p:set>
                                    <p:anim calcmode="lin" valueType="num">
                                      <p:cBhvr additive="base">
                                        <p:cTn dur="500"/>
                                        <p:tgtEl>
                                          <p:spTgt spid="33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338" name="Google Shape;338;p30"/>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9" name="Google Shape;339;p30"/>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1.2.2 CÁC YẾU TỐ ẢNH HƯỞNG ĐẾN CHẤT LƯỢNG PM</a:t>
            </a:r>
            <a:endParaRPr/>
          </a:p>
        </p:txBody>
      </p:sp>
      <p:sp>
        <p:nvSpPr>
          <p:cNvPr id="340" name="Google Shape;340;p30"/>
          <p:cNvSpPr txBox="1"/>
          <p:nvPr/>
        </p:nvSpPr>
        <p:spPr>
          <a:xfrm>
            <a:off x="914400" y="1033462"/>
            <a:ext cx="8077200" cy="286226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C00000"/>
              </a:buClr>
              <a:buSzPts val="2400"/>
              <a:buFont typeface="Arial"/>
              <a:buNone/>
            </a:pPr>
            <a:r>
              <a:rPr b="1" i="0" lang="en-US" sz="2400" u="none">
                <a:solidFill>
                  <a:srgbClr val="C00000"/>
                </a:solidFill>
                <a:latin typeface="Arial"/>
                <a:ea typeface="Arial"/>
                <a:cs typeface="Arial"/>
                <a:sym typeface="Arial"/>
              </a:rPr>
              <a:t>Tính tái sử dụng:</a:t>
            </a:r>
            <a:endParaRPr/>
          </a:p>
          <a:p>
            <a:pPr indent="-152400" lvl="0" marL="0" marR="0" rtl="0" algn="just">
              <a:lnSpc>
                <a:spcPct val="150000"/>
              </a:lnSpc>
              <a:spcBef>
                <a:spcPts val="0"/>
              </a:spcBef>
              <a:spcAft>
                <a:spcPts val="0"/>
              </a:spcAft>
              <a:buClr>
                <a:schemeClr val="dk1"/>
              </a:buClr>
              <a:buSzPts val="2400"/>
              <a:buFont typeface="Noto Sans Symbols"/>
              <a:buChar char="✔"/>
            </a:pPr>
            <a:r>
              <a:rPr b="0" i="1" lang="en-US" sz="2400" u="none">
                <a:solidFill>
                  <a:schemeClr val="dk1"/>
                </a:solidFill>
                <a:latin typeface="Arial"/>
                <a:ea typeface="Arial"/>
                <a:cs typeface="Arial"/>
                <a:sym typeface="Arial"/>
              </a:rPr>
              <a:t>Có thể áp dụng</a:t>
            </a:r>
            <a:r>
              <a:rPr b="0" i="0" lang="en-US" sz="2400" u="none">
                <a:solidFill>
                  <a:schemeClr val="dk1"/>
                </a:solidFill>
                <a:latin typeface="Arial"/>
                <a:ea typeface="Arial"/>
                <a:cs typeface="Arial"/>
                <a:sym typeface="Arial"/>
              </a:rPr>
              <a:t> cho </a:t>
            </a:r>
            <a:r>
              <a:rPr b="0" i="1" lang="en-US" sz="2400" u="none">
                <a:solidFill>
                  <a:schemeClr val="dk1"/>
                </a:solidFill>
                <a:latin typeface="Arial"/>
                <a:ea typeface="Arial"/>
                <a:cs typeface="Arial"/>
                <a:sym typeface="Arial"/>
              </a:rPr>
              <a:t>nhiều lĩnh vực</a:t>
            </a:r>
            <a:r>
              <a:rPr b="0" i="0" lang="en-US" sz="2400" u="none">
                <a:solidFill>
                  <a:schemeClr val="dk1"/>
                </a:solidFill>
                <a:latin typeface="Arial"/>
                <a:ea typeface="Arial"/>
                <a:cs typeface="Arial"/>
                <a:sym typeface="Arial"/>
              </a:rPr>
              <a:t> theo </a:t>
            </a:r>
            <a:r>
              <a:rPr b="0" i="1" lang="en-US" sz="2400" u="none">
                <a:solidFill>
                  <a:schemeClr val="dk1"/>
                </a:solidFill>
                <a:latin typeface="Arial"/>
                <a:ea typeface="Arial"/>
                <a:cs typeface="Arial"/>
                <a:sym typeface="Arial"/>
              </a:rPr>
              <a:t>nhiều chế độ làm việc</a:t>
            </a:r>
            <a:r>
              <a:rPr b="0" i="0" lang="en-US" sz="2400" u="none">
                <a:solidFill>
                  <a:schemeClr val="dk1"/>
                </a:solidFill>
                <a:latin typeface="Arial"/>
                <a:ea typeface="Arial"/>
                <a:cs typeface="Arial"/>
                <a:sym typeface="Arial"/>
              </a:rPr>
              <a:t> khác nhau,</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Áp dụng về mặt kỹ thuật hay phối hợp về mặt sử dụng với các phần mềm khác.</a:t>
            </a:r>
            <a:endParaRPr/>
          </a:p>
        </p:txBody>
      </p:sp>
    </p:spTree>
  </p:cSld>
  <p:clrMapOvr>
    <a:masterClrMapping/>
  </p:clrMapOvr>
  <p:transition advTm="25000">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0">
                                            <p:txEl>
                                              <p:pRg end="0" st="0"/>
                                            </p:txEl>
                                          </p:spTgt>
                                        </p:tgtEl>
                                        <p:attrNameLst>
                                          <p:attrName>style.visibility</p:attrName>
                                        </p:attrNameLst>
                                      </p:cBhvr>
                                      <p:to>
                                        <p:strVal val="visible"/>
                                      </p:to>
                                    </p:set>
                                    <p:anim calcmode="lin" valueType="num">
                                      <p:cBhvr additive="base">
                                        <p:cTn dur="500"/>
                                        <p:tgtEl>
                                          <p:spTgt spid="34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0">
                                            <p:txEl>
                                              <p:pRg end="1" st="1"/>
                                            </p:txEl>
                                          </p:spTgt>
                                        </p:tgtEl>
                                        <p:attrNameLst>
                                          <p:attrName>style.visibility</p:attrName>
                                        </p:attrNameLst>
                                      </p:cBhvr>
                                      <p:to>
                                        <p:strVal val="visible"/>
                                      </p:to>
                                    </p:set>
                                    <p:anim calcmode="lin" valueType="num">
                                      <p:cBhvr additive="base">
                                        <p:cTn dur="500"/>
                                        <p:tgtEl>
                                          <p:spTgt spid="34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0">
                                            <p:txEl>
                                              <p:pRg end="2" st="2"/>
                                            </p:txEl>
                                          </p:spTgt>
                                        </p:tgtEl>
                                        <p:attrNameLst>
                                          <p:attrName>style.visibility</p:attrName>
                                        </p:attrNameLst>
                                      </p:cBhvr>
                                      <p:to>
                                        <p:strVal val="visible"/>
                                      </p:to>
                                    </p:set>
                                    <p:anim calcmode="lin" valueType="num">
                                      <p:cBhvr additive="base">
                                        <p:cTn dur="500"/>
                                        <p:tgtEl>
                                          <p:spTgt spid="34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345" name="Google Shape;345;p31"/>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6" name="Google Shape;346;p31"/>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1.2.3 KHÁI NIỆM KIỂM THỬ PHẦN MỀM</a:t>
            </a:r>
            <a:endParaRPr/>
          </a:p>
        </p:txBody>
      </p:sp>
      <p:sp>
        <p:nvSpPr>
          <p:cNvPr id="347" name="Google Shape;347;p31"/>
          <p:cNvSpPr txBox="1"/>
          <p:nvPr/>
        </p:nvSpPr>
        <p:spPr>
          <a:xfrm>
            <a:off x="838200" y="1066800"/>
            <a:ext cx="8077200" cy="277018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KTPM Là thí nghiệm để so sánh kết quả thực tế với lý thuyết nhằm phát hiện lỗi. </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Bộ thử nghiệm (test cases) là dữ liệu dùng để kiểm tra. </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Bộ kiểm thử tốt là bộ có khả năng phát hiện ra lỗi. </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KTPM chỉ </a:t>
            </a:r>
            <a:r>
              <a:rPr b="0" i="0" lang="en-US" sz="2400" u="none">
                <a:solidFill>
                  <a:srgbClr val="FF0000"/>
                </a:solidFill>
                <a:latin typeface="Arial"/>
                <a:ea typeface="Arial"/>
                <a:cs typeface="Arial"/>
                <a:sym typeface="Arial"/>
              </a:rPr>
              <a:t>chứng minh được sự tồn tại của lỗi</a:t>
            </a:r>
            <a:r>
              <a:rPr b="0" i="0" lang="en-US" sz="2400" u="none">
                <a:solidFill>
                  <a:schemeClr val="dk1"/>
                </a:solidFill>
                <a:latin typeface="Arial"/>
                <a:ea typeface="Arial"/>
                <a:cs typeface="Arial"/>
                <a:sym typeface="Arial"/>
              </a:rPr>
              <a:t> nhưng </a:t>
            </a:r>
            <a:r>
              <a:rPr b="0" i="0" lang="en-US" sz="2400" u="none">
                <a:solidFill>
                  <a:srgbClr val="FF0000"/>
                </a:solidFill>
                <a:latin typeface="Arial"/>
                <a:ea typeface="Arial"/>
                <a:cs typeface="Arial"/>
                <a:sym typeface="Arial"/>
              </a:rPr>
              <a:t>không chứng minh được chương trình không có lỗi</a:t>
            </a:r>
            <a:r>
              <a:rPr b="0" i="0" lang="en-US" sz="2400" u="none">
                <a:solidFill>
                  <a:schemeClr val="dk1"/>
                </a:solidFill>
                <a:latin typeface="Arial"/>
                <a:ea typeface="Arial"/>
                <a:cs typeface="Arial"/>
                <a:sym typeface="Arial"/>
              </a:rPr>
              <a:t>.</a:t>
            </a:r>
            <a:endParaRPr/>
          </a:p>
        </p:txBody>
      </p:sp>
    </p:spTree>
  </p:cSld>
  <p:clrMapOvr>
    <a:masterClrMapping/>
  </p:clrMapOvr>
  <p:transition advTm="25000">
    <p:randomBar dir="vert"/>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352" name="Google Shape;352;p32"/>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3" name="Google Shape;353;p32"/>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1.2.3 KHÁI NIỆM KIỂM THỬ PHẦN MỀM</a:t>
            </a:r>
            <a:endParaRPr/>
          </a:p>
        </p:txBody>
      </p:sp>
      <p:sp>
        <p:nvSpPr>
          <p:cNvPr id="354" name="Google Shape;354;p32"/>
          <p:cNvSpPr txBox="1"/>
          <p:nvPr/>
        </p:nvSpPr>
        <p:spPr>
          <a:xfrm>
            <a:off x="1143000" y="1039812"/>
            <a:ext cx="7772400" cy="4862512"/>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Thực tế:</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Không gian kiểm thử: Các bộ kiểm thử (rất lớn). </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Nếu vét cạn được thì chương trình không còn lỗi. </a:t>
            </a:r>
            <a:endParaRPr/>
          </a:p>
          <a:p>
            <a:pPr indent="-342900" lvl="0" marL="342900" marR="0" rtl="0" algn="just">
              <a:lnSpc>
                <a:spcPct val="100000"/>
              </a:lnSpc>
              <a:spcBef>
                <a:spcPts val="120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 Không khả thi.</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Do đó tính đúng đắn của PM dùng độ tin cậy.</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PP kiểm thử là chọn bộ kiểm thử để độ tin cậy: </a:t>
            </a:r>
            <a:endParaRPr/>
          </a:p>
          <a:p>
            <a:pPr indent="-342900" lvl="1" marL="800100" marR="0" rtl="0" algn="just">
              <a:lnSpc>
                <a:spcPct val="100000"/>
              </a:lnSpc>
              <a:spcBef>
                <a:spcPts val="120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Phân hoạch không gian kiểm thử thành nhiều miền rồi chọn số liệu kiểm thử. </a:t>
            </a:r>
            <a:endParaRPr/>
          </a:p>
          <a:p>
            <a:pPr indent="-342900" lvl="1" marL="800100" marR="0" rtl="0" algn="just">
              <a:lnSpc>
                <a:spcPct val="100000"/>
              </a:lnSpc>
              <a:spcBef>
                <a:spcPts val="120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Cần tránh mọi bộ thử nghiệm đều rơi vào một miền kiểm tra.</a:t>
            </a:r>
            <a:endParaRPr/>
          </a:p>
        </p:txBody>
      </p:sp>
    </p:spTree>
  </p:cSld>
  <p:clrMapOvr>
    <a:masterClrMapping/>
  </p:clrMapOvr>
  <p:transition advTm="25000">
    <p:randomBar dir="vert"/>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359" name="Google Shape;359;p33"/>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0" name="Google Shape;360;p33"/>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1.2.4 MỤC TIÊU KIỂM THỬ</a:t>
            </a:r>
            <a:endParaRPr/>
          </a:p>
        </p:txBody>
      </p:sp>
      <p:sp>
        <p:nvSpPr>
          <p:cNvPr id="361" name="Google Shape;361;p33"/>
          <p:cNvSpPr txBox="1"/>
          <p:nvPr/>
        </p:nvSpPr>
        <p:spPr>
          <a:xfrm>
            <a:off x="990600" y="990600"/>
            <a:ext cx="7848600" cy="286226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Các mục tiêu trực tiếp:</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Xác định và phát hiện nhiều lỗi nhất có thể </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Sau khi sửa chữa các lỗi và kiểm tra lại.</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Thực hiện các yêu cầu kiểm thử hiệu quả, trong phạm vi ngân sách và thời gian cho phép.</a:t>
            </a:r>
            <a:endParaRPr/>
          </a:p>
        </p:txBody>
      </p:sp>
    </p:spTree>
  </p:cSld>
  <p:clrMapOvr>
    <a:masterClrMapping/>
  </p:clrMapOvr>
  <p:transition advTm="25000">
    <p:randomBar dir="vert"/>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366" name="Google Shape;366;p34"/>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7" name="Google Shape;367;p34"/>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1.2.4 MỤC TIÊU KIỂM THỬ</a:t>
            </a:r>
            <a:endParaRPr/>
          </a:p>
        </p:txBody>
      </p:sp>
      <p:sp>
        <p:nvSpPr>
          <p:cNvPr id="368" name="Google Shape;368;p34"/>
          <p:cNvSpPr txBox="1"/>
          <p:nvPr/>
        </p:nvSpPr>
        <p:spPr>
          <a:xfrm>
            <a:off x="990600" y="990600"/>
            <a:ext cx="8001000" cy="397033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Các mục tiêu gián tiếp:</a:t>
            </a:r>
            <a:endParaRPr/>
          </a:p>
          <a:p>
            <a:pPr indent="0" lvl="0" marL="0" marR="0" rtl="0" algn="l">
              <a:lnSpc>
                <a:spcPct val="15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Tuỳ thuộc vào mục tiêu của kiểm thử, chia các mức</a:t>
            </a:r>
            <a:endParaRPr/>
          </a:p>
          <a:p>
            <a:pPr indent="-152400" lvl="0" marL="0" marR="0" rtl="0" algn="l">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Mức 0: testing và debuging là giống nhau</a:t>
            </a:r>
            <a:endParaRPr/>
          </a:p>
          <a:p>
            <a:pPr indent="-152400" lvl="0" marL="0" marR="0" rtl="0" algn="l">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Mức 1: Chỉ ra phần mềm hoạt động</a:t>
            </a:r>
            <a:endParaRPr/>
          </a:p>
          <a:p>
            <a:pPr indent="-152400" lvl="0" marL="0" marR="0" rtl="0" algn="l">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Mức 2: Chỉ ra phần mềm không hoạt động</a:t>
            </a:r>
            <a:endParaRPr/>
          </a:p>
          <a:p>
            <a:pPr indent="-152400" lvl="0" marL="0" marR="0" rtl="0" algn="l">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Mức 3: Giảm các rủi ro khi sử dụng phần mềm</a:t>
            </a:r>
            <a:endParaRPr/>
          </a:p>
          <a:p>
            <a:pPr indent="-152400" lvl="0" marL="0" marR="0" rtl="0" algn="l">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Mức 4: Phát triển phần mềm có chất lượng cao hơn.</a:t>
            </a:r>
            <a:endParaRPr/>
          </a:p>
        </p:txBody>
      </p:sp>
    </p:spTree>
  </p:cSld>
  <p:clrMapOvr>
    <a:masterClrMapping/>
  </p:clrMapOvr>
  <p:transition advTm="25000">
    <p:randomBar dir="vert"/>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373" name="Google Shape;373;p35"/>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4" name="Google Shape;374;p35"/>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1.2.5 TẦM QUAN TRỌNG CỦA KIỂM THỬ</a:t>
            </a:r>
            <a:endParaRPr/>
          </a:p>
        </p:txBody>
      </p:sp>
      <p:sp>
        <p:nvSpPr>
          <p:cNvPr id="375" name="Google Shape;375;p35"/>
          <p:cNvSpPr txBox="1"/>
          <p:nvPr/>
        </p:nvSpPr>
        <p:spPr>
          <a:xfrm>
            <a:off x="990600" y="990600"/>
            <a:ext cx="7848600" cy="249237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Chi phí cho quá trình kiểm thử và tích hợp hệ thống chiếm khoảng 29% tổng kinh phí của dự án</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Nhiều nhất trong số những quá trình còn lại bao gồm thiết kế ban đầu, thiết kế chi tiết, viết mã chương trình và kiểm thử từng chức năng, xác định yêu cầu.</a:t>
            </a:r>
            <a:endParaRPr/>
          </a:p>
        </p:txBody>
      </p:sp>
      <p:pic>
        <p:nvPicPr>
          <p:cNvPr id="376" name="Google Shape;376;p35"/>
          <p:cNvPicPr preferRelativeResize="0"/>
          <p:nvPr/>
        </p:nvPicPr>
        <p:blipFill rotWithShape="1">
          <a:blip r:embed="rId3">
            <a:alphaModFix/>
          </a:blip>
          <a:srcRect b="0" l="0" r="0" t="0"/>
          <a:stretch/>
        </p:blipFill>
        <p:spPr>
          <a:xfrm>
            <a:off x="2667000" y="3729037"/>
            <a:ext cx="4751387" cy="2624137"/>
          </a:xfrm>
          <a:prstGeom prst="rect">
            <a:avLst/>
          </a:prstGeom>
          <a:noFill/>
          <a:ln>
            <a:noFill/>
          </a:ln>
        </p:spPr>
      </p:pic>
      <p:sp>
        <p:nvSpPr>
          <p:cNvPr id="377" name="Google Shape;377;p35"/>
          <p:cNvSpPr txBox="1"/>
          <p:nvPr/>
        </p:nvSpPr>
        <p:spPr>
          <a:xfrm>
            <a:off x="1524000" y="6357937"/>
            <a:ext cx="6781800"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Chi phí phân bố cho các tác vụ trong phát triển phần mềm</a:t>
            </a:r>
            <a:endParaRPr/>
          </a:p>
        </p:txBody>
      </p:sp>
    </p:spTree>
  </p:cSld>
  <p:clrMapOvr>
    <a:masterClrMapping/>
  </p:clrMapOvr>
  <p:transition advTm="25000">
    <p:randomBar dir="vert"/>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382" name="Google Shape;382;p36"/>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3" name="Google Shape;383;p36"/>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1.2.5 TẦM QUAN TRỌNG CỦA KIỂM THỬ</a:t>
            </a:r>
            <a:endParaRPr/>
          </a:p>
        </p:txBody>
      </p:sp>
      <p:sp>
        <p:nvSpPr>
          <p:cNvPr id="384" name="Google Shape;384;p36"/>
          <p:cNvSpPr txBox="1"/>
          <p:nvPr/>
        </p:nvSpPr>
        <p:spPr>
          <a:xfrm>
            <a:off x="914400" y="1143000"/>
            <a:ext cx="7924800" cy="26162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Nghiên cứu bởi NIST trong năm 2002, các lỗi phần mềm gây tổn thất kinh tế Mỹ 59,5 tỷ USD.</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Hơn 1/3 chi phí này có thể tránh, nếu việc kiểm thử được thực hiện tốt hơn. </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Một khiếm khuyết nếu tìm ra sớm thì chi phí để sửa chữa sẽ tiết kiệm hơn nhiều. </a:t>
            </a:r>
            <a:endParaRPr/>
          </a:p>
        </p:txBody>
      </p:sp>
    </p:spTree>
  </p:cSld>
  <p:clrMapOvr>
    <a:masterClrMapping/>
  </p:clrMapOvr>
  <p:transition advTm="25000">
    <p:randomBar dir="vert"/>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389" name="Google Shape;389;p37"/>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0" name="Google Shape;390;p37"/>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1.2.5 TẦM QUAN TRỌNG CỦA KIỂM THỬ</a:t>
            </a:r>
            <a:endParaRPr/>
          </a:p>
        </p:txBody>
      </p:sp>
      <p:pic>
        <p:nvPicPr>
          <p:cNvPr id="391" name="Google Shape;391;p37"/>
          <p:cNvPicPr preferRelativeResize="0"/>
          <p:nvPr/>
        </p:nvPicPr>
        <p:blipFill rotWithShape="1">
          <a:blip r:embed="rId3">
            <a:alphaModFix/>
          </a:blip>
          <a:srcRect b="0" l="0" r="0" t="0"/>
          <a:stretch/>
        </p:blipFill>
        <p:spPr>
          <a:xfrm>
            <a:off x="592137" y="2133600"/>
            <a:ext cx="8359775" cy="2514600"/>
          </a:xfrm>
          <a:prstGeom prst="rect">
            <a:avLst/>
          </a:prstGeom>
          <a:noFill/>
          <a:ln>
            <a:noFill/>
          </a:ln>
        </p:spPr>
      </p:pic>
      <p:sp>
        <p:nvSpPr>
          <p:cNvPr id="392" name="Google Shape;392;p37"/>
          <p:cNvSpPr txBox="1"/>
          <p:nvPr/>
        </p:nvSpPr>
        <p:spPr>
          <a:xfrm>
            <a:off x="592137" y="1023937"/>
            <a:ext cx="8359775" cy="830262"/>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Vấn đề tìm thấy sau khi ra bản chính thức có chi phí gấp 10-100 lần khi giải quyết lúc tiếp nhận yêu cầu.</a:t>
            </a:r>
            <a:endParaRPr/>
          </a:p>
        </p:txBody>
      </p:sp>
      <p:sp>
        <p:nvSpPr>
          <p:cNvPr id="393" name="Google Shape;393;p37"/>
          <p:cNvSpPr txBox="1"/>
          <p:nvPr/>
        </p:nvSpPr>
        <p:spPr>
          <a:xfrm>
            <a:off x="1219200" y="4800600"/>
            <a:ext cx="7620000"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1" i="0" lang="en-US" sz="1800" u="none">
                <a:solidFill>
                  <a:srgbClr val="FF0000"/>
                </a:solidFill>
                <a:latin typeface="Arial"/>
                <a:ea typeface="Arial"/>
                <a:cs typeface="Arial"/>
                <a:sym typeface="Arial"/>
              </a:rPr>
              <a:t>Bảng chi phí sửa chữa khiếm khuyết tùy vào giai đoạn được tìm ra. </a:t>
            </a:r>
            <a:endParaRPr/>
          </a:p>
        </p:txBody>
      </p:sp>
    </p:spTree>
  </p:cSld>
  <p:clrMapOvr>
    <a:masterClrMapping/>
  </p:clrMapOvr>
  <p:transition advTm="25000">
    <p:randomBar dir="vert"/>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7" name="Shape 397"/>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398" name="Google Shape;398;p38"/>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9" name="Google Shape;399;p38"/>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1.2.5 TẦM QUAN TRỌNG CỦA KIỂM THỬ</a:t>
            </a:r>
            <a:endParaRPr/>
          </a:p>
        </p:txBody>
      </p:sp>
      <p:pic>
        <p:nvPicPr>
          <p:cNvPr descr="http://www.focusqa.com/images/vmodel.png" id="400" name="Google Shape;400;p38"/>
          <p:cNvPicPr preferRelativeResize="0"/>
          <p:nvPr/>
        </p:nvPicPr>
        <p:blipFill rotWithShape="1">
          <a:blip r:embed="rId3">
            <a:alphaModFix/>
          </a:blip>
          <a:srcRect b="0" l="0" r="0" t="0"/>
          <a:stretch/>
        </p:blipFill>
        <p:spPr>
          <a:xfrm>
            <a:off x="5029200" y="922337"/>
            <a:ext cx="3171825" cy="2752725"/>
          </a:xfrm>
          <a:prstGeom prst="rect">
            <a:avLst/>
          </a:prstGeom>
          <a:noFill/>
          <a:ln>
            <a:noFill/>
          </a:ln>
        </p:spPr>
      </p:pic>
      <p:pic>
        <p:nvPicPr>
          <p:cNvPr descr="http://www.kpmg.com/IN/en/services/Advisory/Performance-Technology/ITAS/PublishingImages/testing1.png" id="401" name="Google Shape;401;p38"/>
          <p:cNvPicPr preferRelativeResize="0"/>
          <p:nvPr/>
        </p:nvPicPr>
        <p:blipFill rotWithShape="1">
          <a:blip r:embed="rId4">
            <a:alphaModFix/>
          </a:blip>
          <a:srcRect b="0" l="0" r="0" t="0"/>
          <a:stretch/>
        </p:blipFill>
        <p:spPr>
          <a:xfrm>
            <a:off x="5181600" y="3573462"/>
            <a:ext cx="3086100" cy="2562225"/>
          </a:xfrm>
          <a:prstGeom prst="rect">
            <a:avLst/>
          </a:prstGeom>
          <a:noFill/>
          <a:ln>
            <a:noFill/>
          </a:ln>
        </p:spPr>
      </p:pic>
      <p:pic>
        <p:nvPicPr>
          <p:cNvPr descr="http://www.cloudconsulting.no/var/cc/storage/images/blog/software-quality-assurance-services/7631-9-eng-US/Software-Quality-Assurance-Services_lightbox.png" id="402" name="Google Shape;402;p38"/>
          <p:cNvPicPr preferRelativeResize="0"/>
          <p:nvPr/>
        </p:nvPicPr>
        <p:blipFill rotWithShape="1">
          <a:blip r:embed="rId5">
            <a:alphaModFix/>
          </a:blip>
          <a:srcRect b="0" l="0" r="0" t="0"/>
          <a:stretch/>
        </p:blipFill>
        <p:spPr>
          <a:xfrm>
            <a:off x="760412" y="3427412"/>
            <a:ext cx="2897187" cy="2897187"/>
          </a:xfrm>
          <a:prstGeom prst="rect">
            <a:avLst/>
          </a:prstGeom>
          <a:noFill/>
          <a:ln>
            <a:noFill/>
          </a:ln>
        </p:spPr>
      </p:pic>
      <p:sp>
        <p:nvSpPr>
          <p:cNvPr id="403" name="Google Shape;403;p38"/>
          <p:cNvSpPr txBox="1"/>
          <p:nvPr/>
        </p:nvSpPr>
        <p:spPr>
          <a:xfrm>
            <a:off x="2314575" y="6324600"/>
            <a:ext cx="451485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Các tác vụ trong quản lý chất lượng dự án</a:t>
            </a:r>
            <a:endParaRPr/>
          </a:p>
        </p:txBody>
      </p:sp>
      <p:pic>
        <p:nvPicPr>
          <p:cNvPr id="404" name="Google Shape;404;p38"/>
          <p:cNvPicPr preferRelativeResize="0"/>
          <p:nvPr/>
        </p:nvPicPr>
        <p:blipFill rotWithShape="1">
          <a:blip r:embed="rId6">
            <a:alphaModFix/>
          </a:blip>
          <a:srcRect b="0" l="0" r="0" t="0"/>
          <a:stretch/>
        </p:blipFill>
        <p:spPr>
          <a:xfrm>
            <a:off x="760412" y="976312"/>
            <a:ext cx="2897187" cy="2397125"/>
          </a:xfrm>
          <a:prstGeom prst="rect">
            <a:avLst/>
          </a:prstGeom>
          <a:noFill/>
          <a:ln>
            <a:noFill/>
          </a:ln>
        </p:spPr>
      </p:pic>
    </p:spTree>
  </p:cSld>
  <p:clrMapOvr>
    <a:masterClrMapping/>
  </p:clrMapOvr>
  <p:transition advTm="25000">
    <p:randomBar dir="vert"/>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409" name="Google Shape;409;p39"/>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0" name="Google Shape;410;p39"/>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1.2.6 CÁC NGUYÊN TẮC TRONG KIỂM THỬ</a:t>
            </a:r>
            <a:endParaRPr/>
          </a:p>
        </p:txBody>
      </p:sp>
      <p:sp>
        <p:nvSpPr>
          <p:cNvPr id="411" name="Google Shape;411;p39"/>
          <p:cNvSpPr txBox="1"/>
          <p:nvPr/>
        </p:nvSpPr>
        <p:spPr>
          <a:xfrm>
            <a:off x="685800" y="990600"/>
            <a:ext cx="8153400" cy="434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Để kiểm thử đạt hiệu quả phải tuân thủ các quy tắc sau:</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Quy tắc 1: Quan trọng ca kiểm thử là định nghĩa đầu ra.</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Quy tắc 2: Lập trình viên nên tránh tự kiểm tra.</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Quy tắc 3: Nhóm lập trình không nên kiểm thử chương trình của chính họ.</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Quy tắc 4: Kiểm tra thấu đáo mọi kết quả.</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Quy tắc 5: Các ca kiểm thử phải được viết cho các tình trạng hợp lệ và không hợp lệ</a:t>
            </a:r>
            <a:endParaRPr/>
          </a:p>
        </p:txBody>
      </p:sp>
    </p:spTree>
  </p:cSld>
  <p:clrMapOvr>
    <a:masterClrMapping/>
  </p:clrMapOvr>
  <p:transition advTm="25000">
    <p:randomBar dir="vert"/>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416" name="Google Shape;416;p40"/>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7" name="Google Shape;417;p40"/>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1.2.6 CÁC NGUYÊN TẮC TRONG KIỂM THỬ</a:t>
            </a:r>
            <a:endParaRPr/>
          </a:p>
        </p:txBody>
      </p:sp>
      <p:sp>
        <p:nvSpPr>
          <p:cNvPr id="418" name="Google Shape;418;p40"/>
          <p:cNvSpPr txBox="1"/>
          <p:nvPr/>
        </p:nvSpPr>
        <p:spPr>
          <a:xfrm>
            <a:off x="990600" y="990600"/>
            <a:ext cx="7848600" cy="563245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Quy tắc 6: Chương trình có thực hiện đúng phần cần thực hiện, phần còn lại liệu chương trình có thực hiện phần không cần thực hiện hay không.</a:t>
            </a:r>
            <a:endParaRPr/>
          </a:p>
          <a:p>
            <a:pPr indent="0" lvl="0" marL="0" marR="0" rtl="0" algn="just">
              <a:lnSpc>
                <a:spcPct val="15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Quy tắc 7: Tránh các ca kiểm thử bâng quơ.</a:t>
            </a:r>
            <a:endParaRPr/>
          </a:p>
          <a:p>
            <a:pPr indent="0" lvl="0" marL="0" marR="0" rtl="0" algn="just">
              <a:lnSpc>
                <a:spcPct val="15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Quy tắc 8: Không dự kiến kết quả kiểm thử theo giả thiết ngầm là không tìm thấy lỗi.</a:t>
            </a:r>
            <a:endParaRPr/>
          </a:p>
          <a:p>
            <a:pPr indent="0" lvl="0" marL="0" marR="0" rtl="0" algn="just">
              <a:lnSpc>
                <a:spcPct val="15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Quy tắc 9: Xác suất tồn tại lỗi trong đoạn chương trình là tương ứng với số lỗi đã tìm thấy trong đoạn đó.</a:t>
            </a:r>
            <a:endParaRPr/>
          </a:p>
          <a:p>
            <a:pPr indent="0" lvl="0" marL="0" marR="0" rtl="0" algn="just">
              <a:lnSpc>
                <a:spcPct val="15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Quy tắc 10: Kiểm thử là nhiệm vụ cực kỳ sáng tạo và có tính thử thách trí tuệ.</a:t>
            </a:r>
            <a:endParaRPr/>
          </a:p>
        </p:txBody>
      </p:sp>
    </p:spTree>
  </p:cSld>
  <p:clrMapOvr>
    <a:masterClrMapping/>
  </p:clrMapOvr>
  <p:transition advTm="25000">
    <p:randomBar dir="vert"/>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423" name="Google Shape;423;p41"/>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4" name="Google Shape;424;p41"/>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1.2.7 MỘT SỐ KHÁI NIỆM LIÊN QUAN KIỂM THỬ</a:t>
            </a:r>
            <a:endParaRPr/>
          </a:p>
        </p:txBody>
      </p:sp>
      <p:sp>
        <p:nvSpPr>
          <p:cNvPr id="425" name="Google Shape;425;p41"/>
          <p:cNvSpPr txBox="1"/>
          <p:nvPr/>
        </p:nvSpPr>
        <p:spPr>
          <a:xfrm>
            <a:off x="990600" y="990600"/>
            <a:ext cx="7848600" cy="34163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Xác minh (Verification)</a:t>
            </a:r>
            <a:endParaRPr b="0" i="0" sz="2400" u="none">
              <a:solidFill>
                <a:srgbClr val="FF0000"/>
              </a:solidFill>
              <a:latin typeface="Arial"/>
              <a:ea typeface="Arial"/>
              <a:cs typeface="Arial"/>
              <a:sym typeface="Arial"/>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Là quy trình xác định xem sản phẩm có thỏa mãn các yêu cầu đặt ra không.</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Quan tâm tới việc ngăn chặn lỗi giữa các công đoạn</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Các hoạt động của xác minh: Kiểm thử (Testing) và Rà soát lại (Review)</a:t>
            </a:r>
            <a:endParaRPr/>
          </a:p>
        </p:txBody>
      </p:sp>
    </p:spTree>
  </p:cSld>
  <p:clrMapOvr>
    <a:masterClrMapping/>
  </p:clrMapOvr>
  <p:transition advTm="25000">
    <p:randomBar dir="vert"/>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430" name="Google Shape;430;p42"/>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1" name="Google Shape;431;p42"/>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1.2.7 MỘT SỐ KHÁI NIỆM LIÊN QUAN KIỂM THỬ</a:t>
            </a:r>
            <a:endParaRPr/>
          </a:p>
        </p:txBody>
      </p:sp>
      <p:sp>
        <p:nvSpPr>
          <p:cNvPr id="432" name="Google Shape;432;p42"/>
          <p:cNvSpPr txBox="1"/>
          <p:nvPr/>
        </p:nvSpPr>
        <p:spPr>
          <a:xfrm>
            <a:off x="990600" y="990600"/>
            <a:ext cx="7848600" cy="334803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Thẩm định (Validation)</a:t>
            </a:r>
            <a:endParaRPr b="0" i="0" sz="2400" u="none">
              <a:solidFill>
                <a:srgbClr val="FF0000"/>
              </a:solidFill>
              <a:latin typeface="Arial"/>
              <a:ea typeface="Arial"/>
              <a:cs typeface="Arial"/>
              <a:sym typeface="Arial"/>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Là tiến trình nhằm chỉ ra toàn bộ hệ thống đã phát triển phù hợp với  yêu cầu. </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Là quá trình kiểm chứng xây dựng phầm mềm đúng yêu cầu khách hàng.</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Chỉ quan tâm đến sản phẩm cuối cùng không còn lỗi.</a:t>
            </a:r>
            <a:endParaRPr/>
          </a:p>
        </p:txBody>
      </p:sp>
    </p:spTree>
  </p:cSld>
  <p:clrMapOvr>
    <a:masterClrMapping/>
  </p:clrMapOvr>
  <p:transition advTm="25000">
    <p:randomBar dir="vert"/>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437" name="Google Shape;437;p43"/>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8" name="Google Shape;438;p43"/>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1.2.7 MỘT SỐ KHÁI NIỆM LIÊN QUAN KIỂM THỬ</a:t>
            </a:r>
            <a:endParaRPr/>
          </a:p>
        </p:txBody>
      </p:sp>
      <p:sp>
        <p:nvSpPr>
          <p:cNvPr id="439" name="Google Shape;439;p43"/>
          <p:cNvSpPr txBox="1"/>
          <p:nvPr/>
        </p:nvSpPr>
        <p:spPr>
          <a:xfrm>
            <a:off x="838200" y="990600"/>
            <a:ext cx="3017837"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Kiểm thử HỘP ĐEN</a:t>
            </a:r>
            <a:endParaRPr/>
          </a:p>
        </p:txBody>
      </p:sp>
      <p:sp>
        <p:nvSpPr>
          <p:cNvPr id="440" name="Google Shape;440;p43"/>
          <p:cNvSpPr txBox="1"/>
          <p:nvPr/>
        </p:nvSpPr>
        <p:spPr>
          <a:xfrm>
            <a:off x="1193800" y="1600200"/>
            <a:ext cx="7772400" cy="350837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PP kiểm thử chức năng (functional test) dựa trên đặc tả các chức năng.</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Phát hiện các sai sót về chức năng (không quan tâm đến cách hiện thực). </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Do không kiểm thử mọi trường hợp nên sẽ chia nhỏ không gian kiểm thử dựa vào giá trị nhập xuất. </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Ứng với mỗi vùng dữ liệu, sẽ thiết kế những bộ kiểm thử, đặc biệt tại các giá trị biên.</a:t>
            </a:r>
            <a:endParaRPr/>
          </a:p>
        </p:txBody>
      </p:sp>
    </p:spTree>
  </p:cSld>
  <p:clrMapOvr>
    <a:masterClrMapping/>
  </p:clrMapOvr>
  <p:transition advTm="25000">
    <p:randomBar dir="vert"/>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445" name="Google Shape;445;p44"/>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6" name="Google Shape;446;p44"/>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1.2.7 MỘT SỐ KHÁI NIỆM LIÊN QUAN KIỂM THỬ</a:t>
            </a:r>
            <a:endParaRPr/>
          </a:p>
        </p:txBody>
      </p:sp>
      <p:sp>
        <p:nvSpPr>
          <p:cNvPr id="447" name="Google Shape;447;p44"/>
          <p:cNvSpPr txBox="1"/>
          <p:nvPr/>
        </p:nvSpPr>
        <p:spPr>
          <a:xfrm>
            <a:off x="838200" y="990600"/>
            <a:ext cx="3017837"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Kiểm thử HỘP ĐEN</a:t>
            </a:r>
            <a:endParaRPr/>
          </a:p>
        </p:txBody>
      </p:sp>
      <p:sp>
        <p:nvSpPr>
          <p:cNvPr id="448" name="Google Shape;448;p44"/>
          <p:cNvSpPr txBox="1"/>
          <p:nvPr/>
        </p:nvSpPr>
        <p:spPr>
          <a:xfrm>
            <a:off x="1295400" y="1503362"/>
            <a:ext cx="7772400" cy="535463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200"/>
              <a:buFont typeface="Noto Sans Symbols"/>
              <a:buChar char="✔"/>
            </a:pPr>
            <a:r>
              <a:rPr b="0" i="0" lang="en-US" sz="2200" u="none">
                <a:solidFill>
                  <a:schemeClr val="dk1"/>
                </a:solidFill>
                <a:latin typeface="Arial"/>
                <a:ea typeface="Arial"/>
                <a:cs typeface="Arial"/>
                <a:sym typeface="Arial"/>
              </a:rPr>
              <a:t>Với chương trình giải </a:t>
            </a:r>
            <a:r>
              <a:rPr b="0" i="0" lang="en-US" sz="2200" u="none">
                <a:solidFill>
                  <a:srgbClr val="FF0000"/>
                </a:solidFill>
                <a:latin typeface="Arial"/>
                <a:ea typeface="Arial"/>
                <a:cs typeface="Arial"/>
                <a:sym typeface="Arial"/>
              </a:rPr>
              <a:t>PT bậc 2 </a:t>
            </a:r>
            <a:r>
              <a:rPr b="0" i="0" lang="en-US" sz="2200" u="none">
                <a:solidFill>
                  <a:schemeClr val="dk1"/>
                </a:solidFill>
                <a:latin typeface="Arial"/>
                <a:ea typeface="Arial"/>
                <a:cs typeface="Arial"/>
                <a:sym typeface="Arial"/>
              </a:rPr>
              <a:t>theo PP hộp đen</a:t>
            </a:r>
            <a:endParaRPr/>
          </a:p>
          <a:p>
            <a:pPr indent="-342900" lvl="0" marL="342900" marR="0" rtl="0" algn="just">
              <a:lnSpc>
                <a:spcPct val="100000"/>
              </a:lnSpc>
              <a:spcBef>
                <a:spcPts val="1200"/>
              </a:spcBef>
              <a:spcAft>
                <a:spcPts val="0"/>
              </a:spcAft>
              <a:buClr>
                <a:schemeClr val="dk1"/>
              </a:buClr>
              <a:buSzPts val="2200"/>
              <a:buFont typeface="Arial"/>
              <a:buNone/>
            </a:pPr>
            <a:r>
              <a:rPr b="0" i="0" lang="en-US" sz="2200" u="none">
                <a:solidFill>
                  <a:schemeClr val="dk1"/>
                </a:solidFill>
                <a:latin typeface="Arial"/>
                <a:ea typeface="Arial"/>
                <a:cs typeface="Arial"/>
                <a:sym typeface="Arial"/>
              </a:rPr>
              <a:t>🡺Chia không gian kiểm thử thành 4 vùng:</a:t>
            </a:r>
            <a:endParaRPr/>
          </a:p>
          <a:p>
            <a:pPr indent="-342900" lvl="0" marL="342900" marR="0" rtl="0" algn="just">
              <a:lnSpc>
                <a:spcPct val="100000"/>
              </a:lnSpc>
              <a:spcBef>
                <a:spcPts val="1200"/>
              </a:spcBef>
              <a:spcAft>
                <a:spcPts val="0"/>
              </a:spcAft>
              <a:buClr>
                <a:schemeClr val="dk1"/>
              </a:buClr>
              <a:buSzPts val="2200"/>
              <a:buFont typeface="Arial"/>
              <a:buNone/>
            </a:pPr>
            <a:r>
              <a:rPr b="0" i="0" lang="en-US" sz="2200" u="none">
                <a:solidFill>
                  <a:schemeClr val="dk1"/>
                </a:solidFill>
                <a:latin typeface="Arial"/>
                <a:ea typeface="Arial"/>
                <a:cs typeface="Arial"/>
                <a:sym typeface="Arial"/>
              </a:rPr>
              <a:t>	“Vô số nghiệm”</a:t>
            </a:r>
            <a:endParaRPr/>
          </a:p>
          <a:p>
            <a:pPr indent="-342900" lvl="0" marL="342900" marR="0" rtl="0" algn="just">
              <a:lnSpc>
                <a:spcPct val="100000"/>
              </a:lnSpc>
              <a:spcBef>
                <a:spcPts val="1200"/>
              </a:spcBef>
              <a:spcAft>
                <a:spcPts val="0"/>
              </a:spcAft>
              <a:buClr>
                <a:schemeClr val="dk1"/>
              </a:buClr>
              <a:buSzPts val="2200"/>
              <a:buFont typeface="Arial"/>
              <a:buNone/>
            </a:pPr>
            <a:r>
              <a:rPr b="0" i="0" lang="en-US" sz="2200" u="none">
                <a:solidFill>
                  <a:schemeClr val="dk1"/>
                </a:solidFill>
                <a:latin typeface="Arial"/>
                <a:ea typeface="Arial"/>
                <a:cs typeface="Arial"/>
                <a:sym typeface="Arial"/>
              </a:rPr>
              <a:t>	“Vô nghiệm”</a:t>
            </a:r>
            <a:endParaRPr/>
          </a:p>
          <a:p>
            <a:pPr indent="-342900" lvl="0" marL="342900" marR="0" rtl="0" algn="just">
              <a:lnSpc>
                <a:spcPct val="100000"/>
              </a:lnSpc>
              <a:spcBef>
                <a:spcPts val="1200"/>
              </a:spcBef>
              <a:spcAft>
                <a:spcPts val="0"/>
              </a:spcAft>
              <a:buClr>
                <a:schemeClr val="dk1"/>
              </a:buClr>
              <a:buSzPts val="2200"/>
              <a:buFont typeface="Arial"/>
              <a:buNone/>
            </a:pPr>
            <a:r>
              <a:rPr b="0" i="0" lang="en-US" sz="2200" u="none">
                <a:solidFill>
                  <a:schemeClr val="dk1"/>
                </a:solidFill>
                <a:latin typeface="Arial"/>
                <a:ea typeface="Arial"/>
                <a:cs typeface="Arial"/>
                <a:sym typeface="Arial"/>
              </a:rPr>
              <a:t>	“Có nghiệm kép”</a:t>
            </a:r>
            <a:endParaRPr/>
          </a:p>
          <a:p>
            <a:pPr indent="-342900" lvl="0" marL="342900" marR="0" rtl="0" algn="just">
              <a:lnSpc>
                <a:spcPct val="100000"/>
              </a:lnSpc>
              <a:spcBef>
                <a:spcPts val="1200"/>
              </a:spcBef>
              <a:spcAft>
                <a:spcPts val="0"/>
              </a:spcAft>
              <a:buClr>
                <a:schemeClr val="dk1"/>
              </a:buClr>
              <a:buSzPts val="2200"/>
              <a:buFont typeface="Arial"/>
              <a:buNone/>
            </a:pPr>
            <a:r>
              <a:rPr b="0" i="0" lang="en-US" sz="2200" u="none">
                <a:solidFill>
                  <a:schemeClr val="dk1"/>
                </a:solidFill>
                <a:latin typeface="Arial"/>
                <a:ea typeface="Arial"/>
                <a:cs typeface="Arial"/>
                <a:sym typeface="Arial"/>
              </a:rPr>
              <a:t>	“Có 2 nghiệm riêng biệt”.</a:t>
            </a:r>
            <a:endParaRPr/>
          </a:p>
          <a:p>
            <a:pPr indent="-342900" lvl="0" marL="342900" marR="0" rtl="0" algn="just">
              <a:lnSpc>
                <a:spcPct val="100000"/>
              </a:lnSpc>
              <a:spcBef>
                <a:spcPts val="1200"/>
              </a:spcBef>
              <a:spcAft>
                <a:spcPts val="0"/>
              </a:spcAft>
              <a:buClr>
                <a:schemeClr val="dk1"/>
              </a:buClr>
              <a:buSzPts val="2200"/>
              <a:buFont typeface="Noto Sans Symbols"/>
              <a:buChar char="✔"/>
            </a:pPr>
            <a:r>
              <a:rPr b="0" i="0" lang="en-US" sz="2200" u="none">
                <a:solidFill>
                  <a:schemeClr val="dk1"/>
                </a:solidFill>
                <a:latin typeface="Arial"/>
                <a:ea typeface="Arial"/>
                <a:cs typeface="Arial"/>
                <a:sym typeface="Arial"/>
              </a:rPr>
              <a:t>Với các bộ kiểm thử đã thiết kế, cần mở rộng: </a:t>
            </a:r>
            <a:endParaRPr/>
          </a:p>
          <a:p>
            <a:pPr indent="0" lvl="1" marL="457200" marR="0" rtl="0" algn="just">
              <a:lnSpc>
                <a:spcPct val="100000"/>
              </a:lnSpc>
              <a:spcBef>
                <a:spcPts val="120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	Biên của số nguyên (32767, -32768)</a:t>
            </a:r>
            <a:endParaRPr/>
          </a:p>
          <a:p>
            <a:pPr indent="0" lvl="1" marL="457200" marR="0" rtl="0" algn="just">
              <a:lnSpc>
                <a:spcPct val="100000"/>
              </a:lnSpc>
              <a:spcBef>
                <a:spcPts val="120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	Số không</a:t>
            </a:r>
            <a:endParaRPr/>
          </a:p>
          <a:p>
            <a:pPr indent="0" lvl="1" marL="457200" marR="0" rtl="0" algn="just">
              <a:lnSpc>
                <a:spcPct val="100000"/>
              </a:lnSpc>
              <a:spcBef>
                <a:spcPts val="120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	Số âm,</a:t>
            </a:r>
            <a:endParaRPr/>
          </a:p>
          <a:p>
            <a:pPr indent="0" lvl="1" marL="457200" marR="0" rtl="0" algn="just">
              <a:lnSpc>
                <a:spcPct val="100000"/>
              </a:lnSpc>
              <a:spcBef>
                <a:spcPts val="120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	Dữ liệu sai kiểu, dữ liệu ngẫu nhiên….</a:t>
            </a:r>
            <a:endParaRPr/>
          </a:p>
        </p:txBody>
      </p:sp>
    </p:spTree>
  </p:cSld>
  <p:clrMapOvr>
    <a:masterClrMapping/>
  </p:clrMapOvr>
  <p:transition advTm="25000">
    <p:randomBar dir="vert"/>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453" name="Google Shape;453;p45"/>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4" name="Google Shape;454;p45"/>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1.2.7 MỘT SỐ KHÁI NIỆM LIÊN QUAN KIỂM THỬ</a:t>
            </a:r>
            <a:endParaRPr/>
          </a:p>
        </p:txBody>
      </p:sp>
      <p:sp>
        <p:nvSpPr>
          <p:cNvPr id="455" name="Google Shape;455;p45"/>
          <p:cNvSpPr txBox="1"/>
          <p:nvPr/>
        </p:nvSpPr>
        <p:spPr>
          <a:xfrm>
            <a:off x="838200" y="990600"/>
            <a:ext cx="3462337"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Kiểm thử HỘP TRẮNG</a:t>
            </a:r>
            <a:endParaRPr/>
          </a:p>
        </p:txBody>
      </p:sp>
      <p:sp>
        <p:nvSpPr>
          <p:cNvPr id="456" name="Google Shape;456;p45"/>
          <p:cNvSpPr txBox="1"/>
          <p:nvPr/>
        </p:nvSpPr>
        <p:spPr>
          <a:xfrm>
            <a:off x="1066800" y="1524000"/>
            <a:ext cx="8001000" cy="941387"/>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Phương pháp hướng đến việc kiểm thử cấu trúc</a:t>
            </a:r>
            <a:endParaRPr/>
          </a:p>
          <a:p>
            <a:pPr indent="-152400" lvl="0" marL="0" marR="0" rtl="0" algn="just">
              <a:lnSpc>
                <a:spcPct val="100000"/>
              </a:lnSpc>
              <a:spcBef>
                <a:spcPts val="72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Chia không gian kiểm thử dựa vào cấu trúc của đơn vị</a:t>
            </a:r>
            <a:endParaRPr/>
          </a:p>
        </p:txBody>
      </p:sp>
      <p:graphicFrame>
        <p:nvGraphicFramePr>
          <p:cNvPr id="457" name="Google Shape;457;p45"/>
          <p:cNvGraphicFramePr/>
          <p:nvPr/>
        </p:nvGraphicFramePr>
        <p:xfrm>
          <a:off x="914400" y="2947987"/>
          <a:ext cx="8077200" cy="1776412"/>
        </p:xfrm>
        <a:graphic>
          <a:graphicData uri="http://schemas.openxmlformats.org/presentationml/2006/ole">
            <mc:AlternateContent>
              <mc:Choice Requires="v">
                <p:oleObj r:id="rId4" imgH="1776412" imgW="8077200" progId="Visio.Drawing.11" spid="_x0000_s1">
                  <p:embed/>
                </p:oleObj>
              </mc:Choice>
              <mc:Fallback>
                <p:oleObj r:id="rId5" imgH="1776412" imgW="8077200" progId="Visio.Drawing.11">
                  <p:embed/>
                  <p:pic>
                    <p:nvPicPr>
                      <p:cNvPr id="457" name="Google Shape;457;p45"/>
                      <p:cNvPicPr preferRelativeResize="0"/>
                      <p:nvPr/>
                    </p:nvPicPr>
                    <p:blipFill rotWithShape="1">
                      <a:blip r:embed="rId6">
                        <a:alphaModFix/>
                      </a:blip>
                      <a:srcRect b="0" l="0" r="0" t="0"/>
                      <a:stretch/>
                    </p:blipFill>
                    <p:spPr>
                      <a:xfrm>
                        <a:off x="914400" y="2947987"/>
                        <a:ext cx="8077200" cy="1776412"/>
                      </a:xfrm>
                      <a:prstGeom prst="rect">
                        <a:avLst/>
                      </a:prstGeom>
                      <a:noFill/>
                      <a:ln>
                        <a:noFill/>
                      </a:ln>
                    </p:spPr>
                  </p:pic>
                </p:oleObj>
              </mc:Fallback>
            </mc:AlternateContent>
          </a:graphicData>
        </a:graphic>
      </p:graphicFrame>
    </p:spTree>
  </p:cSld>
  <p:clrMapOvr>
    <a:masterClrMapping/>
  </p:clrMapOvr>
  <p:transition advTm="25000">
    <p:randomBar dir="vert"/>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462" name="Google Shape;462;p46"/>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63" name="Google Shape;463;p46"/>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1.2.7 MỘT SỐ KHÁI NIỆM LIÊN QUAN KIỂM THỬ</a:t>
            </a:r>
            <a:endParaRPr/>
          </a:p>
        </p:txBody>
      </p:sp>
      <p:sp>
        <p:nvSpPr>
          <p:cNvPr id="464" name="Google Shape;464;p46"/>
          <p:cNvSpPr txBox="1"/>
          <p:nvPr/>
        </p:nvSpPr>
        <p:spPr>
          <a:xfrm>
            <a:off x="838200" y="990600"/>
            <a:ext cx="3462337"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Kiểm thử HỘP TRẮNG</a:t>
            </a:r>
            <a:endParaRPr/>
          </a:p>
        </p:txBody>
      </p:sp>
      <p:sp>
        <p:nvSpPr>
          <p:cNvPr id="465" name="Google Shape;465;p46"/>
          <p:cNvSpPr txBox="1"/>
          <p:nvPr/>
        </p:nvSpPr>
        <p:spPr>
          <a:xfrm>
            <a:off x="1001712" y="1524000"/>
            <a:ext cx="7924800" cy="3859212"/>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Noto Sans Symbols"/>
              <a:buChar char="✔"/>
            </a:pPr>
            <a:r>
              <a:rPr b="0" i="1" lang="en-US" sz="2400" u="none">
                <a:solidFill>
                  <a:schemeClr val="dk1"/>
                </a:solidFill>
                <a:latin typeface="Arial"/>
                <a:ea typeface="Arial"/>
                <a:cs typeface="Arial"/>
                <a:sym typeface="Arial"/>
              </a:rPr>
              <a:t>Kiểm tra giao tiếp của đơn vị: </a:t>
            </a:r>
            <a:r>
              <a:rPr b="0" i="0" lang="en-US" sz="2400" u="none">
                <a:solidFill>
                  <a:schemeClr val="dk1"/>
                </a:solidFill>
                <a:latin typeface="Arial"/>
                <a:ea typeface="Arial"/>
                <a:cs typeface="Arial"/>
                <a:sym typeface="Arial"/>
              </a:rPr>
              <a:t>Đảm bảo thông tin vào ra luôn đúng (đúng giá trị, khớp kiểu …)</a:t>
            </a:r>
            <a:endParaRPr/>
          </a:p>
          <a:p>
            <a:pPr indent="-342900" lvl="0" marL="342900" marR="0" rtl="0" algn="just">
              <a:lnSpc>
                <a:spcPct val="100000"/>
              </a:lnSpc>
              <a:spcBef>
                <a:spcPts val="960"/>
              </a:spcBef>
              <a:spcAft>
                <a:spcPts val="0"/>
              </a:spcAft>
              <a:buClr>
                <a:schemeClr val="dk1"/>
              </a:buClr>
              <a:buSzPts val="2400"/>
              <a:buFont typeface="Noto Sans Symbols"/>
              <a:buChar char="✔"/>
            </a:pPr>
            <a:r>
              <a:rPr b="0" i="1" lang="en-US" sz="2400" u="none">
                <a:solidFill>
                  <a:schemeClr val="dk1"/>
                </a:solidFill>
                <a:latin typeface="Arial"/>
                <a:ea typeface="Arial"/>
                <a:cs typeface="Arial"/>
                <a:sym typeface="Arial"/>
              </a:rPr>
              <a:t> Kiểm tra dữ liệu cục bộ:</a:t>
            </a:r>
            <a:r>
              <a:rPr b="0" i="0" lang="en-US" sz="2400" u="none">
                <a:solidFill>
                  <a:schemeClr val="dk1"/>
                </a:solidFill>
                <a:latin typeface="Arial"/>
                <a:ea typeface="Arial"/>
                <a:cs typeface="Arial"/>
                <a:sym typeface="Arial"/>
              </a:rPr>
              <a:t> Để đảm bảo dữ liệu được lưu trữ, xử lý toàn vẹn (nhập liệu sai, tên biến sai, kiểu dữ liệu không nhất quán, ...)</a:t>
            </a:r>
            <a:endParaRPr/>
          </a:p>
          <a:p>
            <a:pPr indent="-342900" lvl="0" marL="342900" marR="0" rtl="0" algn="just">
              <a:lnSpc>
                <a:spcPct val="100000"/>
              </a:lnSpc>
              <a:spcBef>
                <a:spcPts val="96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 </a:t>
            </a:r>
            <a:r>
              <a:rPr b="0" i="1" lang="en-US" sz="2400" u="none">
                <a:solidFill>
                  <a:schemeClr val="dk1"/>
                </a:solidFill>
                <a:latin typeface="Arial"/>
                <a:ea typeface="Arial"/>
                <a:cs typeface="Arial"/>
                <a:sym typeface="Arial"/>
              </a:rPr>
              <a:t>Kiểm tra các điều kiện biên: </a:t>
            </a:r>
            <a:r>
              <a:rPr b="0" i="0" lang="en-US" sz="2400" u="none">
                <a:solidFill>
                  <a:schemeClr val="dk1"/>
                </a:solidFill>
                <a:latin typeface="Arial"/>
                <a:ea typeface="Arial"/>
                <a:cs typeface="Arial"/>
                <a:sym typeface="Arial"/>
              </a:rPr>
              <a:t>Các câu lệnh điều kiện/ vòng lặp đảm bảo luôn chạy đúng tại các biên.</a:t>
            </a:r>
            <a:endParaRPr/>
          </a:p>
          <a:p>
            <a:pPr indent="-342900" lvl="0" marL="342900" marR="0" rtl="0" algn="just">
              <a:lnSpc>
                <a:spcPct val="100000"/>
              </a:lnSpc>
              <a:spcBef>
                <a:spcPts val="96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Kiểm tra các </a:t>
            </a:r>
            <a:r>
              <a:rPr b="0" i="1" lang="en-US" sz="2400" u="none">
                <a:solidFill>
                  <a:schemeClr val="dk1"/>
                </a:solidFill>
                <a:latin typeface="Arial"/>
                <a:ea typeface="Arial"/>
                <a:cs typeface="Arial"/>
                <a:sym typeface="Arial"/>
              </a:rPr>
              <a:t>con đường thực hiện</a:t>
            </a:r>
            <a:r>
              <a:rPr b="0" i="0" lang="en-US" sz="2400" u="none">
                <a:solidFill>
                  <a:schemeClr val="dk1"/>
                </a:solidFill>
                <a:latin typeface="Arial"/>
                <a:ea typeface="Arial"/>
                <a:cs typeface="Arial"/>
                <a:sym typeface="Arial"/>
              </a:rPr>
              <a:t> phải được đi qua ít nhất một lần. </a:t>
            </a:r>
            <a:endParaRPr/>
          </a:p>
        </p:txBody>
      </p:sp>
    </p:spTree>
  </p:cSld>
  <p:clrMapOvr>
    <a:masterClrMapping/>
  </p:clrMapOvr>
  <p:transition advTm="25000">
    <p:randomBar dir="vert"/>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470" name="Google Shape;470;p47"/>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1" name="Google Shape;471;p47"/>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1.2.7 MỘT SỐ KHÁI NIỆM LIÊN QUAN KIỂM THỬ</a:t>
            </a:r>
            <a:endParaRPr/>
          </a:p>
        </p:txBody>
      </p:sp>
      <p:sp>
        <p:nvSpPr>
          <p:cNvPr id="472" name="Google Shape;472;p47"/>
          <p:cNvSpPr txBox="1"/>
          <p:nvPr/>
        </p:nvSpPr>
        <p:spPr>
          <a:xfrm>
            <a:off x="990600" y="990600"/>
            <a:ext cx="7848600" cy="29733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Các giai đoạn kiểm thử:</a:t>
            </a:r>
            <a:endParaRPr/>
          </a:p>
          <a:p>
            <a:pPr indent="0" lvl="0" marL="0" marR="0" rtl="0" algn="just">
              <a:lnSpc>
                <a:spcPct val="100000"/>
              </a:lnSpc>
              <a:spcBef>
                <a:spcPts val="144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Với dự án lớn, những người kiểm thử được chia:</a:t>
            </a:r>
            <a:endParaRPr/>
          </a:p>
          <a:p>
            <a:pPr indent="-152400" lvl="0" marL="0" marR="0" rtl="0" algn="just">
              <a:lnSpc>
                <a:spcPct val="100000"/>
              </a:lnSpc>
              <a:spcBef>
                <a:spcPts val="144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Nhóm 1: kiểm tra các đơn vị  đảm bảo thực hiện đúng theo thiết kế.</a:t>
            </a:r>
            <a:endParaRPr/>
          </a:p>
          <a:p>
            <a:pPr indent="-152400" lvl="0" marL="0" marR="0" rtl="0" algn="just">
              <a:lnSpc>
                <a:spcPct val="100000"/>
              </a:lnSpc>
              <a:spcBef>
                <a:spcPts val="144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Nhóm 2: Các chuyên gia độc lập, có nhiệm vụ phát hiện các lỗi do nhóm thứ 1 chủ quan để lại.</a:t>
            </a:r>
            <a:endParaRPr/>
          </a:p>
        </p:txBody>
      </p:sp>
      <p:pic>
        <p:nvPicPr>
          <p:cNvPr descr="test-plan-5-638" id="473" name="Google Shape;473;p47"/>
          <p:cNvPicPr preferRelativeResize="0"/>
          <p:nvPr/>
        </p:nvPicPr>
        <p:blipFill rotWithShape="1">
          <a:blip r:embed="rId3">
            <a:alphaModFix/>
          </a:blip>
          <a:srcRect b="0" l="0" r="0" t="26365"/>
          <a:stretch/>
        </p:blipFill>
        <p:spPr>
          <a:xfrm>
            <a:off x="2209800" y="3963987"/>
            <a:ext cx="6853237" cy="2840037"/>
          </a:xfrm>
          <a:prstGeom prst="rect">
            <a:avLst/>
          </a:prstGeom>
          <a:noFill/>
          <a:ln>
            <a:noFill/>
          </a:ln>
        </p:spPr>
      </p:pic>
    </p:spTree>
  </p:cSld>
  <p:clrMapOvr>
    <a:masterClrMapping/>
  </p:clrMapOvr>
  <p:transition advTm="25000">
    <p:randomBar dir="vert"/>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478" name="Google Shape;478;p48"/>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9" name="Google Shape;479;p48"/>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1.2.7 MỘT SỐ KHÁI NIỆM LIÊN QUAN KIỂM THỬ</a:t>
            </a:r>
            <a:endParaRPr/>
          </a:p>
        </p:txBody>
      </p:sp>
      <p:sp>
        <p:nvSpPr>
          <p:cNvPr id="480" name="Google Shape;480;p48"/>
          <p:cNvSpPr txBox="1"/>
          <p:nvPr/>
        </p:nvSpPr>
        <p:spPr>
          <a:xfrm>
            <a:off x="1066800" y="2014537"/>
            <a:ext cx="7696200" cy="32004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FF0000"/>
              </a:buClr>
              <a:buSzPts val="2400"/>
              <a:buFont typeface="Noto Sans Symbols"/>
              <a:buChar char="✔"/>
            </a:pPr>
            <a:r>
              <a:rPr b="0" i="1" lang="en-US" sz="2400" u="none">
                <a:solidFill>
                  <a:srgbClr val="FF0000"/>
                </a:solidFill>
                <a:latin typeface="Arial"/>
                <a:ea typeface="Arial"/>
                <a:cs typeface="Arial"/>
                <a:sym typeface="Arial"/>
              </a:rPr>
              <a:t>Sử dụng kỹ thuật hộp trắng</a:t>
            </a:r>
            <a:r>
              <a:rPr b="0" i="0" lang="en-US" sz="2400" u="none">
                <a:solidFill>
                  <a:srgbClr val="FF0000"/>
                </a:solidFill>
                <a:latin typeface="Arial"/>
                <a:ea typeface="Arial"/>
                <a:cs typeface="Arial"/>
                <a:sym typeface="Arial"/>
              </a:rPr>
              <a:t> </a:t>
            </a:r>
            <a:r>
              <a:rPr b="0" i="0" lang="en-US" sz="2400" u="none">
                <a:solidFill>
                  <a:schemeClr val="dk1"/>
                </a:solidFill>
                <a:latin typeface="Arial"/>
                <a:ea typeface="Arial"/>
                <a:cs typeface="Arial"/>
                <a:sym typeface="Arial"/>
              </a:rPr>
              <a:t>và dựa vào </a:t>
            </a:r>
            <a:r>
              <a:rPr b="0" i="1" lang="en-US" sz="2400" u="none">
                <a:solidFill>
                  <a:schemeClr val="dk1"/>
                </a:solidFill>
                <a:latin typeface="Arial"/>
                <a:ea typeface="Arial"/>
                <a:cs typeface="Arial"/>
                <a:sym typeface="Arial"/>
              </a:rPr>
              <a:t>hồ sơ thiết kế</a:t>
            </a:r>
            <a:r>
              <a:rPr b="0" i="0" lang="en-US" sz="2400" u="none">
                <a:solidFill>
                  <a:schemeClr val="dk1"/>
                </a:solidFill>
                <a:latin typeface="Arial"/>
                <a:ea typeface="Arial"/>
                <a:cs typeface="Arial"/>
                <a:sym typeface="Arial"/>
              </a:rPr>
              <a:t> để xây dựng các bộ thử nghiệm </a:t>
            </a:r>
            <a:r>
              <a:rPr b="0" i="1" lang="en-US" sz="2400" u="none">
                <a:solidFill>
                  <a:schemeClr val="dk1"/>
                </a:solidFill>
                <a:latin typeface="Arial"/>
                <a:ea typeface="Arial"/>
                <a:cs typeface="Arial"/>
                <a:sym typeface="Arial"/>
              </a:rPr>
              <a:t>sao cho khả năng phát hiện lỗi là lớn nhất</a:t>
            </a:r>
            <a:r>
              <a:rPr b="0" i="0" lang="en-US" sz="2400" u="none">
                <a:solidFill>
                  <a:schemeClr val="dk1"/>
                </a:solidFill>
                <a:latin typeface="Arial"/>
                <a:ea typeface="Arial"/>
                <a:cs typeface="Arial"/>
                <a:sym typeface="Arial"/>
              </a:rPr>
              <a:t>.</a:t>
            </a:r>
            <a:endParaRPr/>
          </a:p>
          <a:p>
            <a:pPr indent="-342900" lvl="0" marL="34290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Vì đơn vị được kiểm tra thường chỉ là một đoạn chương trình hay một thủ tục, nên dù hoàn tất, cũng </a:t>
            </a:r>
            <a:r>
              <a:rPr b="0" i="1" lang="en-US" sz="2400" u="none">
                <a:solidFill>
                  <a:srgbClr val="FF0000"/>
                </a:solidFill>
                <a:latin typeface="Arial"/>
                <a:ea typeface="Arial"/>
                <a:cs typeface="Arial"/>
                <a:sym typeface="Arial"/>
              </a:rPr>
              <a:t>không nên giả thuyết tính đúng đắn của các đơn vị </a:t>
            </a:r>
            <a:r>
              <a:rPr b="0" i="0" lang="en-US" sz="2400" u="none">
                <a:solidFill>
                  <a:schemeClr val="dk1"/>
                </a:solidFill>
                <a:latin typeface="Arial"/>
                <a:ea typeface="Arial"/>
                <a:cs typeface="Arial"/>
                <a:sym typeface="Arial"/>
              </a:rPr>
              <a:t> phải xây dựng các mô-đun giả lập đơn vị gọi (</a:t>
            </a:r>
            <a:r>
              <a:rPr b="0" i="1" lang="en-US" sz="2400" u="none">
                <a:solidFill>
                  <a:schemeClr val="dk1"/>
                </a:solidFill>
                <a:latin typeface="Arial"/>
                <a:ea typeface="Arial"/>
                <a:cs typeface="Arial"/>
                <a:sym typeface="Arial"/>
              </a:rPr>
              <a:t>driver</a:t>
            </a:r>
            <a:r>
              <a:rPr b="0" i="0" lang="en-US" sz="2400" u="none">
                <a:solidFill>
                  <a:schemeClr val="dk1"/>
                </a:solidFill>
                <a:latin typeface="Arial"/>
                <a:ea typeface="Arial"/>
                <a:cs typeface="Arial"/>
                <a:sym typeface="Arial"/>
              </a:rPr>
              <a:t>) và đơn vị bị gọi (đặt tên là </a:t>
            </a:r>
            <a:r>
              <a:rPr b="0" i="1" lang="en-US" sz="2400" u="none">
                <a:solidFill>
                  <a:schemeClr val="dk1"/>
                </a:solidFill>
                <a:latin typeface="Arial"/>
                <a:ea typeface="Arial"/>
                <a:cs typeface="Arial"/>
                <a:sym typeface="Arial"/>
              </a:rPr>
              <a:t>stub</a:t>
            </a:r>
            <a:r>
              <a:rPr b="0" i="0" lang="en-US" sz="2400" u="none">
                <a:solidFill>
                  <a:schemeClr val="dk1"/>
                </a:solidFill>
                <a:latin typeface="Arial"/>
                <a:ea typeface="Arial"/>
                <a:cs typeface="Arial"/>
                <a:sym typeface="Arial"/>
              </a:rPr>
              <a:t>):</a:t>
            </a:r>
            <a:endParaRPr/>
          </a:p>
        </p:txBody>
      </p:sp>
      <p:sp>
        <p:nvSpPr>
          <p:cNvPr id="481" name="Google Shape;481;p48"/>
          <p:cNvSpPr txBox="1"/>
          <p:nvPr/>
        </p:nvSpPr>
        <p:spPr>
          <a:xfrm>
            <a:off x="1066800" y="1481137"/>
            <a:ext cx="7467600" cy="4619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Việc kiểm thử được tiến hành qua các giai đoạn:</a:t>
            </a:r>
            <a:endParaRPr/>
          </a:p>
        </p:txBody>
      </p:sp>
      <p:sp>
        <p:nvSpPr>
          <p:cNvPr id="482" name="Google Shape;482;p48"/>
          <p:cNvSpPr txBox="1"/>
          <p:nvPr/>
        </p:nvSpPr>
        <p:spPr>
          <a:xfrm>
            <a:off x="838200" y="990600"/>
            <a:ext cx="4043362"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Kiểm thử đơn vị (unit test)</a:t>
            </a:r>
            <a:endParaRPr/>
          </a:p>
        </p:txBody>
      </p:sp>
    </p:spTree>
  </p:cSld>
  <p:clrMapOvr>
    <a:masterClrMapping/>
  </p:clrMapOvr>
  <p:transition advTm="25000">
    <p:randomBar dir="vert"/>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487" name="Google Shape;487;p49"/>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8" name="Google Shape;488;p49"/>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1.2.7 MỘT SỐ KHÁI NIỆM LIÊN QUAN KIỂM THỬ</a:t>
            </a:r>
            <a:endParaRPr/>
          </a:p>
        </p:txBody>
      </p:sp>
      <p:sp>
        <p:nvSpPr>
          <p:cNvPr id="489" name="Google Shape;489;p49"/>
          <p:cNvSpPr txBox="1"/>
          <p:nvPr/>
        </p:nvSpPr>
        <p:spPr>
          <a:xfrm>
            <a:off x="838200" y="990600"/>
            <a:ext cx="4043362"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Kiểm thử đơn vị (unit test)</a:t>
            </a:r>
            <a:endParaRPr/>
          </a:p>
        </p:txBody>
      </p:sp>
      <p:sp>
        <p:nvSpPr>
          <p:cNvPr id="490" name="Google Shape;490;p49"/>
          <p:cNvSpPr txBox="1"/>
          <p:nvPr/>
        </p:nvSpPr>
        <p:spPr>
          <a:xfrm>
            <a:off x="914400" y="1465262"/>
            <a:ext cx="7924800" cy="28321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FF0000"/>
              </a:buClr>
              <a:buSzPts val="2400"/>
              <a:buFont typeface="Noto Sans Symbols"/>
              <a:buChar char="✔"/>
            </a:pPr>
            <a:r>
              <a:rPr b="0" i="1" lang="en-US" sz="2400" u="none">
                <a:solidFill>
                  <a:srgbClr val="FF0000"/>
                </a:solidFill>
                <a:latin typeface="Arial"/>
                <a:ea typeface="Arial"/>
                <a:cs typeface="Arial"/>
                <a:sym typeface="Arial"/>
              </a:rPr>
              <a:t>Driver</a:t>
            </a:r>
            <a:r>
              <a:rPr b="0" i="0" lang="en-US" sz="2400" u="none">
                <a:solidFill>
                  <a:schemeClr val="dk1"/>
                </a:solidFill>
                <a:latin typeface="Arial"/>
                <a:ea typeface="Arial"/>
                <a:cs typeface="Arial"/>
                <a:sym typeface="Arial"/>
              </a:rPr>
              <a:t> như một chương trình chính nhập các bộ kiểm thử và gởi chúng đến đơn vị cần kiểm tra đồng thời nhận kết quả trả về của đơn vị cần kiểm tra.</a:t>
            </a:r>
            <a:endParaRPr/>
          </a:p>
          <a:p>
            <a:pPr indent="-342900" lvl="0" marL="342900" marR="0" rtl="0" algn="just">
              <a:lnSpc>
                <a:spcPct val="100000"/>
              </a:lnSpc>
              <a:spcBef>
                <a:spcPts val="1200"/>
              </a:spcBef>
              <a:spcAft>
                <a:spcPts val="0"/>
              </a:spcAft>
              <a:buClr>
                <a:srgbClr val="FF0000"/>
              </a:buClr>
              <a:buSzPts val="2400"/>
              <a:buFont typeface="Noto Sans Symbols"/>
              <a:buChar char="✔"/>
            </a:pPr>
            <a:r>
              <a:rPr b="0" i="1" lang="en-US" sz="2400" u="none">
                <a:solidFill>
                  <a:srgbClr val="FF0000"/>
                </a:solidFill>
                <a:latin typeface="Arial"/>
                <a:ea typeface="Arial"/>
                <a:cs typeface="Arial"/>
                <a:sym typeface="Arial"/>
              </a:rPr>
              <a:t>Stub</a:t>
            </a:r>
            <a:r>
              <a:rPr b="0" i="0" lang="en-US" sz="2400" u="none">
                <a:solidFill>
                  <a:schemeClr val="dk1"/>
                </a:solidFill>
                <a:latin typeface="Arial"/>
                <a:ea typeface="Arial"/>
                <a:cs typeface="Arial"/>
                <a:sym typeface="Arial"/>
              </a:rPr>
              <a:t> là chương trình giả lập thay thế các đơn vị được gọi bởi đơn vị cần kiểm tra. Stub thực hiện các thao tác xử lý dữ liệu đơn giản như: kiểm tra dữ liệu nhập và trả kết quả.</a:t>
            </a:r>
            <a:endParaRPr/>
          </a:p>
        </p:txBody>
      </p:sp>
      <p:pic>
        <p:nvPicPr>
          <p:cNvPr id="491" name="Google Shape;491;p49"/>
          <p:cNvPicPr preferRelativeResize="0"/>
          <p:nvPr/>
        </p:nvPicPr>
        <p:blipFill rotWithShape="1">
          <a:blip r:embed="rId3">
            <a:alphaModFix/>
          </a:blip>
          <a:srcRect b="0" l="0" r="0" t="0"/>
          <a:stretch/>
        </p:blipFill>
        <p:spPr>
          <a:xfrm>
            <a:off x="3886200" y="3886200"/>
            <a:ext cx="3811587" cy="2711450"/>
          </a:xfrm>
          <a:prstGeom prst="rect">
            <a:avLst/>
          </a:prstGeom>
          <a:noFill/>
          <a:ln>
            <a:noFill/>
          </a:ln>
        </p:spPr>
      </p:pic>
    </p:spTree>
  </p:cSld>
  <p:clrMapOvr>
    <a:masterClrMapping/>
  </p:clrMapOvr>
  <p:transition advTm="25000">
    <p:randomBar dir="vert"/>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496" name="Google Shape;496;p50"/>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7" name="Google Shape;497;p50"/>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1.2.7 MỘT SỐ KHÁI NIỆM LIÊN QUAN KIỂM THỬ</a:t>
            </a:r>
            <a:endParaRPr/>
          </a:p>
        </p:txBody>
      </p:sp>
      <p:sp>
        <p:nvSpPr>
          <p:cNvPr id="498" name="Google Shape;498;p50"/>
          <p:cNvSpPr txBox="1"/>
          <p:nvPr/>
        </p:nvSpPr>
        <p:spPr>
          <a:xfrm>
            <a:off x="990600" y="990600"/>
            <a:ext cx="7848600" cy="452437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FF0000"/>
              </a:buClr>
              <a:buSzPts val="2400"/>
              <a:buFont typeface="Arial"/>
              <a:buNone/>
            </a:pPr>
            <a:r>
              <a:rPr b="1" i="1" lang="en-US" sz="2400" u="none">
                <a:solidFill>
                  <a:srgbClr val="FF0000"/>
                </a:solidFill>
                <a:latin typeface="Arial"/>
                <a:ea typeface="Arial"/>
                <a:cs typeface="Arial"/>
                <a:sym typeface="Arial"/>
              </a:rPr>
              <a:t>Kiểm tra tích hợp (Integration Test) </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Là bước kiểm thử giao diện tích hợp giữa các chức năng khác nhau trong hệ thống. </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Là bước tiếp theo sau việc kiểm thử từng chức năng.</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Việc kiểm thử từng chức năng chưa đầy đủ vì có thể riêng rẽ từng chức năng chạy tốt nhưng khi kết hợp lại thì lại không chạy được.</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Loại kiểm thử này là theo mô hình hộp đen.</a:t>
            </a:r>
            <a:endParaRPr/>
          </a:p>
        </p:txBody>
      </p:sp>
    </p:spTree>
  </p:cSld>
  <p:clrMapOvr>
    <a:masterClrMapping/>
  </p:clrMapOvr>
  <p:transition advTm="25000">
    <p:randomBar dir="vert"/>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503" name="Google Shape;503;p51"/>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4" name="Google Shape;504;p51"/>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1.2.7 MỘT SỐ KHÁI NIỆM LIÊN QUAN KIỂM THỬ</a:t>
            </a:r>
            <a:endParaRPr/>
          </a:p>
        </p:txBody>
      </p:sp>
      <p:sp>
        <p:nvSpPr>
          <p:cNvPr id="505" name="Google Shape;505;p51"/>
          <p:cNvSpPr txBox="1"/>
          <p:nvPr/>
        </p:nvSpPr>
        <p:spPr>
          <a:xfrm>
            <a:off x="990600" y="990600"/>
            <a:ext cx="7848600" cy="397033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FF0000"/>
              </a:buClr>
              <a:buSzPts val="2400"/>
              <a:buFont typeface="Arial"/>
              <a:buNone/>
            </a:pPr>
            <a:r>
              <a:rPr b="1" i="1" lang="en-US" sz="2400" u="none">
                <a:solidFill>
                  <a:srgbClr val="FF0000"/>
                </a:solidFill>
                <a:latin typeface="Arial"/>
                <a:ea typeface="Arial"/>
                <a:cs typeface="Arial"/>
                <a:sym typeface="Arial"/>
              </a:rPr>
              <a:t>Kiểm tra hệ thống (System Test) </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Việc này sẽ thực hiện kiểm thử toàn bộ những chức năng của hệ thống thành một chuỗi thực hiện liên hoàn và kiểm thử một số những chức năng mang tính chất hệ thống (khi tích hợp hai hay nhiều chức năng với nhau thì đặc tính này chưa thể hiện được). </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Đây là một loại kiểm thử theo mô hình hộp đen.</a:t>
            </a:r>
            <a:endParaRPr/>
          </a:p>
        </p:txBody>
      </p:sp>
    </p:spTree>
  </p:cSld>
  <p:clrMapOvr>
    <a:masterClrMapping/>
  </p:clrMapOvr>
  <p:transition advTm="25000">
    <p:randomBar dir="vert"/>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510" name="Google Shape;510;p52"/>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1" name="Google Shape;511;p52"/>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1.2.7 MỘT SỐ KHÁI NIỆM LIÊN QUAN KIỂM THỬ</a:t>
            </a:r>
            <a:endParaRPr/>
          </a:p>
        </p:txBody>
      </p:sp>
      <p:sp>
        <p:nvSpPr>
          <p:cNvPr id="512" name="Google Shape;512;p52"/>
          <p:cNvSpPr txBox="1"/>
          <p:nvPr/>
        </p:nvSpPr>
        <p:spPr>
          <a:xfrm>
            <a:off x="685800" y="990600"/>
            <a:ext cx="8305800" cy="397033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FF0000"/>
              </a:buClr>
              <a:buSzPts val="2400"/>
              <a:buFont typeface="Arial"/>
              <a:buNone/>
            </a:pPr>
            <a:r>
              <a:rPr b="1" i="1" lang="en-US" sz="2400" u="none">
                <a:solidFill>
                  <a:srgbClr val="FF0000"/>
                </a:solidFill>
                <a:latin typeface="Arial"/>
                <a:ea typeface="Arial"/>
                <a:cs typeface="Arial"/>
                <a:sym typeface="Arial"/>
              </a:rPr>
              <a:t>Kiểm tra chấp nhận (Acceptance Test) – Alpha Test</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Đây là bước cuối cùng trong giai đoạn kiểm thử,</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Khách hàng sẽ kiểm thử và ký vào biên bản chấp nhận sản phẩm </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Những tiêu chí chấp nhận đã được thiết lập trong đơn hàng, những điều kiện mà phần mềm cần thỏa mãn để khách hàng chấp nhận sản phẩm. </a:t>
            </a:r>
            <a:endParaRPr/>
          </a:p>
        </p:txBody>
      </p:sp>
    </p:spTree>
  </p:cSld>
  <p:clrMapOvr>
    <a:masterClrMapping/>
  </p:clrMapOvr>
  <p:transition advTm="25000">
    <p:randomBar dir="vert"/>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517" name="Google Shape;517;p53"/>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8" name="Google Shape;518;p53"/>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1.2.7 MỘT SỐ KHÁI NIỆM LIÊN QUAN KIỂM THỬ</a:t>
            </a:r>
            <a:endParaRPr/>
          </a:p>
        </p:txBody>
      </p:sp>
      <p:sp>
        <p:nvSpPr>
          <p:cNvPr id="519" name="Google Shape;519;p53"/>
          <p:cNvSpPr txBox="1"/>
          <p:nvPr/>
        </p:nvSpPr>
        <p:spPr>
          <a:xfrm>
            <a:off x="685800" y="990600"/>
            <a:ext cx="8305800" cy="377031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FF0000"/>
              </a:buClr>
              <a:buSzPts val="2400"/>
              <a:buFont typeface="Arial"/>
              <a:buNone/>
            </a:pPr>
            <a:r>
              <a:rPr b="1" i="1" lang="en-US" sz="2400" u="none">
                <a:solidFill>
                  <a:srgbClr val="FF0000"/>
                </a:solidFill>
                <a:latin typeface="Arial"/>
                <a:ea typeface="Arial"/>
                <a:cs typeface="Arial"/>
                <a:sym typeface="Arial"/>
              </a:rPr>
              <a:t>Kiểm tra Beta</a:t>
            </a:r>
            <a:endParaRPr/>
          </a:p>
          <a:p>
            <a:pPr indent="-152400" lvl="0" marL="0" marR="0" rtl="0" algn="just">
              <a:lnSpc>
                <a:spcPct val="100000"/>
              </a:lnSpc>
              <a:spcBef>
                <a:spcPts val="6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Là giai đoạn mở rộng của Alpha testing. </a:t>
            </a:r>
            <a:endParaRPr/>
          </a:p>
          <a:p>
            <a:pPr indent="-152400" lvl="0" marL="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Khi đó, việc kiểm thử được thực hiện bởi </a:t>
            </a:r>
            <a:r>
              <a:rPr b="0" i="1" lang="en-US" sz="2400" u="none">
                <a:solidFill>
                  <a:schemeClr val="dk1"/>
                </a:solidFill>
                <a:latin typeface="Arial"/>
                <a:ea typeface="Arial"/>
                <a:cs typeface="Arial"/>
                <a:sym typeface="Arial"/>
              </a:rPr>
              <a:t>một số lượng lớn</a:t>
            </a:r>
            <a:r>
              <a:rPr b="0" i="0" lang="en-US" sz="2400" u="none">
                <a:solidFill>
                  <a:schemeClr val="dk1"/>
                </a:solidFill>
                <a:latin typeface="Arial"/>
                <a:ea typeface="Arial"/>
                <a:cs typeface="Arial"/>
                <a:sym typeface="Arial"/>
              </a:rPr>
              <a:t> người sử dụng. </a:t>
            </a:r>
            <a:endParaRPr/>
          </a:p>
          <a:p>
            <a:pPr indent="-152400" lvl="0" marL="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Công việc kiểm thử được tiến hành ngẫu nhiên mà không có sự hướng dẫn của các nhà phát triển.</a:t>
            </a:r>
            <a:endParaRPr/>
          </a:p>
          <a:p>
            <a:pPr indent="-152400" lvl="0" marL="0" marR="0" rtl="0" algn="just">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Các lỗi nếu được phát hiện sẽ được thông báo lại cho nhà phát triển</a:t>
            </a:r>
            <a:endParaRPr/>
          </a:p>
        </p:txBody>
      </p:sp>
    </p:spTree>
  </p:cSld>
  <p:clrMapOvr>
    <a:masterClrMapping/>
  </p:clrMapOvr>
  <p:transition advTm="25000">
    <p:randomBar dir="vert"/>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524" name="Google Shape;524;p54"/>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5" name="Google Shape;525;p54"/>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1.2.7 MỘT SỐ KHÁI NIỆM LIÊN QUAN KIỂM THỬ</a:t>
            </a:r>
            <a:endParaRPr/>
          </a:p>
        </p:txBody>
      </p:sp>
      <p:sp>
        <p:nvSpPr>
          <p:cNvPr id="526" name="Google Shape;526;p54"/>
          <p:cNvSpPr txBox="1"/>
          <p:nvPr/>
        </p:nvSpPr>
        <p:spPr>
          <a:xfrm>
            <a:off x="963612" y="990600"/>
            <a:ext cx="7848600" cy="286226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FF0000"/>
              </a:buClr>
              <a:buSzPts val="2400"/>
              <a:buFont typeface="Arial"/>
              <a:buNone/>
            </a:pPr>
            <a:r>
              <a:rPr b="1" i="1" lang="en-US" sz="2400" u="none">
                <a:solidFill>
                  <a:srgbClr val="FF0000"/>
                </a:solidFill>
                <a:latin typeface="Arial"/>
                <a:ea typeface="Arial"/>
                <a:cs typeface="Arial"/>
                <a:sym typeface="Arial"/>
              </a:rPr>
              <a:t>Kiểm thử hồi quy (Regression test) </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Là kiểm thử lại chương trình sau khi thực hiện những thay đổi phần mềm hoặc những thay đổi môi trường. </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Quá trình này có thể dùng các công cụ tự động thực hiện, hữu ích, đỡ tốn công sức của con người. </a:t>
            </a:r>
            <a:endParaRPr/>
          </a:p>
        </p:txBody>
      </p:sp>
    </p:spTree>
  </p:cSld>
  <p:clrMapOvr>
    <a:masterClrMapping/>
  </p:clrMapOvr>
  <p:transition advTm="25000">
    <p:randomBar dir="vert"/>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531" name="Google Shape;531;p55"/>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32" name="Google Shape;532;p55"/>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1.2.7 MỘT SỐ KHÁI NIỆM LIÊN QUAN KIỂM THỬ</a:t>
            </a:r>
            <a:endParaRPr/>
          </a:p>
        </p:txBody>
      </p:sp>
      <p:sp>
        <p:nvSpPr>
          <p:cNvPr id="533" name="Google Shape;533;p55"/>
          <p:cNvSpPr txBox="1"/>
          <p:nvPr/>
        </p:nvSpPr>
        <p:spPr>
          <a:xfrm>
            <a:off x="990600" y="990600"/>
            <a:ext cx="7848600" cy="34163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FF0000"/>
              </a:buClr>
              <a:buSzPts val="2400"/>
              <a:buFont typeface="Arial"/>
              <a:buNone/>
            </a:pPr>
            <a:r>
              <a:rPr b="1" i="1" lang="en-US" sz="2400" u="none">
                <a:solidFill>
                  <a:srgbClr val="FF0000"/>
                </a:solidFill>
                <a:latin typeface="Arial"/>
                <a:ea typeface="Arial"/>
                <a:cs typeface="Arial"/>
                <a:sym typeface="Arial"/>
              </a:rPr>
              <a:t>Kiểm tra tính tương thích (Compatibility Test) </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Là việc kiểm tra xem hệ thống có tương thích với các môi trường nền khác nhau</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Như: Kiểm tra xem chương trình có chạy tốt trong các trình duyệt khác nhau không? có chạy được trong hệ điều hành Window /Macintos….</a:t>
            </a:r>
            <a:endParaRPr/>
          </a:p>
        </p:txBody>
      </p:sp>
    </p:spTree>
  </p:cSld>
  <p:clrMapOvr>
    <a:masterClrMapping/>
  </p:clrMapOvr>
  <p:transition advTm="25000">
    <p:randomBar dir="vert"/>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538" name="Google Shape;538;p56"/>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39" name="Google Shape;539;p56"/>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1.2.7 MỘT SỐ KHÁI NIỆM LIÊN QUAN KIỂM THỬ</a:t>
            </a:r>
            <a:endParaRPr/>
          </a:p>
        </p:txBody>
      </p:sp>
      <p:sp>
        <p:nvSpPr>
          <p:cNvPr id="540" name="Google Shape;540;p56"/>
          <p:cNvSpPr txBox="1"/>
          <p:nvPr/>
        </p:nvSpPr>
        <p:spPr>
          <a:xfrm>
            <a:off x="1371600" y="1114425"/>
            <a:ext cx="7467600" cy="461962"/>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FF0000"/>
              </a:buClr>
              <a:buSzPts val="2400"/>
              <a:buFont typeface="Noto Sans Symbols"/>
              <a:buChar char="✔"/>
            </a:pPr>
            <a:r>
              <a:rPr b="0" i="1" lang="en-US" sz="2400" u="none">
                <a:solidFill>
                  <a:srgbClr val="FF0000"/>
                </a:solidFill>
                <a:latin typeface="Arial"/>
                <a:ea typeface="Arial"/>
                <a:cs typeface="Arial"/>
                <a:sym typeface="Arial"/>
              </a:rPr>
              <a:t>Kiểm thử hiệu suất phần mềm</a:t>
            </a:r>
            <a:r>
              <a:rPr b="0" i="0" lang="en-US" sz="2400" u="none">
                <a:solidFill>
                  <a:srgbClr val="FF0000"/>
                </a:solidFill>
                <a:latin typeface="Arial"/>
                <a:ea typeface="Arial"/>
                <a:cs typeface="Arial"/>
                <a:sym typeface="Arial"/>
              </a:rPr>
              <a:t>:</a:t>
            </a:r>
            <a:endParaRPr/>
          </a:p>
        </p:txBody>
      </p:sp>
      <p:sp>
        <p:nvSpPr>
          <p:cNvPr id="541" name="Google Shape;541;p56"/>
          <p:cNvSpPr txBox="1"/>
          <p:nvPr/>
        </p:nvSpPr>
        <p:spPr>
          <a:xfrm>
            <a:off x="1828800" y="1600200"/>
            <a:ext cx="6934200" cy="372427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FF0000"/>
              </a:buClr>
              <a:buSzPts val="2400"/>
              <a:buFont typeface="Noto Sans Symbols"/>
              <a:buChar char="▪"/>
            </a:pPr>
            <a:r>
              <a:rPr b="0" i="1" lang="en-US" sz="2400" u="none">
                <a:solidFill>
                  <a:srgbClr val="FF0000"/>
                </a:solidFill>
                <a:latin typeface="Arial"/>
                <a:ea typeface="Arial"/>
                <a:cs typeface="Arial"/>
                <a:sym typeface="Arial"/>
              </a:rPr>
              <a:t>Kiểm thử lượng tải:</a:t>
            </a:r>
            <a:r>
              <a:rPr b="0" i="0" lang="en-US" sz="2400" u="none">
                <a:solidFill>
                  <a:srgbClr val="FF0000"/>
                </a:solidFill>
                <a:latin typeface="Arial"/>
                <a:ea typeface="Arial"/>
                <a:cs typeface="Arial"/>
                <a:sym typeface="Arial"/>
              </a:rPr>
              <a:t> </a:t>
            </a:r>
            <a:r>
              <a:rPr b="0" i="0" lang="en-US" sz="2400" u="none">
                <a:solidFill>
                  <a:schemeClr val="dk1"/>
                </a:solidFill>
                <a:latin typeface="Arial"/>
                <a:ea typeface="Arial"/>
                <a:cs typeface="Arial"/>
                <a:sym typeface="Arial"/>
              </a:rPr>
              <a:t>Kiểm thử hệ thống dưới một lượng tải lớn dữ liệu/lượng lớn người sử dụng (kiểm thử sức chịu đựng).</a:t>
            </a:r>
            <a:endParaRPr/>
          </a:p>
          <a:p>
            <a:pPr indent="-342900" lvl="0" marL="342900" marR="0" rtl="0" algn="just">
              <a:lnSpc>
                <a:spcPct val="100000"/>
              </a:lnSpc>
              <a:spcBef>
                <a:spcPts val="1200"/>
              </a:spcBef>
              <a:spcAft>
                <a:spcPts val="0"/>
              </a:spcAft>
              <a:buClr>
                <a:srgbClr val="FF0000"/>
              </a:buClr>
              <a:buSzPts val="2400"/>
              <a:buFont typeface="Noto Sans Symbols"/>
              <a:buChar char="▪"/>
            </a:pPr>
            <a:r>
              <a:rPr b="0" i="1" lang="en-US" sz="2400" u="none">
                <a:solidFill>
                  <a:srgbClr val="FF0000"/>
                </a:solidFill>
                <a:latin typeface="Arial"/>
                <a:ea typeface="Arial"/>
                <a:cs typeface="Arial"/>
                <a:sym typeface="Arial"/>
              </a:rPr>
              <a:t>Kiểm tra khối lượng:</a:t>
            </a:r>
            <a:r>
              <a:rPr b="0" i="0" lang="en-US" sz="2400" u="none">
                <a:solidFill>
                  <a:srgbClr val="FF0000"/>
                </a:solidFill>
                <a:latin typeface="Arial"/>
                <a:ea typeface="Arial"/>
                <a:cs typeface="Arial"/>
                <a:sym typeface="Arial"/>
              </a:rPr>
              <a:t> </a:t>
            </a:r>
            <a:r>
              <a:rPr b="0" i="0" lang="en-US" sz="2400" u="none">
                <a:solidFill>
                  <a:schemeClr val="dk1"/>
                </a:solidFill>
                <a:latin typeface="Arial"/>
                <a:ea typeface="Arial"/>
                <a:cs typeface="Arial"/>
                <a:sym typeface="Arial"/>
              </a:rPr>
              <a:t>Kiểm tra các chức năng của phần mềm khi một số thành phần tăng triệt để kích thước. </a:t>
            </a:r>
            <a:endParaRPr/>
          </a:p>
          <a:p>
            <a:pPr indent="-342900" lvl="0" marL="342900" marR="0" rtl="0" algn="just">
              <a:lnSpc>
                <a:spcPct val="100000"/>
              </a:lnSpc>
              <a:spcBef>
                <a:spcPts val="1200"/>
              </a:spcBef>
              <a:spcAft>
                <a:spcPts val="0"/>
              </a:spcAft>
              <a:buClr>
                <a:srgbClr val="FF0000"/>
              </a:buClr>
              <a:buSzPts val="2400"/>
              <a:buFont typeface="Noto Sans Symbols"/>
              <a:buChar char="▪"/>
            </a:pPr>
            <a:r>
              <a:rPr b="0" i="1" lang="en-US" sz="2400" u="none">
                <a:solidFill>
                  <a:srgbClr val="FF0000"/>
                </a:solidFill>
                <a:latin typeface="Arial"/>
                <a:ea typeface="Arial"/>
                <a:cs typeface="Arial"/>
                <a:sym typeface="Arial"/>
              </a:rPr>
              <a:t>Kiểm thử tính ổn định</a:t>
            </a:r>
            <a:r>
              <a:rPr b="0" i="0" lang="en-US" sz="2400" u="none">
                <a:solidFill>
                  <a:srgbClr val="FF0000"/>
                </a:solidFill>
                <a:latin typeface="Arial"/>
                <a:ea typeface="Arial"/>
                <a:cs typeface="Arial"/>
                <a:sym typeface="Arial"/>
              </a:rPr>
              <a:t>: </a:t>
            </a:r>
            <a:r>
              <a:rPr b="0" i="0" lang="en-US" sz="2400" u="none">
                <a:solidFill>
                  <a:schemeClr val="dk1"/>
                </a:solidFill>
                <a:latin typeface="Arial"/>
                <a:ea typeface="Arial"/>
                <a:cs typeface="Arial"/>
                <a:sym typeface="Arial"/>
              </a:rPr>
              <a:t>Kiểm tra phần mềm có thể hoạt động tốt liên tục trong một chu kỳ chấp nhận được</a:t>
            </a:r>
            <a:endParaRPr/>
          </a:p>
        </p:txBody>
      </p:sp>
    </p:spTree>
  </p:cSld>
  <p:clrMapOvr>
    <a:masterClrMapping/>
  </p:clrMapOvr>
  <p:transition advTm="25000">
    <p:randomBar dir="vert"/>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546" name="Google Shape;546;p57"/>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47" name="Google Shape;547;p57"/>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1.2.7 MỘT SỐ KHÁI NIỆM LIÊN QUAN KIỂM THỬ</a:t>
            </a:r>
            <a:endParaRPr/>
          </a:p>
        </p:txBody>
      </p:sp>
      <p:sp>
        <p:nvSpPr>
          <p:cNvPr id="548" name="Google Shape;548;p57"/>
          <p:cNvSpPr txBox="1"/>
          <p:nvPr/>
        </p:nvSpPr>
        <p:spPr>
          <a:xfrm>
            <a:off x="990600" y="990600"/>
            <a:ext cx="7848600" cy="397033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FF0000"/>
              </a:buClr>
              <a:buSzPts val="2400"/>
              <a:buFont typeface="Arial"/>
              <a:buNone/>
            </a:pPr>
            <a:r>
              <a:rPr b="1" i="1" lang="en-US" sz="2400" u="none">
                <a:solidFill>
                  <a:srgbClr val="FF0000"/>
                </a:solidFill>
                <a:latin typeface="Arial"/>
                <a:ea typeface="Arial"/>
                <a:cs typeface="Arial"/>
                <a:sym typeface="Arial"/>
              </a:rPr>
              <a:t>Kịch bản kiểm thử </a:t>
            </a:r>
            <a:endParaRPr/>
          </a:p>
          <a:p>
            <a:pPr indent="0" lvl="0" marL="0" marR="0" rtl="0" algn="just">
              <a:lnSpc>
                <a:spcPct val="15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Kịch bản kiểm thử (test script) có hai dạng. </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Thứ nhất là tập các hướng dẫn thực hiện từng bước với mục đích dẫn dắt nhân viên kiểm thử thực hiện thành công việc kiểm tra phần mềm đó. </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Thứ hai là một đoạn chương trình nhỏ phục vụ cho việc kiểm thử một cách tự động. </a:t>
            </a:r>
            <a:endParaRPr/>
          </a:p>
        </p:txBody>
      </p:sp>
    </p:spTree>
  </p:cSld>
  <p:clrMapOvr>
    <a:masterClrMapping/>
  </p:clrMapOvr>
  <p:transition advTm="25000">
    <p:randomBar dir="vert"/>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553" name="Google Shape;553;p58"/>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4" name="Google Shape;554;p58"/>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1.2.7 MỘT SỐ KHÁI NIỆM LIÊN QUAN KIỂM THỬ</a:t>
            </a:r>
            <a:endParaRPr/>
          </a:p>
        </p:txBody>
      </p:sp>
      <p:sp>
        <p:nvSpPr>
          <p:cNvPr id="555" name="Google Shape;555;p58"/>
          <p:cNvSpPr txBox="1"/>
          <p:nvPr/>
        </p:nvSpPr>
        <p:spPr>
          <a:xfrm>
            <a:off x="990600" y="990600"/>
            <a:ext cx="7848600" cy="2678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Arial"/>
              <a:buNone/>
            </a:pPr>
            <a:r>
              <a:rPr b="1" i="1" lang="en-US" sz="2400" u="none">
                <a:solidFill>
                  <a:srgbClr val="FF0000"/>
                </a:solidFill>
                <a:latin typeface="Arial"/>
                <a:ea typeface="Arial"/>
                <a:cs typeface="Arial"/>
                <a:sym typeface="Arial"/>
              </a:rPr>
              <a:t>Kiểm thử tĩnh (Static Testing) </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Là một phương pháp kiểm tra chéo, người này kiểm tra sản phẩm của của một người khác cùng nhóm. </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Việc kiểm tra chéo này có tác dụng giảm các lỗi sớm và hiệu quả.</a:t>
            </a:r>
            <a:endParaRPr/>
          </a:p>
        </p:txBody>
      </p:sp>
    </p:spTree>
  </p:cSld>
  <p:clrMapOvr>
    <a:masterClrMapping/>
  </p:clrMapOvr>
  <p:transition advTm="25000">
    <p:randomBar dir="vert"/>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560" name="Google Shape;560;p59"/>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1" name="Google Shape;561;p59"/>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1.2.8 CÁC ĐỐI TƯỢNG THỰC HIỆN KIỂM THỬ</a:t>
            </a:r>
            <a:endParaRPr/>
          </a:p>
        </p:txBody>
      </p:sp>
      <p:pic>
        <p:nvPicPr>
          <p:cNvPr id="562" name="Google Shape;562;p59"/>
          <p:cNvPicPr preferRelativeResize="0"/>
          <p:nvPr/>
        </p:nvPicPr>
        <p:blipFill rotWithShape="1">
          <a:blip r:embed="rId3">
            <a:alphaModFix/>
          </a:blip>
          <a:srcRect b="0" l="0" r="0" t="0"/>
          <a:stretch/>
        </p:blipFill>
        <p:spPr>
          <a:xfrm>
            <a:off x="1371600" y="1828800"/>
            <a:ext cx="7162800" cy="3429000"/>
          </a:xfrm>
          <a:prstGeom prst="rect">
            <a:avLst/>
          </a:prstGeom>
          <a:noFill/>
          <a:ln>
            <a:noFill/>
          </a:ln>
        </p:spPr>
      </p:pic>
      <p:sp>
        <p:nvSpPr>
          <p:cNvPr id="563" name="Google Shape;563;p59"/>
          <p:cNvSpPr txBox="1"/>
          <p:nvPr/>
        </p:nvSpPr>
        <p:spPr>
          <a:xfrm>
            <a:off x="3048000" y="5791200"/>
            <a:ext cx="33655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sơ đồ tổ chức kiểm thử</a:t>
            </a:r>
            <a:endParaRPr/>
          </a:p>
        </p:txBody>
      </p:sp>
    </p:spTree>
  </p:cSld>
  <p:clrMapOvr>
    <a:masterClrMapping/>
  </p:clrMapOvr>
  <p:transition advTm="25000">
    <p:randomBar dir="vert"/>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568" name="Google Shape;568;p60"/>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9" name="Google Shape;569;p60"/>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1.2.8 CÁC ĐỐI TƯỢNG THỰC HIỆN KIỂM THỬ</a:t>
            </a:r>
            <a:endParaRPr/>
          </a:p>
        </p:txBody>
      </p:sp>
      <p:sp>
        <p:nvSpPr>
          <p:cNvPr id="570" name="Google Shape;570;p60"/>
          <p:cNvSpPr txBox="1"/>
          <p:nvPr/>
        </p:nvSpPr>
        <p:spPr>
          <a:xfrm>
            <a:off x="990600" y="990600"/>
            <a:ext cx="7848600" cy="5078412"/>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dk1"/>
              </a:buClr>
              <a:buSzPts val="2400"/>
              <a:buFont typeface="Noto Sans Symbols"/>
              <a:buChar char="✔"/>
            </a:pPr>
            <a:r>
              <a:rPr b="0" i="1" lang="en-US" sz="2400" u="none">
                <a:solidFill>
                  <a:schemeClr val="dk1"/>
                </a:solidFill>
                <a:latin typeface="Arial"/>
                <a:ea typeface="Arial"/>
                <a:cs typeface="Arial"/>
                <a:sym typeface="Arial"/>
              </a:rPr>
              <a:t>Vị trí nhóm trưởng</a:t>
            </a:r>
            <a:r>
              <a:rPr b="0" i="0" lang="en-US" sz="2400" u="none">
                <a:solidFill>
                  <a:schemeClr val="dk1"/>
                </a:solidFill>
                <a:latin typeface="Arial"/>
                <a:ea typeface="Arial"/>
                <a:cs typeface="Arial"/>
                <a:sym typeface="Arial"/>
              </a:rPr>
              <a:t>: Lập kế hoạch, Tuyển nhân lực, lựa chọn công cụ, quản lý hoạt động của cả đội QA. </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1" lang="en-US" sz="2400" u="none">
                <a:solidFill>
                  <a:schemeClr val="dk1"/>
                </a:solidFill>
                <a:latin typeface="Arial"/>
                <a:ea typeface="Arial"/>
                <a:cs typeface="Arial"/>
                <a:sym typeface="Arial"/>
              </a:rPr>
              <a:t>Vị trí kỹ sư kiểm thử</a:t>
            </a:r>
            <a:r>
              <a:rPr b="0" i="0" lang="en-US" sz="2400" u="none">
                <a:solidFill>
                  <a:schemeClr val="dk1"/>
                </a:solidFill>
                <a:latin typeface="Arial"/>
                <a:ea typeface="Arial"/>
                <a:cs typeface="Arial"/>
                <a:sym typeface="Arial"/>
              </a:rPr>
              <a:t>: Thực hiện việc kiểm thử, tạo ra các đoạn chương trình để hướng dẫn kiểm thử hoặc thực hiện việc kiểm thử một cách tự động. </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1" lang="en-US" sz="2400" u="none">
                <a:solidFill>
                  <a:schemeClr val="dk1"/>
                </a:solidFill>
                <a:latin typeface="Arial"/>
                <a:ea typeface="Arial"/>
                <a:cs typeface="Arial"/>
                <a:sym typeface="Arial"/>
              </a:rPr>
              <a:t>Vị trí quản trị hệ thống</a:t>
            </a:r>
            <a:r>
              <a:rPr b="0" i="0" lang="en-US" sz="2400" u="none">
                <a:solidFill>
                  <a:schemeClr val="dk1"/>
                </a:solidFill>
                <a:latin typeface="Arial"/>
                <a:ea typeface="Arial"/>
                <a:cs typeface="Arial"/>
                <a:sym typeface="Arial"/>
              </a:rPr>
              <a:t>: Hỗ trợ cho nhóm QA làm việc (không phải là một thành viên chính thức)</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1" lang="en-US" sz="2400" u="none">
                <a:solidFill>
                  <a:schemeClr val="dk1"/>
                </a:solidFill>
                <a:latin typeface="Arial"/>
                <a:ea typeface="Arial"/>
                <a:cs typeface="Arial"/>
                <a:sym typeface="Arial"/>
              </a:rPr>
              <a:t>Vị trí biên tập và soạn thảo các tài liệu cho dự án</a:t>
            </a:r>
            <a:r>
              <a:rPr b="0" i="0" lang="en-US" sz="2400" u="none">
                <a:solidFill>
                  <a:schemeClr val="dk1"/>
                </a:solidFill>
                <a:latin typeface="Arial"/>
                <a:ea typeface="Arial"/>
                <a:cs typeface="Arial"/>
                <a:sym typeface="Arial"/>
              </a:rPr>
              <a:t>: Hỗ trợ nhóm QA (không phải là thành viên chính thức).</a:t>
            </a:r>
            <a:endParaRPr/>
          </a:p>
        </p:txBody>
      </p:sp>
    </p:spTree>
  </p:cSld>
  <p:clrMapOvr>
    <a:masterClrMapping/>
  </p:clrMapOvr>
  <p:transition advTm="25000">
    <p:randomBar dir="vert"/>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575" name="Google Shape;575;p61"/>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6" name="Google Shape;576;p61"/>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1.2.8 CÁC ĐỐI TƯỢNG THỰC HIỆN KIỂM THỬ</a:t>
            </a:r>
            <a:endParaRPr/>
          </a:p>
        </p:txBody>
      </p:sp>
      <p:pic>
        <p:nvPicPr>
          <p:cNvPr id="577" name="Google Shape;577;p61"/>
          <p:cNvPicPr preferRelativeResize="0"/>
          <p:nvPr/>
        </p:nvPicPr>
        <p:blipFill rotWithShape="1">
          <a:blip r:embed="rId3">
            <a:alphaModFix/>
          </a:blip>
          <a:srcRect b="0" l="0" r="0" t="0"/>
          <a:stretch/>
        </p:blipFill>
        <p:spPr>
          <a:xfrm>
            <a:off x="1447800" y="1447800"/>
            <a:ext cx="6781800" cy="3962400"/>
          </a:xfrm>
          <a:prstGeom prst="rect">
            <a:avLst/>
          </a:prstGeom>
          <a:noFill/>
          <a:ln>
            <a:noFill/>
          </a:ln>
        </p:spPr>
      </p:pic>
      <p:sp>
        <p:nvSpPr>
          <p:cNvPr id="578" name="Google Shape;578;p61"/>
          <p:cNvSpPr txBox="1"/>
          <p:nvPr/>
        </p:nvSpPr>
        <p:spPr>
          <a:xfrm>
            <a:off x="3279775" y="5791200"/>
            <a:ext cx="334327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Worker và các qui trình</a:t>
            </a:r>
            <a:endParaRPr/>
          </a:p>
        </p:txBody>
      </p:sp>
    </p:spTree>
  </p:cSld>
  <p:clrMapOvr>
    <a:masterClrMapping/>
  </p:clrMapOvr>
  <p:transition advTm="25000">
    <p:randomBar dir="vert"/>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584" name="Google Shape;584;p62"/>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5" name="Google Shape;585;p62"/>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1.2.8 CÁC ĐỐI TƯỢNG THỰC HIỆN KIỂM THỬ</a:t>
            </a:r>
            <a:endParaRPr/>
          </a:p>
        </p:txBody>
      </p:sp>
      <p:pic>
        <p:nvPicPr>
          <p:cNvPr id="586" name="Google Shape;586;p62"/>
          <p:cNvPicPr preferRelativeResize="0"/>
          <p:nvPr/>
        </p:nvPicPr>
        <p:blipFill rotWithShape="1">
          <a:blip r:embed="rId3">
            <a:alphaModFix/>
          </a:blip>
          <a:srcRect b="0" l="0" r="0" t="0"/>
          <a:stretch/>
        </p:blipFill>
        <p:spPr>
          <a:xfrm>
            <a:off x="1600200" y="1371600"/>
            <a:ext cx="6781800" cy="3657600"/>
          </a:xfrm>
          <a:prstGeom prst="rect">
            <a:avLst/>
          </a:prstGeom>
          <a:noFill/>
          <a:ln>
            <a:noFill/>
          </a:ln>
        </p:spPr>
      </p:pic>
      <p:sp>
        <p:nvSpPr>
          <p:cNvPr id="587" name="Google Shape;587;p62"/>
          <p:cNvSpPr txBox="1"/>
          <p:nvPr/>
        </p:nvSpPr>
        <p:spPr>
          <a:xfrm>
            <a:off x="2865437" y="5461000"/>
            <a:ext cx="4251325"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Worker và công việc kiểm thử</a:t>
            </a:r>
            <a:endParaRPr/>
          </a:p>
        </p:txBody>
      </p:sp>
    </p:spTree>
  </p:cSld>
  <p:clrMapOvr>
    <a:masterClrMapping/>
  </p:clrMapOvr>
  <p:transition advTm="25000">
    <p:randomBar dir="vert"/>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592" name="Google Shape;592;p63"/>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3" name="Google Shape;593;p63"/>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1.2.9 CÁC ĐIỂM CẦN LƯU Ý KHI KIỂM THỬ</a:t>
            </a:r>
            <a:endParaRPr/>
          </a:p>
        </p:txBody>
      </p:sp>
      <p:sp>
        <p:nvSpPr>
          <p:cNvPr id="594" name="Google Shape;594;p63"/>
          <p:cNvSpPr txBox="1"/>
          <p:nvPr/>
        </p:nvSpPr>
        <p:spPr>
          <a:xfrm>
            <a:off x="762000" y="990600"/>
            <a:ext cx="8229600" cy="5078412"/>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Chất lượng không phải do khâu kiểm thử mà do thiết kế quyết định</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Tính dễ kiểm thử phụ thuộc vào cấu trúc chương trình</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Người kiểm thử nên làm việc độc lập với người phát triển phần mềm</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Dữ liệu thử cho kết quả bình thường thì không có ý nghĩa nhiều, cần những dữ liệu thử để phát hiện ra lỗi.</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Khi phát sinh thêm trường hợp kiểm thử thì nên thử lại những trường hợp trước để tránh lan truyền.</a:t>
            </a:r>
            <a:endParaRPr/>
          </a:p>
        </p:txBody>
      </p:sp>
    </p:spTree>
  </p:cSld>
  <p:clrMapOvr>
    <a:masterClrMapping/>
  </p:clrMapOvr>
  <p:transition advTm="25000">
    <p:randomBar dir="vert"/>
  </p:transition>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599" name="Google Shape;599;p64"/>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0" name="Google Shape;600;p64"/>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1.2.10 CÁC HẠN CHẾ CỦA KIỂM THỬ</a:t>
            </a:r>
            <a:endParaRPr/>
          </a:p>
        </p:txBody>
      </p:sp>
      <p:sp>
        <p:nvSpPr>
          <p:cNvPr id="601" name="Google Shape;601;p64"/>
          <p:cNvSpPr txBox="1"/>
          <p:nvPr/>
        </p:nvSpPr>
        <p:spPr>
          <a:xfrm>
            <a:off x="990600" y="990600"/>
            <a:ext cx="8001000" cy="34163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Không thể chắc các đặc tả đều đúng 100%.</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Không thể chắc hệ thống/công cụ kiểm thử là đúng.</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Không có công cụ kiểm thử nào thích hợp cho mọi PM.</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Kỹ sư kiểm thử không chắc hiểu đầy đủ về phần mềm.</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Không có đủ tài nguyên để thực hiệm kiểm thử đầy đủ.</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không chắc rằng đạt đủ 100% hoạt động</a:t>
            </a:r>
            <a:endParaRPr/>
          </a:p>
        </p:txBody>
      </p:sp>
    </p:spTree>
  </p:cSld>
  <p:clrMapOvr>
    <a:masterClrMapping/>
  </p:clrMapOvr>
  <p:transition advTm="25000">
    <p:randomBar dir="vert"/>
  </p:transition>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606" name="Google Shape;606;p65"/>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7" name="Google Shape;607;p65"/>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1.3. VAI TRÒ CỦA KIỂM THỬ PHẦN MỀM</a:t>
            </a:r>
            <a:endParaRPr/>
          </a:p>
        </p:txBody>
      </p:sp>
      <p:sp>
        <p:nvSpPr>
          <p:cNvPr id="608" name="Google Shape;608;p65"/>
          <p:cNvSpPr txBox="1"/>
          <p:nvPr/>
        </p:nvSpPr>
        <p:spPr>
          <a:xfrm>
            <a:off x="990600" y="990600"/>
            <a:ext cx="7848600" cy="286226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FF0000"/>
              </a:buClr>
              <a:buSzPts val="2400"/>
              <a:buFont typeface="Arial"/>
              <a:buNone/>
            </a:pPr>
            <a:r>
              <a:rPr b="0" i="0" lang="en-US" sz="2400" u="none">
                <a:solidFill>
                  <a:srgbClr val="FF0000"/>
                </a:solidFill>
                <a:latin typeface="Arial"/>
                <a:ea typeface="Arial"/>
                <a:cs typeface="Arial"/>
                <a:sym typeface="Arial"/>
              </a:rPr>
              <a:t>KTPM là qui trình chứng minh phần mềm đang có lỗi:</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Chỉ ra PM hiện đúng các chức năng mong muốn.</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Là qui trình thiết lập sự tin tưởng về phần mềm.</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Là qui trình thi hành PM với ý định tìm kiếm các lỗi.</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Là qui trình tìm kiếm các lỗi của PM để "hủy diệt".</a:t>
            </a:r>
            <a:endParaRPr/>
          </a:p>
        </p:txBody>
      </p:sp>
    </p:spTree>
  </p:cSld>
  <p:clrMapOvr>
    <a:masterClrMapping/>
  </p:clrMapOvr>
  <p:transition advTm="25000">
    <p:randomBar dir="vert"/>
  </p:transition>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descr="data:image/jpeg;base64,/9j/4AAQSkZJRgABAQAAAQABAAD/2wCEAAkGBxASERQQEhQQFBAUFRUYEBQQFhUXFBQZFRQWFhcVFRMYHSggGBolGxQUITEhJSkrLi4uGh8zODMsNygtLisBCgoKDg0OGxAQGiwkHyQsLCwsLCwsLCwsLCwsLCwsLCwsLCwsLCwsLCwsLCwsLCwsLCwsLCwsLCwsLCwsLCwsLP/AABEIAL8BCAMBEQACEQEDEQH/xAAbAAEAAgMBAQAAAAAAAAAAAAAABAUBAwYCB//EAEQQAAIBAgMEBAkJBwMFAAAAAAECAAMRBBIhBRMxQQYiUWEyNFNxcpGzwdEUFkJSc4GSoaIjM0NisbLSBxWTgoPC4fD/xAAaAQEAAwEBAQAAAAAAAAAAAAAAAQIDBAUG/8QALBEBAAIBAwMEAgEEAwEAAAAAAAECAwQREhMhMQUUQVEiMlIVQmGhcYGRI//aAAwDAQACEQMRAD8A+jVOkwo1atNkqVCtQ2IK2APAC5nLGfabcndpvT7Z68osw3TSmONGoNL6tT4DiePCXjPG3Z0T6TkjzeGD01pi16NXU2HWTieXGOvHyj+kX884evnknkKvrT4x7iv0mPR7/wA4Pnmnkav4k5aHnInOj+k332i8NuG6XIzqm6qDMwFyUsLm2tj3yYz7zsrk9MyUrNpmOzpRN3mMwEBAQEBAQEBAQEBAQEBAQEBAQEBAQEBAQK/A1GNfEKSSFamFB4C9JSbfeSZKI8ubOCD18QT5Uj8h8Zw1rE3s9bS5ppj2hF2hsRiyOmuS7ZdLOQyEIb+iSDyIXzHasR8pzZrXVlfo7XBp5BU/eU3c7zwSGXNcFrZMlxlAOvAC5MtEV3YTe+3Z7/2GtuUAV1cV1bI1XN1QAGLvmBKl8zWBJAK6fRkbVXjLfZ72LsKqtQtVVxfeBS1S4W+6Oi520LLUI5juvYOMfCcWW9b8pXY2cqlW5h6f96ysUiJb31Nr1mv+JdcDOh4jN5HdJJGYCAgICAgICAgICAgICAgICAgICAgICBWbO8YxXp0vYpJRHlzlTHCniMQDzq3/ACE4YtEWs9fSYJvi3hW19vVc7AD9nnNnzLfSiGyZLX8I3vNqzvUy4r1tx2adn9J6zkaJkNQhi56wVjTyqgXTTeEEn6nfpM9o3llStrTs81+lNZFZjuGAdgNSD+8qaXLAAhFUdpJ4G1imYJraO7a/SaqGUMMOCzi12cXRnVQF7anWv2aEd8f8J2t2W6bTDMq9rp/eszjJHJ15NNNaTb/CN0p6VVt6cNhbgg5XcC7Fj9FB+V5z6nVzFuFPLT030zF0utn8IqbN2uo3pqVieNt5dvwcJzzTVRHLk2tn9NtPCtf9Og6Mbeeqd1Wtnt1WGl7cQR2zfSaybzxt5ebrtFXHHPH4dMJ6bymYCAgICAgICAgICAgICAgICAgICAgIFZs7xjFenS9iklEeVWOj9GvUq1HNQNvWHVawsLW0tOWuOszZ24NfkwxxqqduYXZ2EKrUeuXYjqowJAOhYi3D+szyWxYojlPd6elvrdVEzWsbfa0wnRjB1ED03qlDqpV9Dckk8ONzNq462jeJ3cM67PhtNbVj/wAbfmdhe2tobjrc+3hLdKN1J9Ryz8Q8VOhuEJVmavdTdf2lhfTW33CJrWqttblvtO0N2H6LYZGVw1QlSCLvpcG4vpK8Me++7S/qOe9eMx/pJo7Bwi1N8qDeXJvmJ1N7nU98rGHDy5MZ1eecfTnwsqmoIDWJHEWuO/WbWtG20TDmr2neYcxQ2HWWvmzKBfNvBbmder2/lPFrpb9flu9e2spODhs6pCAAL37zxM9qJiI23eRMT9PcuggICAgICAgICAgICAgICAgICAgICBWbO8YxXp0vYpJRHl72Z/F+2f3TDH/cfLmOnWwA2XEU0FxffZRqb2sx7bW/OcOvw/jzq970jXzjt07T2lt6N7doUqIpshRhxKLo+gGY256Smm1+KlON+0q67Q5b5ZvWd4l42jtWrXqKtE1FHAAGxa/M2nPm1V819sUpw6amGkzliFtjsGf2ascxVACTrrz1nZmwzPGLOHFkiOUwpdrI1Pd5cgzvkN1vlzfxOHBba8tZjjwcvLXJm2RMJjmeo1MUlFqlsztlG7uqh1ugzHM1svA62Y6X1tpfx7KRqJ37tJxNbeuFSmykqKFMlRcmo1LM75SV6yE2sbDt4CfbRNIU9xMSnbKd6rENTVVKh0IIJ4IWUi3I1FF7666DS+d9NMd4aU1HfaVmcFbWw9Uz6Mx3/wAtJyxM/wDTqFntQ8pmSEBAQEBAQEBAQEBAQEBAQEBAQEBArNneMYr06XsUkojy2bM/i/av7pjXzZMJ1pptvArq2wsMxuaYv/KWX8gZzX0WC87zV1V1mesbRZJwuApUvAQL2kcfWdZpj0+PH+sMcmW+T9p3aMYwD/8ASP6mZ5piLxuvi71lX46rRVc1RVK+AxYAhVqMoOa/BSQl/wD1M4vv2XtX5V2EfZ7VLClRWpda4zJTDh6lwHt4QqWbjb6U1neIU7TL1jMVgaRZwaC1ipr2sgarpZXY6X1Asb8pWJmY2TMR5T8HWoGxp7vVbrlt4PVOluWqflImZhNYie6RVcZTKXyRsvFZ5J2MxqUhdzx4AcT5hN8+ox4Y3vLnpitkn8VaOkIJ8BrecX9U8ufXMW/aJdc6C0R5WeExqVB1ePMHjPQ02tx54/GXJkxzSdpSZ2MyAgICAgICAgICAgICAgICAgIFXs3xjFenS9iklEeW7Zv8X7V/dMa+bJhOE1gICBU7Vw9VmBRbi1jqBz7zODVYslrRNYdODJStZiytxmyq9Sm9Iro6sp1Q6MLcCdZz1wZ477Oic+Ge26vr9GKzVqldSyO+UixVshGS5AZraimotYduugG8dbbbj/tjacXnd6xHRzEsMqs6plQFeoQxp6KzHMCRbQrwPrBisZq95qb4tv2etldHq9CwBZlWmtNFO7UCy0wT1TxO7BtoBykZK5beKppbFWf2WIwWI+p+pfjMowZfmGts+L4b8ZsqpUq5yVyaAam4A+7zzLPosubLytPb6UxamuPHxiO6yXBUgtsi283vnoe1wVx8Zq5ureZ33VtJMlS4uADw527J8bXNOn121Yni6bTFqd/K6VrifdY8kXrFvtxbM3l90F43GZIQEBAQEBAQEBAQEBAQEBAq9m+MYr06XsUkojy37O/i/at7plXzZMJomkBAQPIEhHd5qg2OXQ8ryLbzHZaNolzGHeqtc3cg5rMTwNv5eQ+M+ZjUZaarja+0PUtWlsP6uovYXNp9JOSta8pns8raZnaIRKeNzNYA2udffPFw+t0y5rYqxM7NpxTEby2Gs3dKX9S1EWmKx2R04Y3zd0r/AFPU/UJ4VN83dJj1TUbfrCOEPJc3vZbzG2rzTbnwrunj8PW+bumv9U1P8YRwhso1CTY2+6dui1uTLfjeEWrtDcJ6sR2ZsyQgICAgICAgICAgICAgICBV7N8YxXp0vYpJRHlI2f8AxPtG90yj5TCYJpHgICAgYgQcZs9XOYaNz7D554+v9KjUflWdpbY9RNOzUuBfhfTzm3qnjT6PrrfhN+zWc1fiEvD4YL3mez6f6VTSb2nvZjfJNmQukrTFW0byjdyZ25ihUqWp7xFd1Cmk1EdQvYJXYlat1QkkDQrbnOr2mOYVm0vadJ23lVRRZ0V1ym4Ubsq+Z7kdYhqT6DuF+No9pSIOSZX2vVSq6btWIqFaShwuYBKb5mciy2BqG2vASvtKfCeUpOwtoPWDZ0yFT1SCCHUlgrWHgnqNpryPPSL6alUbzK2Ua/d8JbS44rl7fSZneHsmd171pH5TEKRuBweYkVz47dotEp2e5qggICAgICAgICAgICAgIFXs3xjFenS9iklEeUjAfxPtG90zqlMlwgICAtAWgYgYlbdomRG3k+ZnVzE7S22aTRp2y5Vtcm1tLtfMfOczeuTGuscUelsvDKXZaNIGp+8IUXbQjXt4n1mW/qNvEnCGcRs3D1M2elTbOQXzKDmK5bE/gT1CPfycUmjTRPBVV0A0FtASR/cfXKTrpnycWzfAXY8ADOjTayItN5+IRMfCsR3rOQDoOPYPungY8eq9SzTEzMV3acq0jwj7WwNSkhqq1wurW0IHb3zrz+i5tLXqUsz5xLf0W218oVkbV6drntBvY/kRPe9K1V8uPa/mGXKJlfCerG/yMyQgICAgICAgICAgICBV7N8Yxfp0vYpJRHlJwI8P7RvdM6iXLpICAgICAgYtI27jwaY7BOadLhme9U8pQ8XiFTTKD2zwfUtdp9JeKxj33a0rvG+7fh2RxcD1ierpK4M+OLxVSZmGappr4RRb8MxAm19PpqeYRvKHjNqYWll3jqMwutgWuO3qg9sTp9P9M7ZorPeUcdJMD5Qfgf8Axl6UwU8QrOev2yvSTBDhUH4H/wAZek46RtVHXrPyibV2ts/EUzTeqbHgVWoCD2g2lMtceSvGZROWs/Kh6N4bA4dzVq4je1Af2dkqKqjkSttW8/DlOXTabHhnfdWt6x8urXpPg+G9/S/+M9CMlPiV+tX7XAM0aswEBAQEBAQEBAQEBAqtmeMYv06XsUkojymYL6fpt7pSBJlkkBAQEBAQEDEjuK7bWFZ0umrLfTtvxHnnies+nTqaRavmGlLbOXXpa2HG7dL5eAYlWHnuJw6PX5tNTp3qpayor4jFbTrAIlkGl7HJTB4kseJ+E0vGXWZInbaGO82l0m19lLelSXwadEKPuNvdPb6PGsV+oZZ8XOYVWNwC0kaowfKou2RHdrdoRASe3QcAZHRhlGB4w2GpVAMpYHq9V1ZHGYAjNTYBl4jiI6Keg84ajScXDLwQ2FyQKrlKZItezFTyk9BHQbqOz1ZmVSDky5ra+ECRrwItbnI6R0Gyrsmyk9gJ9QjpRBGHaXdidcO6PDN5KS8E9mYCAgICAgICAgIFVszxjF+nS9iklEJuE+n6be6UhKRLBAQEBAQEBAQMGO411KCN4SqfOAf6yk0ifMQPSoBoLAd0tEbeDZR7axASsL86Y/uMyyW2lz5bbSrsVjEdHS4GZWW/ZcEe+U5fKkX2VmPwdOoWOZVZr3YL1rFKSgX/AO2T98tF909Rpw+z0FKpRaoLVBTzsmcPdaz1Gs5N7Wew778pM5YWnJG6TsmkKVSrVZ1Y1LaKGAHM6E2AB0AA4SJyRsi+SFjXx6FWHarD8jIm8TCk5G/pd0wp4IBAu8rsLhL2Cjhmc8hcffOmlZmOyNTrK4I2+XIp032qw3ooruu0UahT8d/zm+PFEztLzvf6nfeK9v8Ah1HRPpmmKIpVFFOvbqgG6PbU5TxvbW0tm0tqRy+HXpPUa5p4W7S60TlemzAQEBAQEBAQECq2Z4zi/TpewSSiPKdhfpemZWCG+SkgICAgICAgICAjYI2FD0g2E+IdXWoqZVIIKk31vyYTHJj5MMuKb+FU3RKqBc16YA4ko2n355ToT9sp08xHlG2fsDfrno4qjUS5F0QkXBsfpx0fjdWuCbf3JXzQreXT/jb/ADkdFb20/Z80K3l0/wCNv84nTzPyj2sz8sjohW8ulufUb/OTGCd+8re22nfdnaXQWlXxJxNSrUOZlJp2UrZbdS51tofXO2l+MMsnp9ct+dpdWEstlAAAsBbQdgsOUpE7y7uO0bQ+WYvZWKp48FKOWoagemKd90bEXIa2g437Lme/jyYLaaeVny+XBnpqd61+X1LDZ8gz5c9usEvlv3Xnz99o/V9RTfaOTaIjwszAQEBAQEBAQKrZnjOL9Ol7BJKIT8N9L0jKwlukhAQEBAQEBAQEBAQMQKXpdso4nDVKas4bKxVUawdgNFftF+UmGGfHyq+ff6e42jQrtvnenmFl1Ip3F7rUXt4WJ4WtznXbTW471jdy6aIpPd3HSDpVQo0WNKpTesRamqkNr2tbgBI0+iy5LbTG0O2ckfCu2BtnGYihXq1CoUZVpMi5Tmv1iNTewKzfU6fFiyRWP+2N72mky9CtifKVPXNenh+nnc83xLG+xPlKnrk9PD9HLN9s77E+UqeuR08M/BzzR2izG9xPlKnrjp4fo5ZfO7O+xPlKnrk9PDHwTfPPyv8Ao/Uc0znJZgxF242sD755+prWt9q+HpaW1pp+UrSc7pICAgICAgIFVszxnF+nS9gklWPKwofS9IysLNskICAgICAgICAgICAgIHOba6HYbEManWp1D4TU+Dd5U6X7516fWZMXbzDK2Ktp3V+E/wBPaCm71Kjj6uig+cjWdF/VcsxtWNiMUQ6PEYdKdDdooVFygAaADMJw1ta195M0RwRMq906N5c0REQotpV0SuSWrbxUDUKVPMUdcrGozJor2I1uQQAtrZtcptaGlaxKBg9oVHwjszqvgoaqiqQqmrVTeKAQSSoXUHS4NyLExNrbEUrya9i4yqcQlNnIpruQQ+8L33NUFXLMbZmyNfj2gC17RaSaVdflXumm8q7R4TdlWs/p/wDgs5s0/k1wRtV4xW3MNTOVqguOIUE29U0ppct43irO+twUna1mzBbXoVTZHBb6puD6jK5NPkx/tDTHqcWT9ZTpi3ICAgICBU7M8Zxfp0vYJJVjysaH0vSMrCzbJCAgICAgICAgICAgICAgIEDbN9y5AJNhYAXPEcppi/eN3PqI/wDnO0OX+U1fqVPwN8J6m2Of7oeVzvttxkGKrcMtW3oP8I445/uhMXyRH6yz8srcctW/ov8ACOGL7g55P4yx8qq69Wrrx6j/AAjhj/lBOTJ/GT5TV+pU/A3wk8cf8oVm2SY/WUp6tf5KRTSpneoQbAhguUX4+a0wiuPrflbs1vOXobRXubF6NKyZ64YE3sng28/O8tqNdaJ2xyrpfTa2jllhT9KsDTwzKaTkHjkJ668wwPZpOvQ5raiJi8NMukrhtE0l1fRjbC4iit2BqgftAOIsSASO+155Ws084csx8PSxW5VhczlaswEBAQKnZnjOL9Ol7BJKseVlS5+cysLNkkICAgICAgICAgICAgICAgVXSHG1aNFqlNAzAE3JACgczzPmE201K5LxFpc+qyWpT8VF0K27iKzNTqAOBrnuoZbk6FeY0PDhpPQ9R0uPFtNJceh1F7ztZ1eLxKU0ao5siglj3DunlUrN52q9OZivlWYfpLh6iVHpFn3YBYZSvE2Fi1hOi2jy45rW3ypW8S0/OZfJVPWvxmvsbfyhPI+c6+SqetfjHsbfyg5HzmXyVT1r8Y9jb+UHI+cy+SqetfjHsbfcHNA2vtChiUyVKNT+VgUDKe0GbYcGXDbetkTxny27O2tRoIKdKg6qO9bk9pN9TK5dNly25Xt3ImI7QlHpOvkqnrX4zK2htEb7rRbdficSzMBAQKnZfjOL9Ol7BJKseVnT5+cysLPckICAgICAgICAgICAgICAga61IMpVhdWBBHaDoY5TWYtHwrMRaNnz3GdG8Zhau9wuZ1+iUIzgfVdT4U9/HrdPqKcc0bS4vbzjtvVpxFPa2LApOlQJcXDqKa+du0euXpbQ6f8AOs7z/wCtdr27S6fZ2wVwuEdL5qj5TUbkdQLDuE83Nq7Z80W8RHhtSsVg+QCW6qVY2JpirUpAAmkU3xLABBUyZLi17nOdOQUkkXF6Tn2NkTDbVw4QFzVuc5sKNUlVDMVzAJ1eqLi4FwL68Y9xCdoS8djKFJipFVsuXMadKo69YXsGVSGe1jkFzYg8JHuIRMMYnHYemCzZyNcu6p1KjEBivgopPhBhpfQX4Sfc/EIlvwT0arOiFiadsxKMFObMAUcgBxdWF1vYgiTGfdOyTXwICse4/wBJbq/Bs6ieYuQF48heSKrZfjOL9Ol7BJKseVmnPzmVWe5IQEBAQEBAQEBAQEBAQEBAxASAtG0CHtdrUXPYB/cJrhje8QhRf7iJ6HQlTdCxCUXYs2a5N2sQA1xTup01X9kht3cZSdNubo2C2dhqVPdJmCWI0yLxFQcEQDhVPLkL3NyYjSpiUlkply+arrbqZhuwcoTPlt4RUKLknhoBckvaky10MPSUsQ1U5joGYEKOvootoL1HbnqewABGl2Ru87JBovVYtdXKikuYtkVS7c1FiTUNxdvPawE001onundYV9oAqR3GX6O3c3Y6XdJnotuKFt5YF3IvlvwAHNpGh0VckTe/htFZlVUtm7WZd7vKoPHKalm/DwHmnTbNoq248WleMTtKy6OdIau8FDEaknKrEWYN9Vh75yavT0iOePw3y6X8OdXYCec4VVsvxnGenS9gklWPK0Tn55Cz1AQEBAQEBAQEBAQEBAQEBAQEBA04vDrURka+VhY2Nj65NbcZ5QhWfNuh21fxzp97lNj5tUO2r+OPe5Ti0Y3YuEpIalRqiovElz+Xae6Xpqc17ca+TigbEpYHFXyNWDDijNZrcmA5ibai2owftBxW3zaodtX8c5ve5TZj5t0O2r+OPeZUcWPm5h+2p+OPd5U8G6tsLCtV3zIDULBixZuItbS9uQlI1GWteMeGnK0RtCxYjheYeO+ysRLkMZ0frnEZwwIJB3hygra3FRxOk7q6iOnxmHr4dZjrh4zHd1uHXKoBYsQNSbXPfppOKe7ybd53V2yvGcZ9pS9gkKQtVkJeoCAgICAgICAgICAgICAgICAgICAgIEDbOzkr0mpsFJIbISL5WI0YdhmuHLOO8WhMTtLgtg1xg65FancjQ6DMhH0lJ5EE/lPY1O+oxxNZehGm6lfxX+1ulKNTK0c+ZhbMRly35jvnnU02073Wwen3i2947M7Dw9Y0Kr1GchwAgck6A6mx7b/lIzzXltVOptjrlrWkeGauDRQWbKqgXJawA85Ogleo060fLU9KlkNQZGQBjdMpvl45Texk9SEdeG75Ctr2AHeAPXHI6zIwA7BpodB/92SOR14FwAPAD1DlxjkTnjZL6N08r4hf5qfsxM8k93Bqb8si9WZOdmAgICAgICAgICAgICAgICAgICAgICAgRMbs2jV/eIrW4E8R9/GXre1fEtKZb0/WUfD7AwqHMKYvyzEt/UybZrz5lrbV5rRtNkrHC1Nvu/qJSPLLF+8IFXIylSAQQbg6g+cGaTG7omszu5XF7JriiVpAg5KaZFbqhVWjnVEDqASwq6gqSecptLOKWhKp7PxG6qAuxq1KYF3bMiupUKy081lHhEgcefKT3Rwsh43Z2K3dQ098HqCzBauoIFEBlvUUZsy1dbjTjewWRtJws6TZWZaYFTw7sW1B4sTy88vG61a22SNim9bEelS9mJW7LLG11uJRmzAQEBAQEBAQEBAQEBAQEBAQEBAQEBAQEBAjY9C1NlXwiNJaGmKYreJlTHBV/q/qX4zaL1d9dRj+WPkVf6v6l+McqnXxM/Iq/wBX9S/GOdTr4j5FX+r+pfjHKp18THyOv9X9S/GJvUnPibujysKmIVhZg9O//Ep98zvO7iz3re29X//Z" id="613" name="Google Shape;613;p66"/>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4" name="Google Shape;614;p66"/>
          <p:cNvSpPr txBox="1"/>
          <p:nvPr>
            <p:ph type="title"/>
          </p:nvPr>
        </p:nvSpPr>
        <p:spPr>
          <a:xfrm>
            <a:off x="304800" y="274637"/>
            <a:ext cx="8610600" cy="6397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1.3. VAI TRÒ CỦA KIỂM THỬ PHẦN MỀM</a:t>
            </a:r>
            <a:endParaRPr/>
          </a:p>
        </p:txBody>
      </p:sp>
      <p:sp>
        <p:nvSpPr>
          <p:cNvPr id="615" name="Google Shape;615;p66"/>
          <p:cNvSpPr txBox="1"/>
          <p:nvPr/>
        </p:nvSpPr>
        <p:spPr>
          <a:xfrm>
            <a:off x="685800" y="990600"/>
            <a:ext cx="8305800" cy="452437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FF0000"/>
              </a:buClr>
              <a:buSzPts val="2400"/>
              <a:buFont typeface="Arial"/>
              <a:buNone/>
            </a:pPr>
            <a:r>
              <a:rPr b="0" i="0" lang="en-US" sz="2400" u="none">
                <a:solidFill>
                  <a:srgbClr val="FF0000"/>
                </a:solidFill>
                <a:latin typeface="Arial"/>
                <a:ea typeface="Arial"/>
                <a:cs typeface="Arial"/>
                <a:sym typeface="Arial"/>
              </a:rPr>
              <a:t>Các mục tiêu chính của kiểm thử phần mềm:</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Phát hiện càng nhiều lỗi càng tốt trong thời gian xác định.</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Chứng minh phần mềm phù hợp với các yêu cầu.</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Xác thực chất lượng kiểm thử phần mềm.</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Tạo các testcase chất lượng, thực hiện kiểm thử hiệu quả và tạo ra các báo cáo đúng.</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KTPM là một phần trong lĩnh vực rộng hơn, đó là Verification &amp; Validation (V &amp;V).</a:t>
            </a:r>
            <a:endParaRPr/>
          </a:p>
        </p:txBody>
      </p:sp>
    </p:spTree>
  </p:cSld>
  <p:clrMapOvr>
    <a:masterClrMapping/>
  </p:clrMapOvr>
  <p:transition advTm="25000">
    <p:randomBar dir="vert"/>
  </p:transition>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67"/>
          <p:cNvSpPr txBox="1"/>
          <p:nvPr/>
        </p:nvSpPr>
        <p:spPr>
          <a:xfrm>
            <a:off x="0" y="2514600"/>
            <a:ext cx="9144000" cy="609600"/>
          </a:xfrm>
          <a:prstGeom prst="rect">
            <a:avLst/>
          </a:prstGeom>
          <a:noFill/>
          <a:ln>
            <a:noFill/>
          </a:ln>
        </p:spPr>
        <p:txBody>
          <a:bodyPr anchorCtr="0" anchor="t" bIns="45700" lIns="91425" spcFirstLastPara="1" rIns="91425" wrap="square" tIns="45700">
            <a:noAutofit/>
          </a:bodyPr>
          <a:lstStyle/>
          <a:p>
            <a:pPr indent="-285750" lvl="1" marL="742950" marR="0" rtl="0" algn="ctr">
              <a:lnSpc>
                <a:spcPct val="100000"/>
              </a:lnSpc>
              <a:spcBef>
                <a:spcPts val="0"/>
              </a:spcBef>
              <a:spcAft>
                <a:spcPts val="0"/>
              </a:spcAft>
              <a:buClr>
                <a:schemeClr val="lt1"/>
              </a:buClr>
              <a:buSzPts val="3200"/>
              <a:buFont typeface="Arial"/>
              <a:buNone/>
            </a:pPr>
            <a:r>
              <a:rPr b="1" i="0" lang="en-US" sz="3200" u="none" cap="none" strike="noStrike">
                <a:solidFill>
                  <a:schemeClr val="lt1"/>
                </a:solidFill>
                <a:latin typeface="Arial"/>
                <a:ea typeface="Arial"/>
                <a:cs typeface="Arial"/>
                <a:sym typeface="Arial"/>
              </a:rPr>
              <a:t>TỔNG QUAN VỀ KIỂM THỬ PHẦN MỀM</a:t>
            </a:r>
            <a:endParaRPr/>
          </a:p>
        </p:txBody>
      </p:sp>
      <p:sp>
        <p:nvSpPr>
          <p:cNvPr id="621" name="Google Shape;621;p67"/>
          <p:cNvSpPr txBox="1"/>
          <p:nvPr/>
        </p:nvSpPr>
        <p:spPr>
          <a:xfrm>
            <a:off x="76200" y="2190750"/>
            <a:ext cx="110807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Bài  1:</a:t>
            </a:r>
            <a:endParaRPr/>
          </a:p>
        </p:txBody>
      </p:sp>
      <p:sp>
        <p:nvSpPr>
          <p:cNvPr id="622" name="Google Shape;622;p67"/>
          <p:cNvSpPr txBox="1"/>
          <p:nvPr/>
        </p:nvSpPr>
        <p:spPr>
          <a:xfrm>
            <a:off x="2767012" y="4343400"/>
            <a:ext cx="4116387" cy="2216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3800"/>
              <a:buFont typeface="Arial"/>
              <a:buNone/>
            </a:pPr>
            <a:r>
              <a:rPr b="1" i="0" lang="en-US" sz="13800" u="none">
                <a:solidFill>
                  <a:srgbClr val="C00000"/>
                </a:solidFill>
                <a:latin typeface="Arial"/>
                <a:ea typeface="Arial"/>
                <a:cs typeface="Arial"/>
                <a:sym typeface="Arial"/>
              </a:rPr>
              <a:t>Q&amp;A</a:t>
            </a:r>
            <a:endParaRPr/>
          </a:p>
        </p:txBody>
      </p:sp>
      <p:pic>
        <p:nvPicPr>
          <p:cNvPr id="623" name="Google Shape;623;p67"/>
          <p:cNvPicPr preferRelativeResize="0"/>
          <p:nvPr/>
        </p:nvPicPr>
        <p:blipFill rotWithShape="1">
          <a:blip r:embed="rId3">
            <a:alphaModFix/>
          </a:blip>
          <a:srcRect b="0" l="0" r="0" t="0"/>
          <a:stretch/>
        </p:blipFill>
        <p:spPr>
          <a:xfrm>
            <a:off x="36512" y="0"/>
            <a:ext cx="3781425" cy="1209675"/>
          </a:xfrm>
          <a:prstGeom prst="rect">
            <a:avLst/>
          </a:prstGeom>
          <a:noFill/>
          <a:ln>
            <a:noFill/>
          </a:ln>
        </p:spPr>
      </p:pic>
      <p:sp>
        <p:nvSpPr>
          <p:cNvPr id="624" name="Google Shape;624;p67"/>
          <p:cNvSpPr txBox="1"/>
          <p:nvPr/>
        </p:nvSpPr>
        <p:spPr>
          <a:xfrm>
            <a:off x="0" y="1371600"/>
            <a:ext cx="9144000" cy="685800"/>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rgbClr val="FF0000"/>
              </a:buClr>
              <a:buSzPts val="4000"/>
              <a:buFont typeface="Arial"/>
              <a:buNone/>
            </a:pPr>
            <a:r>
              <a:rPr b="1" i="0" lang="en-US" sz="4000" u="none">
                <a:solidFill>
                  <a:srgbClr val="FF0000"/>
                </a:solidFill>
                <a:latin typeface="Arial"/>
                <a:ea typeface="Arial"/>
                <a:cs typeface="Arial"/>
                <a:sym typeface="Arial"/>
              </a:rPr>
              <a:t>KIỂM THỬ PHẦN MỀM</a:t>
            </a:r>
            <a:endParaRPr/>
          </a:p>
        </p:txBody>
      </p:sp>
    </p:spTree>
  </p:cSld>
  <p:clrMapOvr>
    <a:masterClrMapping/>
  </p:clrMapOvr>
  <p:transition advTm="25000">
    <p:randomBar dir="vert"/>
  </p:transition>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68"/>
          <p:cNvSpPr txBox="1"/>
          <p:nvPr/>
        </p:nvSpPr>
        <p:spPr>
          <a:xfrm>
            <a:off x="0" y="2514600"/>
            <a:ext cx="9144000" cy="609600"/>
          </a:xfrm>
          <a:prstGeom prst="rect">
            <a:avLst/>
          </a:prstGeom>
          <a:noFill/>
          <a:ln>
            <a:noFill/>
          </a:ln>
        </p:spPr>
        <p:txBody>
          <a:bodyPr anchorCtr="0" anchor="t" bIns="45700" lIns="91425" spcFirstLastPara="1" rIns="91425" wrap="square" tIns="45700">
            <a:noAutofit/>
          </a:bodyPr>
          <a:lstStyle/>
          <a:p>
            <a:pPr indent="-285750" lvl="1" marL="742950" marR="0" rtl="0" algn="ctr">
              <a:lnSpc>
                <a:spcPct val="100000"/>
              </a:lnSpc>
              <a:spcBef>
                <a:spcPts val="0"/>
              </a:spcBef>
              <a:spcAft>
                <a:spcPts val="0"/>
              </a:spcAft>
              <a:buClr>
                <a:schemeClr val="lt1"/>
              </a:buClr>
              <a:buSzPts val="3200"/>
              <a:buFont typeface="Arial"/>
              <a:buNone/>
            </a:pPr>
            <a:r>
              <a:rPr b="1" i="0" lang="en-US" sz="3200" u="none" cap="none" strike="noStrike">
                <a:solidFill>
                  <a:schemeClr val="lt1"/>
                </a:solidFill>
                <a:latin typeface="Arial"/>
                <a:ea typeface="Arial"/>
                <a:cs typeface="Arial"/>
                <a:sym typeface="Arial"/>
              </a:rPr>
              <a:t>TỔNG QUAN VỀ KIỂM THỬ PHẦN MỀM</a:t>
            </a:r>
            <a:endParaRPr/>
          </a:p>
        </p:txBody>
      </p:sp>
      <p:sp>
        <p:nvSpPr>
          <p:cNvPr id="630" name="Google Shape;630;p68"/>
          <p:cNvSpPr txBox="1"/>
          <p:nvPr/>
        </p:nvSpPr>
        <p:spPr>
          <a:xfrm>
            <a:off x="76200" y="2190750"/>
            <a:ext cx="110807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Bài  1:</a:t>
            </a:r>
            <a:endParaRPr/>
          </a:p>
        </p:txBody>
      </p:sp>
      <p:sp>
        <p:nvSpPr>
          <p:cNvPr id="631" name="Google Shape;631;p68"/>
          <p:cNvSpPr txBox="1"/>
          <p:nvPr/>
        </p:nvSpPr>
        <p:spPr>
          <a:xfrm>
            <a:off x="3886200" y="4114800"/>
            <a:ext cx="2871787"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600"/>
              <a:buFont typeface="Arial"/>
              <a:buNone/>
            </a:pPr>
            <a:r>
              <a:rPr b="1" i="0" lang="en-US" sz="3600" u="none">
                <a:solidFill>
                  <a:srgbClr val="C00000"/>
                </a:solidFill>
                <a:latin typeface="Arial"/>
                <a:ea typeface="Arial"/>
                <a:cs typeface="Arial"/>
                <a:sym typeface="Arial"/>
              </a:rPr>
              <a:t>Kiểm tra TN</a:t>
            </a:r>
            <a:endParaRPr/>
          </a:p>
        </p:txBody>
      </p:sp>
      <p:pic>
        <p:nvPicPr>
          <p:cNvPr id="632" name="Google Shape;632;p68"/>
          <p:cNvPicPr preferRelativeResize="0"/>
          <p:nvPr/>
        </p:nvPicPr>
        <p:blipFill rotWithShape="1">
          <a:blip r:embed="rId3">
            <a:alphaModFix/>
          </a:blip>
          <a:srcRect b="0" l="0" r="0" t="0"/>
          <a:stretch/>
        </p:blipFill>
        <p:spPr>
          <a:xfrm>
            <a:off x="36512" y="0"/>
            <a:ext cx="3781425" cy="1209675"/>
          </a:xfrm>
          <a:prstGeom prst="rect">
            <a:avLst/>
          </a:prstGeom>
          <a:noFill/>
          <a:ln>
            <a:noFill/>
          </a:ln>
        </p:spPr>
      </p:pic>
      <p:sp>
        <p:nvSpPr>
          <p:cNvPr id="633" name="Google Shape;633;p68"/>
          <p:cNvSpPr txBox="1"/>
          <p:nvPr/>
        </p:nvSpPr>
        <p:spPr>
          <a:xfrm>
            <a:off x="0" y="1371600"/>
            <a:ext cx="9144000" cy="685800"/>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rgbClr val="FF0000"/>
              </a:buClr>
              <a:buSzPts val="4000"/>
              <a:buFont typeface="Arial"/>
              <a:buNone/>
            </a:pPr>
            <a:r>
              <a:rPr b="1" i="0" lang="en-US" sz="4000" u="none">
                <a:solidFill>
                  <a:srgbClr val="FF0000"/>
                </a:solidFill>
                <a:latin typeface="Arial"/>
                <a:ea typeface="Arial"/>
                <a:cs typeface="Arial"/>
                <a:sym typeface="Arial"/>
              </a:rPr>
              <a:t>KIỂM THỬ PHẦN MỀM</a:t>
            </a:r>
            <a:endParaRPr/>
          </a:p>
        </p:txBody>
      </p:sp>
    </p:spTree>
  </p:cSld>
  <p:clrMapOvr>
    <a:masterClrMapping/>
  </p:clrMapOvr>
  <p:transition advTm="25000">
    <p:randomBar dir="vert"/>
  </p:transition>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69"/>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640" name="Google Shape;640;p69"/>
          <p:cNvSpPr txBox="1"/>
          <p:nvPr/>
        </p:nvSpPr>
        <p:spPr>
          <a:xfrm>
            <a:off x="685800" y="914400"/>
            <a:ext cx="8229600" cy="59088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1/. Kiểm thử phần mềm là:</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Quá trình nhằm chứng minh là phần mềm không có lỗi.</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Quá trình nhằm xác lập độ tin cậy vào chương trình.</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Quá trình thực thi chương trình để chỉ ra là nó làm việc theo đúng đặc tả hệ thống.</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Quá trình thực thi chương trình để cố gắng tìm ra lỗi. </a:t>
            </a:r>
            <a:endParaRPr/>
          </a:p>
        </p:txBody>
      </p:sp>
      <p:sp>
        <p:nvSpPr>
          <p:cNvPr id="641" name="Google Shape;641;p69"/>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70"/>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648" name="Google Shape;648;p70"/>
          <p:cNvSpPr txBox="1"/>
          <p:nvPr/>
        </p:nvSpPr>
        <p:spPr>
          <a:xfrm>
            <a:off x="685800" y="914400"/>
            <a:ext cx="8229600" cy="3324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2/. STLC là viết tắt của từ</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 System Testing Life Cycle.</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B/. Software Testing Life Cycle.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C/. Software Test Life Cycle.</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D/. System Test Life Cycle.</a:t>
            </a:r>
            <a:endParaRPr/>
          </a:p>
        </p:txBody>
      </p:sp>
      <p:sp>
        <p:nvSpPr>
          <p:cNvPr id="649" name="Google Shape;649;p70"/>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71"/>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656" name="Google Shape;656;p71"/>
          <p:cNvSpPr txBox="1"/>
          <p:nvPr/>
        </p:nvSpPr>
        <p:spPr>
          <a:xfrm>
            <a:off x="685800" y="914400"/>
            <a:ext cx="8229600" cy="59088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3/. Verification là:</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chứng xem sản phẩm có đáp ứng với mong đợi của khách hàng không? </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chứng xem sản phẩm có đúng với mong đợi của nhà phát triển không? </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chứng xem sản phẩm có đáp ứng với các ràng buộc của dự án không?</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chứng xem sản phẩm có phù hợp với môi trường hệ điều hành không?</a:t>
            </a:r>
            <a:endParaRPr/>
          </a:p>
        </p:txBody>
      </p:sp>
      <p:sp>
        <p:nvSpPr>
          <p:cNvPr id="657" name="Google Shape;657;p71"/>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72"/>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664" name="Google Shape;664;p72"/>
          <p:cNvSpPr txBox="1"/>
          <p:nvPr/>
        </p:nvSpPr>
        <p:spPr>
          <a:xfrm>
            <a:off x="685800" y="914400"/>
            <a:ext cx="8229600" cy="590867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4/. Validation là:</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Xác nhận xem sản phẩm có đáp ứng với yêu cầu của khách hàng không? </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Xác nhận xem sản phẩm có đúng với yêu cầu của nhà phát triển không?</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Xác nhận xem sản phẩm có đáp ứng với các ràng buộc của dự án không?</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Xác nhận xem sản phẩm có tương thích với môi trường hệ điều hành không?</a:t>
            </a:r>
            <a:endParaRPr/>
          </a:p>
        </p:txBody>
      </p:sp>
      <p:sp>
        <p:nvSpPr>
          <p:cNvPr id="665" name="Google Shape;665;p72"/>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73"/>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672" name="Google Shape;672;p73"/>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5/. Tester cần tố chất nào sau đây:</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 Có óc sáng tạo.</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B/. Giỏi về lập trình.</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C/. Giỏi về phân tích, thiết kế hệ thống.</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D/. Có óc phán đoán tốt.  </a:t>
            </a:r>
            <a:endParaRPr/>
          </a:p>
        </p:txBody>
      </p:sp>
      <p:sp>
        <p:nvSpPr>
          <p:cNvPr id="673" name="Google Shape;673;p73"/>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74"/>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680" name="Google Shape;680;p74"/>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6/.  Kiểm thử phần mềm hướng đến</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 Phát hiện tất cả các lỗi.</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B/. Sửa các lỗi tìm thấy.</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C/. Ngăn ngừa và đề phòng lỗi xảy ra. </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D/. Bảo đảm phần mềm hoàn toàn sạch lỗi.</a:t>
            </a:r>
            <a:endParaRPr/>
          </a:p>
        </p:txBody>
      </p:sp>
      <p:sp>
        <p:nvSpPr>
          <p:cNvPr id="681" name="Google Shape;681;p74"/>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75"/>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688" name="Google Shape;688;p75"/>
          <p:cNvSpPr txBox="1"/>
          <p:nvPr/>
        </p:nvSpPr>
        <p:spPr>
          <a:xfrm>
            <a:off x="685800" y="914400"/>
            <a:ext cx="8229600" cy="56943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7/. Quy trình kiểm thử theo mô hình V gồm các giai đoạn sau:</a:t>
            </a:r>
            <a:endParaRPr/>
          </a:p>
          <a:p>
            <a:pPr indent="0" lvl="0" marL="0" marR="0" rtl="0" algn="just">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Requirements analysis, Test planning, Test execution, Test reporting, Test result analysis. </a:t>
            </a:r>
            <a:endParaRPr/>
          </a:p>
          <a:p>
            <a:pPr indent="0" lvl="0" marL="0" marR="0" rtl="0" algn="just">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Requirements analysis, Test planning, Test execution, Test reporting, Test result analysis, Defect Retesting, Regression testing, Test closure. </a:t>
            </a:r>
            <a:endParaRPr/>
          </a:p>
          <a:p>
            <a:pPr indent="0" lvl="0" marL="0" marR="0" rtl="0" algn="just">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Requirements analysis, Test execution, Test reporting, Test result analysis, Defect Retesting, Regression testing, Test closure.</a:t>
            </a:r>
            <a:endParaRPr/>
          </a:p>
          <a:p>
            <a:pPr indent="0" lvl="0" marL="0" marR="0" rtl="0" algn="just">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Test planning, Test execution, Test reporting, Test result analysis, Defect Retesting, Regression testing, Test closure.</a:t>
            </a:r>
            <a:endParaRPr/>
          </a:p>
        </p:txBody>
      </p:sp>
      <p:sp>
        <p:nvSpPr>
          <p:cNvPr id="689" name="Google Shape;689;p75"/>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76"/>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696" name="Google Shape;696;p76"/>
          <p:cNvSpPr txBox="1"/>
          <p:nvPr/>
        </p:nvSpPr>
        <p:spPr>
          <a:xfrm>
            <a:off x="685800" y="914400"/>
            <a:ext cx="8229600" cy="48323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8/. Kiểm thử tĩnh là:</a:t>
            </a:r>
            <a:endParaRPr/>
          </a:p>
          <a:p>
            <a:pPr indent="0" lvl="0" marL="0" marR="0" rtl="0" algn="just">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Là kiểm thử không cần đến máy tính để chạy chương trình, nó chỉ rà soát mã lệnh, kiểm tra và duyệt qua các yêu cầu phần mềm. </a:t>
            </a:r>
            <a:endParaRPr/>
          </a:p>
          <a:p>
            <a:pPr indent="0" lvl="0" marL="0" marR="0" rtl="0" algn="just">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Là kiểm thử dựa trên đầu vào và đầu ra của chương trình mà không quan tâm tới mã lệnh bên trong.</a:t>
            </a:r>
            <a:endParaRPr/>
          </a:p>
          <a:p>
            <a:pPr indent="0" lvl="0" marL="0" marR="0" rtl="0" algn="just">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Là kiểm thử dựa vào thuật toán, cấu trúc dữ liệu và mã lệnh bên trong của chương trình.</a:t>
            </a:r>
            <a:endParaRPr/>
          </a:p>
          <a:p>
            <a:pPr indent="0" lvl="0" marL="0" marR="0" rtl="0" algn="just">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Là kiểm thử có chạy chương trình với số liệu mẫu ít nhất 1 lần.</a:t>
            </a:r>
            <a:endParaRPr/>
          </a:p>
        </p:txBody>
      </p:sp>
      <p:sp>
        <p:nvSpPr>
          <p:cNvPr id="697" name="Google Shape;697;p76"/>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77"/>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704" name="Google Shape;704;p77"/>
          <p:cNvSpPr txBox="1"/>
          <p:nvPr/>
        </p:nvSpPr>
        <p:spPr>
          <a:xfrm>
            <a:off x="685800" y="914400"/>
            <a:ext cx="8229600" cy="53244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9/. Kiểm thử động là:</a:t>
            </a:r>
            <a:endParaRPr/>
          </a:p>
          <a:p>
            <a:pPr indent="0" lvl="0" marL="0" marR="0" rtl="0" algn="just">
              <a:lnSpc>
                <a:spcPct val="100000"/>
              </a:lnSpc>
              <a:spcBef>
                <a:spcPts val="18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Là kiểm thử có chạy chương trình để kiểm tra khả năng xử lý dữ liệu lỗi.	</a:t>
            </a:r>
            <a:endParaRPr/>
          </a:p>
          <a:p>
            <a:pPr indent="0" lvl="0" marL="0" marR="0" rtl="0" algn="just">
              <a:lnSpc>
                <a:spcPct val="100000"/>
              </a:lnSpc>
              <a:spcBef>
                <a:spcPts val="18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Là kiểm thử có chạy chương trình nhiều lần với nhiều giá trị đầu vào khác nhau.</a:t>
            </a:r>
            <a:endParaRPr/>
          </a:p>
          <a:p>
            <a:pPr indent="0" lvl="0" marL="0" marR="0" rtl="0" algn="just">
              <a:lnSpc>
                <a:spcPct val="100000"/>
              </a:lnSpc>
              <a:spcBef>
                <a:spcPts val="18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Là kiểm thử có chạy chương trình với các giá trị đầu vào ít nhất 1 lần.</a:t>
            </a:r>
            <a:endParaRPr/>
          </a:p>
          <a:p>
            <a:pPr indent="0" lvl="0" marL="0" marR="0" rtl="0" algn="just">
              <a:lnSpc>
                <a:spcPct val="100000"/>
              </a:lnSpc>
              <a:spcBef>
                <a:spcPts val="18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Là kiểm thử liên quan đến chạy chương trình với các giá trị đầu vào và kiểm tra đầu ra có được như mong đợi với các Test case cụ thể không. </a:t>
            </a:r>
            <a:endParaRPr/>
          </a:p>
        </p:txBody>
      </p:sp>
      <p:sp>
        <p:nvSpPr>
          <p:cNvPr id="705" name="Google Shape;705;p77"/>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78"/>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712" name="Google Shape;712;p78"/>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10/. QA là viết tắt của từ: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 Quality Assure.</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B/. Quality Assurance.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C/. Quantity Assurance.</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D/. Quality Assure.</a:t>
            </a:r>
            <a:endParaRPr/>
          </a:p>
        </p:txBody>
      </p:sp>
      <p:sp>
        <p:nvSpPr>
          <p:cNvPr id="713" name="Google Shape;713;p78"/>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79"/>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720" name="Google Shape;720;p79"/>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11/. QC là viết tắt của từ:</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Quality Control.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Quantity Computer.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Quantity Control.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Quality Computer.</a:t>
            </a:r>
            <a:endParaRPr/>
          </a:p>
        </p:txBody>
      </p:sp>
      <p:sp>
        <p:nvSpPr>
          <p:cNvPr id="721" name="Google Shape;721;p79"/>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80"/>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728" name="Google Shape;728;p80"/>
          <p:cNvSpPr txBox="1"/>
          <p:nvPr/>
        </p:nvSpPr>
        <p:spPr>
          <a:xfrm>
            <a:off x="685800" y="914400"/>
            <a:ext cx="8229600" cy="5448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12/. Black box testing là:</a:t>
            </a:r>
            <a:endParaRPr/>
          </a:p>
          <a:p>
            <a:pPr indent="0" lvl="0" marL="0" marR="0" rtl="0" algn="just">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Là phương pháp kiểm thử dựa trên đầu vào, đầu ra không quan tâm tới mã lệnh của chương trình. </a:t>
            </a:r>
            <a:endParaRPr/>
          </a:p>
          <a:p>
            <a:pPr indent="0" lvl="0" marL="0" marR="0" rtl="0" algn="just">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Là phương pháp kiểm thử dựa vào thuật toán, cấu trúc dữ liệu và mã lệnh bên trong của chương trình.</a:t>
            </a:r>
            <a:endParaRPr/>
          </a:p>
          <a:p>
            <a:pPr indent="0" lvl="0" marL="0" marR="0" rtl="0" algn="just">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Là phương pháp kiểm thử dựa trên đầu vào, đầu ra và mã lệnh bên trong chương trình.</a:t>
            </a:r>
            <a:endParaRPr/>
          </a:p>
          <a:p>
            <a:pPr indent="0" lvl="0" marL="0" marR="0" rtl="0" algn="just">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Là phương pháp kiểm thử dựa trên đầu vào, đầu ra ứng với các vùng giá trị.</a:t>
            </a:r>
            <a:endParaRPr/>
          </a:p>
        </p:txBody>
      </p:sp>
      <p:sp>
        <p:nvSpPr>
          <p:cNvPr id="729" name="Google Shape;729;p80"/>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81"/>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736" name="Google Shape;736;p81"/>
          <p:cNvSpPr txBox="1"/>
          <p:nvPr/>
        </p:nvSpPr>
        <p:spPr>
          <a:xfrm>
            <a:off x="685800" y="914400"/>
            <a:ext cx="8229600" cy="501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13/. White box testing là:</a:t>
            </a:r>
            <a:endParaRPr/>
          </a:p>
          <a:p>
            <a:pPr indent="0" lvl="0" marL="0" marR="0" rtl="0" algn="just">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Là phương pháp kiểm thử dựa trên đầu vào, đầu ra không quan tâm tới mã lệnh của chương trình. </a:t>
            </a:r>
            <a:endParaRPr/>
          </a:p>
          <a:p>
            <a:pPr indent="0" lvl="0" marL="0" marR="0" rtl="0" algn="just">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Là phương pháp kiểm thử dựa vào thuật toán, cấu trúc dữ liệu và mã lệnh của chương trình. </a:t>
            </a:r>
            <a:endParaRPr/>
          </a:p>
          <a:p>
            <a:pPr indent="0" lvl="0" marL="0" marR="0" rtl="0" algn="just">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Là phương pháp kiểm thử dựa trên đầu vào, đầu ra và mã lệnh của chương trình.</a:t>
            </a:r>
            <a:endParaRPr/>
          </a:p>
          <a:p>
            <a:pPr indent="0" lvl="0" marL="0" marR="0" rtl="0" algn="just">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Là phương pháp kiểm thử dựa trên đầu vào, đầu ra ứng với các giá trị biên.</a:t>
            </a:r>
            <a:endParaRPr/>
          </a:p>
        </p:txBody>
      </p:sp>
      <p:sp>
        <p:nvSpPr>
          <p:cNvPr id="737" name="Google Shape;737;p81"/>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82"/>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744" name="Google Shape;744;p82"/>
          <p:cNvSpPr txBox="1"/>
          <p:nvPr/>
        </p:nvSpPr>
        <p:spPr>
          <a:xfrm>
            <a:off x="685800" y="914400"/>
            <a:ext cx="8229600" cy="501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14/. Grey box testing là:</a:t>
            </a:r>
            <a:endParaRPr/>
          </a:p>
          <a:p>
            <a:pPr indent="0" lvl="0" marL="0" marR="0" rtl="0" algn="just">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Là phương pháp kiểm thử dựa trên đầu vào, đầu ra không quan tâm tới mã lệnh của chương trình. </a:t>
            </a:r>
            <a:endParaRPr/>
          </a:p>
          <a:p>
            <a:pPr indent="0" lvl="0" marL="0" marR="0" rtl="0" algn="just">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Là phương pháp kiểm thử dựa vào thuật toán, cấu trúc dữ liệu và mã lệnh của chương trình. </a:t>
            </a:r>
            <a:endParaRPr/>
          </a:p>
          <a:p>
            <a:pPr indent="0" lvl="0" marL="0" marR="0" rtl="0" algn="just">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Là phương pháp kết hợp giữa Black box testing và White box testing. </a:t>
            </a:r>
            <a:endParaRPr/>
          </a:p>
          <a:p>
            <a:pPr indent="0" lvl="0" marL="0" marR="0" rtl="0" algn="just">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Là phương pháp kiểm thử thủ công dựa trên khả năng đoán lỗi của Tester.</a:t>
            </a:r>
            <a:endParaRPr/>
          </a:p>
        </p:txBody>
      </p:sp>
      <p:sp>
        <p:nvSpPr>
          <p:cNvPr id="745" name="Google Shape;745;p82"/>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83"/>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752" name="Google Shape;752;p83"/>
          <p:cNvSpPr txBox="1"/>
          <p:nvPr/>
        </p:nvSpPr>
        <p:spPr>
          <a:xfrm>
            <a:off x="685800" y="914400"/>
            <a:ext cx="8229600" cy="590867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15/. Functional testing là:</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các hàm của chương trình có thực hiện đúng không?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các hàm của chương trình có bị lỗi không?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các chức năng cơ bản, quy trình nghiệp vụ có đáp ứng yêu cầu của người sử dụng không.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để chấp nhận sản phẩm.</a:t>
            </a:r>
            <a:endParaRPr/>
          </a:p>
        </p:txBody>
      </p:sp>
      <p:sp>
        <p:nvSpPr>
          <p:cNvPr id="753" name="Google Shape;753;p83"/>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84"/>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760" name="Google Shape;760;p84"/>
          <p:cNvSpPr txBox="1"/>
          <p:nvPr/>
        </p:nvSpPr>
        <p:spPr>
          <a:xfrm>
            <a:off x="685800" y="914400"/>
            <a:ext cx="8229600" cy="397033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16/. Unit testing là:</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các đơn vị chương trình như: Function, Procedure, Class, Method,...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các Module chương trình.</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tích hợp các đơn vị chương trình.</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toàn bộ hệ thống.</a:t>
            </a:r>
            <a:endParaRPr/>
          </a:p>
        </p:txBody>
      </p:sp>
      <p:sp>
        <p:nvSpPr>
          <p:cNvPr id="761" name="Google Shape;761;p84"/>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85"/>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768" name="Google Shape;768;p85"/>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17/. Unit testing được thực hiện bởi:</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 Phân tích viên.</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B/. Nhân viên kiểm thử.</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C/. Kỹ sư công nghệ.</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D/. Lập trình viên. </a:t>
            </a:r>
            <a:endParaRPr/>
          </a:p>
        </p:txBody>
      </p:sp>
      <p:sp>
        <p:nvSpPr>
          <p:cNvPr id="769" name="Google Shape;769;p85"/>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86"/>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776" name="Google Shape;776;p86"/>
          <p:cNvSpPr txBox="1"/>
          <p:nvPr/>
        </p:nvSpPr>
        <p:spPr>
          <a:xfrm>
            <a:off x="685800" y="914400"/>
            <a:ext cx="8229600" cy="590867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18/. Alpha test là:</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trước khi xuất ra thị trường với phiên bản đầu tiên.</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ngay tại nơi phát triển phần mềm bởi 1 nhóm kiểm thử độc lập.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sau khi phát hiện các lỗi và đã sửa lỗi.</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tích hợp bởi 1 nhóm kiểm thử độc lập.</a:t>
            </a:r>
            <a:endParaRPr/>
          </a:p>
        </p:txBody>
      </p:sp>
      <p:sp>
        <p:nvSpPr>
          <p:cNvPr id="777" name="Google Shape;777;p86"/>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87"/>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784" name="Google Shape;784;p87"/>
          <p:cNvSpPr txBox="1"/>
          <p:nvPr/>
        </p:nvSpPr>
        <p:spPr>
          <a:xfrm>
            <a:off x="685800" y="914400"/>
            <a:ext cx="8229600" cy="501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19/. Beta test là:</a:t>
            </a:r>
            <a:endParaRPr/>
          </a:p>
          <a:p>
            <a:pPr indent="0" lvl="0" marL="0" marR="0" rtl="0" algn="l">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trước khi xuất ra thị trường với phiên bản thứ 2, 3.</a:t>
            </a:r>
            <a:endParaRPr/>
          </a:p>
          <a:p>
            <a:pPr indent="0" lvl="0" marL="0" marR="0" rtl="0" algn="l">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sau khi phát hiện các lỗi và đã sửa lỗi.</a:t>
            </a:r>
            <a:endParaRPr/>
          </a:p>
          <a:p>
            <a:pPr indent="0" lvl="0" marL="0" marR="0" rtl="0" algn="l">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tích hợp bởi 1 nhóm kiểm thử độc lập.</a:t>
            </a:r>
            <a:endParaRPr/>
          </a:p>
          <a:p>
            <a:pPr indent="0" lvl="0" marL="0" marR="0" rtl="0" algn="l">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bởi người sử dụng tiềm năng trong môi trường thực tế,  và mọi phản hồi sẽ gửi trả về nhà phát triển phần mềm. </a:t>
            </a:r>
            <a:endParaRPr/>
          </a:p>
        </p:txBody>
      </p:sp>
      <p:sp>
        <p:nvSpPr>
          <p:cNvPr id="785" name="Google Shape;785;p87"/>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88"/>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792" name="Google Shape;792;p88"/>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20/. Reliability testing là: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hiệu quả.</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độ tin cậy.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khả năng bảo trì.</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an ninh, bảo mật.</a:t>
            </a:r>
            <a:endParaRPr/>
          </a:p>
        </p:txBody>
      </p:sp>
      <p:sp>
        <p:nvSpPr>
          <p:cNvPr id="793" name="Google Shape;793;p88"/>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89"/>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800" name="Google Shape;800;p89"/>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21/. Usability testing là: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 Kiểm thử khả năng sử dụng.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B/. Kiểm thử độ tin cậy.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C/. Kiểm thử khả năng bảo trì.</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D/. Kiểm thử khả năng tương thích.</a:t>
            </a:r>
            <a:endParaRPr/>
          </a:p>
        </p:txBody>
      </p:sp>
      <p:sp>
        <p:nvSpPr>
          <p:cNvPr id="801" name="Google Shape;801;p89"/>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90"/>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808" name="Google Shape;808;p90"/>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22/. Efficiency testing là: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khả năng tương thích.</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hiệu quả.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chịu tải.</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độ tin cậy.</a:t>
            </a:r>
            <a:endParaRPr/>
          </a:p>
        </p:txBody>
      </p:sp>
      <p:sp>
        <p:nvSpPr>
          <p:cNvPr id="809" name="Google Shape;809;p90"/>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91"/>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816" name="Google Shape;816;p91"/>
          <p:cNvSpPr txBox="1"/>
          <p:nvPr/>
        </p:nvSpPr>
        <p:spPr>
          <a:xfrm>
            <a:off x="685800" y="914400"/>
            <a:ext cx="8229600" cy="3324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23/. Maintainability testing là: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khả năng bảo trì.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cơ sở.</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tài liệu.</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quá tải.</a:t>
            </a:r>
            <a:endParaRPr/>
          </a:p>
        </p:txBody>
      </p:sp>
      <p:sp>
        <p:nvSpPr>
          <p:cNvPr id="817" name="Google Shape;817;p91"/>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92"/>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824" name="Google Shape;824;p92"/>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24/. Compatibility testing là: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quá tải.</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khả năng tương thích.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khả năng bảo trì.</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độ tin cậy.</a:t>
            </a:r>
            <a:endParaRPr/>
          </a:p>
        </p:txBody>
      </p:sp>
      <p:sp>
        <p:nvSpPr>
          <p:cNvPr id="825" name="Google Shape;825;p92"/>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93"/>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832" name="Google Shape;832;p93"/>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25/. Documentation testing là: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khả năng sử dụng.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khả năng tương thích.</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tài liệu.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sức chịu đựng.</a:t>
            </a:r>
            <a:endParaRPr/>
          </a:p>
        </p:txBody>
      </p:sp>
      <p:sp>
        <p:nvSpPr>
          <p:cNvPr id="833" name="Google Shape;833;p93"/>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94"/>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840" name="Google Shape;840;p94"/>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26/. Endurance testing là: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sức chịu đựng.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khả năng sử dụng.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quá tải.</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chịu tải.</a:t>
            </a:r>
            <a:endParaRPr/>
          </a:p>
        </p:txBody>
      </p:sp>
      <p:sp>
        <p:nvSpPr>
          <p:cNvPr id="841" name="Google Shape;841;p94"/>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95"/>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848" name="Google Shape;848;p95"/>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27/. Load testing là: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khả năng sử dụng.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quá tải.</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chịu tải.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an ninh, bảo mật.</a:t>
            </a:r>
            <a:endParaRPr/>
          </a:p>
        </p:txBody>
      </p:sp>
      <p:sp>
        <p:nvSpPr>
          <p:cNvPr id="849" name="Google Shape;849;p95"/>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96"/>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856" name="Google Shape;856;p96"/>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28/. Performance testing: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sức chịu đựng.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quá tải.</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khả năng sử dụng.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hiệu suất.  </a:t>
            </a:r>
            <a:endParaRPr/>
          </a:p>
        </p:txBody>
      </p:sp>
      <p:sp>
        <p:nvSpPr>
          <p:cNvPr id="857" name="Google Shape;857;p96"/>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97"/>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864" name="Google Shape;864;p97"/>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29/. Security testing là: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an ninh, bảo mật.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tài liệu.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hiệu quả.</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khả năng sử dụng.</a:t>
            </a:r>
            <a:endParaRPr/>
          </a:p>
        </p:txBody>
      </p:sp>
      <p:sp>
        <p:nvSpPr>
          <p:cNvPr id="865" name="Google Shape;865;p97"/>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98"/>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872" name="Google Shape;872;p98"/>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30/. Scalability testing là: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khả năng mở rộng.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quá tải.</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chịu tải.</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độ tin cậy.</a:t>
            </a:r>
            <a:endParaRPr/>
          </a:p>
        </p:txBody>
      </p:sp>
      <p:sp>
        <p:nvSpPr>
          <p:cNvPr id="873" name="Google Shape;873;p98"/>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99"/>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880" name="Google Shape;880;p99"/>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31/. Volume testing là :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quá tải.</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hiệu quả.</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khối lượng dữ liệu.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độ tin cậy.</a:t>
            </a:r>
            <a:endParaRPr/>
          </a:p>
        </p:txBody>
      </p:sp>
      <p:sp>
        <p:nvSpPr>
          <p:cNvPr id="881" name="Google Shape;881;p99"/>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00"/>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888" name="Google Shape;888;p100"/>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32/. Stress testing là: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chịu tải.</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quá tải.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hiệu quả.</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khả năng sử dụng.</a:t>
            </a:r>
            <a:endParaRPr/>
          </a:p>
        </p:txBody>
      </p:sp>
      <p:sp>
        <p:nvSpPr>
          <p:cNvPr id="889" name="Google Shape;889;p100"/>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101"/>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896" name="Google Shape;896;p101"/>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33/. Recovery testing là: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quá tải.</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khả năng sử dụng.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phục hồi.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khả năng mở rộng.</a:t>
            </a:r>
            <a:endParaRPr/>
          </a:p>
        </p:txBody>
      </p:sp>
      <p:sp>
        <p:nvSpPr>
          <p:cNvPr id="897" name="Google Shape;897;p101"/>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102"/>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904" name="Google Shape;904;p102"/>
          <p:cNvSpPr txBox="1"/>
          <p:nvPr/>
        </p:nvSpPr>
        <p:spPr>
          <a:xfrm>
            <a:off x="685800" y="914400"/>
            <a:ext cx="8229600" cy="397033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34/. Kiểm thử cấu trúc thường (Structural testing) là 1 hình thức khác của:</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 White box testing.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B/. Black box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C/. Unit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D/. Grey box testing.</a:t>
            </a:r>
            <a:endParaRPr/>
          </a:p>
        </p:txBody>
      </p:sp>
      <p:sp>
        <p:nvSpPr>
          <p:cNvPr id="905" name="Google Shape;905;p102"/>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103"/>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912" name="Google Shape;912;p103"/>
          <p:cNvSpPr txBox="1"/>
          <p:nvPr/>
        </p:nvSpPr>
        <p:spPr>
          <a:xfrm>
            <a:off x="685800" y="914400"/>
            <a:ext cx="8229600" cy="5908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35/. Automated testing là:</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thủ công bằng cách đoán lỗi.</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S</a:t>
            </a:r>
            <a:r>
              <a:rPr b="0" i="0" lang="en-US" sz="2800" u="none">
                <a:solidFill>
                  <a:schemeClr val="dk1"/>
                </a:solidFill>
                <a:latin typeface="Arial"/>
                <a:ea typeface="Arial"/>
                <a:cs typeface="Arial"/>
                <a:sym typeface="Arial"/>
              </a:rPr>
              <a:t>ử dụng phần mề</a:t>
            </a:r>
            <a:r>
              <a:rPr b="0" i="0" lang="en-US" sz="2800" u="none">
                <a:solidFill>
                  <a:schemeClr val="dk1"/>
                </a:solidFill>
                <a:latin typeface="Arial"/>
                <a:ea typeface="Arial"/>
                <a:cs typeface="Arial"/>
                <a:sym typeface="Arial"/>
              </a:rPr>
              <a:t>m đặc biệt nhằm tự động thực hiện các Test case và so sánh kết quả thực tế với kết quả dự đoán.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tập trung vào các chức năng quan trọng của hệ thống và không quan tâm đến kiểm tra chi tiết.</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tuân thủ các tiêu chuẩn quốc tế.</a:t>
            </a:r>
            <a:endParaRPr/>
          </a:p>
        </p:txBody>
      </p:sp>
      <p:sp>
        <p:nvSpPr>
          <p:cNvPr id="913" name="Google Shape;913;p103"/>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104"/>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920" name="Google Shape;920;p104"/>
          <p:cNvSpPr txBox="1"/>
          <p:nvPr/>
        </p:nvSpPr>
        <p:spPr>
          <a:xfrm>
            <a:off x="685800" y="914400"/>
            <a:ext cx="8229600" cy="397033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36/. Kiểm thử hộp kính (Glass box testing) còn được là:</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 Black box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B/. Unit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C/. Grey box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D/. White box testing. </a:t>
            </a:r>
            <a:endParaRPr/>
          </a:p>
        </p:txBody>
      </p:sp>
      <p:sp>
        <p:nvSpPr>
          <p:cNvPr id="921" name="Google Shape;921;p104"/>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05"/>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928" name="Google Shape;928;p105"/>
          <p:cNvSpPr txBox="1"/>
          <p:nvPr/>
        </p:nvSpPr>
        <p:spPr>
          <a:xfrm>
            <a:off x="685800" y="914400"/>
            <a:ext cx="8229600" cy="46164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37/. Integration testing là:</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Là Unit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Là Volume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Là kiểm thử tích hợp, nó kết hợp các thành phần của phần mềm và kiểm thử như một ứng dụng đã hoàn thành.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Là Kiểm thử toàn bộ hệ thống.</a:t>
            </a:r>
            <a:endParaRPr/>
          </a:p>
        </p:txBody>
      </p:sp>
      <p:sp>
        <p:nvSpPr>
          <p:cNvPr id="929" name="Google Shape;929;p105"/>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06"/>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936" name="Google Shape;936;p106"/>
          <p:cNvSpPr txBox="1"/>
          <p:nvPr/>
        </p:nvSpPr>
        <p:spPr>
          <a:xfrm>
            <a:off x="685800" y="914400"/>
            <a:ext cx="8229600" cy="41544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38/. System testing là:</a:t>
            </a:r>
            <a:endParaRPr/>
          </a:p>
          <a:p>
            <a:pPr indent="0" lvl="0" marL="0" marR="0" rtl="0" algn="l">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phần cứng và phần mềm của hệ thống.</a:t>
            </a:r>
            <a:endParaRPr/>
          </a:p>
          <a:p>
            <a:pPr indent="0" lvl="0" marL="0" marR="0" rtl="0" algn="l">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tích hợp lần cuối trước khi phát hành.</a:t>
            </a:r>
            <a:endParaRPr/>
          </a:p>
          <a:p>
            <a:pPr indent="0" lvl="0" marL="0" marR="0" rtl="0" algn="l">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sau khi có 1 thay đổi được cập nhật.</a:t>
            </a:r>
            <a:endParaRPr/>
          </a:p>
          <a:p>
            <a:pPr indent="0" lvl="0" marL="0" marR="0" rtl="0" algn="l">
              <a:lnSpc>
                <a:spcPct val="100000"/>
              </a:lnSpc>
              <a:spcBef>
                <a:spcPts val="12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tra các thiết kế và toàn bộ hệ thống (sau khi đã kiểm thử tích hợp) có thỏa mãn yêu cầu đặt ra hay không?  </a:t>
            </a:r>
            <a:endParaRPr/>
          </a:p>
        </p:txBody>
      </p:sp>
      <p:sp>
        <p:nvSpPr>
          <p:cNvPr id="937" name="Google Shape;937;p106"/>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107"/>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944" name="Google Shape;944;p107"/>
          <p:cNvSpPr txBox="1"/>
          <p:nvPr/>
        </p:nvSpPr>
        <p:spPr>
          <a:xfrm>
            <a:off x="685800" y="914400"/>
            <a:ext cx="8229600" cy="526256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39/. Chọn phát biểu đúng?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Mô hình kiểm thử phần mềm độc lập với mô hình phát triển phần mềm.</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Mô hình kiểm thử phần mềm phụ thuộc vào mô hình phát triển phần mềm.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Chỉ có một mô hình kiểm thử phần mềm chữ V.</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Không cần thiết có mô hình kiểm thử phần mềm.</a:t>
            </a:r>
            <a:endParaRPr/>
          </a:p>
        </p:txBody>
      </p:sp>
      <p:sp>
        <p:nvSpPr>
          <p:cNvPr id="945" name="Google Shape;945;p107"/>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108"/>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952" name="Google Shape;952;p108"/>
          <p:cNvSpPr txBox="1"/>
          <p:nvPr/>
        </p:nvSpPr>
        <p:spPr>
          <a:xfrm>
            <a:off x="685800" y="914400"/>
            <a:ext cx="8229600" cy="526256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40/. Kiểm thử hồi quy (Regression testing) thường có liên quan nhiều đến:</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Kiểm thử chức năng.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dòng dữ liệu.</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khi phát triển hệ thống (Development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trong lúc bảo trì (Maintenance testing) </a:t>
            </a:r>
            <a:endParaRPr/>
          </a:p>
        </p:txBody>
      </p:sp>
      <p:sp>
        <p:nvSpPr>
          <p:cNvPr id="953" name="Google Shape;953;p108"/>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109"/>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960" name="Google Shape;960;p109"/>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41/. Kiểm thử mã lệnh là</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 Black box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B/. Red box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C/. White box testing.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D/. Grey box testing.</a:t>
            </a:r>
            <a:endParaRPr/>
          </a:p>
        </p:txBody>
      </p:sp>
      <p:sp>
        <p:nvSpPr>
          <p:cNvPr id="961" name="Google Shape;961;p109"/>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10"/>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968" name="Google Shape;968;p110"/>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42/. Acceptance testing được hiểu là:</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Grey box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White box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Alpha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Beta testing. </a:t>
            </a:r>
            <a:endParaRPr/>
          </a:p>
        </p:txBody>
      </p:sp>
      <p:sp>
        <p:nvSpPr>
          <p:cNvPr id="969" name="Google Shape;969;p110"/>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11"/>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976" name="Google Shape;976;p111"/>
          <p:cNvSpPr txBox="1"/>
          <p:nvPr/>
        </p:nvSpPr>
        <p:spPr>
          <a:xfrm>
            <a:off x="685800" y="914400"/>
            <a:ext cx="8229600" cy="397033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43/. Mục nào là kiểm thử phi chức năng (non-functional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Black box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Performance testing.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Unit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Alpha Testing.</a:t>
            </a:r>
            <a:endParaRPr/>
          </a:p>
        </p:txBody>
      </p:sp>
      <p:sp>
        <p:nvSpPr>
          <p:cNvPr id="977" name="Google Shape;977;p111"/>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112"/>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984" name="Google Shape;984;p112"/>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44/. Behavioral testing là:</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White box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Black box testing.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Grey box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Red box testing.</a:t>
            </a:r>
            <a:endParaRPr/>
          </a:p>
        </p:txBody>
      </p:sp>
      <p:sp>
        <p:nvSpPr>
          <p:cNvPr id="985" name="Google Shape;985;p112"/>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113"/>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992" name="Google Shape;992;p113"/>
          <p:cNvSpPr txBox="1"/>
          <p:nvPr/>
        </p:nvSpPr>
        <p:spPr>
          <a:xfrm>
            <a:off x="685800" y="914400"/>
            <a:ext cx="8229600" cy="397033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45/. Kiểm thử phần mềm với số liệu thật trong môi trường thực tế gọi là:</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Alpha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Beta testing.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Regression testing.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Volume testing.</a:t>
            </a:r>
            <a:endParaRPr/>
          </a:p>
        </p:txBody>
      </p:sp>
      <p:sp>
        <p:nvSpPr>
          <p:cNvPr id="993" name="Google Shape;993;p113"/>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115"/>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1000" name="Google Shape;1000;p115"/>
          <p:cNvSpPr txBox="1"/>
          <p:nvPr/>
        </p:nvSpPr>
        <p:spPr>
          <a:xfrm>
            <a:off x="685800" y="914400"/>
            <a:ext cx="8229600" cy="526256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47/. Beta testing là</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Một hình thức mở rộng của kiểm thử mức chấp nhận của người dùng.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Kiểm thử hiệu suất phần mềm.</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Kiểm thử xem giao diện có tiện dụng và dễ hiểu với người dùng không.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Kiểm thử sự phá hủy, bằng cách cố gắng làm hỏng phần mềm hoặc một hệ thống con.</a:t>
            </a:r>
            <a:endParaRPr/>
          </a:p>
        </p:txBody>
      </p:sp>
      <p:sp>
        <p:nvSpPr>
          <p:cNvPr id="1001" name="Google Shape;1001;p115"/>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116"/>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1008" name="Google Shape;1008;p116"/>
          <p:cNvSpPr txBox="1"/>
          <p:nvPr/>
        </p:nvSpPr>
        <p:spPr>
          <a:xfrm>
            <a:off x="685800" y="914400"/>
            <a:ext cx="8229600" cy="461645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48/. Để kiểm tra việc phát triển 1 phần mềm thỏa có phù hợp với yêu cầu của khách hàng hay không, đó là các quá trình nào?</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Verification, Validation.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Validation , Verification.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Quality Assurance, Verification.</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Quality Control, Verification.</a:t>
            </a:r>
            <a:endParaRPr/>
          </a:p>
        </p:txBody>
      </p:sp>
      <p:sp>
        <p:nvSpPr>
          <p:cNvPr id="1009" name="Google Shape;1009;p116"/>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117"/>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1016" name="Google Shape;1016;p117"/>
          <p:cNvSpPr txBox="1"/>
          <p:nvPr/>
        </p:nvSpPr>
        <p:spPr>
          <a:xfrm>
            <a:off x="685800" y="914400"/>
            <a:ext cx="8229600" cy="397033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49/. Thử nghiệm nào duyệt qua các mã lệnh của phần mềm:</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Unit testing.</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Black box testing.</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White box testing.  </a:t>
            </a:r>
            <a:endParaRPr/>
          </a:p>
          <a:p>
            <a:pPr indent="0" lvl="0" marL="0" marR="0" rtl="0" algn="just">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Regression testing</a:t>
            </a:r>
            <a:endParaRPr/>
          </a:p>
        </p:txBody>
      </p:sp>
      <p:sp>
        <p:nvSpPr>
          <p:cNvPr id="1017" name="Google Shape;1017;p117"/>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118"/>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1024" name="Google Shape;1024;p118"/>
          <p:cNvSpPr txBox="1"/>
          <p:nvPr/>
        </p:nvSpPr>
        <p:spPr>
          <a:xfrm>
            <a:off x="685800" y="914400"/>
            <a:ext cx="8229600" cy="33242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50/. Mật độ lỗi (defect density) dùng để đo lường</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 Chất lượng sản phẩm cuối. </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B/. Dự án phần mềm.</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 Độ phức tạp của code.</a:t>
            </a:r>
            <a:endParaRPr/>
          </a:p>
          <a:p>
            <a:pPr indent="0" lvl="0" marL="0" marR="0" rtl="0" algn="l">
              <a:lnSpc>
                <a:spcPct val="15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 Chất lượng bảo trì.</a:t>
            </a:r>
            <a:endParaRPr/>
          </a:p>
        </p:txBody>
      </p:sp>
      <p:sp>
        <p:nvSpPr>
          <p:cNvPr id="1025" name="Google Shape;1025;p118"/>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KIỂM THỬ PHẦN MỀM</a:t>
            </a:r>
            <a:endParaRPr/>
          </a:p>
        </p:txBody>
      </p:sp>
    </p:spTree>
  </p:cSld>
  <p:clrMapOvr>
    <a:masterClrMapping/>
  </p:clrMapOvr>
  <p:transition advTm="25000">
    <p:randomBar dir="vert"/>
  </p:transition>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119"/>
          <p:cNvSpPr txBox="1"/>
          <p:nvPr/>
        </p:nvSpPr>
        <p:spPr>
          <a:xfrm>
            <a:off x="8229600" y="6324600"/>
            <a:ext cx="4572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Arial"/>
              <a:buNone/>
            </a:pPr>
            <a:fld id="{00000000-1234-1234-1234-123412341234}" type="slidenum">
              <a:rPr b="1" i="0" lang="en-US" sz="1600" u="none">
                <a:solidFill>
                  <a:schemeClr val="lt1"/>
                </a:solidFill>
                <a:latin typeface="Arial"/>
                <a:ea typeface="Arial"/>
                <a:cs typeface="Arial"/>
                <a:sym typeface="Arial"/>
              </a:rPr>
              <a:t>‹#›</a:t>
            </a:fld>
            <a:endParaRPr/>
          </a:p>
        </p:txBody>
      </p:sp>
      <p:sp>
        <p:nvSpPr>
          <p:cNvPr id="1032" name="Google Shape;1032;p119"/>
          <p:cNvSpPr txBox="1"/>
          <p:nvPr>
            <p:ph type="title"/>
          </p:nvPr>
        </p:nvSpPr>
        <p:spPr>
          <a:xfrm>
            <a:off x="304800" y="304800"/>
            <a:ext cx="7620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TRẮC NGHIỆM VỀ QUY TRÌNH PHÁT TRIỂN PM</a:t>
            </a:r>
            <a:endParaRPr/>
          </a:p>
        </p:txBody>
      </p:sp>
      <p:sp>
        <p:nvSpPr>
          <p:cNvPr id="1033" name="Google Shape;1033;p119"/>
          <p:cNvSpPr txBox="1"/>
          <p:nvPr/>
        </p:nvSpPr>
        <p:spPr>
          <a:xfrm>
            <a:off x="914400" y="1219200"/>
            <a:ext cx="7772400" cy="2514600"/>
          </a:xfrm>
          <a:prstGeom prst="rect">
            <a:avLst/>
          </a:prstGeom>
          <a:noFill/>
          <a:ln>
            <a:noFill/>
          </a:ln>
        </p:spPr>
        <p:txBody>
          <a:bodyPr anchorCtr="0" anchor="ctr" bIns="91425"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1034" name="Google Shape;1034;p119"/>
          <p:cNvGraphicFramePr/>
          <p:nvPr/>
        </p:nvGraphicFramePr>
        <p:xfrm>
          <a:off x="762000" y="1566862"/>
          <a:ext cx="3000000" cy="3000000"/>
        </p:xfrm>
        <a:graphic>
          <a:graphicData uri="http://schemas.openxmlformats.org/drawingml/2006/table">
            <a:tbl>
              <a:tblPr>
                <a:noFill/>
                <a:tableStyleId>{050E6997-ECCD-4BAB-849E-128523D4728A}</a:tableStyleId>
              </a:tblPr>
              <a:tblGrid>
                <a:gridCol w="603250"/>
                <a:gridCol w="603250"/>
                <a:gridCol w="603250"/>
                <a:gridCol w="603250"/>
                <a:gridCol w="603250"/>
                <a:gridCol w="603250"/>
                <a:gridCol w="603250"/>
                <a:gridCol w="603250"/>
                <a:gridCol w="603250"/>
                <a:gridCol w="603250"/>
                <a:gridCol w="603250"/>
                <a:gridCol w="603250"/>
              </a:tblGrid>
              <a:tr h="371475">
                <a:tc gridSpan="12">
                  <a:txBody>
                    <a:bodyPr/>
                    <a:lstStyle/>
                    <a:p>
                      <a:pPr indent="0" lvl="0" marL="0" marR="0" rtl="0" algn="ctr">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ANSWER</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hMerge="1"/>
                <a:tc hMerge="1"/>
                <a:tc hMerge="1"/>
                <a:tc hMerge="1"/>
                <a:tc hMerge="1"/>
                <a:tc hMerge="1"/>
                <a:tc hMerge="1"/>
                <a:tc hMerge="1"/>
                <a:tc hMerge="1"/>
                <a:tc hMerge="1"/>
                <a:tc hMerge="1"/>
              </a:tr>
              <a:tr h="395275">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1</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D</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1.</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D</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11.</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21.</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31.</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C</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41.</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C</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r>
              <a:tr h="396875">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D</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12.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22.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32.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42.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D</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r>
              <a:tr h="396875">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C</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13.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23.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33.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C</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43.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r>
              <a:tr h="395275">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14.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C</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24.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34.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44.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r>
              <a:tr h="396875">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D</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15.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C</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25.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C</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35.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45.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r>
              <a:tr h="395275">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6</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6.</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C</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16.</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26.</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36.</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D</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46.</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r>
              <a:tr h="396875">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7</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7.</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17.</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D</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27.</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C</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37.</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C</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47.</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r>
              <a:tr h="396875">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8</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8.</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18.</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28.</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D</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38.</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D</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48.</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r>
              <a:tr h="395275">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9</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C</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9.</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D</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19.</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D</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29.</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39.</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49.</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C</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r>
              <a:tr h="396875">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10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10.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20.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B</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30.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40.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D</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50.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ctr">
                        <a:lnSpc>
                          <a:spcPct val="100000"/>
                        </a:lnSpc>
                        <a:spcBef>
                          <a:spcPts val="0"/>
                        </a:spcBef>
                        <a:spcAft>
                          <a:spcPts val="0"/>
                        </a:spcAft>
                        <a:buClr>
                          <a:srgbClr val="1D4940"/>
                        </a:buClr>
                        <a:buSzPts val="2000"/>
                        <a:buFont typeface="Arial"/>
                        <a:buNone/>
                      </a:pPr>
                      <a:r>
                        <a:rPr b="0" i="0" lang="en-US" sz="2000" u="none" cap="none" strike="noStrike">
                          <a:solidFill>
                            <a:srgbClr val="1D494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r>
            </a:tbl>
          </a:graphicData>
        </a:graphic>
      </p:graphicFrame>
    </p:spTree>
  </p:cSld>
  <p:clrMapOvr>
    <a:masterClrMapping/>
  </p:clrMapOvr>
  <p:transition advTm="25000">
    <p:randomBar dir="vert"/>
  </p:transition>
</p:sld>
</file>

<file path=ppt/theme/theme1.xml><?xml version="1.0" encoding="utf-8"?>
<a:theme xmlns:a="http://schemas.openxmlformats.org/drawingml/2006/main" xmlns:r="http://schemas.openxmlformats.org/officeDocument/2006/relationships" name="cdb2004158l">
  <a:themeElements>
    <a:clrScheme name="cdb2004158l 1">
      <a:dk1>
        <a:srgbClr val="1D4940"/>
      </a:dk1>
      <a:lt1>
        <a:srgbClr val="FFFFFF"/>
      </a:lt1>
      <a:dk2>
        <a:srgbClr val="3F716F"/>
      </a:dk2>
      <a:lt2>
        <a:srgbClr val="C0C0C0"/>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db2004158l">
  <a:themeElements>
    <a:clrScheme name="cdb2004158l 1">
      <a:dk1>
        <a:srgbClr val="1D4940"/>
      </a:dk1>
      <a:lt1>
        <a:srgbClr val="FFFFFF"/>
      </a:lt1>
      <a:dk2>
        <a:srgbClr val="3F716F"/>
      </a:dk2>
      <a:lt2>
        <a:srgbClr val="C0C0C0"/>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cdb2004158l">
  <a:themeElements>
    <a:clrScheme name="cdb2004158l 1">
      <a:dk1>
        <a:srgbClr val="1D4940"/>
      </a:dk1>
      <a:lt1>
        <a:srgbClr val="FFFFFF"/>
      </a:lt1>
      <a:dk2>
        <a:srgbClr val="3F716F"/>
      </a:dk2>
      <a:lt2>
        <a:srgbClr val="C0C0C0"/>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2011-11-18T09:36:58Z</dcterms:created>
  <dc:creator>Thanh An</dc:creator>
</cp:coreProperties>
</file>
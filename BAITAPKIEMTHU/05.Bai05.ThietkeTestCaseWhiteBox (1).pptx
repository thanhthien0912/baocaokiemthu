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0" r:id="rId6"/>
    <p:sldMasterId id="2147483652" r:id="rId7"/>
    <p:sldMasterId id="2147483655" r:id="rId8"/>
    <p:sldMasterId id="2147483657" r:id="rId9"/>
    <p:sldMasterId id="2147483659" r:id="rId10"/>
    <p:sldMasterId id="2147483661" r:id="rId11"/>
    <p:sldMasterId id="2147483663" r:id="rId12"/>
    <p:sldMasterId id="2147483665" r:id="rId13"/>
    <p:sldMasterId id="2147483667" r:id="rId14"/>
  </p:sldMasterIdLst>
  <p:notesMasterIdLst>
    <p:notesMasterId r:id="rId15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291" r:id="rId51"/>
    <p:sldId id="292" r:id="rId52"/>
    <p:sldId id="293" r:id="rId53"/>
    <p:sldId id="294" r:id="rId54"/>
    <p:sldId id="295" r:id="rId55"/>
    <p:sldId id="296" r:id="rId56"/>
    <p:sldId id="297" r:id="rId57"/>
    <p:sldId id="298" r:id="rId58"/>
    <p:sldId id="299" r:id="rId59"/>
    <p:sldId id="300" r:id="rId60"/>
    <p:sldId id="301" r:id="rId61"/>
    <p:sldId id="302" r:id="rId62"/>
    <p:sldId id="303" r:id="rId63"/>
    <p:sldId id="304" r:id="rId64"/>
    <p:sldId id="305" r:id="rId65"/>
    <p:sldId id="306" r:id="rId66"/>
    <p:sldId id="307" r:id="rId67"/>
    <p:sldId id="308" r:id="rId68"/>
    <p:sldId id="309" r:id="rId69"/>
    <p:sldId id="310" r:id="rId70"/>
    <p:sldId id="311" r:id="rId71"/>
    <p:sldId id="312" r:id="rId72"/>
    <p:sldId id="313" r:id="rId73"/>
    <p:sldId id="314" r:id="rId74"/>
    <p:sldId id="315" r:id="rId75"/>
    <p:sldId id="316" r:id="rId76"/>
    <p:sldId id="317" r:id="rId77"/>
    <p:sldId id="318" r:id="rId78"/>
  </p:sldIdLst>
  <p:sldSz cy="6858000" cx="9144000"/>
  <p:notesSz cx="6858000" cy="9144000"/>
  <p:embeddedFontLst>
    <p:embeddedFont>
      <p:font typeface="Tahoma"/>
      <p:regular r:id="rId79"/>
      <p:bold r:id="rId8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81" roundtripDataSignature="AMtx7miXEJ6B1je0kG4s+R3+hU6wi2vP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D277FC-4B1F-4385-AE56-9B966985E713}">
  <a:tblStyle styleId="{94D277FC-4B1F-4385-AE56-9B966985E71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5.xml"/><Relationship Id="rId42" Type="http://schemas.openxmlformats.org/officeDocument/2006/relationships/slide" Target="slides/slide27.xml"/><Relationship Id="rId41" Type="http://schemas.openxmlformats.org/officeDocument/2006/relationships/slide" Target="slides/slide26.xml"/><Relationship Id="rId44" Type="http://schemas.openxmlformats.org/officeDocument/2006/relationships/slide" Target="slides/slide29.xml"/><Relationship Id="rId43" Type="http://schemas.openxmlformats.org/officeDocument/2006/relationships/slide" Target="slides/slide28.xml"/><Relationship Id="rId46" Type="http://schemas.openxmlformats.org/officeDocument/2006/relationships/slide" Target="slides/slide31.xml"/><Relationship Id="rId45" Type="http://schemas.openxmlformats.org/officeDocument/2006/relationships/slide" Target="slides/slide30.xml"/><Relationship Id="rId80" Type="http://schemas.openxmlformats.org/officeDocument/2006/relationships/font" Target="fonts/Tahoma-bold.fntdata"/><Relationship Id="rId81" Type="http://customschemas.google.com/relationships/presentationmetadata" Target="metadata"/><Relationship Id="rId1" Type="http://schemas.openxmlformats.org/officeDocument/2006/relationships/theme" Target="theme/theme8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48" Type="http://schemas.openxmlformats.org/officeDocument/2006/relationships/slide" Target="slides/slide33.xml"/><Relationship Id="rId47" Type="http://schemas.openxmlformats.org/officeDocument/2006/relationships/slide" Target="slides/slide32.xml"/><Relationship Id="rId49" Type="http://schemas.openxmlformats.org/officeDocument/2006/relationships/slide" Target="slides/slide3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73" Type="http://schemas.openxmlformats.org/officeDocument/2006/relationships/slide" Target="slides/slide58.xml"/><Relationship Id="rId72" Type="http://schemas.openxmlformats.org/officeDocument/2006/relationships/slide" Target="slides/slide57.xml"/><Relationship Id="rId31" Type="http://schemas.openxmlformats.org/officeDocument/2006/relationships/slide" Target="slides/slide16.xml"/><Relationship Id="rId75" Type="http://schemas.openxmlformats.org/officeDocument/2006/relationships/slide" Target="slides/slide60.xml"/><Relationship Id="rId30" Type="http://schemas.openxmlformats.org/officeDocument/2006/relationships/slide" Target="slides/slide15.xml"/><Relationship Id="rId74" Type="http://schemas.openxmlformats.org/officeDocument/2006/relationships/slide" Target="slides/slide59.xml"/><Relationship Id="rId33" Type="http://schemas.openxmlformats.org/officeDocument/2006/relationships/slide" Target="slides/slide18.xml"/><Relationship Id="rId77" Type="http://schemas.openxmlformats.org/officeDocument/2006/relationships/slide" Target="slides/slide62.xml"/><Relationship Id="rId32" Type="http://schemas.openxmlformats.org/officeDocument/2006/relationships/slide" Target="slides/slide17.xml"/><Relationship Id="rId76" Type="http://schemas.openxmlformats.org/officeDocument/2006/relationships/slide" Target="slides/slide61.xml"/><Relationship Id="rId35" Type="http://schemas.openxmlformats.org/officeDocument/2006/relationships/slide" Target="slides/slide20.xml"/><Relationship Id="rId79" Type="http://schemas.openxmlformats.org/officeDocument/2006/relationships/font" Target="fonts/Tahoma-regular.fntdata"/><Relationship Id="rId34" Type="http://schemas.openxmlformats.org/officeDocument/2006/relationships/slide" Target="slides/slide19.xml"/><Relationship Id="rId78" Type="http://schemas.openxmlformats.org/officeDocument/2006/relationships/slide" Target="slides/slide63.xml"/><Relationship Id="rId71" Type="http://schemas.openxmlformats.org/officeDocument/2006/relationships/slide" Target="slides/slide56.xml"/><Relationship Id="rId70" Type="http://schemas.openxmlformats.org/officeDocument/2006/relationships/slide" Target="slides/slide55.xml"/><Relationship Id="rId37" Type="http://schemas.openxmlformats.org/officeDocument/2006/relationships/slide" Target="slides/slide22.xml"/><Relationship Id="rId36" Type="http://schemas.openxmlformats.org/officeDocument/2006/relationships/slide" Target="slides/slide21.xml"/><Relationship Id="rId39" Type="http://schemas.openxmlformats.org/officeDocument/2006/relationships/slide" Target="slides/slide24.xml"/><Relationship Id="rId38" Type="http://schemas.openxmlformats.org/officeDocument/2006/relationships/slide" Target="slides/slide23.xml"/><Relationship Id="rId62" Type="http://schemas.openxmlformats.org/officeDocument/2006/relationships/slide" Target="slides/slide47.xml"/><Relationship Id="rId61" Type="http://schemas.openxmlformats.org/officeDocument/2006/relationships/slide" Target="slides/slide46.xml"/><Relationship Id="rId20" Type="http://schemas.openxmlformats.org/officeDocument/2006/relationships/slide" Target="slides/slide5.xml"/><Relationship Id="rId64" Type="http://schemas.openxmlformats.org/officeDocument/2006/relationships/slide" Target="slides/slide49.xml"/><Relationship Id="rId63" Type="http://schemas.openxmlformats.org/officeDocument/2006/relationships/slide" Target="slides/slide48.xml"/><Relationship Id="rId22" Type="http://schemas.openxmlformats.org/officeDocument/2006/relationships/slide" Target="slides/slide7.xml"/><Relationship Id="rId66" Type="http://schemas.openxmlformats.org/officeDocument/2006/relationships/slide" Target="slides/slide51.xml"/><Relationship Id="rId21" Type="http://schemas.openxmlformats.org/officeDocument/2006/relationships/slide" Target="slides/slide6.xml"/><Relationship Id="rId65" Type="http://schemas.openxmlformats.org/officeDocument/2006/relationships/slide" Target="slides/slide50.xml"/><Relationship Id="rId24" Type="http://schemas.openxmlformats.org/officeDocument/2006/relationships/slide" Target="slides/slide9.xml"/><Relationship Id="rId68" Type="http://schemas.openxmlformats.org/officeDocument/2006/relationships/slide" Target="slides/slide53.xml"/><Relationship Id="rId23" Type="http://schemas.openxmlformats.org/officeDocument/2006/relationships/slide" Target="slides/slide8.xml"/><Relationship Id="rId67" Type="http://schemas.openxmlformats.org/officeDocument/2006/relationships/slide" Target="slides/slide52.xml"/><Relationship Id="rId60" Type="http://schemas.openxmlformats.org/officeDocument/2006/relationships/slide" Target="slides/slide45.xml"/><Relationship Id="rId26" Type="http://schemas.openxmlformats.org/officeDocument/2006/relationships/slide" Target="slides/slide11.xml"/><Relationship Id="rId25" Type="http://schemas.openxmlformats.org/officeDocument/2006/relationships/slide" Target="slides/slide10.xml"/><Relationship Id="rId69" Type="http://schemas.openxmlformats.org/officeDocument/2006/relationships/slide" Target="slides/slide54.xml"/><Relationship Id="rId28" Type="http://schemas.openxmlformats.org/officeDocument/2006/relationships/slide" Target="slides/slide13.xml"/><Relationship Id="rId27" Type="http://schemas.openxmlformats.org/officeDocument/2006/relationships/slide" Target="slides/slide12.xml"/><Relationship Id="rId29" Type="http://schemas.openxmlformats.org/officeDocument/2006/relationships/slide" Target="slides/slide14.xml"/><Relationship Id="rId51" Type="http://schemas.openxmlformats.org/officeDocument/2006/relationships/slide" Target="slides/slide36.xml"/><Relationship Id="rId50" Type="http://schemas.openxmlformats.org/officeDocument/2006/relationships/slide" Target="slides/slide35.xml"/><Relationship Id="rId53" Type="http://schemas.openxmlformats.org/officeDocument/2006/relationships/slide" Target="slides/slide38.xml"/><Relationship Id="rId52" Type="http://schemas.openxmlformats.org/officeDocument/2006/relationships/slide" Target="slides/slide37.xml"/><Relationship Id="rId11" Type="http://schemas.openxmlformats.org/officeDocument/2006/relationships/slideMaster" Target="slideMasters/slideMaster7.xml"/><Relationship Id="rId55" Type="http://schemas.openxmlformats.org/officeDocument/2006/relationships/slide" Target="slides/slide40.xml"/><Relationship Id="rId10" Type="http://schemas.openxmlformats.org/officeDocument/2006/relationships/slideMaster" Target="slideMasters/slideMaster6.xml"/><Relationship Id="rId54" Type="http://schemas.openxmlformats.org/officeDocument/2006/relationships/slide" Target="slides/slide39.xml"/><Relationship Id="rId13" Type="http://schemas.openxmlformats.org/officeDocument/2006/relationships/slideMaster" Target="slideMasters/slideMaster9.xml"/><Relationship Id="rId57" Type="http://schemas.openxmlformats.org/officeDocument/2006/relationships/slide" Target="slides/slide42.xml"/><Relationship Id="rId12" Type="http://schemas.openxmlformats.org/officeDocument/2006/relationships/slideMaster" Target="slideMasters/slideMaster8.xml"/><Relationship Id="rId56" Type="http://schemas.openxmlformats.org/officeDocument/2006/relationships/slide" Target="slides/slide41.xml"/><Relationship Id="rId15" Type="http://schemas.openxmlformats.org/officeDocument/2006/relationships/notesMaster" Target="notesMasters/notesMaster1.xml"/><Relationship Id="rId59" Type="http://schemas.openxmlformats.org/officeDocument/2006/relationships/slide" Target="slides/slide44.xml"/><Relationship Id="rId14" Type="http://schemas.openxmlformats.org/officeDocument/2006/relationships/slideMaster" Target="slideMasters/slideMaster10.xml"/><Relationship Id="rId58" Type="http://schemas.openxmlformats.org/officeDocument/2006/relationships/slide" Target="slides/slide43.xml"/><Relationship Id="rId17" Type="http://schemas.openxmlformats.org/officeDocument/2006/relationships/slide" Target="slides/slide2.xml"/><Relationship Id="rId16" Type="http://schemas.openxmlformats.org/officeDocument/2006/relationships/slide" Target="slides/slide1.xml"/><Relationship Id="rId19" Type="http://schemas.openxmlformats.org/officeDocument/2006/relationships/slide" Target="slides/slide4.xml"/><Relationship Id="rId1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66" name="Google Shape;1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927" name="Google Shape;92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3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25000"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7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7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9" name="Google Shape;29;p67"/>
          <p:cNvSpPr txBox="1"/>
          <p:nvPr>
            <p:ph idx="10" type="dt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7"/>
          <p:cNvSpPr txBox="1"/>
          <p:nvPr>
            <p:ph idx="11" type="ftr"/>
          </p:nvPr>
        </p:nvSpPr>
        <p:spPr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advTm="25000"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6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5" name="Google Shape;45;p69"/>
          <p:cNvSpPr txBox="1"/>
          <p:nvPr>
            <p:ph idx="10" type="dt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9"/>
          <p:cNvSpPr txBox="1"/>
          <p:nvPr>
            <p:ph idx="11" type="ftr"/>
          </p:nvPr>
        </p:nvSpPr>
        <p:spPr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9"/>
          <p:cNvSpPr txBox="1"/>
          <p:nvPr>
            <p:ph idx="12" type="sldNum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advTm="25000"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0"/>
          <p:cNvSpPr txBox="1"/>
          <p:nvPr>
            <p:ph idx="10" type="dt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0"/>
          <p:cNvSpPr txBox="1"/>
          <p:nvPr>
            <p:ph idx="11" type="ftr"/>
          </p:nvPr>
        </p:nvSpPr>
        <p:spPr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0"/>
          <p:cNvSpPr txBox="1"/>
          <p:nvPr>
            <p:ph idx="12" type="sldNum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advTm="25000"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64" name="Google Shape;64;p72"/>
          <p:cNvSpPr txBox="1"/>
          <p:nvPr>
            <p:ph idx="10" type="dt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2"/>
          <p:cNvSpPr txBox="1"/>
          <p:nvPr>
            <p:ph idx="11" type="ftr"/>
          </p:nvPr>
        </p:nvSpPr>
        <p:spPr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advTm="25000"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4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4"/>
          <p:cNvSpPr txBox="1"/>
          <p:nvPr>
            <p:ph idx="1" type="body"/>
          </p:nvPr>
        </p:nvSpPr>
        <p:spPr>
          <a:xfrm>
            <a:off x="457200" y="1076325"/>
            <a:ext cx="4038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❖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78" name="Google Shape;78;p74"/>
          <p:cNvSpPr txBox="1"/>
          <p:nvPr>
            <p:ph idx="2" type="body"/>
          </p:nvPr>
        </p:nvSpPr>
        <p:spPr>
          <a:xfrm>
            <a:off x="4648200" y="1076325"/>
            <a:ext cx="4038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❖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79" name="Google Shape;79;p74"/>
          <p:cNvSpPr txBox="1"/>
          <p:nvPr>
            <p:ph idx="10" type="dt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4"/>
          <p:cNvSpPr txBox="1"/>
          <p:nvPr>
            <p:ph idx="11" type="ftr"/>
          </p:nvPr>
        </p:nvSpPr>
        <p:spPr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advTm="25000"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93" name="Google Shape;93;p7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94" name="Google Shape;94;p7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95" name="Google Shape;95;p7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96" name="Google Shape;96;p76"/>
          <p:cNvSpPr txBox="1"/>
          <p:nvPr>
            <p:ph idx="10" type="dt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76"/>
          <p:cNvSpPr txBox="1"/>
          <p:nvPr>
            <p:ph idx="11" type="ftr"/>
          </p:nvPr>
        </p:nvSpPr>
        <p:spPr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advTm="25000"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8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78"/>
          <p:cNvSpPr txBox="1"/>
          <p:nvPr>
            <p:ph idx="10" type="dt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78"/>
          <p:cNvSpPr txBox="1"/>
          <p:nvPr>
            <p:ph idx="11" type="ftr"/>
          </p:nvPr>
        </p:nvSpPr>
        <p:spPr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advTm="25000"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8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❖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123" name="Google Shape;123;p8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124" name="Google Shape;124;p80"/>
          <p:cNvSpPr txBox="1"/>
          <p:nvPr>
            <p:ph idx="10" type="dt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80"/>
          <p:cNvSpPr txBox="1"/>
          <p:nvPr>
            <p:ph idx="11" type="ftr"/>
          </p:nvPr>
        </p:nvSpPr>
        <p:spPr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advTm="25000"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2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82"/>
          <p:cNvSpPr txBox="1"/>
          <p:nvPr>
            <p:ph idx="1" type="body"/>
          </p:nvPr>
        </p:nvSpPr>
        <p:spPr>
          <a:xfrm rot="5400000">
            <a:off x="1947863" y="-414337"/>
            <a:ext cx="524827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38" name="Google Shape;138;p82"/>
          <p:cNvSpPr txBox="1"/>
          <p:nvPr>
            <p:ph idx="10" type="dt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82"/>
          <p:cNvSpPr txBox="1"/>
          <p:nvPr>
            <p:ph idx="11" type="ftr"/>
          </p:nvPr>
        </p:nvSpPr>
        <p:spPr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advTm="25000"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4"/>
          <p:cNvSpPr txBox="1"/>
          <p:nvPr>
            <p:ph type="title"/>
          </p:nvPr>
        </p:nvSpPr>
        <p:spPr>
          <a:xfrm rot="5400000">
            <a:off x="4655344" y="2293144"/>
            <a:ext cx="6005512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84"/>
          <p:cNvSpPr txBox="1"/>
          <p:nvPr>
            <p:ph idx="1" type="body"/>
          </p:nvPr>
        </p:nvSpPr>
        <p:spPr>
          <a:xfrm rot="5400000">
            <a:off x="464344" y="311944"/>
            <a:ext cx="6005512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52" name="Google Shape;152;p84"/>
          <p:cNvSpPr txBox="1"/>
          <p:nvPr>
            <p:ph idx="10" type="dt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84"/>
          <p:cNvSpPr txBox="1"/>
          <p:nvPr>
            <p:ph idx="11" type="ftr"/>
          </p:nvPr>
        </p:nvSpPr>
        <p:spPr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advTm="25000" spd="slow">
    <p:randomBar dir="vert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3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9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6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7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2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10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Light horizontal" id="10" name="Google Shape;10;p64"/>
          <p:cNvSpPr txBox="1"/>
          <p:nvPr/>
        </p:nvSpPr>
        <p:spPr>
          <a:xfrm>
            <a:off x="9525" y="0"/>
            <a:ext cx="14732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64"/>
          <p:cNvSpPr txBox="1"/>
          <p:nvPr/>
        </p:nvSpPr>
        <p:spPr>
          <a:xfrm>
            <a:off x="0" y="2133600"/>
            <a:ext cx="9153525" cy="1179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64"/>
          <p:cNvSpPr/>
          <p:nvPr/>
        </p:nvSpPr>
        <p:spPr>
          <a:xfrm>
            <a:off x="79375" y="6400800"/>
            <a:ext cx="365125" cy="365125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" name="Google Shape;13;p64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64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transition advTm="25000">
    <p:randomBar dir="vert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Light horizontal" id="17" name="Google Shape;17;p66"/>
          <p:cNvSpPr txBox="1"/>
          <p:nvPr/>
        </p:nvSpPr>
        <p:spPr>
          <a:xfrm>
            <a:off x="-9525" y="0"/>
            <a:ext cx="48101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66"/>
          <p:cNvSpPr txBox="1"/>
          <p:nvPr/>
        </p:nvSpPr>
        <p:spPr>
          <a:xfrm>
            <a:off x="0" y="0"/>
            <a:ext cx="9153525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66"/>
          <p:cNvSpPr/>
          <p:nvPr/>
        </p:nvSpPr>
        <p:spPr>
          <a:xfrm>
            <a:off x="304800" y="288925"/>
            <a:ext cx="7670800" cy="644525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66"/>
          <p:cNvSpPr/>
          <p:nvPr/>
        </p:nvSpPr>
        <p:spPr>
          <a:xfrm>
            <a:off x="79375" y="6400800"/>
            <a:ext cx="365125" cy="365125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" name="Google Shape;21;p66"/>
          <p:cNvSpPr txBox="1"/>
          <p:nvPr/>
        </p:nvSpPr>
        <p:spPr>
          <a:xfrm rot="-5400000">
            <a:off x="-1834356" y="3199606"/>
            <a:ext cx="40386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KIỂM THỬ PHẦN MỀ PHẦN MỀM</a:t>
            </a:r>
            <a:endParaRPr/>
          </a:p>
        </p:txBody>
      </p:sp>
      <p:sp>
        <p:nvSpPr>
          <p:cNvPr id="22" name="Google Shape;22;p66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66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66"/>
          <p:cNvSpPr txBox="1"/>
          <p:nvPr>
            <p:ph idx="10" type="dt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66"/>
          <p:cNvSpPr txBox="1"/>
          <p:nvPr>
            <p:ph idx="11" type="ftr"/>
          </p:nvPr>
        </p:nvSpPr>
        <p:spPr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transition advTm="25000">
    <p:randomBar dir="vert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Light horizontal" id="32" name="Google Shape;32;p68"/>
          <p:cNvSpPr txBox="1"/>
          <p:nvPr/>
        </p:nvSpPr>
        <p:spPr>
          <a:xfrm>
            <a:off x="-9525" y="0"/>
            <a:ext cx="48101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68"/>
          <p:cNvSpPr txBox="1"/>
          <p:nvPr/>
        </p:nvSpPr>
        <p:spPr>
          <a:xfrm>
            <a:off x="0" y="0"/>
            <a:ext cx="9153525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68"/>
          <p:cNvSpPr/>
          <p:nvPr/>
        </p:nvSpPr>
        <p:spPr>
          <a:xfrm>
            <a:off x="304800" y="288925"/>
            <a:ext cx="7670800" cy="644525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68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68"/>
          <p:cNvSpPr txBox="1"/>
          <p:nvPr>
            <p:ph idx="10" type="dt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68"/>
          <p:cNvSpPr txBox="1"/>
          <p:nvPr>
            <p:ph idx="11" type="ftr"/>
          </p:nvPr>
        </p:nvSpPr>
        <p:spPr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68"/>
          <p:cNvSpPr txBox="1"/>
          <p:nvPr>
            <p:ph idx="12" type="sldNum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39" name="Google Shape;39;p68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68"/>
          <p:cNvSpPr/>
          <p:nvPr/>
        </p:nvSpPr>
        <p:spPr>
          <a:xfrm>
            <a:off x="79375" y="6400800"/>
            <a:ext cx="365125" cy="365125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  <p:sldLayoutId id="2147483654" r:id="rId2"/>
  </p:sldLayoutIdLst>
  <p:transition advTm="25000">
    <p:randomBar dir="vert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Light horizontal" id="53" name="Google Shape;53;p71"/>
          <p:cNvSpPr txBox="1"/>
          <p:nvPr/>
        </p:nvSpPr>
        <p:spPr>
          <a:xfrm>
            <a:off x="-9525" y="0"/>
            <a:ext cx="48101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71"/>
          <p:cNvSpPr txBox="1"/>
          <p:nvPr/>
        </p:nvSpPr>
        <p:spPr>
          <a:xfrm>
            <a:off x="0" y="0"/>
            <a:ext cx="9153525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71"/>
          <p:cNvSpPr/>
          <p:nvPr/>
        </p:nvSpPr>
        <p:spPr>
          <a:xfrm>
            <a:off x="304800" y="288925"/>
            <a:ext cx="7670800" cy="644525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1"/>
          <p:cNvSpPr/>
          <p:nvPr/>
        </p:nvSpPr>
        <p:spPr>
          <a:xfrm>
            <a:off x="79375" y="6400800"/>
            <a:ext cx="365125" cy="365125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7" name="Google Shape;57;p71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71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71"/>
          <p:cNvSpPr txBox="1"/>
          <p:nvPr>
            <p:ph idx="10" type="dt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71"/>
          <p:cNvSpPr txBox="1"/>
          <p:nvPr>
            <p:ph idx="11" type="ftr"/>
          </p:nvPr>
        </p:nvSpPr>
        <p:spPr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</p:sldLayoutIdLst>
  <p:transition advTm="25000">
    <p:randomBar dir="vert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Light horizontal" id="67" name="Google Shape;67;p73"/>
          <p:cNvSpPr txBox="1"/>
          <p:nvPr/>
        </p:nvSpPr>
        <p:spPr>
          <a:xfrm>
            <a:off x="-9525" y="0"/>
            <a:ext cx="48101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73"/>
          <p:cNvSpPr txBox="1"/>
          <p:nvPr/>
        </p:nvSpPr>
        <p:spPr>
          <a:xfrm>
            <a:off x="0" y="0"/>
            <a:ext cx="9153525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73"/>
          <p:cNvSpPr/>
          <p:nvPr/>
        </p:nvSpPr>
        <p:spPr>
          <a:xfrm>
            <a:off x="304800" y="288925"/>
            <a:ext cx="7670800" cy="644525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73"/>
          <p:cNvSpPr/>
          <p:nvPr/>
        </p:nvSpPr>
        <p:spPr>
          <a:xfrm>
            <a:off x="79375" y="6400800"/>
            <a:ext cx="365125" cy="365125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1" name="Google Shape;71;p73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73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73"/>
          <p:cNvSpPr txBox="1"/>
          <p:nvPr>
            <p:ph idx="10" type="dt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73"/>
          <p:cNvSpPr txBox="1"/>
          <p:nvPr>
            <p:ph idx="11" type="ftr"/>
          </p:nvPr>
        </p:nvSpPr>
        <p:spPr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</p:sldLayoutIdLst>
  <p:transition advTm="25000">
    <p:randomBar dir="vert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Light horizontal" id="82" name="Google Shape;82;p75"/>
          <p:cNvSpPr txBox="1"/>
          <p:nvPr/>
        </p:nvSpPr>
        <p:spPr>
          <a:xfrm>
            <a:off x="-9525" y="0"/>
            <a:ext cx="48101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75"/>
          <p:cNvSpPr txBox="1"/>
          <p:nvPr/>
        </p:nvSpPr>
        <p:spPr>
          <a:xfrm>
            <a:off x="0" y="0"/>
            <a:ext cx="9153525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75"/>
          <p:cNvSpPr/>
          <p:nvPr/>
        </p:nvSpPr>
        <p:spPr>
          <a:xfrm>
            <a:off x="304800" y="288925"/>
            <a:ext cx="7670800" cy="644525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75"/>
          <p:cNvSpPr/>
          <p:nvPr/>
        </p:nvSpPr>
        <p:spPr>
          <a:xfrm>
            <a:off x="79375" y="6400800"/>
            <a:ext cx="365125" cy="365125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6" name="Google Shape;86;p75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75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75"/>
          <p:cNvSpPr txBox="1"/>
          <p:nvPr>
            <p:ph idx="10" type="dt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75"/>
          <p:cNvSpPr txBox="1"/>
          <p:nvPr>
            <p:ph idx="11" type="ftr"/>
          </p:nvPr>
        </p:nvSpPr>
        <p:spPr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transition advTm="25000">
    <p:randomBar dir="vert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Light horizontal" id="99" name="Google Shape;99;p77"/>
          <p:cNvSpPr txBox="1"/>
          <p:nvPr/>
        </p:nvSpPr>
        <p:spPr>
          <a:xfrm>
            <a:off x="-9525" y="0"/>
            <a:ext cx="48101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7"/>
          <p:cNvSpPr txBox="1"/>
          <p:nvPr/>
        </p:nvSpPr>
        <p:spPr>
          <a:xfrm>
            <a:off x="0" y="0"/>
            <a:ext cx="9153525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7"/>
          <p:cNvSpPr/>
          <p:nvPr/>
        </p:nvSpPr>
        <p:spPr>
          <a:xfrm>
            <a:off x="304800" y="288925"/>
            <a:ext cx="7670800" cy="644525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7"/>
          <p:cNvSpPr/>
          <p:nvPr/>
        </p:nvSpPr>
        <p:spPr>
          <a:xfrm>
            <a:off x="79375" y="6400800"/>
            <a:ext cx="365125" cy="365125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3" name="Google Shape;103;p77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77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77"/>
          <p:cNvSpPr txBox="1"/>
          <p:nvPr>
            <p:ph idx="10" type="dt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77"/>
          <p:cNvSpPr txBox="1"/>
          <p:nvPr>
            <p:ph idx="11" type="ftr"/>
          </p:nvPr>
        </p:nvSpPr>
        <p:spPr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</p:sldLayoutIdLst>
  <p:transition advTm="25000">
    <p:randomBar dir="vert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Light horizontal" id="112" name="Google Shape;112;p79"/>
          <p:cNvSpPr txBox="1"/>
          <p:nvPr/>
        </p:nvSpPr>
        <p:spPr>
          <a:xfrm>
            <a:off x="-9525" y="0"/>
            <a:ext cx="48101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9"/>
          <p:cNvSpPr txBox="1"/>
          <p:nvPr/>
        </p:nvSpPr>
        <p:spPr>
          <a:xfrm>
            <a:off x="0" y="0"/>
            <a:ext cx="9153525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9"/>
          <p:cNvSpPr/>
          <p:nvPr/>
        </p:nvSpPr>
        <p:spPr>
          <a:xfrm>
            <a:off x="304800" y="288925"/>
            <a:ext cx="7670800" cy="644525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9"/>
          <p:cNvSpPr/>
          <p:nvPr/>
        </p:nvSpPr>
        <p:spPr>
          <a:xfrm>
            <a:off x="79375" y="6400800"/>
            <a:ext cx="365125" cy="365125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6" name="Google Shape;116;p79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79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79"/>
          <p:cNvSpPr txBox="1"/>
          <p:nvPr>
            <p:ph idx="10" type="dt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79"/>
          <p:cNvSpPr txBox="1"/>
          <p:nvPr>
            <p:ph idx="11" type="ftr"/>
          </p:nvPr>
        </p:nvSpPr>
        <p:spPr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</p:sldLayoutIdLst>
  <p:transition advTm="25000">
    <p:randomBar dir="vert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Light horizontal" id="127" name="Google Shape;127;p81"/>
          <p:cNvSpPr txBox="1"/>
          <p:nvPr/>
        </p:nvSpPr>
        <p:spPr>
          <a:xfrm>
            <a:off x="-9525" y="0"/>
            <a:ext cx="48101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1"/>
          <p:cNvSpPr txBox="1"/>
          <p:nvPr/>
        </p:nvSpPr>
        <p:spPr>
          <a:xfrm>
            <a:off x="0" y="0"/>
            <a:ext cx="9153525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81"/>
          <p:cNvSpPr/>
          <p:nvPr/>
        </p:nvSpPr>
        <p:spPr>
          <a:xfrm>
            <a:off x="304800" y="288925"/>
            <a:ext cx="7670800" cy="644525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1"/>
          <p:cNvSpPr/>
          <p:nvPr/>
        </p:nvSpPr>
        <p:spPr>
          <a:xfrm>
            <a:off x="79375" y="6400800"/>
            <a:ext cx="365125" cy="365125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1" name="Google Shape;131;p81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81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p81"/>
          <p:cNvSpPr txBox="1"/>
          <p:nvPr>
            <p:ph idx="10" type="dt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4" name="Google Shape;134;p81"/>
          <p:cNvSpPr txBox="1"/>
          <p:nvPr>
            <p:ph idx="11" type="ftr"/>
          </p:nvPr>
        </p:nvSpPr>
        <p:spPr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</p:sldLayoutIdLst>
  <p:transition advTm="25000">
    <p:randomBar dir="vert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Light horizontal" id="141" name="Google Shape;141;p83"/>
          <p:cNvSpPr txBox="1"/>
          <p:nvPr/>
        </p:nvSpPr>
        <p:spPr>
          <a:xfrm>
            <a:off x="-9525" y="0"/>
            <a:ext cx="48101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3"/>
          <p:cNvSpPr txBox="1"/>
          <p:nvPr/>
        </p:nvSpPr>
        <p:spPr>
          <a:xfrm>
            <a:off x="0" y="0"/>
            <a:ext cx="9153525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3"/>
          <p:cNvSpPr/>
          <p:nvPr/>
        </p:nvSpPr>
        <p:spPr>
          <a:xfrm>
            <a:off x="304800" y="288925"/>
            <a:ext cx="7670800" cy="644525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3"/>
          <p:cNvSpPr/>
          <p:nvPr/>
        </p:nvSpPr>
        <p:spPr>
          <a:xfrm>
            <a:off x="79375" y="6400800"/>
            <a:ext cx="365125" cy="365125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5" name="Google Shape;145;p83"/>
          <p:cNvSpPr txBox="1"/>
          <p:nvPr>
            <p:ph idx="1" type="body"/>
          </p:nvPr>
        </p:nvSpPr>
        <p:spPr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83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83"/>
          <p:cNvSpPr txBox="1"/>
          <p:nvPr>
            <p:ph idx="10" type="dt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83"/>
          <p:cNvSpPr txBox="1"/>
          <p:nvPr>
            <p:ph idx="11" type="ftr"/>
          </p:nvPr>
        </p:nvSpPr>
        <p:spPr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1"/>
  </p:sldLayoutIdLst>
  <p:transition advTm="25000">
    <p:randomBar dir="vert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"/>
          <p:cNvSpPr txBox="1"/>
          <p:nvPr/>
        </p:nvSpPr>
        <p:spPr>
          <a:xfrm>
            <a:off x="0" y="25146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THIẾT KẾ TEST CASE WHITEBOX</a:t>
            </a:r>
            <a:endParaRPr/>
          </a:p>
        </p:txBody>
      </p:sp>
      <p:sp>
        <p:nvSpPr>
          <p:cNvPr id="159" name="Google Shape;159;p1"/>
          <p:cNvSpPr txBox="1"/>
          <p:nvPr/>
        </p:nvSpPr>
        <p:spPr>
          <a:xfrm>
            <a:off x="76200" y="2190750"/>
            <a:ext cx="11080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Bài  5:</a:t>
            </a:r>
            <a:endParaRPr/>
          </a:p>
        </p:txBody>
      </p:sp>
      <p:sp>
        <p:nvSpPr>
          <p:cNvPr id="160" name="Google Shape;160;p1"/>
          <p:cNvSpPr txBox="1"/>
          <p:nvPr/>
        </p:nvSpPr>
        <p:spPr>
          <a:xfrm>
            <a:off x="6965950" y="3352800"/>
            <a:ext cx="2171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Thời gian: 6  tiết</a:t>
            </a:r>
            <a:endParaRPr/>
          </a:p>
        </p:txBody>
      </p:sp>
      <p:pic>
        <p:nvPicPr>
          <p:cNvPr id="161" name="Google Shape;16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2" y="0"/>
            <a:ext cx="3781425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"/>
          <p:cNvSpPr txBox="1"/>
          <p:nvPr/>
        </p:nvSpPr>
        <p:spPr>
          <a:xfrm>
            <a:off x="0" y="137160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KIỂM THỬ PHẦN MỀM</a:t>
            </a:r>
            <a:endParaRPr/>
          </a:p>
        </p:txBody>
      </p:sp>
      <p:pic>
        <p:nvPicPr>
          <p:cNvPr id="163" name="Google Shape;16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6912" y="3898900"/>
            <a:ext cx="5348287" cy="2767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advTm="25000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NỘI DUNG</a:t>
            </a:r>
            <a:endParaRPr/>
          </a:p>
        </p:txBody>
      </p:sp>
      <p:sp>
        <p:nvSpPr>
          <p:cNvPr id="170" name="Google Shape;170;p2"/>
          <p:cNvSpPr txBox="1"/>
          <p:nvPr>
            <p:ph idx="1" type="body"/>
          </p:nvPr>
        </p:nvSpPr>
        <p:spPr>
          <a:xfrm>
            <a:off x="914400" y="10668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5.1. Tổng quan kiểm thử hộp trắng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5.2. Kiểm thử đường dẫn cơ sở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5.3. Kiểm thử cấu trúc điều khiển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5.3. KIỂM THỬ BAO PHỦ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5.4. KIỂM THỬ LUỒNG DỮ LIỆU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5.5. KIỂM THỬ VÒNG LẶP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5.7 Đồ thị luồng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5.8. Độ phức tạp Cyclomatic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5.1. TỔNG QUAN KIỂM THỬ HỘP TRẮNG</a:t>
            </a:r>
            <a:endParaRPr/>
          </a:p>
        </p:txBody>
      </p:sp>
      <p:sp>
        <p:nvSpPr>
          <p:cNvPr id="176" name="Google Shape;176;p3"/>
          <p:cNvSpPr txBox="1"/>
          <p:nvPr>
            <p:ph idx="1" type="body"/>
          </p:nvPr>
        </p:nvSpPr>
        <p:spPr>
          <a:xfrm>
            <a:off x="762000" y="1076325"/>
            <a:ext cx="8229600" cy="246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Kỹ thuật này còn gọi là structural testing, hoặc glass testing, hoặc open-box testing.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Tester cần biết cách thức (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HOW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thực thi bên trong của phần mềm. 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3613150" y="3536950"/>
            <a:ext cx="2147887" cy="2171700"/>
          </a:xfrm>
          <a:prstGeom prst="cube">
            <a:avLst>
              <a:gd fmla="val 25000" name="adj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"/>
          <p:cNvSpPr txBox="1"/>
          <p:nvPr/>
        </p:nvSpPr>
        <p:spPr>
          <a:xfrm>
            <a:off x="1360487" y="4664075"/>
            <a:ext cx="1217612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b="0" i="0" lang="en-US" sz="2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Đầu vào</a:t>
            </a:r>
            <a:endParaRPr/>
          </a:p>
        </p:txBody>
      </p:sp>
      <p:sp>
        <p:nvSpPr>
          <p:cNvPr id="179" name="Google Shape;179;p3"/>
          <p:cNvSpPr txBox="1"/>
          <p:nvPr/>
        </p:nvSpPr>
        <p:spPr>
          <a:xfrm>
            <a:off x="6696075" y="4675187"/>
            <a:ext cx="1017587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b="0" i="0" lang="en-US" sz="2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Đầu ra</a:t>
            </a:r>
            <a:endParaRPr/>
          </a:p>
        </p:txBody>
      </p:sp>
      <p:cxnSp>
        <p:nvCxnSpPr>
          <p:cNvPr id="180" name="Google Shape;180;p3"/>
          <p:cNvCxnSpPr/>
          <p:nvPr/>
        </p:nvCxnSpPr>
        <p:spPr>
          <a:xfrm>
            <a:off x="2578100" y="4879975"/>
            <a:ext cx="1035050" cy="1111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81" name="Google Shape;181;p3"/>
          <p:cNvCxnSpPr/>
          <p:nvPr/>
        </p:nvCxnSpPr>
        <p:spPr>
          <a:xfrm>
            <a:off x="5492750" y="4891087"/>
            <a:ext cx="12033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82" name="Google Shape;182;p3"/>
          <p:cNvSpPr txBox="1"/>
          <p:nvPr/>
        </p:nvSpPr>
        <p:spPr>
          <a:xfrm>
            <a:off x="4116387" y="5024437"/>
            <a:ext cx="696912" cy="255587"/>
          </a:xfrm>
          <a:prstGeom prst="rect">
            <a:avLst/>
          </a:prstGeom>
          <a:solidFill>
            <a:schemeClr val="accent1">
              <a:alpha val="19607"/>
            </a:schemeClr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4148137" y="4594225"/>
            <a:ext cx="619125" cy="285750"/>
          </a:xfrm>
          <a:prstGeom prst="diamond">
            <a:avLst/>
          </a:prstGeom>
          <a:solidFill>
            <a:schemeClr val="accent1">
              <a:alpha val="19607"/>
            </a:schemeClr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4224337" y="4186237"/>
            <a:ext cx="465137" cy="192087"/>
          </a:xfrm>
          <a:prstGeom prst="roundRect">
            <a:avLst>
              <a:gd fmla="val 16667" name="adj"/>
            </a:avLst>
          </a:prstGeom>
          <a:solidFill>
            <a:schemeClr val="accent1">
              <a:alpha val="19607"/>
            </a:schemeClr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4224337" y="5413375"/>
            <a:ext cx="465137" cy="192087"/>
          </a:xfrm>
          <a:prstGeom prst="roundRect">
            <a:avLst>
              <a:gd fmla="val 16667" name="adj"/>
            </a:avLst>
          </a:prstGeom>
          <a:solidFill>
            <a:schemeClr val="accent1">
              <a:alpha val="19607"/>
            </a:schemeClr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p3"/>
          <p:cNvCxnSpPr/>
          <p:nvPr/>
        </p:nvCxnSpPr>
        <p:spPr>
          <a:xfrm>
            <a:off x="4457700" y="4378325"/>
            <a:ext cx="0" cy="215900"/>
          </a:xfrm>
          <a:prstGeom prst="straightConnector1">
            <a:avLst/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87" name="Google Shape;187;p3"/>
          <p:cNvCxnSpPr/>
          <p:nvPr/>
        </p:nvCxnSpPr>
        <p:spPr>
          <a:xfrm>
            <a:off x="4457700" y="4879975"/>
            <a:ext cx="6350" cy="144462"/>
          </a:xfrm>
          <a:prstGeom prst="straightConnector1">
            <a:avLst/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88" name="Google Shape;188;p3"/>
          <p:cNvCxnSpPr/>
          <p:nvPr/>
        </p:nvCxnSpPr>
        <p:spPr>
          <a:xfrm flipH="1" rot="5400000">
            <a:off x="4582449" y="4922175"/>
            <a:ext cx="415800" cy="459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89" name="Google Shape;189;p3"/>
          <p:cNvCxnSpPr/>
          <p:nvPr/>
        </p:nvCxnSpPr>
        <p:spPr>
          <a:xfrm flipH="1" rot="-5400000">
            <a:off x="3800437" y="5084800"/>
            <a:ext cx="771600" cy="762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"/>
          <p:cNvSpPr txBox="1"/>
          <p:nvPr>
            <p:ph idx="1" type="body"/>
          </p:nvPr>
        </p:nvSpPr>
        <p:spPr>
          <a:xfrm>
            <a:off x="762000" y="1076325"/>
            <a:ext cx="8229600" cy="51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Ưu điểm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Dễ dàng xác định loại dữ liệu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để kiểm tra, nên việc kiểm tra hiệu quả hơn.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Nhờ biết mã nguồn, nên tester 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có thể phủ tối đa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khi viết kịch bản kiểm thử.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Khuyết điểm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Chi phí tăng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vì tester cần đọc, hiểu mã nguồn.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Khó xét hết các ngõ ngách trong mã nguồn nên 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có thể sót đường dẫn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không được test.</a:t>
            </a:r>
            <a:endParaRPr/>
          </a:p>
        </p:txBody>
      </p:sp>
      <p:sp>
        <p:nvSpPr>
          <p:cNvPr id="195" name="Google Shape;195;p4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5.1. TỔNG QUAN KIỂM THỬ HỘP TRẮNG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"/>
          <p:cNvSpPr txBox="1"/>
          <p:nvPr>
            <p:ph idx="1" type="body"/>
          </p:nvPr>
        </p:nvSpPr>
        <p:spPr>
          <a:xfrm>
            <a:off x="685800" y="1076325"/>
            <a:ext cx="8305800" cy="2373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Tiếp cận kiểm thử hộp trắng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Kiểm thử đường dẫn cơ sở (basis path testing)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Kiểm thử cấu trúc điều khiển (control structural testing)[</a:t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3962396" y="3046954"/>
            <a:ext cx="2420471" cy="403038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57785" algn="ctr" dir="3180000" dist="3302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Kiểm thử hộp trắng</a:t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2982999" y="3814818"/>
            <a:ext cx="1887072" cy="65752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7785" algn="ctr" dir="3180000" dist="3302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Kiểm thử đường dẫn cơ sở</a:t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5412437" y="3814818"/>
            <a:ext cx="1887072" cy="65752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7785" algn="ctr" dir="3180000" dist="3302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Kiểm thử cấu trúc điều khiển</a:t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4139423" y="4839503"/>
            <a:ext cx="1295406" cy="592044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7785" algn="ctr" dir="3180000" dist="3302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Luồng điều khiển</a:t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5707139" y="4839503"/>
            <a:ext cx="1295406" cy="592044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7785" algn="ctr" dir="3180000" dist="3302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Luồng dữ liệu</a:t>
            </a: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7274855" y="4840222"/>
            <a:ext cx="1295406" cy="592044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7785" algn="ctr" dir="3180000" dist="3302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Vòng lặp</a:t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918910" y="5817095"/>
            <a:ext cx="1443312" cy="569016"/>
          </a:xfrm>
          <a:prstGeom prst="rect">
            <a:avLst/>
          </a:prstGeom>
          <a:gradFill>
            <a:gsLst>
              <a:gs pos="0">
                <a:srgbClr val="729883"/>
              </a:gs>
              <a:gs pos="80000">
                <a:srgbClr val="96C8AD"/>
              </a:gs>
              <a:gs pos="100000">
                <a:srgbClr val="96CAAE"/>
              </a:gs>
            </a:gsLst>
            <a:lin ang="16200000" scaled="0"/>
          </a:gradFill>
          <a:ln>
            <a:noFill/>
          </a:ln>
          <a:effectLst>
            <a:outerShdw blurRad="57785" algn="ctr" dir="3180000" dist="3302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Câu lệnh</a:t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2492190" y="5817095"/>
            <a:ext cx="1443312" cy="569016"/>
          </a:xfrm>
          <a:prstGeom prst="rect">
            <a:avLst/>
          </a:prstGeom>
          <a:gradFill>
            <a:gsLst>
              <a:gs pos="0">
                <a:srgbClr val="729883"/>
              </a:gs>
              <a:gs pos="80000">
                <a:srgbClr val="96C8AD"/>
              </a:gs>
              <a:gs pos="100000">
                <a:srgbClr val="96CAAE"/>
              </a:gs>
            </a:gsLst>
            <a:lin ang="16200000" scaled="0"/>
          </a:gradFill>
          <a:ln>
            <a:noFill/>
          </a:ln>
          <a:effectLst>
            <a:outerShdw blurRad="57785" algn="ctr" dir="3180000" dist="3302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Nhánh</a:t>
            </a: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4065470" y="5817095"/>
            <a:ext cx="1443312" cy="569016"/>
          </a:xfrm>
          <a:prstGeom prst="rect">
            <a:avLst/>
          </a:prstGeom>
          <a:gradFill>
            <a:gsLst>
              <a:gs pos="0">
                <a:srgbClr val="729883"/>
              </a:gs>
              <a:gs pos="80000">
                <a:srgbClr val="96C8AD"/>
              </a:gs>
              <a:gs pos="100000">
                <a:srgbClr val="96CAAE"/>
              </a:gs>
            </a:gsLst>
            <a:lin ang="16200000" scaled="0"/>
          </a:gradFill>
          <a:ln>
            <a:noFill/>
          </a:ln>
          <a:effectLst>
            <a:outerShdw blurRad="57785" algn="ctr" dir="3180000" dist="3302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Điều kiện</a:t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5638750" y="5822203"/>
            <a:ext cx="1443312" cy="569016"/>
          </a:xfrm>
          <a:prstGeom prst="rect">
            <a:avLst/>
          </a:prstGeom>
          <a:gradFill>
            <a:gsLst>
              <a:gs pos="0">
                <a:srgbClr val="729883"/>
              </a:gs>
              <a:gs pos="80000">
                <a:srgbClr val="96C8AD"/>
              </a:gs>
              <a:gs pos="100000">
                <a:srgbClr val="96CAAE"/>
              </a:gs>
            </a:gsLst>
            <a:lin ang="16200000" scaled="0"/>
          </a:gradFill>
          <a:ln>
            <a:noFill/>
          </a:ln>
          <a:effectLst>
            <a:outerShdw blurRad="57785" algn="ctr" dir="3180000" dist="3302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Nhánh/điều kiện</a:t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7213154" y="5822203"/>
            <a:ext cx="1443312" cy="569016"/>
          </a:xfrm>
          <a:prstGeom prst="rect">
            <a:avLst/>
          </a:prstGeom>
          <a:gradFill>
            <a:gsLst>
              <a:gs pos="0">
                <a:srgbClr val="729883"/>
              </a:gs>
              <a:gs pos="80000">
                <a:srgbClr val="96C8AD"/>
              </a:gs>
              <a:gs pos="100000">
                <a:srgbClr val="96CAAE"/>
              </a:gs>
            </a:gsLst>
            <a:lin ang="16200000" scaled="0"/>
          </a:gradFill>
          <a:ln>
            <a:noFill/>
          </a:ln>
          <a:effectLst>
            <a:outerShdw blurRad="57785" algn="ctr" dir="3180000" dist="3302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Đa điều kiện</a:t>
            </a:r>
            <a:endParaRPr/>
          </a:p>
        </p:txBody>
      </p:sp>
      <p:cxnSp>
        <p:nvCxnSpPr>
          <p:cNvPr id="212" name="Google Shape;212;p5"/>
          <p:cNvCxnSpPr/>
          <p:nvPr/>
        </p:nvCxnSpPr>
        <p:spPr>
          <a:xfrm flipH="1">
            <a:off x="3925887" y="3449637"/>
            <a:ext cx="1246187" cy="36512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13" name="Google Shape;213;p5"/>
          <p:cNvCxnSpPr/>
          <p:nvPr/>
        </p:nvCxnSpPr>
        <p:spPr>
          <a:xfrm>
            <a:off x="5172075" y="3449637"/>
            <a:ext cx="1184275" cy="36512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14" name="Google Shape;214;p5"/>
          <p:cNvCxnSpPr/>
          <p:nvPr/>
        </p:nvCxnSpPr>
        <p:spPr>
          <a:xfrm flipH="1">
            <a:off x="4787900" y="4513262"/>
            <a:ext cx="1568450" cy="32702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15" name="Google Shape;215;p5"/>
          <p:cNvCxnSpPr/>
          <p:nvPr/>
        </p:nvCxnSpPr>
        <p:spPr>
          <a:xfrm flipH="1">
            <a:off x="6354762" y="4513262"/>
            <a:ext cx="1587" cy="32702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16" name="Google Shape;216;p5"/>
          <p:cNvCxnSpPr/>
          <p:nvPr/>
        </p:nvCxnSpPr>
        <p:spPr>
          <a:xfrm>
            <a:off x="6356350" y="4513262"/>
            <a:ext cx="1566862" cy="32702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17" name="Google Shape;217;p5"/>
          <p:cNvCxnSpPr/>
          <p:nvPr/>
        </p:nvCxnSpPr>
        <p:spPr>
          <a:xfrm flipH="1">
            <a:off x="1639887" y="5430837"/>
            <a:ext cx="3148012" cy="38576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18" name="Google Shape;218;p5"/>
          <p:cNvCxnSpPr/>
          <p:nvPr/>
        </p:nvCxnSpPr>
        <p:spPr>
          <a:xfrm flipH="1">
            <a:off x="3213100" y="5430837"/>
            <a:ext cx="1574800" cy="38576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19" name="Google Shape;219;p5"/>
          <p:cNvCxnSpPr/>
          <p:nvPr/>
        </p:nvCxnSpPr>
        <p:spPr>
          <a:xfrm>
            <a:off x="4787900" y="5430837"/>
            <a:ext cx="0" cy="38576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20" name="Google Shape;220;p5"/>
          <p:cNvCxnSpPr/>
          <p:nvPr/>
        </p:nvCxnSpPr>
        <p:spPr>
          <a:xfrm>
            <a:off x="4787900" y="5430837"/>
            <a:ext cx="1573212" cy="39211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pic>
        <p:nvPicPr>
          <p:cNvPr id="221" name="Google Shape;2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3612" y="5419725"/>
            <a:ext cx="3175000" cy="4206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" name="Google Shape;222;p5"/>
          <p:cNvCxnSpPr/>
          <p:nvPr/>
        </p:nvCxnSpPr>
        <p:spPr>
          <a:xfrm>
            <a:off x="4787900" y="5430837"/>
            <a:ext cx="3146425" cy="39211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223" name="Google Shape;223;p5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5.1. TỔNG QUAN KIỂM THỬ HỘP TRẮNG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5.2. KIỂM THỬ ĐƯỜNG DẪN CƠ SỞ</a:t>
            </a:r>
            <a:endParaRPr/>
          </a:p>
        </p:txBody>
      </p:sp>
      <p:sp>
        <p:nvSpPr>
          <p:cNvPr id="229" name="Google Shape;229;p6"/>
          <p:cNvSpPr txBox="1"/>
          <p:nvPr>
            <p:ph idx="1" type="body"/>
          </p:nvPr>
        </p:nvSpPr>
        <p:spPr>
          <a:xfrm>
            <a:off x="685800" y="1076325"/>
            <a:ext cx="8305800" cy="4943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Kiểm thử đường dẫn cơ sở đảm bảo các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đường dẫn độc lập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được kiểm thử qua ít nhất một lần.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 bước thực hiện:</a:t>
            </a:r>
            <a:endParaRPr/>
          </a:p>
          <a:p>
            <a:pPr indent="-457200" lvl="1" marL="9144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Vẽ đồ thị luồng G.</a:t>
            </a:r>
            <a:endParaRPr/>
          </a:p>
          <a:p>
            <a:pPr indent="-457200" lvl="1" marL="9144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Tính độ phức tạp Cyclomatic V(G).</a:t>
            </a:r>
            <a:endParaRPr/>
          </a:p>
          <a:p>
            <a:pPr indent="-457200" lvl="1" marL="9144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Xác định tập cơ sở các đường dẫn độc lập.</a:t>
            </a:r>
            <a:endParaRPr/>
          </a:p>
          <a:p>
            <a:pPr indent="-457200" lvl="1" marL="9144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Viết test case thực thi mỗi đường dẫn trong tập cơ sở.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"/>
          <p:cNvSpPr txBox="1"/>
          <p:nvPr>
            <p:ph type="title"/>
          </p:nvPr>
        </p:nvSpPr>
        <p:spPr>
          <a:xfrm>
            <a:off x="609600" y="96043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Vẽ đồ thị luồng</a:t>
            </a:r>
            <a:endParaRPr/>
          </a:p>
        </p:txBody>
      </p:sp>
      <p:sp>
        <p:nvSpPr>
          <p:cNvPr id="235" name="Google Shape;235;p7"/>
          <p:cNvSpPr txBox="1"/>
          <p:nvPr>
            <p:ph idx="1" type="body"/>
          </p:nvPr>
        </p:nvSpPr>
        <p:spPr>
          <a:xfrm>
            <a:off x="914400" y="1524000"/>
            <a:ext cx="80010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Đồ thị luồng (flow graph) là đồ thị có hướng, dùng mô tả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luồng điều khiển logic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Đồ thị luồng gồm hai thành phần cơ bản: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các đỉnh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tương ứng với các lệnh/nhóm lệnh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và các cạnh kết nối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tương ứng với dòng điều khiển giữa các  lệnh/nhóm lệnh.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 nút trong đồ thị luồng</a:t>
            </a:r>
            <a:endParaRPr/>
          </a:p>
          <a:p>
            <a:pPr indent="-190500" lvl="0" marL="342900" marR="0" rtl="0" algn="l"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1387475" y="5156200"/>
            <a:ext cx="484187" cy="48418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7" name="Google Shape;237;p7"/>
          <p:cNvCxnSpPr/>
          <p:nvPr/>
        </p:nvCxnSpPr>
        <p:spPr>
          <a:xfrm>
            <a:off x="1630362" y="5640387"/>
            <a:ext cx="0" cy="44291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238" name="Google Shape;238;p7"/>
          <p:cNvSpPr/>
          <p:nvPr/>
        </p:nvSpPr>
        <p:spPr>
          <a:xfrm>
            <a:off x="3122612" y="5353050"/>
            <a:ext cx="484187" cy="484187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9" name="Google Shape;239;p7"/>
          <p:cNvCxnSpPr/>
          <p:nvPr/>
        </p:nvCxnSpPr>
        <p:spPr>
          <a:xfrm>
            <a:off x="3363912" y="5029200"/>
            <a:ext cx="0" cy="3238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40" name="Google Shape;240;p7"/>
          <p:cNvCxnSpPr/>
          <p:nvPr/>
        </p:nvCxnSpPr>
        <p:spPr>
          <a:xfrm>
            <a:off x="3363912" y="5837237"/>
            <a:ext cx="0" cy="34290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241" name="Google Shape;241;p7"/>
          <p:cNvSpPr/>
          <p:nvPr/>
        </p:nvSpPr>
        <p:spPr>
          <a:xfrm>
            <a:off x="4708525" y="5380037"/>
            <a:ext cx="484187" cy="484187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" name="Google Shape;242;p7"/>
          <p:cNvCxnSpPr/>
          <p:nvPr/>
        </p:nvCxnSpPr>
        <p:spPr>
          <a:xfrm>
            <a:off x="4951412" y="5056187"/>
            <a:ext cx="0" cy="3238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43" name="Google Shape;243;p7"/>
          <p:cNvCxnSpPr/>
          <p:nvPr/>
        </p:nvCxnSpPr>
        <p:spPr>
          <a:xfrm flipH="1">
            <a:off x="4510087" y="5780087"/>
            <a:ext cx="279400" cy="30480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44" name="Google Shape;244;p7"/>
          <p:cNvCxnSpPr/>
          <p:nvPr/>
        </p:nvCxnSpPr>
        <p:spPr>
          <a:xfrm>
            <a:off x="5122862" y="5792787"/>
            <a:ext cx="269875" cy="29210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245" name="Google Shape;245;p7"/>
          <p:cNvSpPr/>
          <p:nvPr/>
        </p:nvSpPr>
        <p:spPr>
          <a:xfrm>
            <a:off x="6440487" y="5397500"/>
            <a:ext cx="484187" cy="484187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6" name="Google Shape;246;p7"/>
          <p:cNvCxnSpPr/>
          <p:nvPr/>
        </p:nvCxnSpPr>
        <p:spPr>
          <a:xfrm>
            <a:off x="6681787" y="5881687"/>
            <a:ext cx="17462" cy="32226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47" name="Google Shape;247;p7"/>
          <p:cNvCxnSpPr/>
          <p:nvPr/>
        </p:nvCxnSpPr>
        <p:spPr>
          <a:xfrm>
            <a:off x="6240462" y="5200650"/>
            <a:ext cx="271462" cy="26828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48" name="Google Shape;248;p7"/>
          <p:cNvCxnSpPr/>
          <p:nvPr/>
        </p:nvCxnSpPr>
        <p:spPr>
          <a:xfrm flipH="1">
            <a:off x="6853237" y="5200650"/>
            <a:ext cx="269875" cy="26828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grpSp>
        <p:nvGrpSpPr>
          <p:cNvPr id="249" name="Google Shape;249;p7"/>
          <p:cNvGrpSpPr/>
          <p:nvPr/>
        </p:nvGrpSpPr>
        <p:grpSpPr>
          <a:xfrm>
            <a:off x="8186737" y="5478462"/>
            <a:ext cx="484187" cy="484187"/>
            <a:chOff x="4719541" y="5195070"/>
            <a:chExt cx="484094" cy="484094"/>
          </a:xfrm>
        </p:grpSpPr>
        <p:sp>
          <p:nvSpPr>
            <p:cNvPr id="250" name="Google Shape;250;p7"/>
            <p:cNvSpPr/>
            <p:nvPr/>
          </p:nvSpPr>
          <p:spPr>
            <a:xfrm>
              <a:off x="4719541" y="5195070"/>
              <a:ext cx="484094" cy="484094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cap="flat" cmpd="sng" w="28575">
              <a:solidFill>
                <a:srgbClr val="49736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7"/>
            <p:cNvSpPr/>
            <p:nvPr/>
          </p:nvSpPr>
          <p:spPr>
            <a:xfrm>
              <a:off x="4794139" y="5256970"/>
              <a:ext cx="349183" cy="349183"/>
            </a:xfrm>
            <a:prstGeom prst="ellipse">
              <a:avLst/>
            </a:prstGeom>
            <a:solidFill>
              <a:schemeClr val="accent1"/>
            </a:solidFill>
            <a:ln cap="flat" cmpd="sng" w="28575">
              <a:solidFill>
                <a:srgbClr val="49736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52" name="Google Shape;252;p7"/>
          <p:cNvCxnSpPr/>
          <p:nvPr/>
        </p:nvCxnSpPr>
        <p:spPr>
          <a:xfrm>
            <a:off x="8429625" y="5156200"/>
            <a:ext cx="0" cy="32226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253" name="Google Shape;253;p7"/>
          <p:cNvSpPr txBox="1"/>
          <p:nvPr/>
        </p:nvSpPr>
        <p:spPr>
          <a:xfrm>
            <a:off x="1090612" y="6240462"/>
            <a:ext cx="1077912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Nút bắt đầu</a:t>
            </a:r>
            <a:endParaRPr/>
          </a:p>
        </p:txBody>
      </p:sp>
      <p:sp>
        <p:nvSpPr>
          <p:cNvPr id="254" name="Google Shape;254;p7"/>
          <p:cNvSpPr txBox="1"/>
          <p:nvPr/>
        </p:nvSpPr>
        <p:spPr>
          <a:xfrm>
            <a:off x="7837487" y="6129337"/>
            <a:ext cx="1077912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Nút kết thúc</a:t>
            </a:r>
            <a:endParaRPr/>
          </a:p>
        </p:txBody>
      </p:sp>
      <p:sp>
        <p:nvSpPr>
          <p:cNvPr id="255" name="Google Shape;255;p7"/>
          <p:cNvSpPr txBox="1"/>
          <p:nvPr/>
        </p:nvSpPr>
        <p:spPr>
          <a:xfrm>
            <a:off x="6105525" y="6203950"/>
            <a:ext cx="11525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Nút nối</a:t>
            </a:r>
            <a:endParaRPr/>
          </a:p>
        </p:txBody>
      </p:sp>
      <p:sp>
        <p:nvSpPr>
          <p:cNvPr id="256" name="Google Shape;256;p7"/>
          <p:cNvSpPr txBox="1"/>
          <p:nvPr/>
        </p:nvSpPr>
        <p:spPr>
          <a:xfrm>
            <a:off x="4056062" y="6189662"/>
            <a:ext cx="1795462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Nút vị từ hay nút quyết định</a:t>
            </a:r>
            <a:endParaRPr/>
          </a:p>
        </p:txBody>
      </p:sp>
      <p:sp>
        <p:nvSpPr>
          <p:cNvPr id="257" name="Google Shape;257;p7"/>
          <p:cNvSpPr txBox="1"/>
          <p:nvPr/>
        </p:nvSpPr>
        <p:spPr>
          <a:xfrm>
            <a:off x="2706687" y="6270625"/>
            <a:ext cx="13144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Khối xử lý</a:t>
            </a:r>
            <a:endParaRPr/>
          </a:p>
        </p:txBody>
      </p:sp>
      <p:sp>
        <p:nvSpPr>
          <p:cNvPr id="258" name="Google Shape;258;p7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5.2. KIỂM THỬ ĐƯỜNG DẪN CƠ SỞ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"/>
          <p:cNvSpPr txBox="1"/>
          <p:nvPr>
            <p:ph idx="1" type="body"/>
          </p:nvPr>
        </p:nvSpPr>
        <p:spPr>
          <a:xfrm>
            <a:off x="841375" y="1606550"/>
            <a:ext cx="82296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 đồ thị luồng cơ bản</a:t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1603375" y="2054225"/>
            <a:ext cx="577850" cy="579437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1603375" y="3000375"/>
            <a:ext cx="577850" cy="577850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p8"/>
          <p:cNvCxnSpPr/>
          <p:nvPr/>
        </p:nvCxnSpPr>
        <p:spPr>
          <a:xfrm>
            <a:off x="1892300" y="2633662"/>
            <a:ext cx="0" cy="36671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267" name="Google Shape;267;p8"/>
          <p:cNvSpPr txBox="1"/>
          <p:nvPr/>
        </p:nvSpPr>
        <p:spPr>
          <a:xfrm>
            <a:off x="1258887" y="3602037"/>
            <a:ext cx="14287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Tuyến tính</a:t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3833812" y="2054225"/>
            <a:ext cx="577850" cy="579437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3289300" y="2940050"/>
            <a:ext cx="577850" cy="577850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4376737" y="2935287"/>
            <a:ext cx="579437" cy="579437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3851275" y="3648075"/>
            <a:ext cx="579437" cy="577850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p8"/>
          <p:cNvCxnSpPr/>
          <p:nvPr/>
        </p:nvCxnSpPr>
        <p:spPr>
          <a:xfrm flipH="1">
            <a:off x="3578225" y="2547937"/>
            <a:ext cx="341312" cy="39211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73" name="Google Shape;273;p8"/>
          <p:cNvCxnSpPr/>
          <p:nvPr/>
        </p:nvCxnSpPr>
        <p:spPr>
          <a:xfrm>
            <a:off x="4327525" y="2547937"/>
            <a:ext cx="339725" cy="3873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74" name="Google Shape;274;p8"/>
          <p:cNvCxnSpPr/>
          <p:nvPr/>
        </p:nvCxnSpPr>
        <p:spPr>
          <a:xfrm>
            <a:off x="3578225" y="3517900"/>
            <a:ext cx="273050" cy="41910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75" name="Google Shape;275;p8"/>
          <p:cNvCxnSpPr/>
          <p:nvPr/>
        </p:nvCxnSpPr>
        <p:spPr>
          <a:xfrm flipH="1">
            <a:off x="4430712" y="3514725"/>
            <a:ext cx="236537" cy="42227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276" name="Google Shape;276;p8"/>
          <p:cNvSpPr txBox="1"/>
          <p:nvPr/>
        </p:nvSpPr>
        <p:spPr>
          <a:xfrm>
            <a:off x="3714750" y="4321175"/>
            <a:ext cx="9636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if/else</a:t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6134100" y="2054225"/>
            <a:ext cx="577850" cy="579437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6138862" y="2967037"/>
            <a:ext cx="577850" cy="579437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6134100" y="3967162"/>
            <a:ext cx="577850" cy="577850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6156325" y="4860925"/>
            <a:ext cx="577850" cy="577850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1" name="Google Shape;281;p8"/>
          <p:cNvCxnSpPr/>
          <p:nvPr/>
        </p:nvCxnSpPr>
        <p:spPr>
          <a:xfrm>
            <a:off x="6423025" y="2633662"/>
            <a:ext cx="4762" cy="33337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82" name="Google Shape;282;p8"/>
          <p:cNvCxnSpPr/>
          <p:nvPr/>
        </p:nvCxnSpPr>
        <p:spPr>
          <a:xfrm flipH="1">
            <a:off x="6423025" y="3546475"/>
            <a:ext cx="4762" cy="42068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83" name="Google Shape;283;p8"/>
          <p:cNvCxnSpPr/>
          <p:nvPr/>
        </p:nvCxnSpPr>
        <p:spPr>
          <a:xfrm rot="5400000">
            <a:off x="5184100" y="3293250"/>
            <a:ext cx="1912800" cy="12600"/>
          </a:xfrm>
          <a:prstGeom prst="bentConnector3">
            <a:avLst>
              <a:gd fmla="val 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stealth"/>
            <a:tailEnd len="med" w="med" type="none"/>
          </a:ln>
        </p:spPr>
      </p:cxnSp>
      <p:cxnSp>
        <p:nvCxnSpPr>
          <p:cNvPr id="284" name="Google Shape;284;p8"/>
          <p:cNvCxnSpPr/>
          <p:nvPr/>
        </p:nvCxnSpPr>
        <p:spPr>
          <a:xfrm flipH="1" rot="-5400000">
            <a:off x="5319650" y="3735450"/>
            <a:ext cx="2806800" cy="22200"/>
          </a:xfrm>
          <a:prstGeom prst="bentConnector3">
            <a:avLst>
              <a:gd fmla="val 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285" name="Google Shape;285;p8"/>
          <p:cNvSpPr txBox="1"/>
          <p:nvPr/>
        </p:nvSpPr>
        <p:spPr>
          <a:xfrm>
            <a:off x="6107112" y="5508625"/>
            <a:ext cx="9207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while</a:t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8189912" y="2054225"/>
            <a:ext cx="577850" cy="579437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8188325" y="3038475"/>
            <a:ext cx="577850" cy="577850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8188325" y="4043362"/>
            <a:ext cx="577850" cy="579437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" name="Google Shape;289;p8"/>
          <p:cNvCxnSpPr/>
          <p:nvPr/>
        </p:nvCxnSpPr>
        <p:spPr>
          <a:xfrm flipH="1">
            <a:off x="8477250" y="2633662"/>
            <a:ext cx="1587" cy="40481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90" name="Google Shape;290;p8"/>
          <p:cNvCxnSpPr/>
          <p:nvPr/>
        </p:nvCxnSpPr>
        <p:spPr>
          <a:xfrm>
            <a:off x="8477250" y="3616325"/>
            <a:ext cx="0" cy="42703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291" name="Google Shape;291;p8"/>
          <p:cNvSpPr txBox="1"/>
          <p:nvPr/>
        </p:nvSpPr>
        <p:spPr>
          <a:xfrm>
            <a:off x="7943850" y="4756150"/>
            <a:ext cx="12763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do..while</a:t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2009775" y="4333875"/>
            <a:ext cx="577850" cy="577850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1008062" y="5162550"/>
            <a:ext cx="579437" cy="577850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2009775" y="5162550"/>
            <a:ext cx="577850" cy="577850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3063875" y="5162550"/>
            <a:ext cx="577850" cy="577850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2009775" y="5975350"/>
            <a:ext cx="577850" cy="577850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p8"/>
          <p:cNvCxnSpPr/>
          <p:nvPr/>
        </p:nvCxnSpPr>
        <p:spPr>
          <a:xfrm flipH="1" rot="10800000">
            <a:off x="1296987" y="4622800"/>
            <a:ext cx="712787" cy="5397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stealth"/>
            <a:tailEnd len="med" w="med" type="none"/>
          </a:ln>
        </p:spPr>
      </p:cxnSp>
      <p:cxnSp>
        <p:nvCxnSpPr>
          <p:cNvPr id="298" name="Google Shape;298;p8"/>
          <p:cNvCxnSpPr/>
          <p:nvPr/>
        </p:nvCxnSpPr>
        <p:spPr>
          <a:xfrm>
            <a:off x="2298700" y="4911725"/>
            <a:ext cx="0" cy="25082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299" name="Google Shape;299;p8"/>
          <p:cNvCxnSpPr/>
          <p:nvPr/>
        </p:nvCxnSpPr>
        <p:spPr>
          <a:xfrm>
            <a:off x="2587625" y="4622800"/>
            <a:ext cx="765175" cy="5397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00" name="Google Shape;300;p8"/>
          <p:cNvCxnSpPr/>
          <p:nvPr/>
        </p:nvCxnSpPr>
        <p:spPr>
          <a:xfrm>
            <a:off x="1296987" y="5740400"/>
            <a:ext cx="712787" cy="52387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01" name="Google Shape;301;p8"/>
          <p:cNvCxnSpPr/>
          <p:nvPr/>
        </p:nvCxnSpPr>
        <p:spPr>
          <a:xfrm>
            <a:off x="2298700" y="5740400"/>
            <a:ext cx="0" cy="2349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02" name="Google Shape;302;p8"/>
          <p:cNvCxnSpPr/>
          <p:nvPr/>
        </p:nvCxnSpPr>
        <p:spPr>
          <a:xfrm flipH="1">
            <a:off x="2587625" y="5740400"/>
            <a:ext cx="765175" cy="52387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303" name="Google Shape;303;p8"/>
          <p:cNvSpPr txBox="1"/>
          <p:nvPr/>
        </p:nvSpPr>
        <p:spPr>
          <a:xfrm>
            <a:off x="2751137" y="6126162"/>
            <a:ext cx="16256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switch/case</a:t>
            </a:r>
            <a:endParaRPr/>
          </a:p>
        </p:txBody>
      </p:sp>
      <p:sp>
        <p:nvSpPr>
          <p:cNvPr id="304" name="Google Shape;304;p8"/>
          <p:cNvSpPr txBox="1"/>
          <p:nvPr/>
        </p:nvSpPr>
        <p:spPr>
          <a:xfrm>
            <a:off x="2649537" y="5246687"/>
            <a:ext cx="48101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...</a:t>
            </a:r>
            <a:endParaRPr/>
          </a:p>
        </p:txBody>
      </p:sp>
      <p:cxnSp>
        <p:nvCxnSpPr>
          <p:cNvPr id="305" name="Google Shape;305;p8"/>
          <p:cNvCxnSpPr/>
          <p:nvPr/>
        </p:nvCxnSpPr>
        <p:spPr>
          <a:xfrm rot="-5400000">
            <a:off x="8274775" y="2834500"/>
            <a:ext cx="984300" cy="1500"/>
          </a:xfrm>
          <a:prstGeom prst="bentConnector3">
            <a:avLst>
              <a:gd fmla="val 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306" name="Google Shape;306;p8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5.2. KIỂM THỬ ĐƯỜNG DẪN CƠ SỞ</a:t>
            </a:r>
            <a:endParaRPr/>
          </a:p>
        </p:txBody>
      </p:sp>
      <p:sp>
        <p:nvSpPr>
          <p:cNvPr id="307" name="Google Shape;307;p8"/>
          <p:cNvSpPr txBox="1"/>
          <p:nvPr/>
        </p:nvSpPr>
        <p:spPr>
          <a:xfrm>
            <a:off x="609600" y="96043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Vẽ đồ thị luồng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"/>
          <p:cNvSpPr txBox="1"/>
          <p:nvPr>
            <p:ph idx="1" type="body"/>
          </p:nvPr>
        </p:nvSpPr>
        <p:spPr>
          <a:xfrm>
            <a:off x="781050" y="1752600"/>
            <a:ext cx="8229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Đồ thị luồng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được xây dựng dựa trên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sơ đồ luồng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điều khiển (flow chart).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Sơ đồ luồng điều khiển mô tả cấu trúc điều khiển của chương trình.</a:t>
            </a:r>
            <a:endParaRPr/>
          </a:p>
        </p:txBody>
      </p:sp>
      <p:sp>
        <p:nvSpPr>
          <p:cNvPr id="313" name="Google Shape;313;p9"/>
          <p:cNvSpPr txBox="1"/>
          <p:nvPr/>
        </p:nvSpPr>
        <p:spPr>
          <a:xfrm>
            <a:off x="3152775" y="4071937"/>
            <a:ext cx="693737" cy="36671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/>
          </a:p>
        </p:txBody>
      </p:sp>
      <p:sp>
        <p:nvSpPr>
          <p:cNvPr id="314" name="Google Shape;314;p9"/>
          <p:cNvSpPr txBox="1"/>
          <p:nvPr/>
        </p:nvSpPr>
        <p:spPr>
          <a:xfrm>
            <a:off x="4421187" y="4071937"/>
            <a:ext cx="693737" cy="36671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5591175" y="3962400"/>
            <a:ext cx="804862" cy="585787"/>
          </a:xfrm>
          <a:prstGeom prst="diamond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5594350" y="4940300"/>
            <a:ext cx="804862" cy="585787"/>
          </a:xfrm>
          <a:prstGeom prst="diamond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/>
          </a:p>
        </p:txBody>
      </p:sp>
      <p:sp>
        <p:nvSpPr>
          <p:cNvPr id="317" name="Google Shape;317;p9"/>
          <p:cNvSpPr txBox="1"/>
          <p:nvPr/>
        </p:nvSpPr>
        <p:spPr>
          <a:xfrm>
            <a:off x="6848475" y="4071937"/>
            <a:ext cx="695325" cy="36671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/>
          </a:p>
        </p:txBody>
      </p:sp>
      <p:sp>
        <p:nvSpPr>
          <p:cNvPr id="318" name="Google Shape;318;p9"/>
          <p:cNvSpPr txBox="1"/>
          <p:nvPr/>
        </p:nvSpPr>
        <p:spPr>
          <a:xfrm>
            <a:off x="4895850" y="5530850"/>
            <a:ext cx="695325" cy="36671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/>
          </a:p>
        </p:txBody>
      </p:sp>
      <p:sp>
        <p:nvSpPr>
          <p:cNvPr id="319" name="Google Shape;319;p9"/>
          <p:cNvSpPr txBox="1"/>
          <p:nvPr/>
        </p:nvSpPr>
        <p:spPr>
          <a:xfrm>
            <a:off x="6396037" y="5530850"/>
            <a:ext cx="693737" cy="36671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7</a:t>
            </a:r>
            <a:endParaRPr/>
          </a:p>
        </p:txBody>
      </p:sp>
      <p:cxnSp>
        <p:nvCxnSpPr>
          <p:cNvPr id="320" name="Google Shape;320;p9"/>
          <p:cNvCxnSpPr/>
          <p:nvPr/>
        </p:nvCxnSpPr>
        <p:spPr>
          <a:xfrm>
            <a:off x="3846512" y="4256087"/>
            <a:ext cx="574675" cy="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21" name="Google Shape;321;p9"/>
          <p:cNvCxnSpPr/>
          <p:nvPr/>
        </p:nvCxnSpPr>
        <p:spPr>
          <a:xfrm>
            <a:off x="5114925" y="4256087"/>
            <a:ext cx="476250" cy="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22" name="Google Shape;322;p9"/>
          <p:cNvCxnSpPr/>
          <p:nvPr/>
        </p:nvCxnSpPr>
        <p:spPr>
          <a:xfrm flipH="1" rot="-5400000">
            <a:off x="5798412" y="4742588"/>
            <a:ext cx="392100" cy="3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23" name="Google Shape;323;p9"/>
          <p:cNvCxnSpPr/>
          <p:nvPr/>
        </p:nvCxnSpPr>
        <p:spPr>
          <a:xfrm flipH="1">
            <a:off x="5243649" y="5233987"/>
            <a:ext cx="350700" cy="297000"/>
          </a:xfrm>
          <a:prstGeom prst="bentConnector2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24" name="Google Shape;324;p9"/>
          <p:cNvCxnSpPr/>
          <p:nvPr/>
        </p:nvCxnSpPr>
        <p:spPr>
          <a:xfrm>
            <a:off x="6399212" y="5233987"/>
            <a:ext cx="344400" cy="297000"/>
          </a:xfrm>
          <a:prstGeom prst="bentConnector2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325" name="Google Shape;325;p9"/>
          <p:cNvSpPr/>
          <p:nvPr/>
        </p:nvSpPr>
        <p:spPr>
          <a:xfrm>
            <a:off x="5775325" y="5999162"/>
            <a:ext cx="403225" cy="40163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endParaRPr/>
          </a:p>
        </p:txBody>
      </p:sp>
      <p:cxnSp>
        <p:nvCxnSpPr>
          <p:cNvPr id="326" name="Google Shape;326;p9"/>
          <p:cNvCxnSpPr/>
          <p:nvPr/>
        </p:nvCxnSpPr>
        <p:spPr>
          <a:xfrm rot="5400000">
            <a:off x="5605387" y="4810200"/>
            <a:ext cx="1962300" cy="1219200"/>
          </a:xfrm>
          <a:prstGeom prst="bentConnector3">
            <a:avLst>
              <a:gd fmla="val 24114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327" name="Google Shape;327;p9"/>
          <p:cNvSpPr/>
          <p:nvPr/>
        </p:nvSpPr>
        <p:spPr>
          <a:xfrm>
            <a:off x="3300412" y="4878387"/>
            <a:ext cx="401637" cy="40163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8" name="Google Shape;328;p9"/>
          <p:cNvCxnSpPr/>
          <p:nvPr/>
        </p:nvCxnSpPr>
        <p:spPr>
          <a:xfrm rot="10800000">
            <a:off x="3498850" y="4438650"/>
            <a:ext cx="1587" cy="43973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29" name="Google Shape;329;p9"/>
          <p:cNvCxnSpPr/>
          <p:nvPr/>
        </p:nvCxnSpPr>
        <p:spPr>
          <a:xfrm>
            <a:off x="6396037" y="4256087"/>
            <a:ext cx="452437" cy="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30" name="Google Shape;330;p9"/>
          <p:cNvCxnSpPr/>
          <p:nvPr/>
        </p:nvCxnSpPr>
        <p:spPr>
          <a:xfrm>
            <a:off x="5243513" y="5897562"/>
            <a:ext cx="531900" cy="301500"/>
          </a:xfrm>
          <a:prstGeom prst="bentConnector2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31" name="Google Shape;331;p9"/>
          <p:cNvCxnSpPr/>
          <p:nvPr/>
        </p:nvCxnSpPr>
        <p:spPr>
          <a:xfrm flipH="1">
            <a:off x="6178499" y="5897563"/>
            <a:ext cx="565200" cy="301500"/>
          </a:xfrm>
          <a:prstGeom prst="bentConnector2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332" name="Google Shape;332;p9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5.2. KIỂM THỬ ĐƯỜNG DẪN CƠ SỞ</a:t>
            </a:r>
            <a:endParaRPr/>
          </a:p>
        </p:txBody>
      </p:sp>
      <p:sp>
        <p:nvSpPr>
          <p:cNvPr id="333" name="Google Shape;333;p9"/>
          <p:cNvSpPr txBox="1"/>
          <p:nvPr>
            <p:ph type="title"/>
          </p:nvPr>
        </p:nvSpPr>
        <p:spPr>
          <a:xfrm>
            <a:off x="609600" y="96043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Vẽ đồ thị luồng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0"/>
          <p:cNvSpPr txBox="1"/>
          <p:nvPr>
            <p:ph idx="1" type="body"/>
          </p:nvPr>
        </p:nvSpPr>
        <p:spPr>
          <a:xfrm>
            <a:off x="838200" y="1676400"/>
            <a:ext cx="8229600" cy="441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hình chữ nhật liên tiếp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và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một hình thoi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(điều kiện) liên tiếp nhau trong sơ đồ luồng sẽ tạo thành một nút (node) trong đồ thị luồng.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Từ điều kiện rẽ thành các cạnh nối tới các node khác.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 cạnh và nút có thể hợp lại thành những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vùng khép kín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Phạm vi bên ngoài đồ thị luồng cũng xem là một vùng.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Nút chứa biểu thức điều kiện gọi là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nút quyết định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(node)</a:t>
            </a:r>
            <a:endParaRPr/>
          </a:p>
        </p:txBody>
      </p:sp>
      <p:sp>
        <p:nvSpPr>
          <p:cNvPr id="339" name="Google Shape;339;p10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5.2. KIỂM THỬ ĐƯỜNG DẪN CƠ SỞ</a:t>
            </a:r>
            <a:endParaRPr/>
          </a:p>
        </p:txBody>
      </p:sp>
      <p:sp>
        <p:nvSpPr>
          <p:cNvPr id="340" name="Google Shape;340;p10"/>
          <p:cNvSpPr txBox="1"/>
          <p:nvPr>
            <p:ph type="title"/>
          </p:nvPr>
        </p:nvSpPr>
        <p:spPr>
          <a:xfrm>
            <a:off x="609600" y="96043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Vẽ đồ thị luồng</a:t>
            </a: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11"/>
          <p:cNvGrpSpPr/>
          <p:nvPr/>
        </p:nvGrpSpPr>
        <p:grpSpPr>
          <a:xfrm>
            <a:off x="6081712" y="1747837"/>
            <a:ext cx="877887" cy="865187"/>
            <a:chOff x="5871972" y="1284786"/>
            <a:chExt cx="878452" cy="865005"/>
          </a:xfrm>
        </p:grpSpPr>
        <p:sp>
          <p:nvSpPr>
            <p:cNvPr id="346" name="Google Shape;346;p11"/>
            <p:cNvSpPr/>
            <p:nvPr/>
          </p:nvSpPr>
          <p:spPr>
            <a:xfrm>
              <a:off x="5871972" y="1284786"/>
              <a:ext cx="865744" cy="865005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rgbClr val="49736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1"/>
            <p:cNvSpPr txBox="1"/>
            <p:nvPr/>
          </p:nvSpPr>
          <p:spPr>
            <a:xfrm>
              <a:off x="5900511" y="1532622"/>
              <a:ext cx="84991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r>
                <a:rPr b="0" i="0" lang="en-US" sz="1800" u="none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1, 2, 3</a:t>
              </a:r>
              <a:endParaRPr/>
            </a:p>
          </p:txBody>
        </p:sp>
      </p:grpSp>
      <p:sp>
        <p:nvSpPr>
          <p:cNvPr id="348" name="Google Shape;348;p11"/>
          <p:cNvSpPr/>
          <p:nvPr/>
        </p:nvSpPr>
        <p:spPr>
          <a:xfrm>
            <a:off x="4938712" y="2782887"/>
            <a:ext cx="865187" cy="86518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7178675" y="2782887"/>
            <a:ext cx="865187" cy="86518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6081712" y="4065587"/>
            <a:ext cx="865187" cy="86518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/>
          </a:p>
        </p:txBody>
      </p:sp>
      <p:sp>
        <p:nvSpPr>
          <p:cNvPr id="351" name="Google Shape;351;p11"/>
          <p:cNvSpPr/>
          <p:nvPr/>
        </p:nvSpPr>
        <p:spPr>
          <a:xfrm>
            <a:off x="8212137" y="4065587"/>
            <a:ext cx="865187" cy="86518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7</a:t>
            </a: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6081712" y="5572125"/>
            <a:ext cx="865187" cy="86518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endParaRPr/>
          </a:p>
        </p:txBody>
      </p:sp>
      <p:cxnSp>
        <p:nvCxnSpPr>
          <p:cNvPr id="353" name="Google Shape;353;p11"/>
          <p:cNvCxnSpPr/>
          <p:nvPr/>
        </p:nvCxnSpPr>
        <p:spPr>
          <a:xfrm flipH="1">
            <a:off x="5676900" y="2486025"/>
            <a:ext cx="544512" cy="42386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54" name="Google Shape;354;p11"/>
          <p:cNvCxnSpPr/>
          <p:nvPr/>
        </p:nvCxnSpPr>
        <p:spPr>
          <a:xfrm>
            <a:off x="6832600" y="2486025"/>
            <a:ext cx="473075" cy="42386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55" name="Google Shape;355;p11"/>
          <p:cNvCxnSpPr/>
          <p:nvPr/>
        </p:nvCxnSpPr>
        <p:spPr>
          <a:xfrm flipH="1">
            <a:off x="6832600" y="3521075"/>
            <a:ext cx="473075" cy="67151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56" name="Google Shape;356;p11"/>
          <p:cNvCxnSpPr/>
          <p:nvPr/>
        </p:nvCxnSpPr>
        <p:spPr>
          <a:xfrm>
            <a:off x="7916862" y="3521075"/>
            <a:ext cx="422275" cy="67151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57" name="Google Shape;357;p11"/>
          <p:cNvCxnSpPr/>
          <p:nvPr/>
        </p:nvCxnSpPr>
        <p:spPr>
          <a:xfrm>
            <a:off x="6513512" y="4930775"/>
            <a:ext cx="0" cy="6413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58" name="Google Shape;358;p11"/>
          <p:cNvCxnSpPr/>
          <p:nvPr/>
        </p:nvCxnSpPr>
        <p:spPr>
          <a:xfrm flipH="1">
            <a:off x="6819900" y="4803775"/>
            <a:ext cx="1519237" cy="89376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59" name="Google Shape;359;p11"/>
          <p:cNvCxnSpPr/>
          <p:nvPr/>
        </p:nvCxnSpPr>
        <p:spPr>
          <a:xfrm>
            <a:off x="5370512" y="3648075"/>
            <a:ext cx="838200" cy="204946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360" name="Google Shape;360;p11"/>
          <p:cNvSpPr txBox="1"/>
          <p:nvPr/>
        </p:nvSpPr>
        <p:spPr>
          <a:xfrm>
            <a:off x="4197350" y="1876425"/>
            <a:ext cx="132238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Nút (Node)</a:t>
            </a:r>
            <a:endParaRPr/>
          </a:p>
        </p:txBody>
      </p:sp>
      <p:sp>
        <p:nvSpPr>
          <p:cNvPr id="361" name="Google Shape;361;p11"/>
          <p:cNvSpPr txBox="1"/>
          <p:nvPr/>
        </p:nvSpPr>
        <p:spPr>
          <a:xfrm>
            <a:off x="7832725" y="1836737"/>
            <a:ext cx="14573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Cạnh (Edge)</a:t>
            </a:r>
            <a:endParaRPr/>
          </a:p>
        </p:txBody>
      </p:sp>
      <p:cxnSp>
        <p:nvCxnSpPr>
          <p:cNvPr id="362" name="Google Shape;362;p11"/>
          <p:cNvCxnSpPr/>
          <p:nvPr/>
        </p:nvCxnSpPr>
        <p:spPr>
          <a:xfrm rot="10800000">
            <a:off x="4857750" y="2246312"/>
            <a:ext cx="207962" cy="663575"/>
          </a:xfrm>
          <a:prstGeom prst="straightConnector1">
            <a:avLst/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63" name="Google Shape;363;p11"/>
          <p:cNvCxnSpPr/>
          <p:nvPr/>
        </p:nvCxnSpPr>
        <p:spPr>
          <a:xfrm rot="10800000">
            <a:off x="5519737" y="2062162"/>
            <a:ext cx="561975" cy="119062"/>
          </a:xfrm>
          <a:prstGeom prst="straightConnector1">
            <a:avLst/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64" name="Google Shape;364;p11"/>
          <p:cNvCxnSpPr/>
          <p:nvPr/>
        </p:nvCxnSpPr>
        <p:spPr>
          <a:xfrm flipH="1" rot="10800000">
            <a:off x="7056437" y="2020887"/>
            <a:ext cx="776287" cy="628650"/>
          </a:xfrm>
          <a:prstGeom prst="straightConnector1">
            <a:avLst/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65" name="Google Shape;365;p11"/>
          <p:cNvCxnSpPr/>
          <p:nvPr/>
        </p:nvCxnSpPr>
        <p:spPr>
          <a:xfrm flipH="1" rot="10800000">
            <a:off x="8097837" y="2192337"/>
            <a:ext cx="531812" cy="1641475"/>
          </a:xfrm>
          <a:prstGeom prst="straightConnector1">
            <a:avLst/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366" name="Google Shape;366;p11"/>
          <p:cNvSpPr txBox="1"/>
          <p:nvPr/>
        </p:nvSpPr>
        <p:spPr>
          <a:xfrm>
            <a:off x="7291387" y="4368800"/>
            <a:ext cx="4508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</a:t>
            </a:r>
            <a:r>
              <a:rPr b="1" baseline="-2500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/>
          </a:p>
        </p:txBody>
      </p:sp>
      <p:sp>
        <p:nvSpPr>
          <p:cNvPr id="367" name="Google Shape;367;p11"/>
          <p:cNvSpPr txBox="1"/>
          <p:nvPr/>
        </p:nvSpPr>
        <p:spPr>
          <a:xfrm>
            <a:off x="6119812" y="3376612"/>
            <a:ext cx="4492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</a:t>
            </a:r>
            <a:r>
              <a:rPr b="1" baseline="-2500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/>
          </a:p>
        </p:txBody>
      </p:sp>
      <p:sp>
        <p:nvSpPr>
          <p:cNvPr id="368" name="Google Shape;368;p11"/>
          <p:cNvSpPr txBox="1"/>
          <p:nvPr/>
        </p:nvSpPr>
        <p:spPr>
          <a:xfrm>
            <a:off x="7824787" y="5399087"/>
            <a:ext cx="4508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</a:t>
            </a:r>
            <a:r>
              <a:rPr b="1" baseline="-2500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/>
          </a:p>
        </p:txBody>
      </p:sp>
      <p:sp>
        <p:nvSpPr>
          <p:cNvPr id="369" name="Google Shape;369;p11"/>
          <p:cNvSpPr txBox="1"/>
          <p:nvPr/>
        </p:nvSpPr>
        <p:spPr>
          <a:xfrm>
            <a:off x="7056437" y="6335712"/>
            <a:ext cx="15938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Vùng (region)</a:t>
            </a:r>
            <a:endParaRPr/>
          </a:p>
        </p:txBody>
      </p:sp>
      <p:cxnSp>
        <p:nvCxnSpPr>
          <p:cNvPr id="370" name="Google Shape;370;p11"/>
          <p:cNvCxnSpPr/>
          <p:nvPr/>
        </p:nvCxnSpPr>
        <p:spPr>
          <a:xfrm>
            <a:off x="7516812" y="4738687"/>
            <a:ext cx="336550" cy="1597025"/>
          </a:xfrm>
          <a:prstGeom prst="straightConnector1">
            <a:avLst/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71" name="Google Shape;371;p11"/>
          <p:cNvCxnSpPr/>
          <p:nvPr/>
        </p:nvCxnSpPr>
        <p:spPr>
          <a:xfrm flipH="1">
            <a:off x="7853362" y="5767387"/>
            <a:ext cx="196850" cy="568325"/>
          </a:xfrm>
          <a:prstGeom prst="straightConnector1">
            <a:avLst/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372" name="Google Shape;372;p11"/>
          <p:cNvSpPr txBox="1"/>
          <p:nvPr/>
        </p:nvSpPr>
        <p:spPr>
          <a:xfrm>
            <a:off x="533400" y="2874962"/>
            <a:ext cx="695325" cy="36671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/>
          </a:p>
        </p:txBody>
      </p:sp>
      <p:sp>
        <p:nvSpPr>
          <p:cNvPr id="373" name="Google Shape;373;p11"/>
          <p:cNvSpPr txBox="1"/>
          <p:nvPr/>
        </p:nvSpPr>
        <p:spPr>
          <a:xfrm>
            <a:off x="533400" y="3606800"/>
            <a:ext cx="695325" cy="365125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1703387" y="3497262"/>
            <a:ext cx="804862" cy="585787"/>
          </a:xfrm>
          <a:prstGeom prst="diamond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/>
          </a:p>
        </p:txBody>
      </p:sp>
      <p:sp>
        <p:nvSpPr>
          <p:cNvPr id="375" name="Google Shape;375;p11"/>
          <p:cNvSpPr/>
          <p:nvPr/>
        </p:nvSpPr>
        <p:spPr>
          <a:xfrm>
            <a:off x="1706562" y="4475162"/>
            <a:ext cx="804862" cy="585787"/>
          </a:xfrm>
          <a:prstGeom prst="diamond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/>
          </a:p>
        </p:txBody>
      </p:sp>
      <p:sp>
        <p:nvSpPr>
          <p:cNvPr id="376" name="Google Shape;376;p11"/>
          <p:cNvSpPr txBox="1"/>
          <p:nvPr/>
        </p:nvSpPr>
        <p:spPr>
          <a:xfrm>
            <a:off x="2960687" y="3606800"/>
            <a:ext cx="695325" cy="365125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/>
          </a:p>
        </p:txBody>
      </p:sp>
      <p:sp>
        <p:nvSpPr>
          <p:cNvPr id="377" name="Google Shape;377;p11"/>
          <p:cNvSpPr txBox="1"/>
          <p:nvPr/>
        </p:nvSpPr>
        <p:spPr>
          <a:xfrm>
            <a:off x="1009650" y="5065712"/>
            <a:ext cx="693737" cy="365125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/>
          </a:p>
        </p:txBody>
      </p:sp>
      <p:sp>
        <p:nvSpPr>
          <p:cNvPr id="378" name="Google Shape;378;p11"/>
          <p:cNvSpPr txBox="1"/>
          <p:nvPr/>
        </p:nvSpPr>
        <p:spPr>
          <a:xfrm>
            <a:off x="2508250" y="5065712"/>
            <a:ext cx="695325" cy="365125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7</a:t>
            </a:r>
            <a:endParaRPr/>
          </a:p>
        </p:txBody>
      </p:sp>
      <p:cxnSp>
        <p:nvCxnSpPr>
          <p:cNvPr id="379" name="Google Shape;379;p11"/>
          <p:cNvCxnSpPr/>
          <p:nvPr/>
        </p:nvCxnSpPr>
        <p:spPr>
          <a:xfrm>
            <a:off x="881062" y="3241675"/>
            <a:ext cx="0" cy="36512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80" name="Google Shape;380;p11"/>
          <p:cNvCxnSpPr/>
          <p:nvPr/>
        </p:nvCxnSpPr>
        <p:spPr>
          <a:xfrm>
            <a:off x="1228725" y="3789362"/>
            <a:ext cx="474662" cy="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81" name="Google Shape;381;p11"/>
          <p:cNvCxnSpPr/>
          <p:nvPr/>
        </p:nvCxnSpPr>
        <p:spPr>
          <a:xfrm flipH="1" rot="-5400000">
            <a:off x="1912212" y="4277450"/>
            <a:ext cx="392100" cy="33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82" name="Google Shape;382;p11"/>
          <p:cNvCxnSpPr/>
          <p:nvPr/>
        </p:nvCxnSpPr>
        <p:spPr>
          <a:xfrm flipH="1">
            <a:off x="1355862" y="4767262"/>
            <a:ext cx="350700" cy="298500"/>
          </a:xfrm>
          <a:prstGeom prst="bentConnector2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83" name="Google Shape;383;p11"/>
          <p:cNvCxnSpPr/>
          <p:nvPr/>
        </p:nvCxnSpPr>
        <p:spPr>
          <a:xfrm>
            <a:off x="2511425" y="4767262"/>
            <a:ext cx="344400" cy="298500"/>
          </a:xfrm>
          <a:prstGeom prst="bentConnector2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384" name="Google Shape;384;p11"/>
          <p:cNvSpPr/>
          <p:nvPr/>
        </p:nvSpPr>
        <p:spPr>
          <a:xfrm>
            <a:off x="1889125" y="5532437"/>
            <a:ext cx="401637" cy="403225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endParaRPr/>
          </a:p>
        </p:txBody>
      </p:sp>
      <p:cxnSp>
        <p:nvCxnSpPr>
          <p:cNvPr id="385" name="Google Shape;385;p11"/>
          <p:cNvCxnSpPr/>
          <p:nvPr/>
        </p:nvCxnSpPr>
        <p:spPr>
          <a:xfrm rot="5400000">
            <a:off x="1717600" y="4344975"/>
            <a:ext cx="1963800" cy="1217700"/>
          </a:xfrm>
          <a:prstGeom prst="bentConnector3">
            <a:avLst>
              <a:gd fmla="val 24115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386" name="Google Shape;386;p11"/>
          <p:cNvSpPr/>
          <p:nvPr/>
        </p:nvSpPr>
        <p:spPr>
          <a:xfrm>
            <a:off x="679450" y="2206625"/>
            <a:ext cx="403225" cy="40163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7" name="Google Shape;387;p11"/>
          <p:cNvCxnSpPr/>
          <p:nvPr/>
        </p:nvCxnSpPr>
        <p:spPr>
          <a:xfrm>
            <a:off x="881062" y="2608262"/>
            <a:ext cx="0" cy="26670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88" name="Google Shape;388;p11"/>
          <p:cNvCxnSpPr/>
          <p:nvPr/>
        </p:nvCxnSpPr>
        <p:spPr>
          <a:xfrm>
            <a:off x="2508250" y="3789362"/>
            <a:ext cx="452437" cy="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89" name="Google Shape;389;p11"/>
          <p:cNvCxnSpPr/>
          <p:nvPr/>
        </p:nvCxnSpPr>
        <p:spPr>
          <a:xfrm>
            <a:off x="1355724" y="5430837"/>
            <a:ext cx="533400" cy="303300"/>
          </a:xfrm>
          <a:prstGeom prst="bentConnector2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90" name="Google Shape;390;p11"/>
          <p:cNvCxnSpPr/>
          <p:nvPr/>
        </p:nvCxnSpPr>
        <p:spPr>
          <a:xfrm flipH="1">
            <a:off x="2290712" y="5430837"/>
            <a:ext cx="565200" cy="303300"/>
          </a:xfrm>
          <a:prstGeom prst="bentConnector2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91" name="Google Shape;391;p11"/>
          <p:cNvCxnSpPr/>
          <p:nvPr/>
        </p:nvCxnSpPr>
        <p:spPr>
          <a:xfrm>
            <a:off x="3987800" y="4192587"/>
            <a:ext cx="869950" cy="0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392" name="Google Shape;392;p11"/>
          <p:cNvSpPr txBox="1"/>
          <p:nvPr>
            <p:ph type="title"/>
          </p:nvPr>
        </p:nvSpPr>
        <p:spPr>
          <a:xfrm>
            <a:off x="665162" y="141763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Sơ đồ luồng → đồ thị luồng</a:t>
            </a:r>
            <a:endParaRPr/>
          </a:p>
        </p:txBody>
      </p:sp>
      <p:sp>
        <p:nvSpPr>
          <p:cNvPr id="393" name="Google Shape;393;p11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5.2. KIỂM THỬ ĐƯỜNG DẪN CƠ SỞ</a:t>
            </a:r>
            <a:endParaRPr/>
          </a:p>
        </p:txBody>
      </p:sp>
      <p:sp>
        <p:nvSpPr>
          <p:cNvPr id="394" name="Google Shape;394;p11"/>
          <p:cNvSpPr txBox="1"/>
          <p:nvPr/>
        </p:nvSpPr>
        <p:spPr>
          <a:xfrm>
            <a:off x="609600" y="914400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Vẽ đồ thị luồng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2"/>
          <p:cNvSpPr txBox="1"/>
          <p:nvPr>
            <p:ph type="title"/>
          </p:nvPr>
        </p:nvSpPr>
        <p:spPr>
          <a:xfrm>
            <a:off x="603250" y="1524000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Đường dẫn độc lập</a:t>
            </a:r>
            <a:endParaRPr/>
          </a:p>
        </p:txBody>
      </p:sp>
      <p:sp>
        <p:nvSpPr>
          <p:cNvPr id="400" name="Google Shape;400;p12"/>
          <p:cNvSpPr txBox="1"/>
          <p:nvPr>
            <p:ph idx="1" type="body"/>
          </p:nvPr>
        </p:nvSpPr>
        <p:spPr>
          <a:xfrm>
            <a:off x="762000" y="2089150"/>
            <a:ext cx="8229600" cy="385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Đường dẫn độc lập là đường thông qua chương trình có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ít nhất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một tập các câu lệnh xử lý mới hoặc điều kiện mới.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Trong đồ thị luồng, đường dẫn mới sẽ có cạnh mới.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Ví dụ: các đường dẫn độc lập cơ sở của đồ thị luồng bên dưới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1, 2, 3, 4, 8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1, 2, 3, 5, 6, 8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1, 2, 3, 5, 7, 8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1" name="Google Shape;401;p12"/>
          <p:cNvGrpSpPr/>
          <p:nvPr/>
        </p:nvGrpSpPr>
        <p:grpSpPr>
          <a:xfrm>
            <a:off x="5949950" y="4162425"/>
            <a:ext cx="625475" cy="655637"/>
            <a:chOff x="5855846" y="1192013"/>
            <a:chExt cx="915788" cy="957778"/>
          </a:xfrm>
        </p:grpSpPr>
        <p:sp>
          <p:nvSpPr>
            <p:cNvPr id="402" name="Google Shape;402;p12"/>
            <p:cNvSpPr/>
            <p:nvPr/>
          </p:nvSpPr>
          <p:spPr>
            <a:xfrm>
              <a:off x="5872117" y="1284776"/>
              <a:ext cx="864653" cy="865015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rgbClr val="49736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2"/>
            <p:cNvSpPr txBox="1"/>
            <p:nvPr/>
          </p:nvSpPr>
          <p:spPr>
            <a:xfrm>
              <a:off x="5855846" y="1192013"/>
              <a:ext cx="915788" cy="9444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r>
                <a:rPr b="0" i="0" lang="en-US" sz="1800" u="none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1, 2, 3</a:t>
              </a:r>
              <a:endParaRPr/>
            </a:p>
          </p:txBody>
        </p:sp>
      </p:grpSp>
      <p:sp>
        <p:nvSpPr>
          <p:cNvPr id="404" name="Google Shape;404;p12"/>
          <p:cNvSpPr/>
          <p:nvPr/>
        </p:nvSpPr>
        <p:spPr>
          <a:xfrm>
            <a:off x="5094287" y="4845050"/>
            <a:ext cx="592137" cy="59213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7070725" y="4787900"/>
            <a:ext cx="592137" cy="59213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6118225" y="5081587"/>
            <a:ext cx="592137" cy="59213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/>
          </a:p>
        </p:txBody>
      </p:sp>
      <p:sp>
        <p:nvSpPr>
          <p:cNvPr id="407" name="Google Shape;407;p12"/>
          <p:cNvSpPr/>
          <p:nvPr/>
        </p:nvSpPr>
        <p:spPr>
          <a:xfrm>
            <a:off x="7386637" y="5808662"/>
            <a:ext cx="592137" cy="59213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7</a:t>
            </a:r>
            <a:endParaRPr/>
          </a:p>
        </p:txBody>
      </p:sp>
      <p:sp>
        <p:nvSpPr>
          <p:cNvPr id="408" name="Google Shape;408;p12"/>
          <p:cNvSpPr/>
          <p:nvPr/>
        </p:nvSpPr>
        <p:spPr>
          <a:xfrm>
            <a:off x="5172075" y="5808662"/>
            <a:ext cx="592137" cy="59213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endParaRPr/>
          </a:p>
        </p:txBody>
      </p:sp>
      <p:cxnSp>
        <p:nvCxnSpPr>
          <p:cNvPr id="409" name="Google Shape;409;p12"/>
          <p:cNvCxnSpPr/>
          <p:nvPr/>
        </p:nvCxnSpPr>
        <p:spPr>
          <a:xfrm flipH="1">
            <a:off x="5599112" y="4730750"/>
            <a:ext cx="447675" cy="20002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10" name="Google Shape;410;p12"/>
          <p:cNvCxnSpPr/>
          <p:nvPr/>
        </p:nvCxnSpPr>
        <p:spPr>
          <a:xfrm>
            <a:off x="6465887" y="4730750"/>
            <a:ext cx="692150" cy="14446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11" name="Google Shape;411;p12"/>
          <p:cNvCxnSpPr/>
          <p:nvPr/>
        </p:nvCxnSpPr>
        <p:spPr>
          <a:xfrm flipH="1">
            <a:off x="6710362" y="5292725"/>
            <a:ext cx="447675" cy="8413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12" name="Google Shape;412;p12"/>
          <p:cNvCxnSpPr/>
          <p:nvPr/>
        </p:nvCxnSpPr>
        <p:spPr>
          <a:xfrm>
            <a:off x="7575550" y="5292725"/>
            <a:ext cx="106362" cy="51593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13" name="Google Shape;413;p12"/>
          <p:cNvCxnSpPr/>
          <p:nvPr/>
        </p:nvCxnSpPr>
        <p:spPr>
          <a:xfrm flipH="1">
            <a:off x="5676900" y="5586412"/>
            <a:ext cx="527050" cy="30797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14" name="Google Shape;414;p12"/>
          <p:cNvCxnSpPr/>
          <p:nvPr/>
        </p:nvCxnSpPr>
        <p:spPr>
          <a:xfrm rot="10800000">
            <a:off x="5764212" y="6103937"/>
            <a:ext cx="1708150" cy="2095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15" name="Google Shape;415;p12"/>
          <p:cNvCxnSpPr/>
          <p:nvPr/>
        </p:nvCxnSpPr>
        <p:spPr>
          <a:xfrm>
            <a:off x="5389562" y="5437187"/>
            <a:ext cx="77787" cy="37147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416" name="Google Shape;416;p12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5.2. KIỂM THỬ ĐƯỜNG DẪN CƠ SỞ</a:t>
            </a:r>
            <a:endParaRPr/>
          </a:p>
        </p:txBody>
      </p:sp>
      <p:sp>
        <p:nvSpPr>
          <p:cNvPr id="417" name="Google Shape;417;p12"/>
          <p:cNvSpPr txBox="1"/>
          <p:nvPr/>
        </p:nvSpPr>
        <p:spPr>
          <a:xfrm>
            <a:off x="609600" y="1066800"/>
            <a:ext cx="24018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Vẽ đồ thị luồng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3"/>
          <p:cNvSpPr txBox="1"/>
          <p:nvPr>
            <p:ph idx="1" type="body"/>
          </p:nvPr>
        </p:nvSpPr>
        <p:spPr>
          <a:xfrm>
            <a:off x="838200" y="1990725"/>
            <a:ext cx="8229600" cy="227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Nếu thiết kế test case thực thi được các đường dẫn độc lập, thì đảm bảo được: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Mỗi 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câu lệnh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được thực thi 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ít nhất một lần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Mỗi 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biểu thức điều kiện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(kể cả trường hợp true và false) được thực thi 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ít nhất một lần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423" name="Google Shape;42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9425" y="5413375"/>
            <a:ext cx="577850" cy="140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1200" y="5238750"/>
            <a:ext cx="533400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3"/>
          <p:cNvSpPr/>
          <p:nvPr/>
        </p:nvSpPr>
        <p:spPr>
          <a:xfrm>
            <a:off x="1285875" y="4267200"/>
            <a:ext cx="2698750" cy="1498600"/>
          </a:xfrm>
          <a:prstGeom prst="cloudCallout">
            <a:avLst>
              <a:gd fmla="val 24017" name="adj1"/>
              <a:gd fmla="val 19941" name="adj2"/>
            </a:avLst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Làm sao biết có bao nhiêu đường dẫn độc lập?</a:t>
            </a:r>
            <a:endParaRPr/>
          </a:p>
        </p:txBody>
      </p:sp>
      <p:sp>
        <p:nvSpPr>
          <p:cNvPr id="426" name="Google Shape;426;p13"/>
          <p:cNvSpPr/>
          <p:nvPr/>
        </p:nvSpPr>
        <p:spPr>
          <a:xfrm>
            <a:off x="6096000" y="3943350"/>
            <a:ext cx="2438400" cy="1187450"/>
          </a:xfrm>
          <a:prstGeom prst="cloudCallout">
            <a:avLst>
              <a:gd fmla="val 321" name="adj1"/>
              <a:gd fmla="val 24292" name="adj2"/>
            </a:avLst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Độ phức tạp </a:t>
            </a:r>
            <a:r>
              <a:rPr b="1" i="0" lang="en-US" sz="2000" u="none">
                <a:solidFill>
                  <a:srgbClr val="FFC000"/>
                </a:solidFill>
                <a:latin typeface="Tahoma"/>
                <a:ea typeface="Tahoma"/>
                <a:cs typeface="Tahoma"/>
                <a:sym typeface="Tahoma"/>
              </a:rPr>
              <a:t>Cyclomatic</a:t>
            </a:r>
            <a:endParaRPr/>
          </a:p>
        </p:txBody>
      </p:sp>
      <p:sp>
        <p:nvSpPr>
          <p:cNvPr id="427" name="Google Shape;427;p13"/>
          <p:cNvSpPr txBox="1"/>
          <p:nvPr>
            <p:ph type="title"/>
          </p:nvPr>
        </p:nvSpPr>
        <p:spPr>
          <a:xfrm>
            <a:off x="654050" y="141763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Đường dẫn độc lập</a:t>
            </a:r>
            <a:endParaRPr/>
          </a:p>
        </p:txBody>
      </p:sp>
      <p:sp>
        <p:nvSpPr>
          <p:cNvPr id="428" name="Google Shape;428;p13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5.2. KIỂM THỬ ĐƯỜNG DẪN CƠ SỞ</a:t>
            </a:r>
            <a:endParaRPr/>
          </a:p>
        </p:txBody>
      </p:sp>
      <p:sp>
        <p:nvSpPr>
          <p:cNvPr id="429" name="Google Shape;429;p13"/>
          <p:cNvSpPr txBox="1"/>
          <p:nvPr/>
        </p:nvSpPr>
        <p:spPr>
          <a:xfrm>
            <a:off x="609600" y="1066800"/>
            <a:ext cx="24018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Vẽ đồ thị luồng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4"/>
          <p:cNvSpPr txBox="1"/>
          <p:nvPr>
            <p:ph idx="1" type="body"/>
          </p:nvPr>
        </p:nvSpPr>
        <p:spPr>
          <a:xfrm>
            <a:off x="1066800" y="1676400"/>
            <a:ext cx="7924800" cy="4562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Độ phức tạp Cyclomatic là một độ đo phần mềm cung cấp thước đo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định lượng độ phức tạp về mặt logic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của chương trình.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Trong ngữ cảnh của kiểm thử đường thì độ đo này là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số lượng các đường độc lập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trong tập cơ sở của chương trình và cung cấp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chặn trên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(upper bound) số lượng các test case được thực thi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đảm bảo phủ các câu lệnh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của chương trình. </a:t>
            </a:r>
            <a:endParaRPr/>
          </a:p>
        </p:txBody>
      </p:sp>
      <p:sp>
        <p:nvSpPr>
          <p:cNvPr id="435" name="Google Shape;435;p14"/>
          <p:cNvSpPr txBox="1"/>
          <p:nvPr/>
        </p:nvSpPr>
        <p:spPr>
          <a:xfrm>
            <a:off x="685800" y="1066800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Tính độ phức tạp cyclomatic</a:t>
            </a:r>
            <a:endParaRPr/>
          </a:p>
        </p:txBody>
      </p:sp>
      <p:sp>
        <p:nvSpPr>
          <p:cNvPr id="436" name="Google Shape;436;p14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5.2. KIỂM THỬ ĐƯỜNG DẪN CƠ SỞ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5"/>
          <p:cNvSpPr txBox="1"/>
          <p:nvPr>
            <p:ph idx="1" type="body"/>
          </p:nvPr>
        </p:nvSpPr>
        <p:spPr>
          <a:xfrm>
            <a:off x="762000" y="14478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Độ đo này được tính bằng một trong ba cách sau (ký hiệu V(G) là giá trị độ phức tạp Cyclomatic của đồ thị luồng G):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Số lượng các vùng (region) của G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V(G) = E – N + 2 </a:t>
            </a:r>
            <a:endParaRPr/>
          </a:p>
          <a:p>
            <a:pPr indent="-228600" lvl="2" marL="11430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là số cạnh của G</a:t>
            </a:r>
            <a:endParaRPr/>
          </a:p>
          <a:p>
            <a:pPr indent="-228600" lvl="2" marL="11430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là số nút của G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V(G) = P + 1</a:t>
            </a:r>
            <a:endParaRPr/>
          </a:p>
          <a:p>
            <a:pPr indent="-228600" lvl="2" marL="11430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là số các nút vị từ của G</a:t>
            </a:r>
            <a:endParaRPr/>
          </a:p>
        </p:txBody>
      </p:sp>
      <p:sp>
        <p:nvSpPr>
          <p:cNvPr id="442" name="Google Shape;442;p15"/>
          <p:cNvSpPr txBox="1"/>
          <p:nvPr/>
        </p:nvSpPr>
        <p:spPr>
          <a:xfrm>
            <a:off x="685800" y="990600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Tính độ phức tạp cyclomatic</a:t>
            </a:r>
            <a:endParaRPr/>
          </a:p>
        </p:txBody>
      </p:sp>
      <p:sp>
        <p:nvSpPr>
          <p:cNvPr id="443" name="Google Shape;443;p15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5.2. KIỂM THỬ ĐƯỜNG DẪN CƠ SỞ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6"/>
          <p:cNvSpPr/>
          <p:nvPr/>
        </p:nvSpPr>
        <p:spPr>
          <a:xfrm>
            <a:off x="6194425" y="1284287"/>
            <a:ext cx="865187" cy="86518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6"/>
          <p:cNvSpPr txBox="1"/>
          <p:nvPr>
            <p:ph idx="1" type="body"/>
          </p:nvPr>
        </p:nvSpPr>
        <p:spPr>
          <a:xfrm>
            <a:off x="762000" y="1895475"/>
            <a:ext cx="6094412" cy="282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Ví dụ: đồ thị luồng như hình sau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 3 region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V(G) = E – N + 2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= 7 – 6 + 2 = 3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V(G) = P + 1 = 2 + 1 = 3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nút vị từ là (1, 2, 3) và (5)</a:t>
            </a:r>
            <a:endParaRPr/>
          </a:p>
        </p:txBody>
      </p:sp>
      <p:sp>
        <p:nvSpPr>
          <p:cNvPr id="450" name="Google Shape;450;p16"/>
          <p:cNvSpPr txBox="1"/>
          <p:nvPr/>
        </p:nvSpPr>
        <p:spPr>
          <a:xfrm>
            <a:off x="6210300" y="1531937"/>
            <a:ext cx="8493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1, 2, 3</a:t>
            </a:r>
            <a:endParaRPr/>
          </a:p>
        </p:txBody>
      </p:sp>
      <p:sp>
        <p:nvSpPr>
          <p:cNvPr id="451" name="Google Shape;451;p16"/>
          <p:cNvSpPr/>
          <p:nvPr/>
        </p:nvSpPr>
        <p:spPr>
          <a:xfrm>
            <a:off x="5038725" y="2319337"/>
            <a:ext cx="865187" cy="86518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/>
          </a:p>
        </p:txBody>
      </p:sp>
      <p:sp>
        <p:nvSpPr>
          <p:cNvPr id="452" name="Google Shape;452;p16"/>
          <p:cNvSpPr/>
          <p:nvPr/>
        </p:nvSpPr>
        <p:spPr>
          <a:xfrm>
            <a:off x="7278687" y="2319337"/>
            <a:ext cx="865187" cy="86518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/>
          </a:p>
        </p:txBody>
      </p:sp>
      <p:sp>
        <p:nvSpPr>
          <p:cNvPr id="453" name="Google Shape;453;p16"/>
          <p:cNvSpPr/>
          <p:nvPr/>
        </p:nvSpPr>
        <p:spPr>
          <a:xfrm>
            <a:off x="6194425" y="3602037"/>
            <a:ext cx="865187" cy="86518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/>
          </a:p>
        </p:txBody>
      </p:sp>
      <p:sp>
        <p:nvSpPr>
          <p:cNvPr id="454" name="Google Shape;454;p16"/>
          <p:cNvSpPr/>
          <p:nvPr/>
        </p:nvSpPr>
        <p:spPr>
          <a:xfrm>
            <a:off x="8231187" y="3629025"/>
            <a:ext cx="865187" cy="86518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7</a:t>
            </a:r>
            <a:endParaRPr/>
          </a:p>
        </p:txBody>
      </p:sp>
      <p:sp>
        <p:nvSpPr>
          <p:cNvPr id="455" name="Google Shape;455;p16"/>
          <p:cNvSpPr/>
          <p:nvPr/>
        </p:nvSpPr>
        <p:spPr>
          <a:xfrm>
            <a:off x="6194425" y="5108575"/>
            <a:ext cx="865187" cy="86518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endParaRPr/>
          </a:p>
        </p:txBody>
      </p:sp>
      <p:cxnSp>
        <p:nvCxnSpPr>
          <p:cNvPr id="456" name="Google Shape;456;p16"/>
          <p:cNvCxnSpPr/>
          <p:nvPr/>
        </p:nvCxnSpPr>
        <p:spPr>
          <a:xfrm flipH="1">
            <a:off x="5776912" y="2022475"/>
            <a:ext cx="544512" cy="42386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57" name="Google Shape;457;p16"/>
          <p:cNvCxnSpPr/>
          <p:nvPr/>
        </p:nvCxnSpPr>
        <p:spPr>
          <a:xfrm>
            <a:off x="6932612" y="2022475"/>
            <a:ext cx="473075" cy="42386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58" name="Google Shape;458;p16"/>
          <p:cNvCxnSpPr/>
          <p:nvPr/>
        </p:nvCxnSpPr>
        <p:spPr>
          <a:xfrm flipH="1">
            <a:off x="6932612" y="3057525"/>
            <a:ext cx="473075" cy="67151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59" name="Google Shape;459;p16"/>
          <p:cNvCxnSpPr/>
          <p:nvPr/>
        </p:nvCxnSpPr>
        <p:spPr>
          <a:xfrm>
            <a:off x="8016875" y="3057525"/>
            <a:ext cx="341312" cy="69850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60" name="Google Shape;460;p16"/>
          <p:cNvCxnSpPr/>
          <p:nvPr/>
        </p:nvCxnSpPr>
        <p:spPr>
          <a:xfrm>
            <a:off x="6627812" y="4467225"/>
            <a:ext cx="0" cy="6413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61" name="Google Shape;461;p16"/>
          <p:cNvCxnSpPr/>
          <p:nvPr/>
        </p:nvCxnSpPr>
        <p:spPr>
          <a:xfrm flipH="1">
            <a:off x="6932612" y="4367212"/>
            <a:ext cx="1425575" cy="86677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62" name="Google Shape;462;p16"/>
          <p:cNvCxnSpPr/>
          <p:nvPr/>
        </p:nvCxnSpPr>
        <p:spPr>
          <a:xfrm>
            <a:off x="5470525" y="3184525"/>
            <a:ext cx="850900" cy="204946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463" name="Google Shape;463;p16"/>
          <p:cNvSpPr txBox="1"/>
          <p:nvPr/>
        </p:nvSpPr>
        <p:spPr>
          <a:xfrm>
            <a:off x="7405687" y="3905250"/>
            <a:ext cx="4508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</a:t>
            </a:r>
            <a:r>
              <a:rPr b="1" baseline="-2500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/>
          </a:p>
        </p:txBody>
      </p:sp>
      <p:sp>
        <p:nvSpPr>
          <p:cNvPr id="464" name="Google Shape;464;p16"/>
          <p:cNvSpPr txBox="1"/>
          <p:nvPr/>
        </p:nvSpPr>
        <p:spPr>
          <a:xfrm>
            <a:off x="6232525" y="2913062"/>
            <a:ext cx="4508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</a:t>
            </a:r>
            <a:r>
              <a:rPr b="1" baseline="-2500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/>
          </a:p>
        </p:txBody>
      </p:sp>
      <p:sp>
        <p:nvSpPr>
          <p:cNvPr id="465" name="Google Shape;465;p16"/>
          <p:cNvSpPr txBox="1"/>
          <p:nvPr/>
        </p:nvSpPr>
        <p:spPr>
          <a:xfrm>
            <a:off x="7937500" y="4935537"/>
            <a:ext cx="4508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</a:t>
            </a:r>
            <a:r>
              <a:rPr b="1" baseline="-2500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/>
          </a:p>
        </p:txBody>
      </p:sp>
      <p:sp>
        <p:nvSpPr>
          <p:cNvPr id="466" name="Google Shape;466;p16"/>
          <p:cNvSpPr txBox="1"/>
          <p:nvPr/>
        </p:nvSpPr>
        <p:spPr>
          <a:xfrm>
            <a:off x="685800" y="990600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Tính độ phức tạp cyclomatic</a:t>
            </a:r>
            <a:endParaRPr/>
          </a:p>
        </p:txBody>
      </p:sp>
      <p:sp>
        <p:nvSpPr>
          <p:cNvPr id="467" name="Google Shape;467;p16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5.2. KIỂM THỬ ĐƯỜNG DẪN CƠ SỞ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7"/>
          <p:cNvSpPr txBox="1"/>
          <p:nvPr>
            <p:ph type="title"/>
          </p:nvPr>
        </p:nvSpPr>
        <p:spPr>
          <a:xfrm>
            <a:off x="609600" y="88423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Ví dụ 1</a:t>
            </a:r>
            <a:endParaRPr/>
          </a:p>
        </p:txBody>
      </p:sp>
      <p:sp>
        <p:nvSpPr>
          <p:cNvPr id="473" name="Google Shape;473;p17"/>
          <p:cNvSpPr txBox="1"/>
          <p:nvPr>
            <p:ph idx="1" type="body"/>
          </p:nvPr>
        </p:nvSpPr>
        <p:spPr>
          <a:xfrm>
            <a:off x="762000" y="1392237"/>
            <a:ext cx="8229600" cy="1260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Viết các test case kiểm thử chương trình giải và biện luận phương trình ax + b = 0, với đó a, b là các số thực.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Chương trình như sau:</a:t>
            </a:r>
            <a:endParaRPr/>
          </a:p>
        </p:txBody>
      </p:sp>
      <p:sp>
        <p:nvSpPr>
          <p:cNvPr id="474" name="Google Shape;474;p17"/>
          <p:cNvSpPr/>
          <p:nvPr/>
        </p:nvSpPr>
        <p:spPr>
          <a:xfrm>
            <a:off x="443752" y="3261450"/>
            <a:ext cx="5997389" cy="297126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4A73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giaiPTBacNhat(</a:t>
            </a: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if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== 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if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== 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printf(</a:t>
            </a:r>
            <a:r>
              <a:rPr b="0" i="0" lang="en-US" sz="1800" u="none" cap="none" strike="noStrike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"PT vo so nghiem\n"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else</a:t>
            </a:r>
            <a:endParaRPr b="0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printf(</a:t>
            </a:r>
            <a:r>
              <a:rPr b="0" i="0" lang="en-US" sz="1800" u="none" cap="none" strike="noStrike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"PT vo nghiem\n"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else</a:t>
            </a:r>
            <a:endParaRPr b="0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printf(</a:t>
            </a:r>
            <a:r>
              <a:rPr b="0" i="0" lang="en-US" sz="1800" u="none" cap="none" strike="noStrike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"PT co nghiem:%f",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-</a:t>
            </a: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/ </a:t>
            </a: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7"/>
          <p:cNvSpPr/>
          <p:nvPr/>
        </p:nvSpPr>
        <p:spPr>
          <a:xfrm>
            <a:off x="7605712" y="2652712"/>
            <a:ext cx="309562" cy="309562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6" name="Google Shape;476;p17"/>
          <p:cNvGrpSpPr/>
          <p:nvPr/>
        </p:nvGrpSpPr>
        <p:grpSpPr>
          <a:xfrm>
            <a:off x="7454900" y="5868987"/>
            <a:ext cx="531812" cy="531812"/>
            <a:chOff x="6313395" y="3449171"/>
            <a:chExt cx="531158" cy="531158"/>
          </a:xfrm>
        </p:grpSpPr>
        <p:sp>
          <p:nvSpPr>
            <p:cNvPr id="477" name="Google Shape;477;p17"/>
            <p:cNvSpPr/>
            <p:nvPr/>
          </p:nvSpPr>
          <p:spPr>
            <a:xfrm>
              <a:off x="6414870" y="3563330"/>
              <a:ext cx="309182" cy="309181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rgbClr val="49736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17"/>
            <p:cNvSpPr/>
            <p:nvPr/>
          </p:nvSpPr>
          <p:spPr>
            <a:xfrm>
              <a:off x="6313395" y="3449171"/>
              <a:ext cx="531158" cy="531158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cap="flat" cmpd="sng" w="28575">
              <a:solidFill>
                <a:srgbClr val="49736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9" name="Google Shape;479;p17"/>
          <p:cNvSpPr/>
          <p:nvPr/>
        </p:nvSpPr>
        <p:spPr>
          <a:xfrm>
            <a:off x="7489825" y="3246437"/>
            <a:ext cx="531812" cy="5318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7"/>
          <p:cNvSpPr/>
          <p:nvPr/>
        </p:nvSpPr>
        <p:spPr>
          <a:xfrm>
            <a:off x="6826250" y="4057650"/>
            <a:ext cx="530225" cy="5318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7"/>
          <p:cNvSpPr/>
          <p:nvPr/>
        </p:nvSpPr>
        <p:spPr>
          <a:xfrm>
            <a:off x="8097837" y="4057650"/>
            <a:ext cx="530225" cy="5318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2" name="Google Shape;482;p17"/>
          <p:cNvCxnSpPr/>
          <p:nvPr/>
        </p:nvCxnSpPr>
        <p:spPr>
          <a:xfrm flipH="1">
            <a:off x="7754937" y="2962275"/>
            <a:ext cx="4762" cy="28416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83" name="Google Shape;483;p17"/>
          <p:cNvCxnSpPr/>
          <p:nvPr/>
        </p:nvCxnSpPr>
        <p:spPr>
          <a:xfrm flipH="1">
            <a:off x="7091362" y="3700462"/>
            <a:ext cx="476250" cy="35718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84" name="Google Shape;484;p17"/>
          <p:cNvCxnSpPr/>
          <p:nvPr/>
        </p:nvCxnSpPr>
        <p:spPr>
          <a:xfrm>
            <a:off x="7943850" y="3700462"/>
            <a:ext cx="419100" cy="35718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85" name="Google Shape;485;p17"/>
          <p:cNvCxnSpPr/>
          <p:nvPr/>
        </p:nvCxnSpPr>
        <p:spPr>
          <a:xfrm>
            <a:off x="7091362" y="4589462"/>
            <a:ext cx="441325" cy="135731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486" name="Google Shape;486;p17"/>
          <p:cNvSpPr/>
          <p:nvPr/>
        </p:nvSpPr>
        <p:spPr>
          <a:xfrm>
            <a:off x="7543800" y="4848225"/>
            <a:ext cx="531812" cy="5318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8588375" y="4814887"/>
            <a:ext cx="530225" cy="5302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8" name="Google Shape;488;p17"/>
          <p:cNvCxnSpPr/>
          <p:nvPr/>
        </p:nvCxnSpPr>
        <p:spPr>
          <a:xfrm flipH="1">
            <a:off x="7808912" y="4511675"/>
            <a:ext cx="366712" cy="3365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89" name="Google Shape;489;p17"/>
          <p:cNvCxnSpPr/>
          <p:nvPr/>
        </p:nvCxnSpPr>
        <p:spPr>
          <a:xfrm>
            <a:off x="8550275" y="4511675"/>
            <a:ext cx="303212" cy="30321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90" name="Google Shape;490;p17"/>
          <p:cNvCxnSpPr/>
          <p:nvPr/>
        </p:nvCxnSpPr>
        <p:spPr>
          <a:xfrm flipH="1">
            <a:off x="7720012" y="5380037"/>
            <a:ext cx="88900" cy="4889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91" name="Google Shape;491;p17"/>
          <p:cNvCxnSpPr/>
          <p:nvPr/>
        </p:nvCxnSpPr>
        <p:spPr>
          <a:xfrm flipH="1">
            <a:off x="7908925" y="5267325"/>
            <a:ext cx="757237" cy="6794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92" name="Google Shape;492;p17"/>
          <p:cNvCxnSpPr/>
          <p:nvPr/>
        </p:nvCxnSpPr>
        <p:spPr>
          <a:xfrm flipH="1" rot="10800000">
            <a:off x="2379662" y="3513137"/>
            <a:ext cx="5110162" cy="490537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93" name="Google Shape;493;p17"/>
          <p:cNvCxnSpPr/>
          <p:nvPr/>
        </p:nvCxnSpPr>
        <p:spPr>
          <a:xfrm flipH="1" rot="10800000">
            <a:off x="6346825" y="4511675"/>
            <a:ext cx="557212" cy="1190625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94" name="Google Shape;494;p17"/>
          <p:cNvCxnSpPr/>
          <p:nvPr/>
        </p:nvCxnSpPr>
        <p:spPr>
          <a:xfrm>
            <a:off x="2824162" y="4287837"/>
            <a:ext cx="5273675" cy="36512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95" name="Google Shape;495;p17"/>
          <p:cNvCxnSpPr/>
          <p:nvPr/>
        </p:nvCxnSpPr>
        <p:spPr>
          <a:xfrm>
            <a:off x="5284787" y="4622800"/>
            <a:ext cx="2336800" cy="303212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96" name="Google Shape;496;p17"/>
          <p:cNvCxnSpPr/>
          <p:nvPr/>
        </p:nvCxnSpPr>
        <p:spPr>
          <a:xfrm flipH="1" rot="10800000">
            <a:off x="4921250" y="5080000"/>
            <a:ext cx="3667125" cy="13335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497" name="Google Shape;497;p17"/>
          <p:cNvSpPr txBox="1"/>
          <p:nvPr/>
        </p:nvSpPr>
        <p:spPr>
          <a:xfrm>
            <a:off x="1609725" y="6192837"/>
            <a:ext cx="366553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1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Chương trình minh họa bằng C++</a:t>
            </a:r>
            <a:endParaRPr/>
          </a:p>
        </p:txBody>
      </p:sp>
      <p:sp>
        <p:nvSpPr>
          <p:cNvPr id="498" name="Google Shape;498;p17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5.2. KIỂM THỬ ĐƯỜNG DẪN CƠ SỞ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8"/>
          <p:cNvSpPr txBox="1"/>
          <p:nvPr>
            <p:ph type="title"/>
          </p:nvPr>
        </p:nvSpPr>
        <p:spPr>
          <a:xfrm>
            <a:off x="608012" y="912812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Ví dụ 1 (tt)</a:t>
            </a:r>
            <a:endParaRPr/>
          </a:p>
        </p:txBody>
      </p:sp>
      <p:sp>
        <p:nvSpPr>
          <p:cNvPr id="504" name="Google Shape;504;p18"/>
          <p:cNvSpPr txBox="1"/>
          <p:nvPr>
            <p:ph idx="1" type="body"/>
          </p:nvPr>
        </p:nvSpPr>
        <p:spPr>
          <a:xfrm>
            <a:off x="1066800" y="1416050"/>
            <a:ext cx="8229600" cy="3692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Xác định độ phức tạp Cyclomatic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Số lượng các vùng của G: 3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V(G) = E – N + 2 = 8 – 7 + 2 = 3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V(G) = P + 1 = 2 + 1 = 3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Xác định tập đường dẫn cơ sở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 b, 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 c, e,g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 c, f,h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8"/>
          <p:cNvSpPr/>
          <p:nvPr/>
        </p:nvSpPr>
        <p:spPr>
          <a:xfrm>
            <a:off x="7443787" y="1509712"/>
            <a:ext cx="309562" cy="309562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6" name="Google Shape;506;p18"/>
          <p:cNvGrpSpPr/>
          <p:nvPr/>
        </p:nvGrpSpPr>
        <p:grpSpPr>
          <a:xfrm>
            <a:off x="7186612" y="4725987"/>
            <a:ext cx="530225" cy="531812"/>
            <a:chOff x="6313395" y="3449171"/>
            <a:chExt cx="531158" cy="531158"/>
          </a:xfrm>
        </p:grpSpPr>
        <p:sp>
          <p:nvSpPr>
            <p:cNvPr id="507" name="Google Shape;507;p18"/>
            <p:cNvSpPr/>
            <p:nvPr/>
          </p:nvSpPr>
          <p:spPr>
            <a:xfrm>
              <a:off x="6413583" y="3563330"/>
              <a:ext cx="310108" cy="309181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rgbClr val="49736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18"/>
            <p:cNvSpPr/>
            <p:nvPr/>
          </p:nvSpPr>
          <p:spPr>
            <a:xfrm>
              <a:off x="6313395" y="3449171"/>
              <a:ext cx="531158" cy="531158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cap="flat" cmpd="sng" w="28575">
              <a:solidFill>
                <a:srgbClr val="49736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9" name="Google Shape;509;p18"/>
          <p:cNvSpPr/>
          <p:nvPr/>
        </p:nvSpPr>
        <p:spPr>
          <a:xfrm>
            <a:off x="7327900" y="2103437"/>
            <a:ext cx="531812" cy="5318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8"/>
          <p:cNvSpPr/>
          <p:nvPr/>
        </p:nvSpPr>
        <p:spPr>
          <a:xfrm>
            <a:off x="6556375" y="2914650"/>
            <a:ext cx="531812" cy="5318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8"/>
          <p:cNvSpPr/>
          <p:nvPr/>
        </p:nvSpPr>
        <p:spPr>
          <a:xfrm>
            <a:off x="7974012" y="2890837"/>
            <a:ext cx="530225" cy="5318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2" name="Google Shape;512;p18"/>
          <p:cNvCxnSpPr/>
          <p:nvPr/>
        </p:nvCxnSpPr>
        <p:spPr>
          <a:xfrm flipH="1">
            <a:off x="7594600" y="1819275"/>
            <a:ext cx="4762" cy="28416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13" name="Google Shape;513;p18"/>
          <p:cNvCxnSpPr/>
          <p:nvPr/>
        </p:nvCxnSpPr>
        <p:spPr>
          <a:xfrm flipH="1">
            <a:off x="6823075" y="2557462"/>
            <a:ext cx="582612" cy="35718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14" name="Google Shape;514;p18"/>
          <p:cNvCxnSpPr/>
          <p:nvPr/>
        </p:nvCxnSpPr>
        <p:spPr>
          <a:xfrm>
            <a:off x="7781925" y="2557462"/>
            <a:ext cx="457200" cy="33337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15" name="Google Shape;515;p18"/>
          <p:cNvCxnSpPr/>
          <p:nvPr/>
        </p:nvCxnSpPr>
        <p:spPr>
          <a:xfrm>
            <a:off x="6823075" y="3446462"/>
            <a:ext cx="441325" cy="135731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516" name="Google Shape;516;p18"/>
          <p:cNvSpPr/>
          <p:nvPr/>
        </p:nvSpPr>
        <p:spPr>
          <a:xfrm>
            <a:off x="7275512" y="3705225"/>
            <a:ext cx="530225" cy="5318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8"/>
          <p:cNvSpPr/>
          <p:nvPr/>
        </p:nvSpPr>
        <p:spPr>
          <a:xfrm>
            <a:off x="8599487" y="3705225"/>
            <a:ext cx="531812" cy="5318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8" name="Google Shape;518;p18"/>
          <p:cNvCxnSpPr/>
          <p:nvPr/>
        </p:nvCxnSpPr>
        <p:spPr>
          <a:xfrm flipH="1">
            <a:off x="7540625" y="3344862"/>
            <a:ext cx="511175" cy="36036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19" name="Google Shape;519;p18"/>
          <p:cNvCxnSpPr/>
          <p:nvPr/>
        </p:nvCxnSpPr>
        <p:spPr>
          <a:xfrm>
            <a:off x="8426450" y="3344862"/>
            <a:ext cx="439737" cy="36036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20" name="Google Shape;520;p18"/>
          <p:cNvCxnSpPr/>
          <p:nvPr/>
        </p:nvCxnSpPr>
        <p:spPr>
          <a:xfrm flipH="1">
            <a:off x="7451725" y="4237037"/>
            <a:ext cx="88900" cy="4889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21" name="Google Shape;521;p18"/>
          <p:cNvCxnSpPr/>
          <p:nvPr/>
        </p:nvCxnSpPr>
        <p:spPr>
          <a:xfrm flipH="1">
            <a:off x="7639050" y="4159250"/>
            <a:ext cx="1038225" cy="64452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522" name="Google Shape;522;p18"/>
          <p:cNvSpPr txBox="1"/>
          <p:nvPr/>
        </p:nvSpPr>
        <p:spPr>
          <a:xfrm>
            <a:off x="7138987" y="3030537"/>
            <a:ext cx="5000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R1</a:t>
            </a:r>
            <a:endParaRPr/>
          </a:p>
        </p:txBody>
      </p:sp>
      <p:sp>
        <p:nvSpPr>
          <p:cNvPr id="523" name="Google Shape;523;p18"/>
          <p:cNvSpPr txBox="1"/>
          <p:nvPr/>
        </p:nvSpPr>
        <p:spPr>
          <a:xfrm>
            <a:off x="7824787" y="3754437"/>
            <a:ext cx="5000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R2</a:t>
            </a:r>
            <a:endParaRPr/>
          </a:p>
        </p:txBody>
      </p:sp>
      <p:sp>
        <p:nvSpPr>
          <p:cNvPr id="524" name="Google Shape;524;p18"/>
          <p:cNvSpPr txBox="1"/>
          <p:nvPr/>
        </p:nvSpPr>
        <p:spPr>
          <a:xfrm>
            <a:off x="8255000" y="4695825"/>
            <a:ext cx="50006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R3</a:t>
            </a:r>
            <a:endParaRPr/>
          </a:p>
        </p:txBody>
      </p:sp>
      <p:sp>
        <p:nvSpPr>
          <p:cNvPr id="525" name="Google Shape;525;p18"/>
          <p:cNvSpPr txBox="1"/>
          <p:nvPr/>
        </p:nvSpPr>
        <p:spPr>
          <a:xfrm>
            <a:off x="8067675" y="1392237"/>
            <a:ext cx="10715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Nút vị từ</a:t>
            </a:r>
            <a:endParaRPr/>
          </a:p>
        </p:txBody>
      </p:sp>
      <p:cxnSp>
        <p:nvCxnSpPr>
          <p:cNvPr id="526" name="Google Shape;526;p18"/>
          <p:cNvCxnSpPr/>
          <p:nvPr/>
        </p:nvCxnSpPr>
        <p:spPr>
          <a:xfrm flipH="1">
            <a:off x="7781925" y="1762125"/>
            <a:ext cx="820737" cy="4191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27" name="Google Shape;527;p18"/>
          <p:cNvCxnSpPr/>
          <p:nvPr/>
        </p:nvCxnSpPr>
        <p:spPr>
          <a:xfrm flipH="1">
            <a:off x="8426450" y="1762125"/>
            <a:ext cx="176212" cy="12065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528" name="Google Shape;528;p18"/>
          <p:cNvSpPr txBox="1"/>
          <p:nvPr/>
        </p:nvSpPr>
        <p:spPr>
          <a:xfrm>
            <a:off x="7297737" y="1741487"/>
            <a:ext cx="30638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endParaRPr/>
          </a:p>
        </p:txBody>
      </p:sp>
      <p:sp>
        <p:nvSpPr>
          <p:cNvPr id="529" name="Google Shape;529;p18"/>
          <p:cNvSpPr txBox="1"/>
          <p:nvPr/>
        </p:nvSpPr>
        <p:spPr>
          <a:xfrm>
            <a:off x="6891337" y="2384425"/>
            <a:ext cx="31273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</a:t>
            </a:r>
            <a:endParaRPr/>
          </a:p>
        </p:txBody>
      </p:sp>
      <p:sp>
        <p:nvSpPr>
          <p:cNvPr id="530" name="Google Shape;530;p18"/>
          <p:cNvSpPr txBox="1"/>
          <p:nvPr/>
        </p:nvSpPr>
        <p:spPr>
          <a:xfrm>
            <a:off x="7910512" y="2390775"/>
            <a:ext cx="2905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endParaRPr/>
          </a:p>
        </p:txBody>
      </p:sp>
      <p:sp>
        <p:nvSpPr>
          <p:cNvPr id="531" name="Google Shape;531;p18"/>
          <p:cNvSpPr txBox="1"/>
          <p:nvPr/>
        </p:nvSpPr>
        <p:spPr>
          <a:xfrm>
            <a:off x="6721475" y="3833812"/>
            <a:ext cx="31273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endParaRPr/>
          </a:p>
        </p:txBody>
      </p:sp>
      <p:sp>
        <p:nvSpPr>
          <p:cNvPr id="532" name="Google Shape;532;p18"/>
          <p:cNvSpPr txBox="1"/>
          <p:nvPr/>
        </p:nvSpPr>
        <p:spPr>
          <a:xfrm>
            <a:off x="7634287" y="3213100"/>
            <a:ext cx="3127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</a:t>
            </a:r>
            <a:endParaRPr/>
          </a:p>
        </p:txBody>
      </p:sp>
      <p:sp>
        <p:nvSpPr>
          <p:cNvPr id="533" name="Google Shape;533;p18"/>
          <p:cNvSpPr txBox="1"/>
          <p:nvPr/>
        </p:nvSpPr>
        <p:spPr>
          <a:xfrm>
            <a:off x="8577262" y="3205162"/>
            <a:ext cx="258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endParaRPr/>
          </a:p>
        </p:txBody>
      </p:sp>
      <p:sp>
        <p:nvSpPr>
          <p:cNvPr id="534" name="Google Shape;534;p18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5.2. KIỂM THỬ ĐƯỜNG DẪN CƠ SỞ</a:t>
            </a:r>
            <a:endParaRPr/>
          </a:p>
        </p:txBody>
      </p:sp>
      <p:sp>
        <p:nvSpPr>
          <p:cNvPr id="535" name="Google Shape;535;p18"/>
          <p:cNvSpPr txBox="1"/>
          <p:nvPr/>
        </p:nvSpPr>
        <p:spPr>
          <a:xfrm>
            <a:off x="7486650" y="4297362"/>
            <a:ext cx="3127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</a:t>
            </a:r>
            <a:endParaRPr/>
          </a:p>
        </p:txBody>
      </p:sp>
      <p:sp>
        <p:nvSpPr>
          <p:cNvPr id="536" name="Google Shape;536;p18"/>
          <p:cNvSpPr txBox="1"/>
          <p:nvPr/>
        </p:nvSpPr>
        <p:spPr>
          <a:xfrm>
            <a:off x="8348662" y="4365625"/>
            <a:ext cx="31273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</a:t>
            </a:r>
            <a:endParaRPr/>
          </a:p>
        </p:txBody>
      </p:sp>
      <p:graphicFrame>
        <p:nvGraphicFramePr>
          <p:cNvPr id="537" name="Google Shape;537;p18"/>
          <p:cNvGraphicFramePr/>
          <p:nvPr/>
        </p:nvGraphicFramePr>
        <p:xfrm>
          <a:off x="782637" y="480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{94D277FC-4B1F-4385-AE56-9B966985E713}</a:tableStyleId>
              </a:tblPr>
              <a:tblGrid>
                <a:gridCol w="1749425"/>
                <a:gridCol w="1009650"/>
                <a:gridCol w="995350"/>
                <a:gridCol w="3179750"/>
              </a:tblGrid>
              <a:tr h="4270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200"/>
                        <a:buFont typeface="Tahoma"/>
                        <a:buNone/>
                      </a:pPr>
                      <a:r>
                        <a:rPr b="1" i="0" lang="en-US" sz="2200" u="none" cap="none" strike="noStrik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Đường dẫn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200"/>
                        <a:buFont typeface="Tahoma"/>
                        <a:buNone/>
                      </a:pPr>
                      <a:r>
                        <a:rPr b="1" i="0" lang="en-US" sz="2200" u="none" cap="none" strike="noStrik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Đầu vào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200"/>
                        <a:buFont typeface="Tahoma"/>
                        <a:buNone/>
                      </a:pPr>
                      <a:r>
                        <a:rPr b="1" i="0" lang="en-US" sz="2200" u="none" cap="none" strike="noStrik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Đầu ra mong muốn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200"/>
                        <a:buFont typeface="Tahoma"/>
                        <a:buNone/>
                      </a:pPr>
                      <a:r>
                        <a:rPr b="1" i="0" lang="en-US" sz="2200" u="none" cap="none" strike="noStrik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200"/>
                        <a:buFont typeface="Tahoma"/>
                        <a:buNone/>
                      </a:pPr>
                      <a:r>
                        <a:rPr b="1" i="0" lang="en-US" sz="2200" u="none" cap="none" strike="noStrik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425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a, b, 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-10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Nghiem x = 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a, c, 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PT vo so nghiem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a, c, 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PT vo nghiem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9"/>
          <p:cNvSpPr txBox="1"/>
          <p:nvPr>
            <p:ph type="title"/>
          </p:nvPr>
        </p:nvSpPr>
        <p:spPr>
          <a:xfrm>
            <a:off x="762000" y="96043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Ví dụ 1</a:t>
            </a:r>
            <a:endParaRPr/>
          </a:p>
        </p:txBody>
      </p:sp>
      <p:sp>
        <p:nvSpPr>
          <p:cNvPr id="543" name="Google Shape;543;p19"/>
          <p:cNvSpPr txBox="1"/>
          <p:nvPr>
            <p:ph idx="1" type="body"/>
          </p:nvPr>
        </p:nvSpPr>
        <p:spPr>
          <a:xfrm>
            <a:off x="762000" y="1533525"/>
            <a:ext cx="82296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✔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Thiết kế test case cho từng đường dẫn cơ sở</a:t>
            </a:r>
            <a:endParaRPr/>
          </a:p>
        </p:txBody>
      </p:sp>
      <p:graphicFrame>
        <p:nvGraphicFramePr>
          <p:cNvPr id="544" name="Google Shape;544;p19"/>
          <p:cNvGraphicFramePr/>
          <p:nvPr/>
        </p:nvGraphicFramePr>
        <p:xfrm>
          <a:off x="1181100" y="20748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{94D277FC-4B1F-4385-AE56-9B966985E713}</a:tableStyleId>
              </a:tblPr>
              <a:tblGrid>
                <a:gridCol w="1749425"/>
                <a:gridCol w="1009650"/>
                <a:gridCol w="995350"/>
                <a:gridCol w="3179750"/>
              </a:tblGrid>
              <a:tr h="4270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200"/>
                        <a:buFont typeface="Tahoma"/>
                        <a:buNone/>
                      </a:pPr>
                      <a:r>
                        <a:rPr b="1" i="0" lang="en-US" sz="2200" u="none" cap="none" strike="noStrik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Đường dẫn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200"/>
                        <a:buFont typeface="Tahoma"/>
                        <a:buNone/>
                      </a:pPr>
                      <a:r>
                        <a:rPr b="1" i="0" lang="en-US" sz="2200" u="none" cap="none" strike="noStrik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Đầu vào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200"/>
                        <a:buFont typeface="Tahoma"/>
                        <a:buNone/>
                      </a:pPr>
                      <a:r>
                        <a:rPr b="1" i="0" lang="en-US" sz="2200" u="none" cap="none" strike="noStrik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Đầu ra mong muốn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200"/>
                        <a:buFont typeface="Tahoma"/>
                        <a:buNone/>
                      </a:pPr>
                      <a:r>
                        <a:rPr b="1" i="0" lang="en-US" sz="2200" u="none" cap="none" strike="noStrik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200"/>
                        <a:buFont typeface="Tahoma"/>
                        <a:buNone/>
                      </a:pPr>
                      <a:r>
                        <a:rPr b="1" i="0" lang="en-US" sz="2200" u="none" cap="none" strike="noStrik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425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a, b, 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-10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Nghiem x = 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a, c, 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PT vo so nghiem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a, c, 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PT vo nghiem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45" name="Google Shape;545;p19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5.2. KIỂM THỬ ĐƯỜNG DẪN CƠ SỞ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0"/>
          <p:cNvSpPr txBox="1"/>
          <p:nvPr>
            <p:ph type="title"/>
          </p:nvPr>
        </p:nvSpPr>
        <p:spPr>
          <a:xfrm>
            <a:off x="762000" y="914400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Ví dụ 2</a:t>
            </a:r>
            <a:endParaRPr/>
          </a:p>
        </p:txBody>
      </p:sp>
      <p:sp>
        <p:nvSpPr>
          <p:cNvPr id="551" name="Google Shape;551;p20"/>
          <p:cNvSpPr txBox="1"/>
          <p:nvPr>
            <p:ph idx="1" type="body"/>
          </p:nvPr>
        </p:nvSpPr>
        <p:spPr>
          <a:xfrm>
            <a:off x="762000" y="1533525"/>
            <a:ext cx="8229600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Viết các test case để kiểm thử chương trình tính tổng các chữ số của số nguyên dương n cho đến khi tổng nhỏ hơn 10.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Ví dụ: 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123456 🡪1 + 2 + 3 + 4 + 5 + 6=21 🡪 2 + 1 🡪 3 &lt; 10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857 🡪 8 + 5 + 7 = 20 🡪 2 + 0 = 2 &lt; 10</a:t>
            </a:r>
            <a:endParaRPr/>
          </a:p>
        </p:txBody>
      </p:sp>
      <p:sp>
        <p:nvSpPr>
          <p:cNvPr id="552" name="Google Shape;552;p20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5.2. KIỂM THỬ ĐƯỜNG DẪN CƠ SỞ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1"/>
          <p:cNvSpPr txBox="1"/>
          <p:nvPr>
            <p:ph type="title"/>
          </p:nvPr>
        </p:nvSpPr>
        <p:spPr>
          <a:xfrm>
            <a:off x="685800" y="89693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Ví dụ 2</a:t>
            </a:r>
            <a:endParaRPr/>
          </a:p>
        </p:txBody>
      </p:sp>
      <p:sp>
        <p:nvSpPr>
          <p:cNvPr id="558" name="Google Shape;558;p21"/>
          <p:cNvSpPr/>
          <p:nvPr/>
        </p:nvSpPr>
        <p:spPr>
          <a:xfrm>
            <a:off x="1344613" y="1447800"/>
            <a:ext cx="3269876" cy="500230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4A73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tinhTong(</a:t>
            </a: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int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tong = 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while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tong = 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while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n&gt;=10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tong += </a:t>
            </a: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% 10;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n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/ 10;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if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(tong &gt; 10)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n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tong;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return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tong;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800" u="none" cap="none" strike="noStrike">
              <a:solidFill>
                <a:srgbClr val="00206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9" name="Google Shape;559;p21"/>
          <p:cNvSpPr/>
          <p:nvPr/>
        </p:nvSpPr>
        <p:spPr>
          <a:xfrm>
            <a:off x="7262812" y="1460500"/>
            <a:ext cx="309562" cy="309562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0" name="Google Shape;560;p21"/>
          <p:cNvGrpSpPr/>
          <p:nvPr/>
        </p:nvGrpSpPr>
        <p:grpSpPr>
          <a:xfrm>
            <a:off x="7153275" y="5761037"/>
            <a:ext cx="530225" cy="531812"/>
            <a:chOff x="6299948" y="3449171"/>
            <a:chExt cx="531158" cy="531158"/>
          </a:xfrm>
        </p:grpSpPr>
        <p:sp>
          <p:nvSpPr>
            <p:cNvPr id="561" name="Google Shape;561;p21"/>
            <p:cNvSpPr/>
            <p:nvPr/>
          </p:nvSpPr>
          <p:spPr>
            <a:xfrm>
              <a:off x="6414449" y="3563330"/>
              <a:ext cx="308517" cy="309181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rgbClr val="49736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21"/>
            <p:cNvSpPr/>
            <p:nvPr/>
          </p:nvSpPr>
          <p:spPr>
            <a:xfrm>
              <a:off x="6299948" y="3449171"/>
              <a:ext cx="531158" cy="531158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cap="flat" cmpd="sng" w="28575">
              <a:solidFill>
                <a:srgbClr val="49736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3" name="Google Shape;563;p21"/>
          <p:cNvSpPr/>
          <p:nvPr/>
        </p:nvSpPr>
        <p:spPr>
          <a:xfrm>
            <a:off x="7153275" y="1992312"/>
            <a:ext cx="530225" cy="5318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1"/>
          <p:cNvSpPr/>
          <p:nvPr/>
        </p:nvSpPr>
        <p:spPr>
          <a:xfrm>
            <a:off x="7153275" y="2746375"/>
            <a:ext cx="530225" cy="5302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1"/>
          <p:cNvSpPr/>
          <p:nvPr/>
        </p:nvSpPr>
        <p:spPr>
          <a:xfrm>
            <a:off x="7153275" y="3500437"/>
            <a:ext cx="530225" cy="5302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1"/>
          <p:cNvSpPr/>
          <p:nvPr/>
        </p:nvSpPr>
        <p:spPr>
          <a:xfrm>
            <a:off x="7153275" y="4254500"/>
            <a:ext cx="530225" cy="5302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1"/>
          <p:cNvSpPr/>
          <p:nvPr/>
        </p:nvSpPr>
        <p:spPr>
          <a:xfrm>
            <a:off x="7153275" y="5008562"/>
            <a:ext cx="530225" cy="5302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8" name="Google Shape;568;p21"/>
          <p:cNvCxnSpPr/>
          <p:nvPr/>
        </p:nvCxnSpPr>
        <p:spPr>
          <a:xfrm>
            <a:off x="7418387" y="1770062"/>
            <a:ext cx="0" cy="2222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69" name="Google Shape;569;p21"/>
          <p:cNvCxnSpPr/>
          <p:nvPr/>
        </p:nvCxnSpPr>
        <p:spPr>
          <a:xfrm rot="5400000">
            <a:off x="5274475" y="4136325"/>
            <a:ext cx="3770400" cy="12600"/>
          </a:xfrm>
          <a:prstGeom prst="bentConnector3">
            <a:avLst>
              <a:gd fmla="val 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70" name="Google Shape;570;p21"/>
          <p:cNvCxnSpPr/>
          <p:nvPr/>
        </p:nvCxnSpPr>
        <p:spPr>
          <a:xfrm>
            <a:off x="7418387" y="2524125"/>
            <a:ext cx="0" cy="2222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71" name="Google Shape;571;p21"/>
          <p:cNvCxnSpPr/>
          <p:nvPr/>
        </p:nvCxnSpPr>
        <p:spPr>
          <a:xfrm>
            <a:off x="7418387" y="3276600"/>
            <a:ext cx="0" cy="22383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72" name="Google Shape;572;p21"/>
          <p:cNvCxnSpPr/>
          <p:nvPr/>
        </p:nvCxnSpPr>
        <p:spPr>
          <a:xfrm rot="-5400000">
            <a:off x="7312700" y="3382149"/>
            <a:ext cx="754200" cy="12600"/>
          </a:xfrm>
          <a:prstGeom prst="bentConnector3">
            <a:avLst>
              <a:gd fmla="val 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73" name="Google Shape;573;p21"/>
          <p:cNvCxnSpPr/>
          <p:nvPr/>
        </p:nvCxnSpPr>
        <p:spPr>
          <a:xfrm rot="5400000">
            <a:off x="6405625" y="3759237"/>
            <a:ext cx="1508100" cy="12600"/>
          </a:xfrm>
          <a:prstGeom prst="bentConnector3">
            <a:avLst>
              <a:gd fmla="val 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74" name="Google Shape;574;p21"/>
          <p:cNvCxnSpPr/>
          <p:nvPr/>
        </p:nvCxnSpPr>
        <p:spPr>
          <a:xfrm>
            <a:off x="7418387" y="4784725"/>
            <a:ext cx="0" cy="22383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75" name="Google Shape;575;p21"/>
          <p:cNvCxnSpPr/>
          <p:nvPr/>
        </p:nvCxnSpPr>
        <p:spPr>
          <a:xfrm rot="-5400000">
            <a:off x="6558650" y="3382162"/>
            <a:ext cx="2262300" cy="12600"/>
          </a:xfrm>
          <a:prstGeom prst="bentConnector3">
            <a:avLst>
              <a:gd fmla="val 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76" name="Google Shape;576;p21"/>
          <p:cNvCxnSpPr/>
          <p:nvPr/>
        </p:nvCxnSpPr>
        <p:spPr>
          <a:xfrm flipH="1" rot="5400000">
            <a:off x="6042799" y="3632975"/>
            <a:ext cx="3203700" cy="77700"/>
          </a:xfrm>
          <a:prstGeom prst="bentConnector4">
            <a:avLst>
              <a:gd fmla="val 0" name="adj1"/>
              <a:gd fmla="val 0" name="adj2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77" name="Google Shape;577;p21"/>
          <p:cNvCxnSpPr/>
          <p:nvPr/>
        </p:nvCxnSpPr>
        <p:spPr>
          <a:xfrm>
            <a:off x="3430587" y="2378075"/>
            <a:ext cx="3800475" cy="68262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78" name="Google Shape;578;p21"/>
          <p:cNvCxnSpPr/>
          <p:nvPr/>
        </p:nvCxnSpPr>
        <p:spPr>
          <a:xfrm flipH="1" rot="10800000">
            <a:off x="2979737" y="2446337"/>
            <a:ext cx="4251325" cy="17145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79" name="Google Shape;579;p21"/>
          <p:cNvCxnSpPr/>
          <p:nvPr/>
        </p:nvCxnSpPr>
        <p:spPr>
          <a:xfrm>
            <a:off x="3430587" y="3127375"/>
            <a:ext cx="3800475" cy="71437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80" name="Google Shape;580;p21"/>
          <p:cNvCxnSpPr/>
          <p:nvPr/>
        </p:nvCxnSpPr>
        <p:spPr>
          <a:xfrm flipH="1" rot="10800000">
            <a:off x="3430587" y="3198812"/>
            <a:ext cx="3800475" cy="198437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81" name="Google Shape;581;p21"/>
          <p:cNvCxnSpPr/>
          <p:nvPr/>
        </p:nvCxnSpPr>
        <p:spPr>
          <a:xfrm flipH="1" rot="10800000">
            <a:off x="4533900" y="3765550"/>
            <a:ext cx="2619375" cy="211137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82" name="Google Shape;582;p21"/>
          <p:cNvCxnSpPr/>
          <p:nvPr/>
        </p:nvCxnSpPr>
        <p:spPr>
          <a:xfrm flipH="1" rot="10800000">
            <a:off x="3983037" y="3765550"/>
            <a:ext cx="3170237" cy="427037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83" name="Google Shape;583;p21"/>
          <p:cNvCxnSpPr/>
          <p:nvPr/>
        </p:nvCxnSpPr>
        <p:spPr>
          <a:xfrm flipH="1" rot="10800000">
            <a:off x="3983037" y="4706937"/>
            <a:ext cx="3248025" cy="3683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84" name="Google Shape;584;p21"/>
          <p:cNvCxnSpPr/>
          <p:nvPr/>
        </p:nvCxnSpPr>
        <p:spPr>
          <a:xfrm flipH="1" rot="10800000">
            <a:off x="3821112" y="5273675"/>
            <a:ext cx="3332162" cy="33337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585" name="Google Shape;585;p21"/>
          <p:cNvSpPr txBox="1"/>
          <p:nvPr/>
        </p:nvSpPr>
        <p:spPr>
          <a:xfrm>
            <a:off x="1146175" y="6453187"/>
            <a:ext cx="36671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1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Chương trình minh họa bằng C++</a:t>
            </a:r>
            <a:endParaRPr/>
          </a:p>
        </p:txBody>
      </p:sp>
      <p:sp>
        <p:nvSpPr>
          <p:cNvPr id="586" name="Google Shape;586;p21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5.2. KIỂM THỬ ĐƯỜNG DẪN CƠ SỞ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2"/>
          <p:cNvSpPr txBox="1"/>
          <p:nvPr>
            <p:ph type="title"/>
          </p:nvPr>
        </p:nvSpPr>
        <p:spPr>
          <a:xfrm>
            <a:off x="552450" y="9413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Ví dụ 2</a:t>
            </a:r>
            <a:endParaRPr/>
          </a:p>
        </p:txBody>
      </p:sp>
      <p:sp>
        <p:nvSpPr>
          <p:cNvPr id="592" name="Google Shape;592;p22"/>
          <p:cNvSpPr txBox="1"/>
          <p:nvPr>
            <p:ph idx="1" type="body"/>
          </p:nvPr>
        </p:nvSpPr>
        <p:spPr>
          <a:xfrm>
            <a:off x="762000" y="1533525"/>
            <a:ext cx="5589587" cy="4037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Xác định độ phức tạp Cyclomatic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Số lượng các vùng của G: 4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V(G) = E – N + 2 = 9 – 7 + 2 = 4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V(G) = P + 1 = 3 + 1 = 4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Chọn tập đường dẫn cơ sở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a,b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a,c,f,g,b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a,c,d,e,f, g,b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a,c,d,e,f,h,k,b</a:t>
            </a:r>
            <a:endParaRPr/>
          </a:p>
        </p:txBody>
      </p:sp>
      <p:sp>
        <p:nvSpPr>
          <p:cNvPr id="593" name="Google Shape;593;p22"/>
          <p:cNvSpPr/>
          <p:nvPr/>
        </p:nvSpPr>
        <p:spPr>
          <a:xfrm>
            <a:off x="7113587" y="1162050"/>
            <a:ext cx="309562" cy="309562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4" name="Google Shape;594;p22"/>
          <p:cNvGrpSpPr/>
          <p:nvPr/>
        </p:nvGrpSpPr>
        <p:grpSpPr>
          <a:xfrm>
            <a:off x="7002462" y="5570537"/>
            <a:ext cx="531812" cy="531812"/>
            <a:chOff x="6299948" y="3449171"/>
            <a:chExt cx="531158" cy="531158"/>
          </a:xfrm>
        </p:grpSpPr>
        <p:sp>
          <p:nvSpPr>
            <p:cNvPr id="595" name="Google Shape;595;p22"/>
            <p:cNvSpPr/>
            <p:nvPr/>
          </p:nvSpPr>
          <p:spPr>
            <a:xfrm>
              <a:off x="6414107" y="3563330"/>
              <a:ext cx="309181" cy="309181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rgbClr val="49736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22"/>
            <p:cNvSpPr/>
            <p:nvPr/>
          </p:nvSpPr>
          <p:spPr>
            <a:xfrm>
              <a:off x="6299948" y="3449171"/>
              <a:ext cx="531158" cy="531158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cap="flat" cmpd="sng" w="28575">
              <a:solidFill>
                <a:srgbClr val="49736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7" name="Google Shape;597;p22"/>
          <p:cNvSpPr/>
          <p:nvPr/>
        </p:nvSpPr>
        <p:spPr>
          <a:xfrm>
            <a:off x="7002462" y="1801812"/>
            <a:ext cx="531812" cy="5302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2"/>
          <p:cNvSpPr/>
          <p:nvPr/>
        </p:nvSpPr>
        <p:spPr>
          <a:xfrm>
            <a:off x="7002462" y="2554287"/>
            <a:ext cx="531812" cy="5318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2"/>
          <p:cNvSpPr/>
          <p:nvPr/>
        </p:nvSpPr>
        <p:spPr>
          <a:xfrm>
            <a:off x="7002462" y="3308350"/>
            <a:ext cx="531812" cy="5318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2"/>
          <p:cNvSpPr/>
          <p:nvPr/>
        </p:nvSpPr>
        <p:spPr>
          <a:xfrm>
            <a:off x="7002462" y="4062412"/>
            <a:ext cx="531812" cy="5318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2"/>
          <p:cNvSpPr/>
          <p:nvPr/>
        </p:nvSpPr>
        <p:spPr>
          <a:xfrm>
            <a:off x="7002462" y="4816475"/>
            <a:ext cx="531812" cy="5318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2" name="Google Shape;602;p22"/>
          <p:cNvCxnSpPr/>
          <p:nvPr/>
        </p:nvCxnSpPr>
        <p:spPr>
          <a:xfrm>
            <a:off x="7267575" y="1471612"/>
            <a:ext cx="0" cy="33020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03" name="Google Shape;603;p22"/>
          <p:cNvCxnSpPr/>
          <p:nvPr/>
        </p:nvCxnSpPr>
        <p:spPr>
          <a:xfrm rot="5400000">
            <a:off x="5124562" y="3944925"/>
            <a:ext cx="3768600" cy="12600"/>
          </a:xfrm>
          <a:prstGeom prst="bentConnector3">
            <a:avLst>
              <a:gd fmla="val 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04" name="Google Shape;604;p22"/>
          <p:cNvCxnSpPr/>
          <p:nvPr/>
        </p:nvCxnSpPr>
        <p:spPr>
          <a:xfrm>
            <a:off x="7267575" y="2332037"/>
            <a:ext cx="0" cy="2222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05" name="Google Shape;605;p22"/>
          <p:cNvCxnSpPr/>
          <p:nvPr/>
        </p:nvCxnSpPr>
        <p:spPr>
          <a:xfrm>
            <a:off x="7267575" y="3086100"/>
            <a:ext cx="0" cy="2222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06" name="Google Shape;606;p22"/>
          <p:cNvCxnSpPr/>
          <p:nvPr/>
        </p:nvCxnSpPr>
        <p:spPr>
          <a:xfrm rot="-5400000">
            <a:off x="7163475" y="3191649"/>
            <a:ext cx="754200" cy="12600"/>
          </a:xfrm>
          <a:prstGeom prst="bentConnector3">
            <a:avLst>
              <a:gd fmla="val 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07" name="Google Shape;607;p22"/>
          <p:cNvCxnSpPr/>
          <p:nvPr/>
        </p:nvCxnSpPr>
        <p:spPr>
          <a:xfrm rot="5400000">
            <a:off x="6254812" y="3568737"/>
            <a:ext cx="1508100" cy="12600"/>
          </a:xfrm>
          <a:prstGeom prst="bentConnector3">
            <a:avLst>
              <a:gd fmla="val 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08" name="Google Shape;608;p22"/>
          <p:cNvCxnSpPr/>
          <p:nvPr/>
        </p:nvCxnSpPr>
        <p:spPr>
          <a:xfrm>
            <a:off x="7267575" y="4594225"/>
            <a:ext cx="0" cy="2222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09" name="Google Shape;609;p22"/>
          <p:cNvCxnSpPr/>
          <p:nvPr/>
        </p:nvCxnSpPr>
        <p:spPr>
          <a:xfrm rot="-5400000">
            <a:off x="6409425" y="3191662"/>
            <a:ext cx="2262300" cy="12600"/>
          </a:xfrm>
          <a:prstGeom prst="bentConnector3">
            <a:avLst>
              <a:gd fmla="val 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10" name="Google Shape;610;p22"/>
          <p:cNvCxnSpPr/>
          <p:nvPr/>
        </p:nvCxnSpPr>
        <p:spPr>
          <a:xfrm flipH="1" rot="5400000">
            <a:off x="5894474" y="3441787"/>
            <a:ext cx="3201900" cy="77700"/>
          </a:xfrm>
          <a:prstGeom prst="bentConnector4">
            <a:avLst>
              <a:gd fmla="val 0" name="adj1"/>
              <a:gd fmla="val 0" name="adj2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611" name="Google Shape;611;p22"/>
          <p:cNvSpPr txBox="1"/>
          <p:nvPr/>
        </p:nvSpPr>
        <p:spPr>
          <a:xfrm>
            <a:off x="7421562" y="3013075"/>
            <a:ext cx="5000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R1</a:t>
            </a:r>
            <a:endParaRPr/>
          </a:p>
        </p:txBody>
      </p:sp>
      <p:sp>
        <p:nvSpPr>
          <p:cNvPr id="612" name="Google Shape;612;p22"/>
          <p:cNvSpPr txBox="1"/>
          <p:nvPr/>
        </p:nvSpPr>
        <p:spPr>
          <a:xfrm>
            <a:off x="7624762" y="3778250"/>
            <a:ext cx="5000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R2</a:t>
            </a:r>
            <a:endParaRPr/>
          </a:p>
        </p:txBody>
      </p:sp>
      <p:sp>
        <p:nvSpPr>
          <p:cNvPr id="613" name="Google Shape;613;p22"/>
          <p:cNvSpPr txBox="1"/>
          <p:nvPr/>
        </p:nvSpPr>
        <p:spPr>
          <a:xfrm>
            <a:off x="8181975" y="3500437"/>
            <a:ext cx="50006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R3</a:t>
            </a:r>
            <a:endParaRPr/>
          </a:p>
        </p:txBody>
      </p:sp>
      <p:sp>
        <p:nvSpPr>
          <p:cNvPr id="614" name="Google Shape;614;p22"/>
          <p:cNvSpPr txBox="1"/>
          <p:nvPr/>
        </p:nvSpPr>
        <p:spPr>
          <a:xfrm>
            <a:off x="6384925" y="4468812"/>
            <a:ext cx="5016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R4</a:t>
            </a:r>
            <a:endParaRPr/>
          </a:p>
        </p:txBody>
      </p:sp>
      <p:sp>
        <p:nvSpPr>
          <p:cNvPr id="615" name="Google Shape;615;p22"/>
          <p:cNvSpPr txBox="1"/>
          <p:nvPr/>
        </p:nvSpPr>
        <p:spPr>
          <a:xfrm>
            <a:off x="6829425" y="1374775"/>
            <a:ext cx="30638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endParaRPr/>
          </a:p>
        </p:txBody>
      </p:sp>
      <p:sp>
        <p:nvSpPr>
          <p:cNvPr id="616" name="Google Shape;616;p22"/>
          <p:cNvSpPr txBox="1"/>
          <p:nvPr/>
        </p:nvSpPr>
        <p:spPr>
          <a:xfrm>
            <a:off x="6351587" y="1701800"/>
            <a:ext cx="3127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</a:t>
            </a:r>
            <a:endParaRPr/>
          </a:p>
        </p:txBody>
      </p:sp>
      <p:sp>
        <p:nvSpPr>
          <p:cNvPr id="617" name="Google Shape;617;p22"/>
          <p:cNvSpPr txBox="1"/>
          <p:nvPr/>
        </p:nvSpPr>
        <p:spPr>
          <a:xfrm>
            <a:off x="6942137" y="2255837"/>
            <a:ext cx="29051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endParaRPr/>
          </a:p>
        </p:txBody>
      </p:sp>
      <p:sp>
        <p:nvSpPr>
          <p:cNvPr id="618" name="Google Shape;618;p22"/>
          <p:cNvSpPr txBox="1"/>
          <p:nvPr/>
        </p:nvSpPr>
        <p:spPr>
          <a:xfrm>
            <a:off x="6940550" y="3019425"/>
            <a:ext cx="3127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endParaRPr/>
          </a:p>
        </p:txBody>
      </p:sp>
      <p:sp>
        <p:nvSpPr>
          <p:cNvPr id="619" name="Google Shape;619;p22"/>
          <p:cNvSpPr txBox="1"/>
          <p:nvPr/>
        </p:nvSpPr>
        <p:spPr>
          <a:xfrm>
            <a:off x="6508750" y="3013075"/>
            <a:ext cx="258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endParaRPr/>
          </a:p>
        </p:txBody>
      </p:sp>
      <p:sp>
        <p:nvSpPr>
          <p:cNvPr id="620" name="Google Shape;620;p22"/>
          <p:cNvSpPr txBox="1"/>
          <p:nvPr/>
        </p:nvSpPr>
        <p:spPr>
          <a:xfrm>
            <a:off x="6916737" y="4495800"/>
            <a:ext cx="3127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</a:t>
            </a:r>
            <a:endParaRPr/>
          </a:p>
        </p:txBody>
      </p:sp>
      <p:sp>
        <p:nvSpPr>
          <p:cNvPr id="621" name="Google Shape;621;p22"/>
          <p:cNvSpPr txBox="1"/>
          <p:nvPr/>
        </p:nvSpPr>
        <p:spPr>
          <a:xfrm>
            <a:off x="7853362" y="4283075"/>
            <a:ext cx="2635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</a:t>
            </a:r>
            <a:endParaRPr/>
          </a:p>
        </p:txBody>
      </p:sp>
      <p:sp>
        <p:nvSpPr>
          <p:cNvPr id="622" name="Google Shape;622;p22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5.2. KIỂM THỬ ĐƯỜNG DẪN CƠ SỞ</a:t>
            </a:r>
            <a:endParaRPr/>
          </a:p>
        </p:txBody>
      </p:sp>
      <p:sp>
        <p:nvSpPr>
          <p:cNvPr id="623" name="Google Shape;623;p22"/>
          <p:cNvSpPr txBox="1"/>
          <p:nvPr/>
        </p:nvSpPr>
        <p:spPr>
          <a:xfrm>
            <a:off x="7853362" y="3027362"/>
            <a:ext cx="30638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</a:t>
            </a:r>
            <a:endParaRPr/>
          </a:p>
        </p:txBody>
      </p:sp>
      <p:sp>
        <p:nvSpPr>
          <p:cNvPr id="624" name="Google Shape;624;p22"/>
          <p:cNvSpPr txBox="1"/>
          <p:nvPr/>
        </p:nvSpPr>
        <p:spPr>
          <a:xfrm>
            <a:off x="8682037" y="4410075"/>
            <a:ext cx="30003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3"/>
          <p:cNvSpPr txBox="1"/>
          <p:nvPr>
            <p:ph type="title"/>
          </p:nvPr>
        </p:nvSpPr>
        <p:spPr>
          <a:xfrm>
            <a:off x="685800" y="990600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Ví dụ 2</a:t>
            </a:r>
            <a:endParaRPr/>
          </a:p>
        </p:txBody>
      </p:sp>
      <p:sp>
        <p:nvSpPr>
          <p:cNvPr id="630" name="Google Shape;630;p23"/>
          <p:cNvSpPr txBox="1"/>
          <p:nvPr>
            <p:ph idx="1" type="body"/>
          </p:nvPr>
        </p:nvSpPr>
        <p:spPr>
          <a:xfrm>
            <a:off x="762000" y="1609725"/>
            <a:ext cx="82296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Thiết kế test case cho từng đường dẫn cơ sở</a:t>
            </a:r>
            <a:endParaRPr/>
          </a:p>
        </p:txBody>
      </p:sp>
      <p:graphicFrame>
        <p:nvGraphicFramePr>
          <p:cNvPr id="631" name="Google Shape;631;p23"/>
          <p:cNvGraphicFramePr/>
          <p:nvPr/>
        </p:nvGraphicFramePr>
        <p:xfrm>
          <a:off x="1063625" y="22621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{94D277FC-4B1F-4385-AE56-9B966985E713}</a:tableStyleId>
              </a:tblPr>
              <a:tblGrid>
                <a:gridCol w="2441575"/>
                <a:gridCol w="1063625"/>
                <a:gridCol w="3663950"/>
              </a:tblGrid>
              <a:tr h="7620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200"/>
                        <a:buFont typeface="Tahoma"/>
                        <a:buNone/>
                      </a:pPr>
                      <a:r>
                        <a:rPr b="1" i="0" lang="en-US" sz="2200" u="none" cap="none" strike="noStrik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Đường dẫn</a:t>
                      </a:r>
                      <a:endParaRPr/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200"/>
                        <a:buFont typeface="Tahoma"/>
                        <a:buNone/>
                      </a:pPr>
                      <a:r>
                        <a:rPr b="1" i="0" lang="en-US" sz="2200" u="none" cap="none" strike="noStrik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Đầu vào</a:t>
                      </a:r>
                      <a:endParaRPr/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200"/>
                        <a:buFont typeface="Tahoma"/>
                        <a:buNone/>
                      </a:pPr>
                      <a:r>
                        <a:rPr b="1" i="0" lang="en-US" sz="2200" u="none" cap="none" strike="noStrik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Đầu ra mong muốn</a:t>
                      </a:r>
                      <a:endParaRPr/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200"/>
                        <a:buFont typeface="Tahoma"/>
                        <a:buNone/>
                      </a:pPr>
                      <a:r>
                        <a:rPr b="1" i="0" lang="en-US" sz="2200" u="none" cap="none" strike="noStrik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58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a, c, d, e,f, g, b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12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Tổng là 3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a, c, d, e, f, h, k, b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987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Tổng là 6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a, c, f, g,  b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6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Tong la 6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1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a,b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32" name="Google Shape;632;p23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5.2. KIỂM THỬ ĐƯỜNG DẪN CƠ SỞ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4"/>
          <p:cNvSpPr txBox="1"/>
          <p:nvPr>
            <p:ph type="title"/>
          </p:nvPr>
        </p:nvSpPr>
        <p:spPr>
          <a:xfrm>
            <a:off x="762000" y="914400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Bài tập 1</a:t>
            </a:r>
            <a:endParaRPr/>
          </a:p>
        </p:txBody>
      </p:sp>
      <p:sp>
        <p:nvSpPr>
          <p:cNvPr id="638" name="Google Shape;638;p24"/>
          <p:cNvSpPr txBox="1"/>
          <p:nvPr>
            <p:ph idx="1" type="body"/>
          </p:nvPr>
        </p:nvSpPr>
        <p:spPr>
          <a:xfrm>
            <a:off x="685800" y="1609725"/>
            <a:ext cx="82296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Thiết kế các test case để phủ đường dẫn cơ sở của đoạn chương trình sau:</a:t>
            </a:r>
            <a:endParaRPr/>
          </a:p>
        </p:txBody>
      </p:sp>
      <p:sp>
        <p:nvSpPr>
          <p:cNvPr id="639" name="Google Shape;639;p24"/>
          <p:cNvSpPr txBox="1"/>
          <p:nvPr/>
        </p:nvSpPr>
        <p:spPr>
          <a:xfrm>
            <a:off x="1023937" y="2695575"/>
            <a:ext cx="7756525" cy="404812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onsolas"/>
              <a:buNone/>
            </a:pP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xetHocBong(</a:t>
            </a: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0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diemMH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[], </a:t>
            </a: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0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soMH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0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diemRL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2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tongDiem = 0;</a:t>
            </a:r>
            <a:endParaRPr b="0" i="0" sz="2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 = 0; i &lt; </a:t>
            </a:r>
            <a:r>
              <a:rPr b="0" i="0" lang="en-US" sz="20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soMH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 i++)</a:t>
            </a:r>
            <a:endParaRPr b="0" i="0" sz="2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20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diemMH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[i] &lt; 5)</a:t>
            </a:r>
            <a:endParaRPr b="0" i="0" sz="2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    </a:t>
            </a: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2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onsolas"/>
              <a:buNone/>
            </a:pP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    else</a:t>
            </a:r>
            <a:endParaRPr b="0" i="0" sz="2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    tongDiem += </a:t>
            </a:r>
            <a:r>
              <a:rPr b="0" i="0" lang="en-US" sz="20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diemMH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[i];</a:t>
            </a:r>
            <a:endParaRPr b="0" i="0" sz="2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diemTB = tongDiem / </a:t>
            </a:r>
            <a:r>
              <a:rPr b="0" i="0" lang="en-US" sz="20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soMH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2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(diemTB &gt;= 9 || (diemTB &gt;= 7 &amp;&amp; </a:t>
            </a:r>
            <a:r>
              <a:rPr b="0" i="0" lang="en-US" sz="20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diemRL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&gt;= 80))</a:t>
            </a:r>
            <a:endParaRPr b="0" i="0" sz="2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 </a:t>
            </a:r>
            <a:endParaRPr b="0" i="0" sz="2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2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640" name="Google Shape;640;p24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5.2. KIỂM THỬ ĐƯỜNG DẪN CƠ SỞ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5"/>
          <p:cNvSpPr txBox="1"/>
          <p:nvPr>
            <p:ph type="title"/>
          </p:nvPr>
        </p:nvSpPr>
        <p:spPr>
          <a:xfrm>
            <a:off x="457200" y="938212"/>
            <a:ext cx="1905000" cy="50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Bài tập 2</a:t>
            </a:r>
            <a:endParaRPr/>
          </a:p>
        </p:txBody>
      </p:sp>
      <p:sp>
        <p:nvSpPr>
          <p:cNvPr id="646" name="Google Shape;646;p25"/>
          <p:cNvSpPr/>
          <p:nvPr/>
        </p:nvSpPr>
        <p:spPr>
          <a:xfrm>
            <a:off x="1804147" y="1601062"/>
            <a:ext cx="7263653" cy="5028338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4A73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BinarySearch(</a:t>
            </a:r>
            <a:r>
              <a:rPr b="0" i="0" lang="en-US" sz="20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0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[], </a:t>
            </a:r>
            <a:r>
              <a:rPr b="0" i="0" lang="en-US" sz="20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0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20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0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-US" sz="2000" u="none" cap="none" strike="noStrike">
                <a:solidFill>
                  <a:schemeClr val="lt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20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middle, left = 0, right = n - 1, idx = -1;</a:t>
            </a: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20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(left &lt;= right)</a:t>
            </a:r>
            <a:r>
              <a:rPr b="0" i="0" lang="en-US" sz="2000" u="none" cap="none" strike="noStrike">
                <a:solidFill>
                  <a:schemeClr val="lt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middle = (left + right) / 2;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0" i="0" lang="en-US" sz="20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20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[middle] == </a:t>
            </a:r>
            <a:r>
              <a:rPr b="0" i="0" lang="en-US" sz="20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-US" sz="2000" u="none" cap="none" strike="noStrike">
                <a:solidFill>
                  <a:schemeClr val="lt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idx = middle;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</a:t>
            </a:r>
            <a:r>
              <a:rPr b="0" i="0" lang="en-US" sz="20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}</a:t>
            </a:r>
            <a:r>
              <a:rPr b="0" i="0" lang="en-US" sz="2000" u="none" cap="none" strike="noStrike">
                <a:solidFill>
                  <a:schemeClr val="lt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000" u="none" cap="none" strike="noStrike">
              <a:solidFill>
                <a:schemeClr val="lt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             </a:t>
            </a:r>
            <a:r>
              <a:rPr b="0" i="0" lang="en-US" sz="20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0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20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[middle] &gt; </a:t>
            </a:r>
            <a:r>
              <a:rPr b="0" i="0" lang="en-US" sz="20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right = middle - 1;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0" i="0" lang="en-US" sz="20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   left = middle + 1;</a:t>
            </a:r>
            <a:endParaRPr b="0" i="0" sz="2000" u="none" cap="none" strike="noStrike">
              <a:solidFill>
                <a:schemeClr val="lt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	</a:t>
            </a:r>
            <a:endParaRPr b="0" i="0" sz="2000" u="none" cap="none" strike="noStrik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20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idx;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5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5.2. KIỂM THỬ ĐƯỜNG DẪN CƠ SỞ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6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5.3. KIỂM THỬ BAO PHỦ</a:t>
            </a:r>
            <a:endParaRPr/>
          </a:p>
        </p:txBody>
      </p:sp>
      <p:sp>
        <p:nvSpPr>
          <p:cNvPr id="653" name="Google Shape;653;p26"/>
          <p:cNvSpPr txBox="1"/>
          <p:nvPr>
            <p:ph idx="1" type="body"/>
          </p:nvPr>
        </p:nvSpPr>
        <p:spPr>
          <a:xfrm>
            <a:off x="762000" y="11525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Kiểm thử bao phủ dùng kiểm tra mức độ phủ (coverage) của các test case.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 loại kiểm thử bao phủ: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Phủ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câu lệnh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(statement coverage)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Phủ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nhánh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(branch coverage)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Phủ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đường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(path coverage)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Phủ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điều kiện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(condition coverage)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Phủ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nhánh và điều kiện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(condition and branch coverage)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Phủ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đa điều kiện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(multi-conditions coverage)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7"/>
          <p:cNvSpPr txBox="1"/>
          <p:nvPr>
            <p:ph type="title"/>
          </p:nvPr>
        </p:nvSpPr>
        <p:spPr>
          <a:xfrm>
            <a:off x="609600" y="914400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Phủ câu lệnh</a:t>
            </a:r>
            <a:endParaRPr/>
          </a:p>
        </p:txBody>
      </p:sp>
      <p:sp>
        <p:nvSpPr>
          <p:cNvPr id="659" name="Google Shape;659;p27"/>
          <p:cNvSpPr txBox="1"/>
          <p:nvPr>
            <p:ph idx="1" type="body"/>
          </p:nvPr>
        </p:nvSpPr>
        <p:spPr>
          <a:xfrm>
            <a:off x="881062" y="1462087"/>
            <a:ext cx="8186737" cy="143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Phủ câu lệnh (statement coverage):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mỗi câu lệnh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được thực thi ít nhất một lần.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Ví dụ: hàm xét học bổng như sau</a:t>
            </a:r>
            <a:endParaRPr/>
          </a:p>
          <a:p>
            <a:pPr indent="-190500" lvl="0" marL="34290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7"/>
          <p:cNvSpPr/>
          <p:nvPr/>
        </p:nvSpPr>
        <p:spPr>
          <a:xfrm>
            <a:off x="880445" y="2960874"/>
            <a:ext cx="8187355" cy="3429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4A73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xetHocBong(</a:t>
            </a: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d1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d2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d3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diemRL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double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diemTB = 0.0;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if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d1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&gt;= 5 &amp;&amp; </a:t>
            </a: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d2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&gt;= 5 &amp;&amp; </a:t>
            </a: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d3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&gt;= 5)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diemTB = (</a:t>
            </a: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d1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d2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d3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/ 3;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bool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kq = </a:t>
            </a: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if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((diemTB &gt;= 8.5) || (diemTB &gt;= 7.0 &amp;&amp; </a:t>
            </a: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diemRL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&gt;= 70))</a:t>
            </a:r>
            <a:endParaRPr b="0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kq = </a:t>
            </a: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return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kq;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7"/>
          <p:cNvSpPr txBox="1"/>
          <p:nvPr/>
        </p:nvSpPr>
        <p:spPr>
          <a:xfrm>
            <a:off x="2971800" y="6335712"/>
            <a:ext cx="36671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1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Chương trình minh họa bằng C++</a:t>
            </a:r>
            <a:endParaRPr/>
          </a:p>
        </p:txBody>
      </p:sp>
      <p:sp>
        <p:nvSpPr>
          <p:cNvPr id="662" name="Google Shape;662;p27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5.3. KIỂM THỬ BAO PHỦ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/>
          <p:cNvSpPr txBox="1"/>
          <p:nvPr>
            <p:ph type="title"/>
          </p:nvPr>
        </p:nvSpPr>
        <p:spPr>
          <a:xfrm>
            <a:off x="762000" y="914400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Phủ câu lệnh</a:t>
            </a:r>
            <a:endParaRPr/>
          </a:p>
        </p:txBody>
      </p:sp>
      <p:sp>
        <p:nvSpPr>
          <p:cNvPr id="668" name="Google Shape;668;p28"/>
          <p:cNvSpPr txBox="1"/>
          <p:nvPr>
            <p:ph idx="1" type="body"/>
          </p:nvPr>
        </p:nvSpPr>
        <p:spPr>
          <a:xfrm>
            <a:off x="838200" y="1609725"/>
            <a:ext cx="82296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Để kiểm thử phủ câu lệnh trong hàm trên chỉ cần test case sau: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9" name="Google Shape;669;p28"/>
          <p:cNvGraphicFramePr/>
          <p:nvPr/>
        </p:nvGraphicFramePr>
        <p:xfrm>
          <a:off x="1465262" y="26209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{94D277FC-4B1F-4385-AE56-9B966985E713}</a:tableStyleId>
              </a:tblPr>
              <a:tblGrid>
                <a:gridCol w="1030275"/>
                <a:gridCol w="887400"/>
                <a:gridCol w="901700"/>
                <a:gridCol w="1209675"/>
                <a:gridCol w="3040050"/>
              </a:tblGrid>
              <a:tr h="396875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Đầu vào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Đầu ra mong muốn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diemRL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39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70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Hàm trả về kết quả true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70" name="Google Shape;670;p28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5.3. KIỂM THỬ BAO PHỦ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29"/>
          <p:cNvSpPr txBox="1"/>
          <p:nvPr>
            <p:ph type="title"/>
          </p:nvPr>
        </p:nvSpPr>
        <p:spPr>
          <a:xfrm>
            <a:off x="615950" y="990600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Phủ nhánh</a:t>
            </a:r>
            <a:endParaRPr/>
          </a:p>
        </p:txBody>
      </p:sp>
      <p:sp>
        <p:nvSpPr>
          <p:cNvPr id="676" name="Google Shape;676;p29"/>
          <p:cNvSpPr txBox="1"/>
          <p:nvPr>
            <p:ph idx="1" type="body"/>
          </p:nvPr>
        </p:nvSpPr>
        <p:spPr>
          <a:xfrm>
            <a:off x="609600" y="1609725"/>
            <a:ext cx="8382000" cy="181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Phủ nhánh (branch coverage):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mỗi nhánh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phải được thực hiện ít nhất một lần.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Phủ nhánh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đảm bảo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phủ câu lệnh.</a:t>
            </a:r>
            <a:endParaRPr/>
          </a:p>
        </p:txBody>
      </p:sp>
      <p:sp>
        <p:nvSpPr>
          <p:cNvPr id="677" name="Google Shape;677;p29"/>
          <p:cNvSpPr/>
          <p:nvPr/>
        </p:nvSpPr>
        <p:spPr>
          <a:xfrm>
            <a:off x="2484677" y="4038413"/>
            <a:ext cx="779929" cy="484094"/>
          </a:xfrm>
          <a:prstGeom prst="diamond">
            <a:avLst/>
          </a:prstGeom>
          <a:gradFill>
            <a:gsLst>
              <a:gs pos="0">
                <a:srgbClr val="729883"/>
              </a:gs>
              <a:gs pos="80000">
                <a:srgbClr val="96C8AD"/>
              </a:gs>
              <a:gs pos="100000">
                <a:srgbClr val="96CAAE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9"/>
          <p:cNvSpPr/>
          <p:nvPr/>
        </p:nvSpPr>
        <p:spPr>
          <a:xfrm>
            <a:off x="2484678" y="5318869"/>
            <a:ext cx="779929" cy="484094"/>
          </a:xfrm>
          <a:prstGeom prst="diamond">
            <a:avLst/>
          </a:prstGeom>
          <a:gradFill>
            <a:gsLst>
              <a:gs pos="0">
                <a:srgbClr val="729883"/>
              </a:gs>
              <a:gs pos="80000">
                <a:srgbClr val="96C8AD"/>
              </a:gs>
              <a:gs pos="100000">
                <a:srgbClr val="96CAAE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9"/>
          <p:cNvSpPr/>
          <p:nvPr/>
        </p:nvSpPr>
        <p:spPr>
          <a:xfrm>
            <a:off x="1263234" y="4111349"/>
            <a:ext cx="658906" cy="376891"/>
          </a:xfrm>
          <a:prstGeom prst="rect">
            <a:avLst/>
          </a:prstGeom>
          <a:gradFill>
            <a:gsLst>
              <a:gs pos="0">
                <a:srgbClr val="729883"/>
              </a:gs>
              <a:gs pos="80000">
                <a:srgbClr val="96C8AD"/>
              </a:gs>
              <a:gs pos="100000">
                <a:srgbClr val="96CAAE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9"/>
          <p:cNvSpPr/>
          <p:nvPr/>
        </p:nvSpPr>
        <p:spPr>
          <a:xfrm>
            <a:off x="3952647" y="5353135"/>
            <a:ext cx="658906" cy="376891"/>
          </a:xfrm>
          <a:prstGeom prst="rect">
            <a:avLst/>
          </a:prstGeom>
          <a:gradFill>
            <a:gsLst>
              <a:gs pos="0">
                <a:srgbClr val="729883"/>
              </a:gs>
              <a:gs pos="80000">
                <a:srgbClr val="96C8AD"/>
              </a:gs>
              <a:gs pos="100000">
                <a:srgbClr val="96CAAE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1" name="Google Shape;681;p29"/>
          <p:cNvCxnSpPr/>
          <p:nvPr/>
        </p:nvCxnSpPr>
        <p:spPr>
          <a:xfrm>
            <a:off x="2874962" y="3581400"/>
            <a:ext cx="0" cy="457200"/>
          </a:xfrm>
          <a:prstGeom prst="straightConnector1">
            <a:avLst/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82" name="Google Shape;682;p29"/>
          <p:cNvCxnSpPr/>
          <p:nvPr/>
        </p:nvCxnSpPr>
        <p:spPr>
          <a:xfrm rot="10800000">
            <a:off x="1922462" y="4279900"/>
            <a:ext cx="561975" cy="0"/>
          </a:xfrm>
          <a:prstGeom prst="straightConnector1">
            <a:avLst/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83" name="Google Shape;683;p29"/>
          <p:cNvCxnSpPr/>
          <p:nvPr/>
        </p:nvCxnSpPr>
        <p:spPr>
          <a:xfrm>
            <a:off x="2874962" y="4522787"/>
            <a:ext cx="0" cy="796925"/>
          </a:xfrm>
          <a:prstGeom prst="straightConnector1">
            <a:avLst/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84" name="Google Shape;684;p29"/>
          <p:cNvCxnSpPr/>
          <p:nvPr/>
        </p:nvCxnSpPr>
        <p:spPr>
          <a:xfrm>
            <a:off x="3265487" y="5561012"/>
            <a:ext cx="687387" cy="0"/>
          </a:xfrm>
          <a:prstGeom prst="straightConnector1">
            <a:avLst/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85" name="Google Shape;685;p29"/>
          <p:cNvCxnSpPr/>
          <p:nvPr/>
        </p:nvCxnSpPr>
        <p:spPr>
          <a:xfrm flipH="1" rot="-5400000">
            <a:off x="1492213" y="4568863"/>
            <a:ext cx="1092300" cy="892200"/>
          </a:xfrm>
          <a:prstGeom prst="bentConnector2">
            <a:avLst/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86" name="Google Shape;686;p29"/>
          <p:cNvCxnSpPr/>
          <p:nvPr/>
        </p:nvCxnSpPr>
        <p:spPr>
          <a:xfrm>
            <a:off x="2874962" y="5802312"/>
            <a:ext cx="0" cy="642937"/>
          </a:xfrm>
          <a:prstGeom prst="straightConnector1">
            <a:avLst/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87" name="Google Shape;687;p29"/>
          <p:cNvCxnSpPr/>
          <p:nvPr/>
        </p:nvCxnSpPr>
        <p:spPr>
          <a:xfrm flipH="1">
            <a:off x="2874874" y="5729287"/>
            <a:ext cx="1408200" cy="6969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88" name="Google Shape;688;p29"/>
          <p:cNvCxnSpPr/>
          <p:nvPr/>
        </p:nvCxnSpPr>
        <p:spPr>
          <a:xfrm>
            <a:off x="2673350" y="3581400"/>
            <a:ext cx="0" cy="4572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89" name="Google Shape;689;p29"/>
          <p:cNvCxnSpPr/>
          <p:nvPr/>
        </p:nvCxnSpPr>
        <p:spPr>
          <a:xfrm rot="10800000">
            <a:off x="2068512" y="4092575"/>
            <a:ext cx="415925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grpSp>
        <p:nvGrpSpPr>
          <p:cNvPr id="690" name="Google Shape;690;p29"/>
          <p:cNvGrpSpPr/>
          <p:nvPr/>
        </p:nvGrpSpPr>
        <p:grpSpPr>
          <a:xfrm>
            <a:off x="1422400" y="4630737"/>
            <a:ext cx="833437" cy="1119187"/>
            <a:chOff x="1169894" y="4195482"/>
            <a:chExt cx="833718" cy="1119091"/>
          </a:xfrm>
        </p:grpSpPr>
        <p:cxnSp>
          <p:nvCxnSpPr>
            <p:cNvPr id="691" name="Google Shape;691;p29"/>
            <p:cNvCxnSpPr/>
            <p:nvPr/>
          </p:nvCxnSpPr>
          <p:spPr>
            <a:xfrm>
              <a:off x="1169894" y="4195482"/>
              <a:ext cx="0" cy="1119091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92" name="Google Shape;692;p29"/>
            <p:cNvCxnSpPr/>
            <p:nvPr/>
          </p:nvCxnSpPr>
          <p:spPr>
            <a:xfrm>
              <a:off x="1169894" y="5314573"/>
              <a:ext cx="833718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</p:grpSp>
      <p:cxnSp>
        <p:nvCxnSpPr>
          <p:cNvPr id="693" name="Google Shape;693;p29"/>
          <p:cNvCxnSpPr/>
          <p:nvPr/>
        </p:nvCxnSpPr>
        <p:spPr>
          <a:xfrm>
            <a:off x="2673350" y="5803900"/>
            <a:ext cx="0" cy="7493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94" name="Google Shape;694;p29"/>
          <p:cNvCxnSpPr/>
          <p:nvPr/>
        </p:nvCxnSpPr>
        <p:spPr>
          <a:xfrm>
            <a:off x="3103562" y="4524375"/>
            <a:ext cx="0" cy="700087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95" name="Google Shape;695;p29"/>
          <p:cNvCxnSpPr/>
          <p:nvPr/>
        </p:nvCxnSpPr>
        <p:spPr>
          <a:xfrm>
            <a:off x="3130550" y="3582987"/>
            <a:ext cx="0" cy="4572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96" name="Google Shape;696;p29"/>
          <p:cNvCxnSpPr/>
          <p:nvPr/>
        </p:nvCxnSpPr>
        <p:spPr>
          <a:xfrm>
            <a:off x="3263900" y="5375275"/>
            <a:ext cx="565150" cy="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grpSp>
        <p:nvGrpSpPr>
          <p:cNvPr id="697" name="Google Shape;697;p29"/>
          <p:cNvGrpSpPr/>
          <p:nvPr/>
        </p:nvGrpSpPr>
        <p:grpSpPr>
          <a:xfrm>
            <a:off x="3130550" y="5803900"/>
            <a:ext cx="1344612" cy="749300"/>
            <a:chOff x="2877671" y="5368175"/>
            <a:chExt cx="1344705" cy="750237"/>
          </a:xfrm>
        </p:grpSpPr>
        <p:cxnSp>
          <p:nvCxnSpPr>
            <p:cNvPr id="698" name="Google Shape;698;p29"/>
            <p:cNvCxnSpPr/>
            <p:nvPr/>
          </p:nvCxnSpPr>
          <p:spPr>
            <a:xfrm>
              <a:off x="4209675" y="5368175"/>
              <a:ext cx="12701" cy="454593"/>
            </a:xfrm>
            <a:prstGeom prst="straightConnector1">
              <a:avLst/>
            </a:prstGeom>
            <a:noFill/>
            <a:ln cap="flat" cmpd="sng" w="28575">
              <a:solidFill>
                <a:srgbClr val="00B05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99" name="Google Shape;699;p29"/>
            <p:cNvCxnSpPr/>
            <p:nvPr/>
          </p:nvCxnSpPr>
          <p:spPr>
            <a:xfrm rot="10800000">
              <a:off x="2877671" y="5822768"/>
              <a:ext cx="1344705" cy="0"/>
            </a:xfrm>
            <a:prstGeom prst="straightConnector1">
              <a:avLst/>
            </a:prstGeom>
            <a:noFill/>
            <a:ln cap="flat" cmpd="sng" w="28575">
              <a:solidFill>
                <a:srgbClr val="00B05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700" name="Google Shape;700;p29"/>
            <p:cNvCxnSpPr/>
            <p:nvPr/>
          </p:nvCxnSpPr>
          <p:spPr>
            <a:xfrm>
              <a:off x="2877671" y="5822768"/>
              <a:ext cx="0" cy="295644"/>
            </a:xfrm>
            <a:prstGeom prst="straightConnector1">
              <a:avLst/>
            </a:prstGeom>
            <a:noFill/>
            <a:ln cap="flat" cmpd="sng" w="28575">
              <a:solidFill>
                <a:srgbClr val="00B05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</p:grpSp>
      <p:sp>
        <p:nvSpPr>
          <p:cNvPr id="701" name="Google Shape;701;p29"/>
          <p:cNvSpPr/>
          <p:nvPr/>
        </p:nvSpPr>
        <p:spPr>
          <a:xfrm>
            <a:off x="6864725" y="3984812"/>
            <a:ext cx="779929" cy="484094"/>
          </a:xfrm>
          <a:prstGeom prst="diamond">
            <a:avLst/>
          </a:prstGeom>
          <a:gradFill>
            <a:gsLst>
              <a:gs pos="0">
                <a:srgbClr val="729883"/>
              </a:gs>
              <a:gs pos="80000">
                <a:srgbClr val="96C8AD"/>
              </a:gs>
              <a:gs pos="100000">
                <a:srgbClr val="96CAAE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29"/>
          <p:cNvSpPr/>
          <p:nvPr/>
        </p:nvSpPr>
        <p:spPr>
          <a:xfrm>
            <a:off x="6864725" y="5265455"/>
            <a:ext cx="779929" cy="484094"/>
          </a:xfrm>
          <a:prstGeom prst="diamond">
            <a:avLst/>
          </a:prstGeom>
          <a:gradFill>
            <a:gsLst>
              <a:gs pos="0">
                <a:srgbClr val="729883"/>
              </a:gs>
              <a:gs pos="80000">
                <a:srgbClr val="96C8AD"/>
              </a:gs>
              <a:gs pos="100000">
                <a:srgbClr val="96CAAE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29"/>
          <p:cNvSpPr/>
          <p:nvPr/>
        </p:nvSpPr>
        <p:spPr>
          <a:xfrm>
            <a:off x="5643282" y="4038413"/>
            <a:ext cx="658906" cy="376891"/>
          </a:xfrm>
          <a:prstGeom prst="rect">
            <a:avLst/>
          </a:prstGeom>
          <a:gradFill>
            <a:gsLst>
              <a:gs pos="0">
                <a:srgbClr val="729883"/>
              </a:gs>
              <a:gs pos="80000">
                <a:srgbClr val="96C8AD"/>
              </a:gs>
              <a:gs pos="100000">
                <a:srgbClr val="96CAAE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29"/>
          <p:cNvSpPr/>
          <p:nvPr/>
        </p:nvSpPr>
        <p:spPr>
          <a:xfrm>
            <a:off x="8332694" y="5319056"/>
            <a:ext cx="658906" cy="376891"/>
          </a:xfrm>
          <a:prstGeom prst="rect">
            <a:avLst/>
          </a:prstGeom>
          <a:gradFill>
            <a:gsLst>
              <a:gs pos="0">
                <a:srgbClr val="729883"/>
              </a:gs>
              <a:gs pos="80000">
                <a:srgbClr val="96C8AD"/>
              </a:gs>
              <a:gs pos="100000">
                <a:srgbClr val="96CAAE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5" name="Google Shape;705;p29"/>
          <p:cNvCxnSpPr/>
          <p:nvPr/>
        </p:nvCxnSpPr>
        <p:spPr>
          <a:xfrm>
            <a:off x="7254875" y="3527425"/>
            <a:ext cx="0" cy="457200"/>
          </a:xfrm>
          <a:prstGeom prst="straightConnector1">
            <a:avLst/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06" name="Google Shape;706;p29"/>
          <p:cNvCxnSpPr/>
          <p:nvPr/>
        </p:nvCxnSpPr>
        <p:spPr>
          <a:xfrm rot="10800000">
            <a:off x="6302375" y="4227512"/>
            <a:ext cx="561975" cy="0"/>
          </a:xfrm>
          <a:prstGeom prst="straightConnector1">
            <a:avLst/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07" name="Google Shape;707;p29"/>
          <p:cNvCxnSpPr/>
          <p:nvPr/>
        </p:nvCxnSpPr>
        <p:spPr>
          <a:xfrm>
            <a:off x="7254875" y="4468812"/>
            <a:ext cx="0" cy="796925"/>
          </a:xfrm>
          <a:prstGeom prst="straightConnector1">
            <a:avLst/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08" name="Google Shape;708;p29"/>
          <p:cNvCxnSpPr/>
          <p:nvPr/>
        </p:nvCxnSpPr>
        <p:spPr>
          <a:xfrm>
            <a:off x="7645400" y="5507037"/>
            <a:ext cx="687387" cy="0"/>
          </a:xfrm>
          <a:prstGeom prst="straightConnector1">
            <a:avLst/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09" name="Google Shape;709;p29"/>
          <p:cNvCxnSpPr/>
          <p:nvPr/>
        </p:nvCxnSpPr>
        <p:spPr>
          <a:xfrm flipH="1" rot="-5400000">
            <a:off x="5872963" y="4515637"/>
            <a:ext cx="1092300" cy="890700"/>
          </a:xfrm>
          <a:prstGeom prst="bentConnector2">
            <a:avLst/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10" name="Google Shape;710;p29"/>
          <p:cNvCxnSpPr/>
          <p:nvPr/>
        </p:nvCxnSpPr>
        <p:spPr>
          <a:xfrm>
            <a:off x="7254875" y="5749925"/>
            <a:ext cx="0" cy="642937"/>
          </a:xfrm>
          <a:prstGeom prst="straightConnector1">
            <a:avLst/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11" name="Google Shape;711;p29"/>
          <p:cNvCxnSpPr/>
          <p:nvPr/>
        </p:nvCxnSpPr>
        <p:spPr>
          <a:xfrm flipH="1">
            <a:off x="7254787" y="5695950"/>
            <a:ext cx="1408200" cy="6969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12" name="Google Shape;712;p29"/>
          <p:cNvCxnSpPr/>
          <p:nvPr/>
        </p:nvCxnSpPr>
        <p:spPr>
          <a:xfrm>
            <a:off x="7477125" y="3489325"/>
            <a:ext cx="0" cy="4572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13" name="Google Shape;713;p29"/>
          <p:cNvCxnSpPr/>
          <p:nvPr/>
        </p:nvCxnSpPr>
        <p:spPr>
          <a:xfrm rot="10800000">
            <a:off x="6448425" y="4038600"/>
            <a:ext cx="415925" cy="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grpSp>
        <p:nvGrpSpPr>
          <p:cNvPr id="714" name="Google Shape;714;p29"/>
          <p:cNvGrpSpPr/>
          <p:nvPr/>
        </p:nvGrpSpPr>
        <p:grpSpPr>
          <a:xfrm>
            <a:off x="5802312" y="4576762"/>
            <a:ext cx="833437" cy="1119187"/>
            <a:chOff x="1169894" y="4195482"/>
            <a:chExt cx="833718" cy="1119091"/>
          </a:xfrm>
        </p:grpSpPr>
        <p:cxnSp>
          <p:nvCxnSpPr>
            <p:cNvPr id="715" name="Google Shape;715;p29"/>
            <p:cNvCxnSpPr/>
            <p:nvPr/>
          </p:nvCxnSpPr>
          <p:spPr>
            <a:xfrm>
              <a:off x="1169894" y="4195482"/>
              <a:ext cx="0" cy="1119091"/>
            </a:xfrm>
            <a:prstGeom prst="straightConnector1">
              <a:avLst/>
            </a:prstGeom>
            <a:noFill/>
            <a:ln cap="flat" cmpd="sng" w="28575">
              <a:solidFill>
                <a:srgbClr val="00B05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716" name="Google Shape;716;p29"/>
            <p:cNvCxnSpPr/>
            <p:nvPr/>
          </p:nvCxnSpPr>
          <p:spPr>
            <a:xfrm>
              <a:off x="1169894" y="5314573"/>
              <a:ext cx="833718" cy="0"/>
            </a:xfrm>
            <a:prstGeom prst="straightConnector1">
              <a:avLst/>
            </a:prstGeom>
            <a:noFill/>
            <a:ln cap="flat" cmpd="sng" w="28575">
              <a:solidFill>
                <a:srgbClr val="00B05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</p:grpSp>
      <p:cxnSp>
        <p:nvCxnSpPr>
          <p:cNvPr id="717" name="Google Shape;717;p29"/>
          <p:cNvCxnSpPr/>
          <p:nvPr/>
        </p:nvCxnSpPr>
        <p:spPr>
          <a:xfrm>
            <a:off x="7053262" y="5749925"/>
            <a:ext cx="0" cy="7493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18" name="Google Shape;718;p29"/>
          <p:cNvCxnSpPr/>
          <p:nvPr/>
        </p:nvCxnSpPr>
        <p:spPr>
          <a:xfrm>
            <a:off x="7483475" y="4468812"/>
            <a:ext cx="0" cy="700087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19" name="Google Shape;719;p29"/>
          <p:cNvCxnSpPr/>
          <p:nvPr/>
        </p:nvCxnSpPr>
        <p:spPr>
          <a:xfrm>
            <a:off x="7053262" y="3495675"/>
            <a:ext cx="0" cy="4572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20" name="Google Shape;720;p29"/>
          <p:cNvCxnSpPr/>
          <p:nvPr/>
        </p:nvCxnSpPr>
        <p:spPr>
          <a:xfrm>
            <a:off x="7645400" y="5319712"/>
            <a:ext cx="563562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grpSp>
        <p:nvGrpSpPr>
          <p:cNvPr id="721" name="Google Shape;721;p29"/>
          <p:cNvGrpSpPr/>
          <p:nvPr/>
        </p:nvGrpSpPr>
        <p:grpSpPr>
          <a:xfrm>
            <a:off x="7510462" y="5749925"/>
            <a:ext cx="1344612" cy="749300"/>
            <a:chOff x="7069791" y="5314574"/>
            <a:chExt cx="1344705" cy="750237"/>
          </a:xfrm>
        </p:grpSpPr>
        <p:cxnSp>
          <p:nvCxnSpPr>
            <p:cNvPr id="722" name="Google Shape;722;p29"/>
            <p:cNvCxnSpPr/>
            <p:nvPr/>
          </p:nvCxnSpPr>
          <p:spPr>
            <a:xfrm>
              <a:off x="8401795" y="5314574"/>
              <a:ext cx="12701" cy="454593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723" name="Google Shape;723;p29"/>
            <p:cNvCxnSpPr/>
            <p:nvPr/>
          </p:nvCxnSpPr>
          <p:spPr>
            <a:xfrm rot="10800000">
              <a:off x="7069791" y="5769167"/>
              <a:ext cx="1344705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724" name="Google Shape;724;p29"/>
            <p:cNvCxnSpPr/>
            <p:nvPr/>
          </p:nvCxnSpPr>
          <p:spPr>
            <a:xfrm>
              <a:off x="7069791" y="5769167"/>
              <a:ext cx="0" cy="295644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</p:grpSp>
      <p:sp>
        <p:nvSpPr>
          <p:cNvPr id="725" name="Google Shape;725;p29"/>
          <p:cNvSpPr txBox="1"/>
          <p:nvPr/>
        </p:nvSpPr>
        <p:spPr>
          <a:xfrm>
            <a:off x="4689475" y="5005387"/>
            <a:ext cx="76358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Hoặc</a:t>
            </a:r>
            <a:endParaRPr/>
          </a:p>
        </p:txBody>
      </p:sp>
      <p:sp>
        <p:nvSpPr>
          <p:cNvPr id="726" name="Google Shape;726;p29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5.3. KIỂM THỬ BAO PHỦ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0"/>
          <p:cNvSpPr txBox="1"/>
          <p:nvPr>
            <p:ph type="title"/>
          </p:nvPr>
        </p:nvSpPr>
        <p:spPr>
          <a:xfrm>
            <a:off x="533400" y="914400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Phủ nhánh</a:t>
            </a:r>
            <a:endParaRPr/>
          </a:p>
        </p:txBody>
      </p:sp>
      <p:sp>
        <p:nvSpPr>
          <p:cNvPr id="732" name="Google Shape;732;p30"/>
          <p:cNvSpPr txBox="1"/>
          <p:nvPr>
            <p:ph idx="1" type="body"/>
          </p:nvPr>
        </p:nvSpPr>
        <p:spPr>
          <a:xfrm>
            <a:off x="990600" y="1422400"/>
            <a:ext cx="7924800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Nhận xét: trong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đồ thị luồng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Phủ nhánh có nghĩa là 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các cạnh được đi qua ít nhất một lần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Để phủ nhánh phải thiết kế dữ liệu kiểm thử sao cho 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mỗi nút vị từ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(predicate) xảy ra tất cả các kết quả (true/false) có thể của nó, nên phủ nhánh còn gọi là 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phủ quyết định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(decision coverage). </a:t>
            </a:r>
            <a:endParaRPr/>
          </a:p>
        </p:txBody>
      </p:sp>
      <p:sp>
        <p:nvSpPr>
          <p:cNvPr id="733" name="Google Shape;733;p30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5.3. KIỂM THỬ BAO PHỦ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1"/>
          <p:cNvSpPr txBox="1"/>
          <p:nvPr>
            <p:ph type="title"/>
          </p:nvPr>
        </p:nvSpPr>
        <p:spPr>
          <a:xfrm>
            <a:off x="573087" y="963612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Phủ nhánh</a:t>
            </a:r>
            <a:endParaRPr/>
          </a:p>
        </p:txBody>
      </p:sp>
      <p:sp>
        <p:nvSpPr>
          <p:cNvPr id="739" name="Google Shape;739;p31"/>
          <p:cNvSpPr txBox="1"/>
          <p:nvPr/>
        </p:nvSpPr>
        <p:spPr>
          <a:xfrm>
            <a:off x="666750" y="5262562"/>
            <a:ext cx="1547812" cy="43973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diemTB = 0</a:t>
            </a:r>
            <a:endParaRPr/>
          </a:p>
        </p:txBody>
      </p:sp>
      <p:sp>
        <p:nvSpPr>
          <p:cNvPr id="740" name="Google Shape;740;p31"/>
          <p:cNvSpPr/>
          <p:nvPr/>
        </p:nvSpPr>
        <p:spPr>
          <a:xfrm>
            <a:off x="1239837" y="1806575"/>
            <a:ext cx="401637" cy="40163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31"/>
          <p:cNvSpPr/>
          <p:nvPr/>
        </p:nvSpPr>
        <p:spPr>
          <a:xfrm>
            <a:off x="2771775" y="2459037"/>
            <a:ext cx="2809875" cy="1187450"/>
          </a:xfrm>
          <a:prstGeom prst="diamond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31"/>
          <p:cNvSpPr txBox="1"/>
          <p:nvPr/>
        </p:nvSpPr>
        <p:spPr>
          <a:xfrm>
            <a:off x="3508375" y="2657475"/>
            <a:ext cx="1462087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d1 &gt;= 5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&amp;&amp; d2 &gt;= 5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&amp;&amp; d3 &gt;= 5</a:t>
            </a:r>
            <a:endParaRPr/>
          </a:p>
        </p:txBody>
      </p:sp>
      <p:sp>
        <p:nvSpPr>
          <p:cNvPr id="743" name="Google Shape;743;p31"/>
          <p:cNvSpPr/>
          <p:nvPr/>
        </p:nvSpPr>
        <p:spPr>
          <a:xfrm>
            <a:off x="533400" y="2459037"/>
            <a:ext cx="1814512" cy="439737"/>
          </a:xfrm>
          <a:prstGeom prst="flowChartInternalStorag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double d1</a:t>
            </a:r>
            <a:endParaRPr/>
          </a:p>
        </p:txBody>
      </p:sp>
      <p:sp>
        <p:nvSpPr>
          <p:cNvPr id="744" name="Google Shape;744;p31"/>
          <p:cNvSpPr/>
          <p:nvPr/>
        </p:nvSpPr>
        <p:spPr>
          <a:xfrm>
            <a:off x="533400" y="3179762"/>
            <a:ext cx="1814512" cy="439737"/>
          </a:xfrm>
          <a:prstGeom prst="flowChartInternalStorag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double d2</a:t>
            </a:r>
            <a:endParaRPr/>
          </a:p>
        </p:txBody>
      </p:sp>
      <p:sp>
        <p:nvSpPr>
          <p:cNvPr id="745" name="Google Shape;745;p31"/>
          <p:cNvSpPr/>
          <p:nvPr/>
        </p:nvSpPr>
        <p:spPr>
          <a:xfrm>
            <a:off x="533400" y="3894137"/>
            <a:ext cx="1814512" cy="441325"/>
          </a:xfrm>
          <a:prstGeom prst="flowChartInternalStorag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double d3</a:t>
            </a:r>
            <a:endParaRPr/>
          </a:p>
        </p:txBody>
      </p:sp>
      <p:sp>
        <p:nvSpPr>
          <p:cNvPr id="746" name="Google Shape;746;p31"/>
          <p:cNvSpPr/>
          <p:nvPr/>
        </p:nvSpPr>
        <p:spPr>
          <a:xfrm>
            <a:off x="533400" y="4605337"/>
            <a:ext cx="1814512" cy="441325"/>
          </a:xfrm>
          <a:prstGeom prst="flowChartInternalStorag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double diemRL</a:t>
            </a:r>
            <a:endParaRPr/>
          </a:p>
        </p:txBody>
      </p:sp>
      <p:sp>
        <p:nvSpPr>
          <p:cNvPr id="747" name="Google Shape;747;p31"/>
          <p:cNvSpPr txBox="1"/>
          <p:nvPr/>
        </p:nvSpPr>
        <p:spPr>
          <a:xfrm>
            <a:off x="2713037" y="1741487"/>
            <a:ext cx="2925762" cy="43973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diemTB = (d1 + d2 + d3) / 3</a:t>
            </a:r>
            <a:endParaRPr/>
          </a:p>
        </p:txBody>
      </p:sp>
      <p:cxnSp>
        <p:nvCxnSpPr>
          <p:cNvPr id="748" name="Google Shape;748;p31"/>
          <p:cNvCxnSpPr/>
          <p:nvPr/>
        </p:nvCxnSpPr>
        <p:spPr>
          <a:xfrm>
            <a:off x="1439862" y="2208212"/>
            <a:ext cx="0" cy="25082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49" name="Google Shape;749;p31"/>
          <p:cNvCxnSpPr/>
          <p:nvPr/>
        </p:nvCxnSpPr>
        <p:spPr>
          <a:xfrm>
            <a:off x="1439862" y="2898775"/>
            <a:ext cx="0" cy="28098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50" name="Google Shape;750;p31"/>
          <p:cNvCxnSpPr/>
          <p:nvPr/>
        </p:nvCxnSpPr>
        <p:spPr>
          <a:xfrm>
            <a:off x="1439862" y="3619500"/>
            <a:ext cx="0" cy="27463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51" name="Google Shape;751;p31"/>
          <p:cNvCxnSpPr/>
          <p:nvPr/>
        </p:nvCxnSpPr>
        <p:spPr>
          <a:xfrm>
            <a:off x="1439862" y="4335462"/>
            <a:ext cx="0" cy="26987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752" name="Google Shape;752;p31"/>
          <p:cNvSpPr txBox="1"/>
          <p:nvPr/>
        </p:nvSpPr>
        <p:spPr>
          <a:xfrm>
            <a:off x="4160837" y="2182812"/>
            <a:ext cx="5476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true</a:t>
            </a:r>
            <a:endParaRPr/>
          </a:p>
        </p:txBody>
      </p:sp>
      <p:sp>
        <p:nvSpPr>
          <p:cNvPr id="753" name="Google Shape;753;p31"/>
          <p:cNvSpPr/>
          <p:nvPr/>
        </p:nvSpPr>
        <p:spPr>
          <a:xfrm>
            <a:off x="2768600" y="4635500"/>
            <a:ext cx="2809875" cy="1265237"/>
          </a:xfrm>
          <a:prstGeom prst="diamond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31"/>
          <p:cNvSpPr txBox="1"/>
          <p:nvPr/>
        </p:nvSpPr>
        <p:spPr>
          <a:xfrm>
            <a:off x="3238500" y="4884737"/>
            <a:ext cx="2230437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(diemTB &gt;= 8.5) ||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(diemTB &gt;= 7.0  &amp;&amp;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 diemRL &gt;= 70)</a:t>
            </a:r>
            <a:endParaRPr/>
          </a:p>
        </p:txBody>
      </p:sp>
      <p:sp>
        <p:nvSpPr>
          <p:cNvPr id="755" name="Google Shape;755;p31"/>
          <p:cNvSpPr/>
          <p:nvPr/>
        </p:nvSpPr>
        <p:spPr>
          <a:xfrm>
            <a:off x="3186112" y="3956050"/>
            <a:ext cx="1979612" cy="439737"/>
          </a:xfrm>
          <a:prstGeom prst="flowChartInternalStorag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bool kq = false</a:t>
            </a:r>
            <a:endParaRPr/>
          </a:p>
        </p:txBody>
      </p:sp>
      <p:sp>
        <p:nvSpPr>
          <p:cNvPr id="756" name="Google Shape;756;p31"/>
          <p:cNvSpPr txBox="1"/>
          <p:nvPr/>
        </p:nvSpPr>
        <p:spPr>
          <a:xfrm>
            <a:off x="4162425" y="3632200"/>
            <a:ext cx="600075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false</a:t>
            </a:r>
            <a:endParaRPr/>
          </a:p>
        </p:txBody>
      </p:sp>
      <p:cxnSp>
        <p:nvCxnSpPr>
          <p:cNvPr id="757" name="Google Shape;757;p31"/>
          <p:cNvCxnSpPr/>
          <p:nvPr/>
        </p:nvCxnSpPr>
        <p:spPr>
          <a:xfrm>
            <a:off x="4176712" y="3646487"/>
            <a:ext cx="0" cy="30956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58" name="Google Shape;758;p31"/>
          <p:cNvCxnSpPr/>
          <p:nvPr/>
        </p:nvCxnSpPr>
        <p:spPr>
          <a:xfrm rot="5400000">
            <a:off x="4294950" y="2831312"/>
            <a:ext cx="2214600" cy="473100"/>
          </a:xfrm>
          <a:prstGeom prst="bentConnector3">
            <a:avLst>
              <a:gd fmla="val 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59" name="Google Shape;759;p31"/>
          <p:cNvCxnSpPr/>
          <p:nvPr/>
        </p:nvCxnSpPr>
        <p:spPr>
          <a:xfrm flipH="1">
            <a:off x="4173537" y="4395787"/>
            <a:ext cx="3175" cy="23971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760" name="Google Shape;760;p31"/>
          <p:cNvSpPr txBox="1"/>
          <p:nvPr/>
        </p:nvSpPr>
        <p:spPr>
          <a:xfrm>
            <a:off x="4424362" y="6327775"/>
            <a:ext cx="1546225" cy="43973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kq = true</a:t>
            </a:r>
            <a:endParaRPr/>
          </a:p>
        </p:txBody>
      </p:sp>
      <p:sp>
        <p:nvSpPr>
          <p:cNvPr id="761" name="Google Shape;761;p31"/>
          <p:cNvSpPr/>
          <p:nvPr/>
        </p:nvSpPr>
        <p:spPr>
          <a:xfrm>
            <a:off x="1285875" y="6365875"/>
            <a:ext cx="403225" cy="40163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31"/>
          <p:cNvSpPr txBox="1"/>
          <p:nvPr/>
        </p:nvSpPr>
        <p:spPr>
          <a:xfrm>
            <a:off x="4881562" y="5762625"/>
            <a:ext cx="54768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true</a:t>
            </a:r>
            <a:endParaRPr/>
          </a:p>
        </p:txBody>
      </p:sp>
      <p:sp>
        <p:nvSpPr>
          <p:cNvPr id="763" name="Google Shape;763;p31"/>
          <p:cNvSpPr txBox="1"/>
          <p:nvPr/>
        </p:nvSpPr>
        <p:spPr>
          <a:xfrm>
            <a:off x="2917825" y="5759450"/>
            <a:ext cx="601662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false</a:t>
            </a:r>
            <a:endParaRPr/>
          </a:p>
        </p:txBody>
      </p:sp>
      <p:sp>
        <p:nvSpPr>
          <p:cNvPr id="764" name="Google Shape;764;p31"/>
          <p:cNvSpPr txBox="1"/>
          <p:nvPr/>
        </p:nvSpPr>
        <p:spPr>
          <a:xfrm>
            <a:off x="2347912" y="6340475"/>
            <a:ext cx="1546225" cy="441325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return kq</a:t>
            </a:r>
            <a:endParaRPr/>
          </a:p>
        </p:txBody>
      </p:sp>
      <p:cxnSp>
        <p:nvCxnSpPr>
          <p:cNvPr id="765" name="Google Shape;765;p31"/>
          <p:cNvCxnSpPr/>
          <p:nvPr/>
        </p:nvCxnSpPr>
        <p:spPr>
          <a:xfrm flipH="1">
            <a:off x="3121137" y="5900738"/>
            <a:ext cx="1052400" cy="4398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66" name="Google Shape;766;p31"/>
          <p:cNvCxnSpPr/>
          <p:nvPr/>
        </p:nvCxnSpPr>
        <p:spPr>
          <a:xfrm flipH="1">
            <a:off x="1689100" y="6561137"/>
            <a:ext cx="658812" cy="476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67" name="Google Shape;767;p31"/>
          <p:cNvCxnSpPr/>
          <p:nvPr/>
        </p:nvCxnSpPr>
        <p:spPr>
          <a:xfrm>
            <a:off x="1439862" y="5046662"/>
            <a:ext cx="0" cy="21590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68" name="Google Shape;768;p31"/>
          <p:cNvCxnSpPr/>
          <p:nvPr/>
        </p:nvCxnSpPr>
        <p:spPr>
          <a:xfrm rot="-5400000">
            <a:off x="1277812" y="3989374"/>
            <a:ext cx="2430600" cy="557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69" name="Google Shape;769;p31"/>
          <p:cNvCxnSpPr/>
          <p:nvPr/>
        </p:nvCxnSpPr>
        <p:spPr>
          <a:xfrm rot="10800000">
            <a:off x="4175125" y="2181225"/>
            <a:ext cx="1587" cy="27781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70" name="Google Shape;770;p31"/>
          <p:cNvCxnSpPr/>
          <p:nvPr/>
        </p:nvCxnSpPr>
        <p:spPr>
          <a:xfrm>
            <a:off x="4173537" y="5900737"/>
            <a:ext cx="1023900" cy="4269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71" name="Google Shape;771;p31"/>
          <p:cNvCxnSpPr/>
          <p:nvPr/>
        </p:nvCxnSpPr>
        <p:spPr>
          <a:xfrm flipH="1">
            <a:off x="3894137" y="6548437"/>
            <a:ext cx="530225" cy="1270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772" name="Google Shape;772;p31"/>
          <p:cNvSpPr txBox="1"/>
          <p:nvPr/>
        </p:nvSpPr>
        <p:spPr>
          <a:xfrm>
            <a:off x="7688262" y="1878012"/>
            <a:ext cx="30638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endParaRPr/>
          </a:p>
        </p:txBody>
      </p:sp>
      <p:sp>
        <p:nvSpPr>
          <p:cNvPr id="773" name="Google Shape;773;p31"/>
          <p:cNvSpPr txBox="1"/>
          <p:nvPr/>
        </p:nvSpPr>
        <p:spPr>
          <a:xfrm>
            <a:off x="7118350" y="2417762"/>
            <a:ext cx="31273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</a:t>
            </a:r>
            <a:endParaRPr/>
          </a:p>
        </p:txBody>
      </p:sp>
      <p:sp>
        <p:nvSpPr>
          <p:cNvPr id="774" name="Google Shape;774;p31"/>
          <p:cNvSpPr txBox="1"/>
          <p:nvPr/>
        </p:nvSpPr>
        <p:spPr>
          <a:xfrm>
            <a:off x="8013700" y="2401887"/>
            <a:ext cx="29051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endParaRPr/>
          </a:p>
        </p:txBody>
      </p:sp>
      <p:sp>
        <p:nvSpPr>
          <p:cNvPr id="775" name="Google Shape;775;p31"/>
          <p:cNvSpPr txBox="1"/>
          <p:nvPr/>
        </p:nvSpPr>
        <p:spPr>
          <a:xfrm>
            <a:off x="8066087" y="3719512"/>
            <a:ext cx="30638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</a:t>
            </a:r>
            <a:endParaRPr/>
          </a:p>
        </p:txBody>
      </p:sp>
      <p:sp>
        <p:nvSpPr>
          <p:cNvPr id="776" name="Google Shape;776;p31"/>
          <p:cNvSpPr txBox="1"/>
          <p:nvPr/>
        </p:nvSpPr>
        <p:spPr>
          <a:xfrm>
            <a:off x="7097712" y="3770312"/>
            <a:ext cx="31273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endParaRPr/>
          </a:p>
        </p:txBody>
      </p:sp>
      <p:cxnSp>
        <p:nvCxnSpPr>
          <p:cNvPr id="777" name="Google Shape;777;p31"/>
          <p:cNvCxnSpPr/>
          <p:nvPr/>
        </p:nvCxnSpPr>
        <p:spPr>
          <a:xfrm>
            <a:off x="5692775" y="2865437"/>
            <a:ext cx="498475" cy="0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778" name="Google Shape;778;p31"/>
          <p:cNvSpPr txBox="1"/>
          <p:nvPr/>
        </p:nvSpPr>
        <p:spPr>
          <a:xfrm>
            <a:off x="5772150" y="5384800"/>
            <a:ext cx="367665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Để phủ các nhánh: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Tahoma"/>
              <a:buChar char="-"/>
            </a:pPr>
            <a:r>
              <a:rPr b="0" i="0" lang="en-US" sz="2000" u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Hoặc </a:t>
            </a:r>
            <a:r>
              <a:rPr b="1" i="0" lang="en-US" sz="20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abd</a:t>
            </a:r>
            <a:r>
              <a:rPr b="0" i="0" lang="en-US" sz="20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000" u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(FF) và </a:t>
            </a:r>
            <a:r>
              <a:rPr b="1" i="0" lang="en-US" sz="20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ace</a:t>
            </a:r>
            <a:r>
              <a:rPr b="0" i="0" lang="en-US" sz="20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000" u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(TT)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Tahoma"/>
              <a:buChar char="-"/>
            </a:pPr>
            <a:r>
              <a:rPr b="0" i="0" lang="en-US" sz="2000" u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Hoặc </a:t>
            </a:r>
            <a:r>
              <a:rPr b="1" i="0" lang="en-US" sz="20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abe</a:t>
            </a:r>
            <a:r>
              <a:rPr b="0" i="0" lang="en-US" sz="20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000" u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(FT) và </a:t>
            </a:r>
            <a:r>
              <a:rPr b="1" i="0" lang="en-US" sz="20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acd</a:t>
            </a:r>
            <a:r>
              <a:rPr b="0" i="0" lang="en-US" sz="20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000" u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(TF)</a:t>
            </a:r>
            <a:endParaRPr/>
          </a:p>
        </p:txBody>
      </p:sp>
      <p:sp>
        <p:nvSpPr>
          <p:cNvPr id="779" name="Google Shape;779;p31"/>
          <p:cNvSpPr/>
          <p:nvPr/>
        </p:nvSpPr>
        <p:spPr>
          <a:xfrm>
            <a:off x="7508875" y="2305050"/>
            <a:ext cx="417512" cy="4175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31"/>
          <p:cNvSpPr/>
          <p:nvPr/>
        </p:nvSpPr>
        <p:spPr>
          <a:xfrm>
            <a:off x="6865937" y="2922587"/>
            <a:ext cx="417512" cy="4159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31"/>
          <p:cNvSpPr/>
          <p:nvPr/>
        </p:nvSpPr>
        <p:spPr>
          <a:xfrm>
            <a:off x="8188325" y="2940050"/>
            <a:ext cx="415925" cy="4175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31"/>
          <p:cNvSpPr/>
          <p:nvPr/>
        </p:nvSpPr>
        <p:spPr>
          <a:xfrm>
            <a:off x="7540625" y="3549650"/>
            <a:ext cx="415925" cy="4159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3" name="Google Shape;783;p31"/>
          <p:cNvCxnSpPr/>
          <p:nvPr/>
        </p:nvCxnSpPr>
        <p:spPr>
          <a:xfrm flipH="1">
            <a:off x="7073900" y="2660650"/>
            <a:ext cx="496887" cy="26193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84" name="Google Shape;784;p31"/>
          <p:cNvCxnSpPr/>
          <p:nvPr/>
        </p:nvCxnSpPr>
        <p:spPr>
          <a:xfrm>
            <a:off x="7864475" y="2660650"/>
            <a:ext cx="531812" cy="27940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85" name="Google Shape;785;p31"/>
          <p:cNvCxnSpPr/>
          <p:nvPr/>
        </p:nvCxnSpPr>
        <p:spPr>
          <a:xfrm>
            <a:off x="7073900" y="3338512"/>
            <a:ext cx="527050" cy="27146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86" name="Google Shape;786;p31"/>
          <p:cNvCxnSpPr/>
          <p:nvPr/>
        </p:nvCxnSpPr>
        <p:spPr>
          <a:xfrm rot="10800000">
            <a:off x="7283450" y="3130550"/>
            <a:ext cx="904875" cy="190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787" name="Google Shape;787;p31"/>
          <p:cNvSpPr/>
          <p:nvPr/>
        </p:nvSpPr>
        <p:spPr>
          <a:xfrm>
            <a:off x="6865937" y="4225925"/>
            <a:ext cx="417512" cy="4175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31"/>
          <p:cNvSpPr/>
          <p:nvPr/>
        </p:nvSpPr>
        <p:spPr>
          <a:xfrm>
            <a:off x="8188325" y="4244975"/>
            <a:ext cx="415925" cy="4159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9" name="Google Shape;789;p31"/>
          <p:cNvCxnSpPr/>
          <p:nvPr/>
        </p:nvCxnSpPr>
        <p:spPr>
          <a:xfrm flipH="1">
            <a:off x="7073900" y="3905250"/>
            <a:ext cx="527050" cy="32067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90" name="Google Shape;790;p31"/>
          <p:cNvCxnSpPr/>
          <p:nvPr/>
        </p:nvCxnSpPr>
        <p:spPr>
          <a:xfrm>
            <a:off x="7896225" y="3905250"/>
            <a:ext cx="500062" cy="33972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791" name="Google Shape;791;p31"/>
          <p:cNvSpPr/>
          <p:nvPr/>
        </p:nvSpPr>
        <p:spPr>
          <a:xfrm>
            <a:off x="7508875" y="1527175"/>
            <a:ext cx="417512" cy="415925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2" name="Google Shape;792;p31"/>
          <p:cNvGrpSpPr/>
          <p:nvPr/>
        </p:nvGrpSpPr>
        <p:grpSpPr>
          <a:xfrm>
            <a:off x="7508875" y="4926012"/>
            <a:ext cx="484187" cy="484187"/>
            <a:chOff x="4719541" y="5195070"/>
            <a:chExt cx="484094" cy="484094"/>
          </a:xfrm>
        </p:grpSpPr>
        <p:sp>
          <p:nvSpPr>
            <p:cNvPr id="793" name="Google Shape;793;p31"/>
            <p:cNvSpPr/>
            <p:nvPr/>
          </p:nvSpPr>
          <p:spPr>
            <a:xfrm>
              <a:off x="4719541" y="5195070"/>
              <a:ext cx="484094" cy="484094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cap="flat" cmpd="sng" w="28575">
              <a:solidFill>
                <a:srgbClr val="49736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31"/>
            <p:cNvSpPr/>
            <p:nvPr/>
          </p:nvSpPr>
          <p:spPr>
            <a:xfrm>
              <a:off x="4779854" y="5255383"/>
              <a:ext cx="363467" cy="363467"/>
            </a:xfrm>
            <a:prstGeom prst="ellipse">
              <a:avLst/>
            </a:prstGeom>
            <a:solidFill>
              <a:schemeClr val="accent1"/>
            </a:solidFill>
            <a:ln cap="flat" cmpd="sng" w="28575">
              <a:solidFill>
                <a:srgbClr val="49736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95" name="Google Shape;795;p31"/>
          <p:cNvCxnSpPr/>
          <p:nvPr/>
        </p:nvCxnSpPr>
        <p:spPr>
          <a:xfrm>
            <a:off x="7073900" y="4643437"/>
            <a:ext cx="506412" cy="35401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96" name="Google Shape;796;p31"/>
          <p:cNvCxnSpPr/>
          <p:nvPr/>
        </p:nvCxnSpPr>
        <p:spPr>
          <a:xfrm rot="10800000">
            <a:off x="7283450" y="4433887"/>
            <a:ext cx="904875" cy="190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797" name="Google Shape;797;p31"/>
          <p:cNvCxnSpPr/>
          <p:nvPr/>
        </p:nvCxnSpPr>
        <p:spPr>
          <a:xfrm>
            <a:off x="7716837" y="1943100"/>
            <a:ext cx="0" cy="3619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798" name="Google Shape;798;p31"/>
          <p:cNvSpPr txBox="1"/>
          <p:nvPr/>
        </p:nvSpPr>
        <p:spPr>
          <a:xfrm>
            <a:off x="8548687" y="2647950"/>
            <a:ext cx="5953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true</a:t>
            </a:r>
            <a:endParaRPr/>
          </a:p>
        </p:txBody>
      </p:sp>
      <p:sp>
        <p:nvSpPr>
          <p:cNvPr id="799" name="Google Shape;799;p31"/>
          <p:cNvSpPr txBox="1"/>
          <p:nvPr/>
        </p:nvSpPr>
        <p:spPr>
          <a:xfrm>
            <a:off x="6310312" y="2552700"/>
            <a:ext cx="6540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false</a:t>
            </a:r>
            <a:endParaRPr/>
          </a:p>
        </p:txBody>
      </p:sp>
      <p:sp>
        <p:nvSpPr>
          <p:cNvPr id="800" name="Google Shape;800;p31"/>
          <p:cNvSpPr txBox="1"/>
          <p:nvPr/>
        </p:nvSpPr>
        <p:spPr>
          <a:xfrm>
            <a:off x="8548687" y="4032250"/>
            <a:ext cx="5953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true</a:t>
            </a:r>
            <a:endParaRPr/>
          </a:p>
        </p:txBody>
      </p:sp>
      <p:sp>
        <p:nvSpPr>
          <p:cNvPr id="801" name="Google Shape;801;p31"/>
          <p:cNvSpPr txBox="1"/>
          <p:nvPr/>
        </p:nvSpPr>
        <p:spPr>
          <a:xfrm>
            <a:off x="6310312" y="3937000"/>
            <a:ext cx="6540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false</a:t>
            </a:r>
            <a:endParaRPr/>
          </a:p>
        </p:txBody>
      </p:sp>
      <p:sp>
        <p:nvSpPr>
          <p:cNvPr id="802" name="Google Shape;802;p31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5.3. KIỂM THỬ BAO PHỦ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2"/>
          <p:cNvSpPr txBox="1"/>
          <p:nvPr>
            <p:ph type="title"/>
          </p:nvPr>
        </p:nvSpPr>
        <p:spPr>
          <a:xfrm>
            <a:off x="838200" y="990600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Phủ nhánh</a:t>
            </a:r>
            <a:endParaRPr/>
          </a:p>
        </p:txBody>
      </p:sp>
      <p:sp>
        <p:nvSpPr>
          <p:cNvPr id="808" name="Google Shape;808;p32"/>
          <p:cNvSpPr txBox="1"/>
          <p:nvPr>
            <p:ph idx="1" type="body"/>
          </p:nvPr>
        </p:nvSpPr>
        <p:spPr>
          <a:xfrm>
            <a:off x="914400" y="1600200"/>
            <a:ext cx="8001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Chọn abd và ace kiểm thử phủ nhánh, thiết kế các test case như sau:</a:t>
            </a:r>
            <a:endParaRPr/>
          </a:p>
        </p:txBody>
      </p:sp>
      <p:graphicFrame>
        <p:nvGraphicFramePr>
          <p:cNvPr id="809" name="Google Shape;809;p32"/>
          <p:cNvGraphicFramePr/>
          <p:nvPr/>
        </p:nvGraphicFramePr>
        <p:xfrm>
          <a:off x="1143000" y="274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{94D277FC-4B1F-4385-AE56-9B966985E713}</a:tableStyleId>
              </a:tblPr>
              <a:tblGrid>
                <a:gridCol w="1081075"/>
                <a:gridCol w="901700"/>
                <a:gridCol w="776275"/>
                <a:gridCol w="787400"/>
                <a:gridCol w="1152525"/>
                <a:gridCol w="3032125"/>
              </a:tblGrid>
              <a:tr h="3968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Nhánh</a:t>
                      </a:r>
                      <a:endParaRPr/>
                    </a:p>
                  </a:txBody>
                  <a:tcPr marT="45650" marB="456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Đầu vào</a:t>
                      </a:r>
                      <a:endParaRPr/>
                    </a:p>
                  </a:txBody>
                  <a:tcPr marT="45650" marB="456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Đầu ra mong muốn</a:t>
                      </a:r>
                      <a:endParaRPr/>
                    </a:p>
                  </a:txBody>
                  <a:tcPr marT="45650" marB="456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d1</a:t>
                      </a:r>
                      <a:endParaRPr/>
                    </a:p>
                  </a:txBody>
                  <a:tcPr marT="45650" marB="456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d2</a:t>
                      </a:r>
                      <a:endParaRPr/>
                    </a:p>
                  </a:txBody>
                  <a:tcPr marT="45650" marB="456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d3</a:t>
                      </a:r>
                      <a:endParaRPr/>
                    </a:p>
                  </a:txBody>
                  <a:tcPr marT="45650" marB="456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diemRL</a:t>
                      </a:r>
                      <a:endParaRPr/>
                    </a:p>
                  </a:txBody>
                  <a:tcPr marT="45650" marB="456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39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abd</a:t>
                      </a:r>
                      <a:endParaRPr/>
                    </a:p>
                  </a:txBody>
                  <a:tcPr marT="45650" marB="456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/>
                    </a:p>
                  </a:txBody>
                  <a:tcPr marT="45650" marB="456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/>
                    </a:p>
                  </a:txBody>
                  <a:tcPr marT="45650" marB="456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/>
                    </a:p>
                  </a:txBody>
                  <a:tcPr marT="45650" marB="456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70</a:t>
                      </a:r>
                      <a:endParaRPr/>
                    </a:p>
                  </a:txBody>
                  <a:tcPr marT="45650" marB="456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Hàm trả về kết quả false</a:t>
                      </a:r>
                      <a:endParaRPr/>
                    </a:p>
                  </a:txBody>
                  <a:tcPr marT="45650" marB="456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ace</a:t>
                      </a:r>
                      <a:endParaRPr/>
                    </a:p>
                  </a:txBody>
                  <a:tcPr marT="45650" marB="456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7</a:t>
                      </a:r>
                      <a:endParaRPr/>
                    </a:p>
                  </a:txBody>
                  <a:tcPr marT="45650" marB="456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7</a:t>
                      </a:r>
                      <a:endParaRPr/>
                    </a:p>
                  </a:txBody>
                  <a:tcPr marT="45650" marB="456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7</a:t>
                      </a:r>
                      <a:endParaRPr/>
                    </a:p>
                  </a:txBody>
                  <a:tcPr marT="45650" marB="456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70</a:t>
                      </a:r>
                      <a:endParaRPr/>
                    </a:p>
                  </a:txBody>
                  <a:tcPr marT="45650" marB="456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Hàm trả về kết quả true</a:t>
                      </a:r>
                      <a:endParaRPr/>
                    </a:p>
                  </a:txBody>
                  <a:tcPr marT="45650" marB="456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10" name="Google Shape;810;p32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5.3. KIỂM THỬ BAO PHỦ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33"/>
          <p:cNvSpPr txBox="1"/>
          <p:nvPr>
            <p:ph type="title"/>
          </p:nvPr>
        </p:nvSpPr>
        <p:spPr>
          <a:xfrm>
            <a:off x="654050" y="1066800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Phủ đường dẫn</a:t>
            </a:r>
            <a:endParaRPr/>
          </a:p>
        </p:txBody>
      </p:sp>
      <p:sp>
        <p:nvSpPr>
          <p:cNvPr id="816" name="Google Shape;816;p33"/>
          <p:cNvSpPr txBox="1"/>
          <p:nvPr>
            <p:ph idx="1" type="body"/>
          </p:nvPr>
        </p:nvSpPr>
        <p:spPr>
          <a:xfrm>
            <a:off x="762000" y="1685925"/>
            <a:ext cx="8229600" cy="174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Phủ đường dẫn (path coverage): mỗi đường dẫn qua ít nhất một lần.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Đường là một tập các nhánh, nên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phủ đường chắc chắn phủ nhánh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nhưng ngược lại chưa chắc đúng.</a:t>
            </a:r>
            <a:endParaRPr/>
          </a:p>
          <a:p>
            <a:pPr indent="-1905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33"/>
          <p:cNvSpPr/>
          <p:nvPr/>
        </p:nvSpPr>
        <p:spPr>
          <a:xfrm>
            <a:off x="2393905" y="3953060"/>
            <a:ext cx="779929" cy="484094"/>
          </a:xfrm>
          <a:prstGeom prst="diamond">
            <a:avLst/>
          </a:prstGeom>
          <a:gradFill>
            <a:gsLst>
              <a:gs pos="0">
                <a:srgbClr val="729883"/>
              </a:gs>
              <a:gs pos="80000">
                <a:srgbClr val="96C8AD"/>
              </a:gs>
              <a:gs pos="100000">
                <a:srgbClr val="96CAAE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33"/>
          <p:cNvSpPr/>
          <p:nvPr/>
        </p:nvSpPr>
        <p:spPr>
          <a:xfrm>
            <a:off x="2393906" y="5233516"/>
            <a:ext cx="779929" cy="484094"/>
          </a:xfrm>
          <a:prstGeom prst="diamond">
            <a:avLst/>
          </a:prstGeom>
          <a:gradFill>
            <a:gsLst>
              <a:gs pos="0">
                <a:srgbClr val="729883"/>
              </a:gs>
              <a:gs pos="80000">
                <a:srgbClr val="96C8AD"/>
              </a:gs>
              <a:gs pos="100000">
                <a:srgbClr val="96CAAE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33"/>
          <p:cNvSpPr/>
          <p:nvPr/>
        </p:nvSpPr>
        <p:spPr>
          <a:xfrm>
            <a:off x="1172462" y="4025996"/>
            <a:ext cx="658906" cy="376891"/>
          </a:xfrm>
          <a:prstGeom prst="rect">
            <a:avLst/>
          </a:prstGeom>
          <a:gradFill>
            <a:gsLst>
              <a:gs pos="0">
                <a:srgbClr val="729883"/>
              </a:gs>
              <a:gs pos="80000">
                <a:srgbClr val="96C8AD"/>
              </a:gs>
              <a:gs pos="100000">
                <a:srgbClr val="96CAAE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33"/>
          <p:cNvSpPr/>
          <p:nvPr/>
        </p:nvSpPr>
        <p:spPr>
          <a:xfrm>
            <a:off x="3861875" y="5267782"/>
            <a:ext cx="658906" cy="376891"/>
          </a:xfrm>
          <a:prstGeom prst="rect">
            <a:avLst/>
          </a:prstGeom>
          <a:gradFill>
            <a:gsLst>
              <a:gs pos="0">
                <a:srgbClr val="729883"/>
              </a:gs>
              <a:gs pos="80000">
                <a:srgbClr val="96C8AD"/>
              </a:gs>
              <a:gs pos="100000">
                <a:srgbClr val="96CAAE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1" name="Google Shape;821;p33"/>
          <p:cNvCxnSpPr/>
          <p:nvPr/>
        </p:nvCxnSpPr>
        <p:spPr>
          <a:xfrm>
            <a:off x="2784475" y="3495675"/>
            <a:ext cx="0" cy="457200"/>
          </a:xfrm>
          <a:prstGeom prst="straightConnector1">
            <a:avLst/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22" name="Google Shape;822;p33"/>
          <p:cNvCxnSpPr/>
          <p:nvPr/>
        </p:nvCxnSpPr>
        <p:spPr>
          <a:xfrm rot="10800000">
            <a:off x="1831975" y="4195762"/>
            <a:ext cx="561975" cy="0"/>
          </a:xfrm>
          <a:prstGeom prst="straightConnector1">
            <a:avLst/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23" name="Google Shape;823;p33"/>
          <p:cNvCxnSpPr/>
          <p:nvPr/>
        </p:nvCxnSpPr>
        <p:spPr>
          <a:xfrm>
            <a:off x="2784475" y="4437062"/>
            <a:ext cx="0" cy="796925"/>
          </a:xfrm>
          <a:prstGeom prst="straightConnector1">
            <a:avLst/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24" name="Google Shape;824;p33"/>
          <p:cNvCxnSpPr/>
          <p:nvPr/>
        </p:nvCxnSpPr>
        <p:spPr>
          <a:xfrm>
            <a:off x="3173412" y="5475287"/>
            <a:ext cx="688975" cy="0"/>
          </a:xfrm>
          <a:prstGeom prst="straightConnector1">
            <a:avLst/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25" name="Google Shape;825;p33"/>
          <p:cNvCxnSpPr/>
          <p:nvPr/>
        </p:nvCxnSpPr>
        <p:spPr>
          <a:xfrm flipH="1" rot="-5400000">
            <a:off x="1401725" y="4483138"/>
            <a:ext cx="1092300" cy="892200"/>
          </a:xfrm>
          <a:prstGeom prst="bentConnector2">
            <a:avLst/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26" name="Google Shape;826;p33"/>
          <p:cNvCxnSpPr/>
          <p:nvPr/>
        </p:nvCxnSpPr>
        <p:spPr>
          <a:xfrm>
            <a:off x="2784475" y="5718175"/>
            <a:ext cx="0" cy="641350"/>
          </a:xfrm>
          <a:prstGeom prst="straightConnector1">
            <a:avLst/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27" name="Google Shape;827;p33"/>
          <p:cNvCxnSpPr/>
          <p:nvPr/>
        </p:nvCxnSpPr>
        <p:spPr>
          <a:xfrm flipH="1">
            <a:off x="2784600" y="5645150"/>
            <a:ext cx="1406400" cy="6954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28" name="Google Shape;828;p33"/>
          <p:cNvCxnSpPr/>
          <p:nvPr/>
        </p:nvCxnSpPr>
        <p:spPr>
          <a:xfrm>
            <a:off x="2581275" y="3495675"/>
            <a:ext cx="0" cy="4572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29" name="Google Shape;829;p33"/>
          <p:cNvCxnSpPr/>
          <p:nvPr/>
        </p:nvCxnSpPr>
        <p:spPr>
          <a:xfrm rot="10800000">
            <a:off x="1976437" y="4006850"/>
            <a:ext cx="417512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grpSp>
        <p:nvGrpSpPr>
          <p:cNvPr id="830" name="Google Shape;830;p33"/>
          <p:cNvGrpSpPr/>
          <p:nvPr/>
        </p:nvGrpSpPr>
        <p:grpSpPr>
          <a:xfrm>
            <a:off x="1331912" y="4545012"/>
            <a:ext cx="833437" cy="1119187"/>
            <a:chOff x="1169894" y="4195482"/>
            <a:chExt cx="833718" cy="1119091"/>
          </a:xfrm>
        </p:grpSpPr>
        <p:cxnSp>
          <p:nvCxnSpPr>
            <p:cNvPr id="831" name="Google Shape;831;p33"/>
            <p:cNvCxnSpPr/>
            <p:nvPr/>
          </p:nvCxnSpPr>
          <p:spPr>
            <a:xfrm>
              <a:off x="1169894" y="4195482"/>
              <a:ext cx="0" cy="1119091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832" name="Google Shape;832;p33"/>
            <p:cNvCxnSpPr/>
            <p:nvPr/>
          </p:nvCxnSpPr>
          <p:spPr>
            <a:xfrm>
              <a:off x="1169894" y="5314573"/>
              <a:ext cx="833718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</p:grpSp>
      <p:cxnSp>
        <p:nvCxnSpPr>
          <p:cNvPr id="833" name="Google Shape;833;p33"/>
          <p:cNvCxnSpPr/>
          <p:nvPr/>
        </p:nvCxnSpPr>
        <p:spPr>
          <a:xfrm>
            <a:off x="2581275" y="5718175"/>
            <a:ext cx="0" cy="7493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34" name="Google Shape;834;p33"/>
          <p:cNvCxnSpPr/>
          <p:nvPr/>
        </p:nvCxnSpPr>
        <p:spPr>
          <a:xfrm>
            <a:off x="3011487" y="4438650"/>
            <a:ext cx="0" cy="700087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35" name="Google Shape;835;p33"/>
          <p:cNvCxnSpPr/>
          <p:nvPr/>
        </p:nvCxnSpPr>
        <p:spPr>
          <a:xfrm>
            <a:off x="3038475" y="3498850"/>
            <a:ext cx="0" cy="455612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36" name="Google Shape;836;p33"/>
          <p:cNvCxnSpPr/>
          <p:nvPr/>
        </p:nvCxnSpPr>
        <p:spPr>
          <a:xfrm>
            <a:off x="3173412" y="5289550"/>
            <a:ext cx="565150" cy="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grpSp>
        <p:nvGrpSpPr>
          <p:cNvPr id="837" name="Google Shape;837;p33"/>
          <p:cNvGrpSpPr/>
          <p:nvPr/>
        </p:nvGrpSpPr>
        <p:grpSpPr>
          <a:xfrm>
            <a:off x="3038475" y="5718175"/>
            <a:ext cx="1344612" cy="749300"/>
            <a:chOff x="2877671" y="5368175"/>
            <a:chExt cx="1344705" cy="750237"/>
          </a:xfrm>
        </p:grpSpPr>
        <p:cxnSp>
          <p:nvCxnSpPr>
            <p:cNvPr id="838" name="Google Shape;838;p33"/>
            <p:cNvCxnSpPr/>
            <p:nvPr/>
          </p:nvCxnSpPr>
          <p:spPr>
            <a:xfrm>
              <a:off x="4209675" y="5368175"/>
              <a:ext cx="12701" cy="454593"/>
            </a:xfrm>
            <a:prstGeom prst="straightConnector1">
              <a:avLst/>
            </a:prstGeom>
            <a:noFill/>
            <a:ln cap="flat" cmpd="sng" w="28575">
              <a:solidFill>
                <a:srgbClr val="00B05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839" name="Google Shape;839;p33"/>
            <p:cNvCxnSpPr/>
            <p:nvPr/>
          </p:nvCxnSpPr>
          <p:spPr>
            <a:xfrm rot="10800000">
              <a:off x="2877671" y="5822768"/>
              <a:ext cx="1344705" cy="0"/>
            </a:xfrm>
            <a:prstGeom prst="straightConnector1">
              <a:avLst/>
            </a:prstGeom>
            <a:noFill/>
            <a:ln cap="flat" cmpd="sng" w="28575">
              <a:solidFill>
                <a:srgbClr val="00B05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840" name="Google Shape;840;p33"/>
            <p:cNvCxnSpPr/>
            <p:nvPr/>
          </p:nvCxnSpPr>
          <p:spPr>
            <a:xfrm>
              <a:off x="2877671" y="5822768"/>
              <a:ext cx="0" cy="295644"/>
            </a:xfrm>
            <a:prstGeom prst="straightConnector1">
              <a:avLst/>
            </a:prstGeom>
            <a:noFill/>
            <a:ln cap="flat" cmpd="sng" w="28575">
              <a:solidFill>
                <a:srgbClr val="00B05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</p:grpSp>
      <p:sp>
        <p:nvSpPr>
          <p:cNvPr id="841" name="Google Shape;841;p33"/>
          <p:cNvSpPr/>
          <p:nvPr/>
        </p:nvSpPr>
        <p:spPr>
          <a:xfrm>
            <a:off x="6773953" y="3899459"/>
            <a:ext cx="779929" cy="484094"/>
          </a:xfrm>
          <a:prstGeom prst="diamond">
            <a:avLst/>
          </a:prstGeom>
          <a:gradFill>
            <a:gsLst>
              <a:gs pos="0">
                <a:srgbClr val="729883"/>
              </a:gs>
              <a:gs pos="80000">
                <a:srgbClr val="96C8AD"/>
              </a:gs>
              <a:gs pos="100000">
                <a:srgbClr val="96CAAE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33"/>
          <p:cNvSpPr/>
          <p:nvPr/>
        </p:nvSpPr>
        <p:spPr>
          <a:xfrm>
            <a:off x="6773953" y="5180102"/>
            <a:ext cx="779929" cy="484094"/>
          </a:xfrm>
          <a:prstGeom prst="diamond">
            <a:avLst/>
          </a:prstGeom>
          <a:gradFill>
            <a:gsLst>
              <a:gs pos="0">
                <a:srgbClr val="729883"/>
              </a:gs>
              <a:gs pos="80000">
                <a:srgbClr val="96C8AD"/>
              </a:gs>
              <a:gs pos="100000">
                <a:srgbClr val="96CAAE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33"/>
          <p:cNvSpPr/>
          <p:nvPr/>
        </p:nvSpPr>
        <p:spPr>
          <a:xfrm>
            <a:off x="5552510" y="3953060"/>
            <a:ext cx="658906" cy="376891"/>
          </a:xfrm>
          <a:prstGeom prst="rect">
            <a:avLst/>
          </a:prstGeom>
          <a:gradFill>
            <a:gsLst>
              <a:gs pos="0">
                <a:srgbClr val="729883"/>
              </a:gs>
              <a:gs pos="80000">
                <a:srgbClr val="96C8AD"/>
              </a:gs>
              <a:gs pos="100000">
                <a:srgbClr val="96CAAE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33"/>
          <p:cNvSpPr/>
          <p:nvPr/>
        </p:nvSpPr>
        <p:spPr>
          <a:xfrm>
            <a:off x="8241922" y="5233703"/>
            <a:ext cx="658906" cy="376891"/>
          </a:xfrm>
          <a:prstGeom prst="rect">
            <a:avLst/>
          </a:prstGeom>
          <a:gradFill>
            <a:gsLst>
              <a:gs pos="0">
                <a:srgbClr val="729883"/>
              </a:gs>
              <a:gs pos="80000">
                <a:srgbClr val="96C8AD"/>
              </a:gs>
              <a:gs pos="100000">
                <a:srgbClr val="96CAAE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5" name="Google Shape;845;p33"/>
          <p:cNvCxnSpPr/>
          <p:nvPr/>
        </p:nvCxnSpPr>
        <p:spPr>
          <a:xfrm>
            <a:off x="7164387" y="3443287"/>
            <a:ext cx="0" cy="455612"/>
          </a:xfrm>
          <a:prstGeom prst="straightConnector1">
            <a:avLst/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46" name="Google Shape;846;p33"/>
          <p:cNvCxnSpPr/>
          <p:nvPr/>
        </p:nvCxnSpPr>
        <p:spPr>
          <a:xfrm rot="10800000">
            <a:off x="6211887" y="4141787"/>
            <a:ext cx="561975" cy="0"/>
          </a:xfrm>
          <a:prstGeom prst="straightConnector1">
            <a:avLst/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47" name="Google Shape;847;p33"/>
          <p:cNvCxnSpPr/>
          <p:nvPr/>
        </p:nvCxnSpPr>
        <p:spPr>
          <a:xfrm>
            <a:off x="7164387" y="4383087"/>
            <a:ext cx="0" cy="796925"/>
          </a:xfrm>
          <a:prstGeom prst="straightConnector1">
            <a:avLst/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48" name="Google Shape;848;p33"/>
          <p:cNvCxnSpPr/>
          <p:nvPr/>
        </p:nvCxnSpPr>
        <p:spPr>
          <a:xfrm>
            <a:off x="7553325" y="5422900"/>
            <a:ext cx="688975" cy="0"/>
          </a:xfrm>
          <a:prstGeom prst="straightConnector1">
            <a:avLst/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49" name="Google Shape;849;p33"/>
          <p:cNvCxnSpPr/>
          <p:nvPr/>
        </p:nvCxnSpPr>
        <p:spPr>
          <a:xfrm flipH="1" rot="-5400000">
            <a:off x="5781638" y="4430750"/>
            <a:ext cx="1092300" cy="892200"/>
          </a:xfrm>
          <a:prstGeom prst="bentConnector2">
            <a:avLst/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50" name="Google Shape;850;p33"/>
          <p:cNvCxnSpPr/>
          <p:nvPr/>
        </p:nvCxnSpPr>
        <p:spPr>
          <a:xfrm>
            <a:off x="7164387" y="5664200"/>
            <a:ext cx="0" cy="642937"/>
          </a:xfrm>
          <a:prstGeom prst="straightConnector1">
            <a:avLst/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51" name="Google Shape;851;p33"/>
          <p:cNvCxnSpPr/>
          <p:nvPr/>
        </p:nvCxnSpPr>
        <p:spPr>
          <a:xfrm flipH="1">
            <a:off x="7164512" y="5610225"/>
            <a:ext cx="1406400" cy="6969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52" name="Google Shape;852;p33"/>
          <p:cNvCxnSpPr/>
          <p:nvPr/>
        </p:nvCxnSpPr>
        <p:spPr>
          <a:xfrm>
            <a:off x="6962775" y="3443287"/>
            <a:ext cx="0" cy="455612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53" name="Google Shape;853;p33"/>
          <p:cNvCxnSpPr/>
          <p:nvPr/>
        </p:nvCxnSpPr>
        <p:spPr>
          <a:xfrm rot="10800000">
            <a:off x="6356350" y="3952875"/>
            <a:ext cx="417512" cy="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grpSp>
        <p:nvGrpSpPr>
          <p:cNvPr id="854" name="Google Shape;854;p33"/>
          <p:cNvGrpSpPr/>
          <p:nvPr/>
        </p:nvGrpSpPr>
        <p:grpSpPr>
          <a:xfrm>
            <a:off x="5711825" y="4491037"/>
            <a:ext cx="833437" cy="1119187"/>
            <a:chOff x="1169894" y="4195482"/>
            <a:chExt cx="833718" cy="1119091"/>
          </a:xfrm>
        </p:grpSpPr>
        <p:cxnSp>
          <p:nvCxnSpPr>
            <p:cNvPr id="855" name="Google Shape;855;p33"/>
            <p:cNvCxnSpPr/>
            <p:nvPr/>
          </p:nvCxnSpPr>
          <p:spPr>
            <a:xfrm>
              <a:off x="1169894" y="4195482"/>
              <a:ext cx="0" cy="1119091"/>
            </a:xfrm>
            <a:prstGeom prst="straightConnector1">
              <a:avLst/>
            </a:prstGeom>
            <a:noFill/>
            <a:ln cap="flat" cmpd="sng" w="28575">
              <a:solidFill>
                <a:srgbClr val="00B05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856" name="Google Shape;856;p33"/>
            <p:cNvCxnSpPr/>
            <p:nvPr/>
          </p:nvCxnSpPr>
          <p:spPr>
            <a:xfrm>
              <a:off x="1169894" y="5314573"/>
              <a:ext cx="833718" cy="0"/>
            </a:xfrm>
            <a:prstGeom prst="straightConnector1">
              <a:avLst/>
            </a:prstGeom>
            <a:noFill/>
            <a:ln cap="flat" cmpd="sng" w="28575">
              <a:solidFill>
                <a:srgbClr val="00B05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</p:grpSp>
      <p:cxnSp>
        <p:nvCxnSpPr>
          <p:cNvPr id="857" name="Google Shape;857;p33"/>
          <p:cNvCxnSpPr/>
          <p:nvPr/>
        </p:nvCxnSpPr>
        <p:spPr>
          <a:xfrm>
            <a:off x="6962775" y="5664200"/>
            <a:ext cx="0" cy="750887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58" name="Google Shape;858;p33"/>
          <p:cNvCxnSpPr/>
          <p:nvPr/>
        </p:nvCxnSpPr>
        <p:spPr>
          <a:xfrm>
            <a:off x="7392987" y="4383087"/>
            <a:ext cx="0" cy="700087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59" name="Google Shape;859;p33"/>
          <p:cNvCxnSpPr/>
          <p:nvPr/>
        </p:nvCxnSpPr>
        <p:spPr>
          <a:xfrm>
            <a:off x="7419975" y="3443287"/>
            <a:ext cx="0" cy="455612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60" name="Google Shape;860;p33"/>
          <p:cNvCxnSpPr/>
          <p:nvPr/>
        </p:nvCxnSpPr>
        <p:spPr>
          <a:xfrm>
            <a:off x="7553325" y="5233987"/>
            <a:ext cx="565150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grpSp>
        <p:nvGrpSpPr>
          <p:cNvPr id="861" name="Google Shape;861;p33"/>
          <p:cNvGrpSpPr/>
          <p:nvPr/>
        </p:nvGrpSpPr>
        <p:grpSpPr>
          <a:xfrm>
            <a:off x="7419975" y="5664200"/>
            <a:ext cx="1344612" cy="750887"/>
            <a:chOff x="7069791" y="5314574"/>
            <a:chExt cx="1344705" cy="750237"/>
          </a:xfrm>
        </p:grpSpPr>
        <p:cxnSp>
          <p:nvCxnSpPr>
            <p:cNvPr id="862" name="Google Shape;862;p33"/>
            <p:cNvCxnSpPr/>
            <p:nvPr/>
          </p:nvCxnSpPr>
          <p:spPr>
            <a:xfrm>
              <a:off x="8401795" y="5314574"/>
              <a:ext cx="12701" cy="453631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863" name="Google Shape;863;p33"/>
            <p:cNvCxnSpPr/>
            <p:nvPr/>
          </p:nvCxnSpPr>
          <p:spPr>
            <a:xfrm rot="10800000">
              <a:off x="7069791" y="5768205"/>
              <a:ext cx="1344705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864" name="Google Shape;864;p33"/>
            <p:cNvCxnSpPr/>
            <p:nvPr/>
          </p:nvCxnSpPr>
          <p:spPr>
            <a:xfrm>
              <a:off x="7069791" y="5768205"/>
              <a:ext cx="0" cy="29660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</p:grpSp>
      <p:sp>
        <p:nvSpPr>
          <p:cNvPr id="865" name="Google Shape;865;p33"/>
          <p:cNvSpPr txBox="1"/>
          <p:nvPr/>
        </p:nvSpPr>
        <p:spPr>
          <a:xfrm>
            <a:off x="4733925" y="4919662"/>
            <a:ext cx="4778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Và</a:t>
            </a:r>
            <a:endParaRPr/>
          </a:p>
        </p:txBody>
      </p:sp>
      <p:sp>
        <p:nvSpPr>
          <p:cNvPr id="866" name="Google Shape;866;p33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5.3. KIỂM THỬ BAO PHỦ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34"/>
          <p:cNvSpPr txBox="1"/>
          <p:nvPr>
            <p:ph type="title"/>
          </p:nvPr>
        </p:nvSpPr>
        <p:spPr>
          <a:xfrm>
            <a:off x="688975" y="990600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Phủ đường dẫn</a:t>
            </a:r>
            <a:endParaRPr/>
          </a:p>
        </p:txBody>
      </p:sp>
      <p:sp>
        <p:nvSpPr>
          <p:cNvPr id="872" name="Google Shape;872;p34"/>
          <p:cNvSpPr txBox="1"/>
          <p:nvPr>
            <p:ph idx="1" type="body"/>
          </p:nvPr>
        </p:nvSpPr>
        <p:spPr>
          <a:xfrm>
            <a:off x="825500" y="1636712"/>
            <a:ext cx="5900737" cy="2849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Ví dụ: quay lại ví dụ xét học bổng, phủ đường dẫn trong đồ thị luồng bằng 4 test case sau đi qua các đường abd, ace, acd, abe.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Chú ý: không có test case nào đi qua đường abe (đường bất khả thi). Do đó, để phủ đường chỉ cần 3 test case sau</a:t>
            </a:r>
            <a:endParaRPr/>
          </a:p>
          <a:p>
            <a:pPr indent="-1905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73" name="Google Shape;873;p34"/>
          <p:cNvGraphicFramePr/>
          <p:nvPr/>
        </p:nvGraphicFramePr>
        <p:xfrm>
          <a:off x="977900" y="477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{94D277FC-4B1F-4385-AE56-9B966985E713}</a:tableStyleId>
              </a:tblPr>
              <a:tblGrid>
                <a:gridCol w="579425"/>
                <a:gridCol w="592125"/>
                <a:gridCol w="590550"/>
                <a:gridCol w="1062025"/>
                <a:gridCol w="2770175"/>
              </a:tblGrid>
              <a:tr h="371475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Tahoma"/>
                        <a:buNone/>
                      </a:pPr>
                      <a:r>
                        <a:rPr b="1" i="0" lang="en-US" sz="1800" u="non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Đầu vào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Tahoma"/>
                        <a:buNone/>
                      </a:pPr>
                      <a:r>
                        <a:rPr b="1" i="0" lang="en-US" sz="1800" u="non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Đầu ra mong muốn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Tahoma"/>
                        <a:buNone/>
                      </a:pPr>
                      <a:r>
                        <a:rPr b="1" i="0" lang="en-US" sz="1800" u="non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Tahoma"/>
                        <a:buNone/>
                      </a:pPr>
                      <a:r>
                        <a:rPr b="1" i="0" lang="en-US" sz="1800" u="non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Tahoma"/>
                        <a:buNone/>
                      </a:pPr>
                      <a:r>
                        <a:rPr b="1" i="0" lang="en-US" sz="1800" u="non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Tahoma"/>
                        <a:buNone/>
                      </a:pPr>
                      <a:r>
                        <a:rPr b="1" i="0" lang="en-US" sz="1800" u="non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diemRL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00"/>
                        <a:buFont typeface="Tahoma"/>
                        <a:buNone/>
                      </a:pPr>
                      <a:r>
                        <a:rPr b="0" i="0" lang="en-US" sz="18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00"/>
                        <a:buFont typeface="Tahoma"/>
                        <a:buNone/>
                      </a:pPr>
                      <a:r>
                        <a:rPr b="0" i="0" lang="en-US" sz="18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00"/>
                        <a:buFont typeface="Tahoma"/>
                        <a:buNone/>
                      </a:pPr>
                      <a:r>
                        <a:rPr b="0" i="0" lang="en-US" sz="18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00"/>
                        <a:buFont typeface="Tahoma"/>
                        <a:buNone/>
                      </a:pPr>
                      <a:r>
                        <a:rPr b="0" i="0" lang="en-US" sz="18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70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00"/>
                        <a:buFont typeface="Tahoma"/>
                        <a:buNone/>
                      </a:pPr>
                      <a:r>
                        <a:rPr b="0" i="0" lang="en-US" sz="18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Hàm trả về kết quả false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00"/>
                        <a:buFont typeface="Tahoma"/>
                        <a:buNone/>
                      </a:pPr>
                      <a:r>
                        <a:rPr b="0" i="0" lang="en-US" sz="18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00"/>
                        <a:buFont typeface="Tahoma"/>
                        <a:buNone/>
                      </a:pPr>
                      <a:r>
                        <a:rPr b="0" i="0" lang="en-US" sz="18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00"/>
                        <a:buFont typeface="Tahoma"/>
                        <a:buNone/>
                      </a:pPr>
                      <a:r>
                        <a:rPr b="0" i="0" lang="en-US" sz="18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00"/>
                        <a:buFont typeface="Tahoma"/>
                        <a:buNone/>
                      </a:pPr>
                      <a:r>
                        <a:rPr b="0" i="0" lang="en-US" sz="18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70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00"/>
                        <a:buFont typeface="Tahoma"/>
                        <a:buNone/>
                      </a:pPr>
                      <a:r>
                        <a:rPr b="0" i="0" lang="en-US" sz="18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Hàm trả về kết quả true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00"/>
                        <a:buFont typeface="Tahoma"/>
                        <a:buNone/>
                      </a:pPr>
                      <a:r>
                        <a:rPr b="0" i="0" lang="en-US" sz="18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00"/>
                        <a:buFont typeface="Tahoma"/>
                        <a:buNone/>
                      </a:pPr>
                      <a:r>
                        <a:rPr b="0" i="0" lang="en-US" sz="18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00"/>
                        <a:buFont typeface="Tahoma"/>
                        <a:buNone/>
                      </a:pPr>
                      <a:r>
                        <a:rPr b="0" i="0" lang="en-US" sz="18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00"/>
                        <a:buFont typeface="Tahoma"/>
                        <a:buNone/>
                      </a:pPr>
                      <a:r>
                        <a:rPr b="0" i="0" lang="en-US" sz="18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60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00"/>
                        <a:buFont typeface="Tahoma"/>
                        <a:buNone/>
                      </a:pPr>
                      <a:r>
                        <a:rPr b="0" i="0" lang="en-US" sz="18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Hàm trả về kết quả false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4" name="Google Shape;874;p34"/>
          <p:cNvSpPr txBox="1"/>
          <p:nvPr/>
        </p:nvSpPr>
        <p:spPr>
          <a:xfrm>
            <a:off x="7872412" y="2606675"/>
            <a:ext cx="30638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endParaRPr/>
          </a:p>
        </p:txBody>
      </p:sp>
      <p:sp>
        <p:nvSpPr>
          <p:cNvPr id="875" name="Google Shape;875;p34"/>
          <p:cNvSpPr txBox="1"/>
          <p:nvPr/>
        </p:nvSpPr>
        <p:spPr>
          <a:xfrm>
            <a:off x="7302500" y="3144837"/>
            <a:ext cx="3127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</a:t>
            </a:r>
            <a:endParaRPr/>
          </a:p>
        </p:txBody>
      </p:sp>
      <p:sp>
        <p:nvSpPr>
          <p:cNvPr id="876" name="Google Shape;876;p34"/>
          <p:cNvSpPr txBox="1"/>
          <p:nvPr/>
        </p:nvSpPr>
        <p:spPr>
          <a:xfrm>
            <a:off x="8197850" y="3130550"/>
            <a:ext cx="29051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endParaRPr/>
          </a:p>
        </p:txBody>
      </p:sp>
      <p:sp>
        <p:nvSpPr>
          <p:cNvPr id="877" name="Google Shape;877;p34"/>
          <p:cNvSpPr txBox="1"/>
          <p:nvPr/>
        </p:nvSpPr>
        <p:spPr>
          <a:xfrm>
            <a:off x="8250237" y="4448175"/>
            <a:ext cx="30638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</a:t>
            </a:r>
            <a:endParaRPr/>
          </a:p>
        </p:txBody>
      </p:sp>
      <p:sp>
        <p:nvSpPr>
          <p:cNvPr id="878" name="Google Shape;878;p34"/>
          <p:cNvSpPr txBox="1"/>
          <p:nvPr/>
        </p:nvSpPr>
        <p:spPr>
          <a:xfrm>
            <a:off x="7283450" y="4498975"/>
            <a:ext cx="31273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endParaRPr/>
          </a:p>
        </p:txBody>
      </p:sp>
      <p:sp>
        <p:nvSpPr>
          <p:cNvPr id="879" name="Google Shape;879;p34"/>
          <p:cNvSpPr/>
          <p:nvPr/>
        </p:nvSpPr>
        <p:spPr>
          <a:xfrm>
            <a:off x="7693025" y="3033712"/>
            <a:ext cx="417512" cy="4175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34"/>
          <p:cNvSpPr/>
          <p:nvPr/>
        </p:nvSpPr>
        <p:spPr>
          <a:xfrm>
            <a:off x="7050087" y="3649662"/>
            <a:ext cx="417512" cy="4175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34"/>
          <p:cNvSpPr/>
          <p:nvPr/>
        </p:nvSpPr>
        <p:spPr>
          <a:xfrm>
            <a:off x="8372475" y="3668712"/>
            <a:ext cx="415925" cy="4175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34"/>
          <p:cNvSpPr/>
          <p:nvPr/>
        </p:nvSpPr>
        <p:spPr>
          <a:xfrm>
            <a:off x="7724775" y="4278312"/>
            <a:ext cx="415925" cy="4159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3" name="Google Shape;883;p34"/>
          <p:cNvCxnSpPr/>
          <p:nvPr/>
        </p:nvCxnSpPr>
        <p:spPr>
          <a:xfrm flipH="1">
            <a:off x="7259637" y="3389312"/>
            <a:ext cx="495300" cy="2603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84" name="Google Shape;884;p34"/>
          <p:cNvCxnSpPr/>
          <p:nvPr/>
        </p:nvCxnSpPr>
        <p:spPr>
          <a:xfrm>
            <a:off x="8048625" y="3389312"/>
            <a:ext cx="531812" cy="27940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85" name="Google Shape;885;p34"/>
          <p:cNvCxnSpPr/>
          <p:nvPr/>
        </p:nvCxnSpPr>
        <p:spPr>
          <a:xfrm>
            <a:off x="7259637" y="4067175"/>
            <a:ext cx="525462" cy="27146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86" name="Google Shape;886;p34"/>
          <p:cNvCxnSpPr/>
          <p:nvPr/>
        </p:nvCxnSpPr>
        <p:spPr>
          <a:xfrm rot="10800000">
            <a:off x="7467600" y="3859212"/>
            <a:ext cx="904875" cy="190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887" name="Google Shape;887;p34"/>
          <p:cNvSpPr/>
          <p:nvPr/>
        </p:nvSpPr>
        <p:spPr>
          <a:xfrm>
            <a:off x="7050087" y="4954587"/>
            <a:ext cx="417512" cy="4175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34"/>
          <p:cNvSpPr/>
          <p:nvPr/>
        </p:nvSpPr>
        <p:spPr>
          <a:xfrm>
            <a:off x="8372475" y="4973637"/>
            <a:ext cx="415925" cy="4159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9" name="Google Shape;889;p34"/>
          <p:cNvCxnSpPr/>
          <p:nvPr/>
        </p:nvCxnSpPr>
        <p:spPr>
          <a:xfrm flipH="1">
            <a:off x="7259637" y="4633912"/>
            <a:ext cx="525462" cy="32067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90" name="Google Shape;890;p34"/>
          <p:cNvCxnSpPr/>
          <p:nvPr/>
        </p:nvCxnSpPr>
        <p:spPr>
          <a:xfrm>
            <a:off x="8080375" y="4633912"/>
            <a:ext cx="500062" cy="33972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891" name="Google Shape;891;p34"/>
          <p:cNvSpPr/>
          <p:nvPr/>
        </p:nvSpPr>
        <p:spPr>
          <a:xfrm>
            <a:off x="7693025" y="2255837"/>
            <a:ext cx="417512" cy="415925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2" name="Google Shape;892;p34"/>
          <p:cNvGrpSpPr/>
          <p:nvPr/>
        </p:nvGrpSpPr>
        <p:grpSpPr>
          <a:xfrm>
            <a:off x="7693025" y="5654675"/>
            <a:ext cx="484187" cy="484187"/>
            <a:chOff x="4719541" y="5195070"/>
            <a:chExt cx="484094" cy="484094"/>
          </a:xfrm>
        </p:grpSpPr>
        <p:sp>
          <p:nvSpPr>
            <p:cNvPr id="893" name="Google Shape;893;p34"/>
            <p:cNvSpPr/>
            <p:nvPr/>
          </p:nvSpPr>
          <p:spPr>
            <a:xfrm>
              <a:off x="4719541" y="5195070"/>
              <a:ext cx="484094" cy="484094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cap="flat" cmpd="sng" w="28575">
              <a:solidFill>
                <a:srgbClr val="49736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34"/>
            <p:cNvSpPr/>
            <p:nvPr/>
          </p:nvSpPr>
          <p:spPr>
            <a:xfrm>
              <a:off x="4792552" y="5255383"/>
              <a:ext cx="365054" cy="363467"/>
            </a:xfrm>
            <a:prstGeom prst="ellipse">
              <a:avLst/>
            </a:prstGeom>
            <a:solidFill>
              <a:schemeClr val="accent1"/>
            </a:solidFill>
            <a:ln cap="flat" cmpd="sng" w="28575">
              <a:solidFill>
                <a:srgbClr val="49736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95" name="Google Shape;895;p34"/>
          <p:cNvCxnSpPr/>
          <p:nvPr/>
        </p:nvCxnSpPr>
        <p:spPr>
          <a:xfrm>
            <a:off x="7259637" y="5372100"/>
            <a:ext cx="504825" cy="35242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96" name="Google Shape;896;p34"/>
          <p:cNvCxnSpPr/>
          <p:nvPr/>
        </p:nvCxnSpPr>
        <p:spPr>
          <a:xfrm rot="10800000">
            <a:off x="7467600" y="5162550"/>
            <a:ext cx="904875" cy="190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97" name="Google Shape;897;p34"/>
          <p:cNvCxnSpPr/>
          <p:nvPr/>
        </p:nvCxnSpPr>
        <p:spPr>
          <a:xfrm>
            <a:off x="7902575" y="2671762"/>
            <a:ext cx="0" cy="3619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898" name="Google Shape;898;p34"/>
          <p:cNvSpPr txBox="1"/>
          <p:nvPr/>
        </p:nvSpPr>
        <p:spPr>
          <a:xfrm>
            <a:off x="8626475" y="3349625"/>
            <a:ext cx="5937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true</a:t>
            </a:r>
            <a:endParaRPr/>
          </a:p>
        </p:txBody>
      </p:sp>
      <p:sp>
        <p:nvSpPr>
          <p:cNvPr id="899" name="Google Shape;899;p34"/>
          <p:cNvSpPr txBox="1"/>
          <p:nvPr/>
        </p:nvSpPr>
        <p:spPr>
          <a:xfrm>
            <a:off x="6656387" y="3281362"/>
            <a:ext cx="6540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false</a:t>
            </a:r>
            <a:endParaRPr/>
          </a:p>
        </p:txBody>
      </p:sp>
      <p:sp>
        <p:nvSpPr>
          <p:cNvPr id="900" name="Google Shape;900;p34"/>
          <p:cNvSpPr txBox="1"/>
          <p:nvPr/>
        </p:nvSpPr>
        <p:spPr>
          <a:xfrm>
            <a:off x="8626475" y="4733925"/>
            <a:ext cx="59372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true</a:t>
            </a:r>
            <a:endParaRPr/>
          </a:p>
        </p:txBody>
      </p:sp>
      <p:sp>
        <p:nvSpPr>
          <p:cNvPr id="901" name="Google Shape;901;p34"/>
          <p:cNvSpPr txBox="1"/>
          <p:nvPr/>
        </p:nvSpPr>
        <p:spPr>
          <a:xfrm>
            <a:off x="6656387" y="4665662"/>
            <a:ext cx="6540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false</a:t>
            </a:r>
            <a:endParaRPr/>
          </a:p>
        </p:txBody>
      </p:sp>
      <p:sp>
        <p:nvSpPr>
          <p:cNvPr id="902" name="Google Shape;902;p34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5.3. KIỂM THỬ BAO PHỦ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5"/>
          <p:cNvSpPr txBox="1"/>
          <p:nvPr>
            <p:ph type="title"/>
          </p:nvPr>
        </p:nvSpPr>
        <p:spPr>
          <a:xfrm>
            <a:off x="762000" y="990600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Phủ điều kiện</a:t>
            </a:r>
            <a:endParaRPr/>
          </a:p>
        </p:txBody>
      </p:sp>
      <p:sp>
        <p:nvSpPr>
          <p:cNvPr id="908" name="Google Shape;908;p35"/>
          <p:cNvSpPr txBox="1"/>
          <p:nvPr>
            <p:ph idx="1" type="body"/>
          </p:nvPr>
        </p:nvSpPr>
        <p:spPr>
          <a:xfrm>
            <a:off x="914400" y="1533525"/>
            <a:ext cx="8001000" cy="501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Thông thường vị từ quyết định nhánh sẽ được thực thi là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tổ hợp nhiều điều kiện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Ví dụ: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(d1 &gt;= 5 &amp;&amp; d2 &gt;= 5 &amp;&amp; d3 &gt;= 5) ...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((diemTB &gt;= 8.5) || 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(diemTB &gt;= 7.0 &amp;&amp; diemRL &gt;= 70)) ...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((nam % 400 == 0) || 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(nam % 4 == 0 &amp;&amp; nam % 100 != 0)) …</a:t>
            </a:r>
            <a:endParaRPr/>
          </a:p>
        </p:txBody>
      </p:sp>
      <p:sp>
        <p:nvSpPr>
          <p:cNvPr id="909" name="Google Shape;909;p35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5.3. KIỂM THỬ BAO PHỦ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6"/>
          <p:cNvSpPr txBox="1"/>
          <p:nvPr>
            <p:ph type="title"/>
          </p:nvPr>
        </p:nvSpPr>
        <p:spPr>
          <a:xfrm>
            <a:off x="762000" y="1066800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Phủ điều kiện</a:t>
            </a:r>
            <a:endParaRPr/>
          </a:p>
        </p:txBody>
      </p:sp>
      <p:sp>
        <p:nvSpPr>
          <p:cNvPr id="915" name="Google Shape;915;p36"/>
          <p:cNvSpPr txBox="1"/>
          <p:nvPr>
            <p:ph idx="1" type="body"/>
          </p:nvPr>
        </p:nvSpPr>
        <p:spPr>
          <a:xfrm>
            <a:off x="685800" y="1609725"/>
            <a:ext cx="8229600" cy="2962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Phủ điều kiện (condition coverage): mỗi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điều kiện trong các vị từ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được thực hiện ít nhất một lần cho cả trường hợp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true và false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không bắt buộc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 kết hợp giữa chúng).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Phủ điều kiện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chứa chắc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đảm bảo phủ các nhánh.</a:t>
            </a:r>
            <a:endParaRPr/>
          </a:p>
          <a:p>
            <a:pPr indent="-1905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36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5.3. KIỂM THỬ BAO PHỦ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37"/>
          <p:cNvSpPr txBox="1"/>
          <p:nvPr>
            <p:ph type="title"/>
          </p:nvPr>
        </p:nvSpPr>
        <p:spPr>
          <a:xfrm>
            <a:off x="473075" y="914400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Bài tập</a:t>
            </a:r>
            <a:endParaRPr/>
          </a:p>
        </p:txBody>
      </p:sp>
      <p:sp>
        <p:nvSpPr>
          <p:cNvPr id="922" name="Google Shape;922;p37"/>
          <p:cNvSpPr txBox="1"/>
          <p:nvPr>
            <p:ph idx="1" type="body"/>
          </p:nvPr>
        </p:nvSpPr>
        <p:spPr>
          <a:xfrm>
            <a:off x="381000" y="1274762"/>
            <a:ext cx="3746500" cy="543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✔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Số test case tối thiểu để phủ câu lệnh? 1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✔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Số test case tối đa phủ đường dẫn cơ sở? 6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✔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Số test case tối thiểu phủ điều kiện?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✔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Thiết kế test case phủ đường dẫn cơ sở?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✔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Thiết kế các test case phủ nhánh của hàm?</a:t>
            </a:r>
            <a:endParaRPr/>
          </a:p>
        </p:txBody>
      </p:sp>
      <p:sp>
        <p:nvSpPr>
          <p:cNvPr id="923" name="Google Shape;923;p37"/>
          <p:cNvSpPr txBox="1"/>
          <p:nvPr/>
        </p:nvSpPr>
        <p:spPr>
          <a:xfrm>
            <a:off x="4168775" y="1419225"/>
            <a:ext cx="4827587" cy="528637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reverse(</a:t>
            </a:r>
            <a:r>
              <a:rPr b="0" i="0" lang="en-US" sz="18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bool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isNegative = </a:t>
            </a:r>
            <a:r>
              <a:rPr b="0" i="0" lang="en-US" sz="18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if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isNegative = </a:t>
            </a:r>
            <a:r>
              <a:rPr b="0" i="0" lang="en-US" sz="18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      n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-</a:t>
            </a:r>
            <a:r>
              <a:rPr b="0" i="0" lang="en-US" sz="18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int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result = 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while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&gt; 0)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result = result * 10 + </a:t>
            </a:r>
            <a:r>
              <a:rPr b="0" i="0" lang="en-US" sz="18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% 10;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      n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/= 10;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if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(isNegative == </a:t>
            </a:r>
            <a:r>
              <a:rPr b="0" i="0" lang="en-US" sz="18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result = - result;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return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result;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924" name="Google Shape;924;p37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5.3. KIỂM THỬ BAO PHỦ</a:t>
            </a: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38"/>
          <p:cNvSpPr txBox="1"/>
          <p:nvPr>
            <p:ph type="title"/>
          </p:nvPr>
        </p:nvSpPr>
        <p:spPr>
          <a:xfrm>
            <a:off x="609600" y="96043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Phủ nhánh và điều kiện</a:t>
            </a:r>
            <a:endParaRPr/>
          </a:p>
        </p:txBody>
      </p:sp>
      <p:sp>
        <p:nvSpPr>
          <p:cNvPr id="931" name="Google Shape;931;p38"/>
          <p:cNvSpPr txBox="1"/>
          <p:nvPr>
            <p:ph idx="1" type="body"/>
          </p:nvPr>
        </p:nvSpPr>
        <p:spPr>
          <a:xfrm>
            <a:off x="762000" y="1563687"/>
            <a:ext cx="8229600" cy="3236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Phủ nhánh và điều kiện: mỗi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điều kiện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trong các vị từ và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các nhánh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rẽ từ các vị từ đó cũng được thực thi ít nhất một lần.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Ví dụ: phủ nhánh và điều kiện trong sơ đồ luồng sau với các test case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= 3, B = 4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= -3, B = 4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= -3, B = -4</a:t>
            </a:r>
            <a:endParaRPr/>
          </a:p>
        </p:txBody>
      </p:sp>
      <p:sp>
        <p:nvSpPr>
          <p:cNvPr id="932" name="Google Shape;932;p38"/>
          <p:cNvSpPr/>
          <p:nvPr/>
        </p:nvSpPr>
        <p:spPr>
          <a:xfrm>
            <a:off x="5383212" y="4065587"/>
            <a:ext cx="2028825" cy="841375"/>
          </a:xfrm>
          <a:prstGeom prst="diamond">
            <a:avLst/>
          </a:prstGeom>
          <a:solidFill>
            <a:schemeClr val="accent1"/>
          </a:solidFill>
          <a:ln cap="flat" cmpd="sng" w="2540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38"/>
          <p:cNvSpPr txBox="1"/>
          <p:nvPr/>
        </p:nvSpPr>
        <p:spPr>
          <a:xfrm>
            <a:off x="5715000" y="4175125"/>
            <a:ext cx="133508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(A &lt; B) &amp;&amp; (A &gt; 2)</a:t>
            </a:r>
            <a:endParaRPr/>
          </a:p>
        </p:txBody>
      </p:sp>
      <p:sp>
        <p:nvSpPr>
          <p:cNvPr id="934" name="Google Shape;934;p38"/>
          <p:cNvSpPr/>
          <p:nvPr/>
        </p:nvSpPr>
        <p:spPr>
          <a:xfrm>
            <a:off x="5383212" y="5319712"/>
            <a:ext cx="2028825" cy="841375"/>
          </a:xfrm>
          <a:prstGeom prst="diamond">
            <a:avLst/>
          </a:prstGeom>
          <a:solidFill>
            <a:schemeClr val="accent1"/>
          </a:solidFill>
          <a:ln cap="flat" cmpd="sng" w="2540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38"/>
          <p:cNvSpPr txBox="1"/>
          <p:nvPr/>
        </p:nvSpPr>
        <p:spPr>
          <a:xfrm>
            <a:off x="5803900" y="5422900"/>
            <a:ext cx="1335087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(B &gt; 0) &amp;&amp; (A &gt; 0)</a:t>
            </a:r>
            <a:endParaRPr/>
          </a:p>
        </p:txBody>
      </p:sp>
      <p:sp>
        <p:nvSpPr>
          <p:cNvPr id="936" name="Google Shape;936;p38"/>
          <p:cNvSpPr txBox="1"/>
          <p:nvPr/>
        </p:nvSpPr>
        <p:spPr>
          <a:xfrm>
            <a:off x="3727450" y="4256087"/>
            <a:ext cx="987425" cy="4953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38"/>
          <p:cNvSpPr txBox="1"/>
          <p:nvPr/>
        </p:nvSpPr>
        <p:spPr>
          <a:xfrm>
            <a:off x="8080375" y="4256087"/>
            <a:ext cx="987425" cy="4953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8" name="Google Shape;938;p38"/>
          <p:cNvCxnSpPr/>
          <p:nvPr/>
        </p:nvCxnSpPr>
        <p:spPr>
          <a:xfrm flipH="1">
            <a:off x="4714875" y="4486275"/>
            <a:ext cx="668337" cy="17462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939" name="Google Shape;939;p38"/>
          <p:cNvCxnSpPr/>
          <p:nvPr/>
        </p:nvCxnSpPr>
        <p:spPr>
          <a:xfrm>
            <a:off x="7412037" y="4486275"/>
            <a:ext cx="668337" cy="17462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940" name="Google Shape;940;p38"/>
          <p:cNvCxnSpPr/>
          <p:nvPr/>
        </p:nvCxnSpPr>
        <p:spPr>
          <a:xfrm>
            <a:off x="4221163" y="4751387"/>
            <a:ext cx="2176500" cy="568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00206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941" name="Google Shape;941;p38"/>
          <p:cNvCxnSpPr/>
          <p:nvPr/>
        </p:nvCxnSpPr>
        <p:spPr>
          <a:xfrm flipH="1">
            <a:off x="6397587" y="4751387"/>
            <a:ext cx="2176500" cy="568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00206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942" name="Google Shape;942;p38"/>
          <p:cNvSpPr txBox="1"/>
          <p:nvPr/>
        </p:nvSpPr>
        <p:spPr>
          <a:xfrm>
            <a:off x="3727450" y="5510212"/>
            <a:ext cx="987425" cy="4953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38"/>
          <p:cNvSpPr txBox="1"/>
          <p:nvPr/>
        </p:nvSpPr>
        <p:spPr>
          <a:xfrm>
            <a:off x="8080375" y="5499100"/>
            <a:ext cx="987425" cy="4953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4" name="Google Shape;944;p38"/>
          <p:cNvCxnSpPr/>
          <p:nvPr/>
        </p:nvCxnSpPr>
        <p:spPr>
          <a:xfrm flipH="1">
            <a:off x="4714875" y="5740400"/>
            <a:ext cx="668337" cy="17462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945" name="Google Shape;945;p38"/>
          <p:cNvCxnSpPr/>
          <p:nvPr/>
        </p:nvCxnSpPr>
        <p:spPr>
          <a:xfrm>
            <a:off x="7412037" y="5740400"/>
            <a:ext cx="668337" cy="6350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946" name="Google Shape;946;p38"/>
          <p:cNvCxnSpPr/>
          <p:nvPr/>
        </p:nvCxnSpPr>
        <p:spPr>
          <a:xfrm>
            <a:off x="6397625" y="3733800"/>
            <a:ext cx="0" cy="331787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947" name="Google Shape;947;p38"/>
          <p:cNvCxnSpPr/>
          <p:nvPr/>
        </p:nvCxnSpPr>
        <p:spPr>
          <a:xfrm>
            <a:off x="4221163" y="6005513"/>
            <a:ext cx="2176500" cy="471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00206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948" name="Google Shape;948;p38"/>
          <p:cNvCxnSpPr/>
          <p:nvPr/>
        </p:nvCxnSpPr>
        <p:spPr>
          <a:xfrm flipH="1">
            <a:off x="6397587" y="5994399"/>
            <a:ext cx="2176500" cy="482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00206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949" name="Google Shape;949;p38"/>
          <p:cNvSpPr txBox="1"/>
          <p:nvPr/>
        </p:nvSpPr>
        <p:spPr>
          <a:xfrm>
            <a:off x="4781550" y="4125912"/>
            <a:ext cx="6016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true</a:t>
            </a:r>
            <a:endParaRPr/>
          </a:p>
        </p:txBody>
      </p:sp>
      <p:sp>
        <p:nvSpPr>
          <p:cNvPr id="950" name="Google Shape;950;p38"/>
          <p:cNvSpPr txBox="1"/>
          <p:nvPr/>
        </p:nvSpPr>
        <p:spPr>
          <a:xfrm>
            <a:off x="4748212" y="5391150"/>
            <a:ext cx="6016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true</a:t>
            </a:r>
            <a:endParaRPr/>
          </a:p>
        </p:txBody>
      </p:sp>
      <p:sp>
        <p:nvSpPr>
          <p:cNvPr id="951" name="Google Shape;951;p38"/>
          <p:cNvSpPr txBox="1"/>
          <p:nvPr/>
        </p:nvSpPr>
        <p:spPr>
          <a:xfrm>
            <a:off x="7391400" y="4116387"/>
            <a:ext cx="6556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false</a:t>
            </a:r>
            <a:endParaRPr/>
          </a:p>
        </p:txBody>
      </p:sp>
      <p:sp>
        <p:nvSpPr>
          <p:cNvPr id="952" name="Google Shape;952;p38"/>
          <p:cNvSpPr txBox="1"/>
          <p:nvPr/>
        </p:nvSpPr>
        <p:spPr>
          <a:xfrm>
            <a:off x="7432675" y="5370512"/>
            <a:ext cx="6540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false</a:t>
            </a:r>
            <a:endParaRPr/>
          </a:p>
        </p:txBody>
      </p:sp>
      <p:pic>
        <p:nvPicPr>
          <p:cNvPr id="953" name="Google Shape;95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6075" y="5300662"/>
            <a:ext cx="544512" cy="132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38"/>
          <p:cNvSpPr/>
          <p:nvPr/>
        </p:nvSpPr>
        <p:spPr>
          <a:xfrm>
            <a:off x="682625" y="5170487"/>
            <a:ext cx="1884362" cy="1444625"/>
          </a:xfrm>
          <a:prstGeom prst="cloudCallout">
            <a:avLst>
              <a:gd fmla="val 26330" name="adj1"/>
              <a:gd fmla="val 4378" name="adj2"/>
            </a:avLst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Làm sao xác định các test case đó?</a:t>
            </a:r>
            <a:endParaRPr/>
          </a:p>
        </p:txBody>
      </p:sp>
      <p:sp>
        <p:nvSpPr>
          <p:cNvPr id="955" name="Google Shape;955;p38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5.3. KIỂM THỬ BAO PHỦ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39"/>
          <p:cNvSpPr txBox="1"/>
          <p:nvPr/>
        </p:nvSpPr>
        <p:spPr>
          <a:xfrm>
            <a:off x="4054475" y="4910137"/>
            <a:ext cx="50641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4.1</a:t>
            </a:r>
            <a:endParaRPr/>
          </a:p>
        </p:txBody>
      </p:sp>
      <p:sp>
        <p:nvSpPr>
          <p:cNvPr id="961" name="Google Shape;961;p39"/>
          <p:cNvSpPr txBox="1"/>
          <p:nvPr/>
        </p:nvSpPr>
        <p:spPr>
          <a:xfrm>
            <a:off x="5334000" y="4908550"/>
            <a:ext cx="50641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4.2</a:t>
            </a:r>
            <a:endParaRPr/>
          </a:p>
        </p:txBody>
      </p:sp>
      <p:sp>
        <p:nvSpPr>
          <p:cNvPr id="962" name="Google Shape;962;p39"/>
          <p:cNvSpPr txBox="1"/>
          <p:nvPr/>
        </p:nvSpPr>
        <p:spPr>
          <a:xfrm>
            <a:off x="4054475" y="3095625"/>
            <a:ext cx="508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1.1</a:t>
            </a:r>
            <a:endParaRPr/>
          </a:p>
        </p:txBody>
      </p:sp>
      <p:sp>
        <p:nvSpPr>
          <p:cNvPr id="963" name="Google Shape;963;p39"/>
          <p:cNvSpPr txBox="1"/>
          <p:nvPr/>
        </p:nvSpPr>
        <p:spPr>
          <a:xfrm>
            <a:off x="5346700" y="3095625"/>
            <a:ext cx="508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1.2</a:t>
            </a:r>
            <a:endParaRPr/>
          </a:p>
        </p:txBody>
      </p:sp>
      <p:sp>
        <p:nvSpPr>
          <p:cNvPr id="964" name="Google Shape;964;p39"/>
          <p:cNvSpPr txBox="1"/>
          <p:nvPr>
            <p:ph type="title"/>
          </p:nvPr>
        </p:nvSpPr>
        <p:spPr>
          <a:xfrm>
            <a:off x="622300" y="876300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Phủ nhánh và điều kiện</a:t>
            </a:r>
            <a:endParaRPr/>
          </a:p>
        </p:txBody>
      </p:sp>
      <p:sp>
        <p:nvSpPr>
          <p:cNvPr id="965" name="Google Shape;965;p39"/>
          <p:cNvSpPr/>
          <p:nvPr/>
        </p:nvSpPr>
        <p:spPr>
          <a:xfrm>
            <a:off x="1854200" y="3217862"/>
            <a:ext cx="415925" cy="417512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39"/>
          <p:cNvSpPr/>
          <p:nvPr/>
        </p:nvSpPr>
        <p:spPr>
          <a:xfrm>
            <a:off x="1854200" y="3924300"/>
            <a:ext cx="415925" cy="4159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/>
          </a:p>
        </p:txBody>
      </p:sp>
      <p:sp>
        <p:nvSpPr>
          <p:cNvPr id="967" name="Google Shape;967;p39"/>
          <p:cNvSpPr/>
          <p:nvPr/>
        </p:nvSpPr>
        <p:spPr>
          <a:xfrm>
            <a:off x="1436687" y="4481512"/>
            <a:ext cx="417512" cy="4175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/>
          </a:p>
        </p:txBody>
      </p:sp>
      <p:sp>
        <p:nvSpPr>
          <p:cNvPr id="968" name="Google Shape;968;p39"/>
          <p:cNvSpPr/>
          <p:nvPr/>
        </p:nvSpPr>
        <p:spPr>
          <a:xfrm>
            <a:off x="2270125" y="4481512"/>
            <a:ext cx="417512" cy="4175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/>
          </a:p>
        </p:txBody>
      </p:sp>
      <p:cxnSp>
        <p:nvCxnSpPr>
          <p:cNvPr id="969" name="Google Shape;969;p39"/>
          <p:cNvCxnSpPr/>
          <p:nvPr/>
        </p:nvCxnSpPr>
        <p:spPr>
          <a:xfrm>
            <a:off x="2062162" y="3635375"/>
            <a:ext cx="0" cy="288925"/>
          </a:xfrm>
          <a:prstGeom prst="straightConnector1">
            <a:avLst/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970" name="Google Shape;970;p39"/>
          <p:cNvCxnSpPr/>
          <p:nvPr/>
        </p:nvCxnSpPr>
        <p:spPr>
          <a:xfrm flipH="1">
            <a:off x="1646237" y="4279900"/>
            <a:ext cx="268287" cy="201612"/>
          </a:xfrm>
          <a:prstGeom prst="straightConnector1">
            <a:avLst/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971" name="Google Shape;971;p39"/>
          <p:cNvCxnSpPr/>
          <p:nvPr/>
        </p:nvCxnSpPr>
        <p:spPr>
          <a:xfrm>
            <a:off x="2209800" y="4279900"/>
            <a:ext cx="269875" cy="201612"/>
          </a:xfrm>
          <a:prstGeom prst="straightConnector1">
            <a:avLst/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972" name="Google Shape;972;p39"/>
          <p:cNvSpPr/>
          <p:nvPr/>
        </p:nvSpPr>
        <p:spPr>
          <a:xfrm>
            <a:off x="1866900" y="5064125"/>
            <a:ext cx="417512" cy="4175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/>
          </a:p>
        </p:txBody>
      </p:sp>
      <p:cxnSp>
        <p:nvCxnSpPr>
          <p:cNvPr id="973" name="Google Shape;973;p39"/>
          <p:cNvCxnSpPr/>
          <p:nvPr/>
        </p:nvCxnSpPr>
        <p:spPr>
          <a:xfrm>
            <a:off x="1646237" y="4899025"/>
            <a:ext cx="282575" cy="227012"/>
          </a:xfrm>
          <a:prstGeom prst="straightConnector1">
            <a:avLst/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974" name="Google Shape;974;p39"/>
          <p:cNvCxnSpPr/>
          <p:nvPr/>
        </p:nvCxnSpPr>
        <p:spPr>
          <a:xfrm flipH="1">
            <a:off x="2222500" y="4899025"/>
            <a:ext cx="257175" cy="227012"/>
          </a:xfrm>
          <a:prstGeom prst="straightConnector1">
            <a:avLst/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975" name="Google Shape;975;p39"/>
          <p:cNvSpPr/>
          <p:nvPr/>
        </p:nvSpPr>
        <p:spPr>
          <a:xfrm>
            <a:off x="1450975" y="5676900"/>
            <a:ext cx="415925" cy="4175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/>
          </a:p>
        </p:txBody>
      </p:sp>
      <p:sp>
        <p:nvSpPr>
          <p:cNvPr id="976" name="Google Shape;976;p39"/>
          <p:cNvSpPr/>
          <p:nvPr/>
        </p:nvSpPr>
        <p:spPr>
          <a:xfrm>
            <a:off x="2284412" y="5676900"/>
            <a:ext cx="415925" cy="4175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/>
          </a:p>
        </p:txBody>
      </p:sp>
      <p:cxnSp>
        <p:nvCxnSpPr>
          <p:cNvPr id="977" name="Google Shape;977;p39"/>
          <p:cNvCxnSpPr/>
          <p:nvPr/>
        </p:nvCxnSpPr>
        <p:spPr>
          <a:xfrm flipH="1">
            <a:off x="1658937" y="5419725"/>
            <a:ext cx="269875" cy="257175"/>
          </a:xfrm>
          <a:prstGeom prst="straightConnector1">
            <a:avLst/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978" name="Google Shape;978;p39"/>
          <p:cNvCxnSpPr/>
          <p:nvPr/>
        </p:nvCxnSpPr>
        <p:spPr>
          <a:xfrm>
            <a:off x="2222500" y="5419725"/>
            <a:ext cx="269875" cy="257175"/>
          </a:xfrm>
          <a:prstGeom prst="straightConnector1">
            <a:avLst/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979" name="Google Shape;979;p39"/>
          <p:cNvSpPr/>
          <p:nvPr/>
        </p:nvSpPr>
        <p:spPr>
          <a:xfrm>
            <a:off x="1839912" y="6297612"/>
            <a:ext cx="484187" cy="484187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39"/>
          <p:cNvSpPr/>
          <p:nvPr/>
        </p:nvSpPr>
        <p:spPr>
          <a:xfrm>
            <a:off x="1947862" y="6375400"/>
            <a:ext cx="282575" cy="3175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1" name="Google Shape;981;p39"/>
          <p:cNvCxnSpPr/>
          <p:nvPr/>
        </p:nvCxnSpPr>
        <p:spPr>
          <a:xfrm>
            <a:off x="1658937" y="6094412"/>
            <a:ext cx="252412" cy="273050"/>
          </a:xfrm>
          <a:prstGeom prst="straightConnector1">
            <a:avLst/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982" name="Google Shape;982;p39"/>
          <p:cNvCxnSpPr/>
          <p:nvPr/>
        </p:nvCxnSpPr>
        <p:spPr>
          <a:xfrm flipH="1">
            <a:off x="2254250" y="6094412"/>
            <a:ext cx="238125" cy="273050"/>
          </a:xfrm>
          <a:prstGeom prst="straightConnector1">
            <a:avLst/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983" name="Google Shape;983;p39"/>
          <p:cNvSpPr txBox="1"/>
          <p:nvPr/>
        </p:nvSpPr>
        <p:spPr>
          <a:xfrm>
            <a:off x="1339850" y="1439862"/>
            <a:ext cx="23717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(A &lt; B) &amp;&amp; (A &gt; 2)</a:t>
            </a:r>
            <a:endParaRPr/>
          </a:p>
        </p:txBody>
      </p:sp>
      <p:sp>
        <p:nvSpPr>
          <p:cNvPr id="984" name="Google Shape;984;p39"/>
          <p:cNvSpPr txBox="1"/>
          <p:nvPr/>
        </p:nvSpPr>
        <p:spPr>
          <a:xfrm>
            <a:off x="1339850" y="2312987"/>
            <a:ext cx="23574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(A &gt; 0) &amp;&amp; (B &gt; 0)</a:t>
            </a:r>
            <a:endParaRPr/>
          </a:p>
        </p:txBody>
      </p:sp>
      <p:sp>
        <p:nvSpPr>
          <p:cNvPr id="985" name="Google Shape;985;p39"/>
          <p:cNvSpPr/>
          <p:nvPr/>
        </p:nvSpPr>
        <p:spPr>
          <a:xfrm rot="-5400000">
            <a:off x="1797843" y="1486693"/>
            <a:ext cx="125412" cy="819150"/>
          </a:xfrm>
          <a:prstGeom prst="leftBrace">
            <a:avLst>
              <a:gd fmla="val 276" name="adj1"/>
              <a:gd fmla="val 50000" name="adj2"/>
            </a:avLst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39"/>
          <p:cNvSpPr/>
          <p:nvPr/>
        </p:nvSpPr>
        <p:spPr>
          <a:xfrm rot="-5400000">
            <a:off x="3113087" y="1479550"/>
            <a:ext cx="125412" cy="820737"/>
          </a:xfrm>
          <a:prstGeom prst="leftBrace">
            <a:avLst>
              <a:gd fmla="val 275" name="adj1"/>
              <a:gd fmla="val 50000" name="adj2"/>
            </a:avLst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39"/>
          <p:cNvSpPr/>
          <p:nvPr/>
        </p:nvSpPr>
        <p:spPr>
          <a:xfrm rot="-5400000">
            <a:off x="1784350" y="2347912"/>
            <a:ext cx="125412" cy="820737"/>
          </a:xfrm>
          <a:prstGeom prst="leftBrace">
            <a:avLst>
              <a:gd fmla="val 275" name="adj1"/>
              <a:gd fmla="val 50000" name="adj2"/>
            </a:avLst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39"/>
          <p:cNvSpPr/>
          <p:nvPr/>
        </p:nvSpPr>
        <p:spPr>
          <a:xfrm rot="-5400000">
            <a:off x="3099593" y="2342356"/>
            <a:ext cx="125412" cy="819150"/>
          </a:xfrm>
          <a:prstGeom prst="leftBrace">
            <a:avLst>
              <a:gd fmla="val 276" name="adj1"/>
              <a:gd fmla="val 50000" name="adj2"/>
            </a:avLst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39"/>
          <p:cNvSpPr txBox="1"/>
          <p:nvPr/>
        </p:nvSpPr>
        <p:spPr>
          <a:xfrm>
            <a:off x="1584325" y="1920875"/>
            <a:ext cx="5524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7163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517163"/>
                </a:solidFill>
                <a:latin typeface="Tahoma"/>
                <a:ea typeface="Tahoma"/>
                <a:cs typeface="Tahoma"/>
                <a:sym typeface="Tahoma"/>
              </a:rPr>
              <a:t>1.1</a:t>
            </a:r>
            <a:endParaRPr/>
          </a:p>
        </p:txBody>
      </p:sp>
      <p:sp>
        <p:nvSpPr>
          <p:cNvPr id="990" name="Google Shape;990;p39"/>
          <p:cNvSpPr txBox="1"/>
          <p:nvPr/>
        </p:nvSpPr>
        <p:spPr>
          <a:xfrm>
            <a:off x="2900362" y="1920875"/>
            <a:ext cx="5508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7163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517163"/>
                </a:solidFill>
                <a:latin typeface="Tahoma"/>
                <a:ea typeface="Tahoma"/>
                <a:cs typeface="Tahoma"/>
                <a:sym typeface="Tahoma"/>
              </a:rPr>
              <a:t>1.2</a:t>
            </a:r>
            <a:endParaRPr/>
          </a:p>
        </p:txBody>
      </p:sp>
      <p:sp>
        <p:nvSpPr>
          <p:cNvPr id="991" name="Google Shape;991;p39"/>
          <p:cNvSpPr txBox="1"/>
          <p:nvPr/>
        </p:nvSpPr>
        <p:spPr>
          <a:xfrm>
            <a:off x="1584325" y="2792412"/>
            <a:ext cx="5524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7163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517163"/>
                </a:solidFill>
                <a:latin typeface="Tahoma"/>
                <a:ea typeface="Tahoma"/>
                <a:cs typeface="Tahoma"/>
                <a:sym typeface="Tahoma"/>
              </a:rPr>
              <a:t>4.1</a:t>
            </a:r>
            <a:endParaRPr/>
          </a:p>
        </p:txBody>
      </p:sp>
      <p:sp>
        <p:nvSpPr>
          <p:cNvPr id="992" name="Google Shape;992;p39"/>
          <p:cNvSpPr txBox="1"/>
          <p:nvPr/>
        </p:nvSpPr>
        <p:spPr>
          <a:xfrm>
            <a:off x="2900362" y="2792412"/>
            <a:ext cx="55086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7163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517163"/>
                </a:solidFill>
                <a:latin typeface="Tahoma"/>
                <a:ea typeface="Tahoma"/>
                <a:cs typeface="Tahoma"/>
                <a:sym typeface="Tahoma"/>
              </a:rPr>
              <a:t>4.2</a:t>
            </a:r>
            <a:endParaRPr/>
          </a:p>
        </p:txBody>
      </p:sp>
      <p:cxnSp>
        <p:nvCxnSpPr>
          <p:cNvPr id="993" name="Google Shape;993;p39"/>
          <p:cNvCxnSpPr/>
          <p:nvPr/>
        </p:nvCxnSpPr>
        <p:spPr>
          <a:xfrm flipH="1" rot="5400000">
            <a:off x="350750" y="2628812"/>
            <a:ext cx="2492400" cy="514500"/>
          </a:xfrm>
          <a:prstGeom prst="bentConnector3">
            <a:avLst>
              <a:gd fmla="val 0" name="adj1"/>
            </a:avLst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994" name="Google Shape;994;p39"/>
          <p:cNvCxnSpPr/>
          <p:nvPr/>
        </p:nvCxnSpPr>
        <p:spPr>
          <a:xfrm flipH="1" rot="5400000">
            <a:off x="223800" y="3628987"/>
            <a:ext cx="2759100" cy="527100"/>
          </a:xfrm>
          <a:prstGeom prst="bentConnector3">
            <a:avLst>
              <a:gd fmla="val 0" name="adj1"/>
            </a:avLst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995" name="Google Shape;995;p39"/>
          <p:cNvSpPr/>
          <p:nvPr/>
        </p:nvSpPr>
        <p:spPr>
          <a:xfrm>
            <a:off x="4086225" y="3078162"/>
            <a:ext cx="417512" cy="4159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39"/>
          <p:cNvSpPr/>
          <p:nvPr/>
        </p:nvSpPr>
        <p:spPr>
          <a:xfrm>
            <a:off x="4757737" y="2312987"/>
            <a:ext cx="417512" cy="415925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39"/>
          <p:cNvSpPr/>
          <p:nvPr/>
        </p:nvSpPr>
        <p:spPr>
          <a:xfrm>
            <a:off x="4086225" y="3984625"/>
            <a:ext cx="417512" cy="4159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/>
          </a:p>
        </p:txBody>
      </p:sp>
      <p:sp>
        <p:nvSpPr>
          <p:cNvPr id="998" name="Google Shape;998;p39"/>
          <p:cNvSpPr/>
          <p:nvPr/>
        </p:nvSpPr>
        <p:spPr>
          <a:xfrm>
            <a:off x="5376862" y="3984625"/>
            <a:ext cx="417512" cy="4159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/>
          </a:p>
        </p:txBody>
      </p:sp>
      <p:sp>
        <p:nvSpPr>
          <p:cNvPr id="999" name="Google Shape;999;p39"/>
          <p:cNvSpPr/>
          <p:nvPr/>
        </p:nvSpPr>
        <p:spPr>
          <a:xfrm>
            <a:off x="4086225" y="5724525"/>
            <a:ext cx="417512" cy="4159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/>
          </a:p>
        </p:txBody>
      </p:sp>
      <p:sp>
        <p:nvSpPr>
          <p:cNvPr id="1000" name="Google Shape;1000;p39"/>
          <p:cNvSpPr/>
          <p:nvPr/>
        </p:nvSpPr>
        <p:spPr>
          <a:xfrm>
            <a:off x="5376862" y="5726112"/>
            <a:ext cx="417512" cy="4159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/>
          </a:p>
        </p:txBody>
      </p:sp>
      <p:sp>
        <p:nvSpPr>
          <p:cNvPr id="1001" name="Google Shape;1001;p39"/>
          <p:cNvSpPr/>
          <p:nvPr/>
        </p:nvSpPr>
        <p:spPr>
          <a:xfrm>
            <a:off x="4689475" y="6297612"/>
            <a:ext cx="484187" cy="484187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39"/>
          <p:cNvSpPr/>
          <p:nvPr/>
        </p:nvSpPr>
        <p:spPr>
          <a:xfrm>
            <a:off x="4797425" y="6375400"/>
            <a:ext cx="280987" cy="3175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3" name="Google Shape;1003;p39"/>
          <p:cNvCxnSpPr/>
          <p:nvPr/>
        </p:nvCxnSpPr>
        <p:spPr>
          <a:xfrm>
            <a:off x="4294187" y="6140450"/>
            <a:ext cx="465137" cy="22701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004" name="Google Shape;1004;p39"/>
          <p:cNvCxnSpPr/>
          <p:nvPr/>
        </p:nvCxnSpPr>
        <p:spPr>
          <a:xfrm flipH="1">
            <a:off x="5102225" y="6142037"/>
            <a:ext cx="482600" cy="22542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005" name="Google Shape;1005;p39"/>
          <p:cNvSpPr/>
          <p:nvPr/>
        </p:nvSpPr>
        <p:spPr>
          <a:xfrm>
            <a:off x="5378450" y="3078162"/>
            <a:ext cx="417512" cy="4159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39"/>
          <p:cNvSpPr/>
          <p:nvPr/>
        </p:nvSpPr>
        <p:spPr>
          <a:xfrm>
            <a:off x="4086225" y="4892675"/>
            <a:ext cx="417512" cy="4175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39"/>
          <p:cNvSpPr/>
          <p:nvPr/>
        </p:nvSpPr>
        <p:spPr>
          <a:xfrm>
            <a:off x="5367337" y="4891087"/>
            <a:ext cx="415925" cy="4175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8" name="Google Shape;1008;p39"/>
          <p:cNvCxnSpPr/>
          <p:nvPr/>
        </p:nvCxnSpPr>
        <p:spPr>
          <a:xfrm flipH="1">
            <a:off x="4294187" y="2668587"/>
            <a:ext cx="525462" cy="40957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009" name="Google Shape;1009;p39"/>
          <p:cNvCxnSpPr/>
          <p:nvPr/>
        </p:nvCxnSpPr>
        <p:spPr>
          <a:xfrm>
            <a:off x="4294187" y="3494087"/>
            <a:ext cx="0" cy="49053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010" name="Google Shape;1010;p39"/>
          <p:cNvCxnSpPr/>
          <p:nvPr/>
        </p:nvCxnSpPr>
        <p:spPr>
          <a:xfrm>
            <a:off x="4503737" y="3286125"/>
            <a:ext cx="874712" cy="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011" name="Google Shape;1011;p39"/>
          <p:cNvCxnSpPr/>
          <p:nvPr/>
        </p:nvCxnSpPr>
        <p:spPr>
          <a:xfrm flipH="1">
            <a:off x="4441825" y="3433762"/>
            <a:ext cx="998537" cy="61118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012" name="Google Shape;1012;p39"/>
          <p:cNvCxnSpPr/>
          <p:nvPr/>
        </p:nvCxnSpPr>
        <p:spPr>
          <a:xfrm flipH="1">
            <a:off x="5584825" y="3494087"/>
            <a:ext cx="1587" cy="49053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013" name="Google Shape;1013;p39"/>
          <p:cNvCxnSpPr/>
          <p:nvPr/>
        </p:nvCxnSpPr>
        <p:spPr>
          <a:xfrm>
            <a:off x="4294187" y="4400550"/>
            <a:ext cx="0" cy="49212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014" name="Google Shape;1014;p39"/>
          <p:cNvCxnSpPr/>
          <p:nvPr/>
        </p:nvCxnSpPr>
        <p:spPr>
          <a:xfrm flipH="1">
            <a:off x="4441825" y="4340225"/>
            <a:ext cx="996950" cy="61277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015" name="Google Shape;1015;p39"/>
          <p:cNvCxnSpPr/>
          <p:nvPr/>
        </p:nvCxnSpPr>
        <p:spPr>
          <a:xfrm>
            <a:off x="4294187" y="5310187"/>
            <a:ext cx="0" cy="41433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016" name="Google Shape;1016;p39"/>
          <p:cNvCxnSpPr/>
          <p:nvPr/>
        </p:nvCxnSpPr>
        <p:spPr>
          <a:xfrm flipH="1" rot="10800000">
            <a:off x="4503737" y="5099050"/>
            <a:ext cx="863600" cy="158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017" name="Google Shape;1017;p39"/>
          <p:cNvCxnSpPr/>
          <p:nvPr/>
        </p:nvCxnSpPr>
        <p:spPr>
          <a:xfrm flipH="1">
            <a:off x="4441825" y="5246687"/>
            <a:ext cx="985837" cy="53816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018" name="Google Shape;1018;p39"/>
          <p:cNvCxnSpPr/>
          <p:nvPr/>
        </p:nvCxnSpPr>
        <p:spPr>
          <a:xfrm>
            <a:off x="5575300" y="5308600"/>
            <a:ext cx="9525" cy="41751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019" name="Google Shape;1019;p39"/>
          <p:cNvSpPr txBox="1"/>
          <p:nvPr/>
        </p:nvSpPr>
        <p:spPr>
          <a:xfrm>
            <a:off x="4335462" y="2576512"/>
            <a:ext cx="3095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endParaRPr/>
          </a:p>
        </p:txBody>
      </p:sp>
      <p:sp>
        <p:nvSpPr>
          <p:cNvPr id="1020" name="Google Shape;1020;p39"/>
          <p:cNvSpPr txBox="1"/>
          <p:nvPr/>
        </p:nvSpPr>
        <p:spPr>
          <a:xfrm>
            <a:off x="4051300" y="3532187"/>
            <a:ext cx="3095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</a:t>
            </a:r>
            <a:endParaRPr/>
          </a:p>
        </p:txBody>
      </p:sp>
      <p:sp>
        <p:nvSpPr>
          <p:cNvPr id="1021" name="Google Shape;1021;p39"/>
          <p:cNvSpPr txBox="1"/>
          <p:nvPr/>
        </p:nvSpPr>
        <p:spPr>
          <a:xfrm>
            <a:off x="4718050" y="2954337"/>
            <a:ext cx="3095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endParaRPr/>
          </a:p>
        </p:txBody>
      </p:sp>
      <p:sp>
        <p:nvSpPr>
          <p:cNvPr id="1022" name="Google Shape;1022;p39"/>
          <p:cNvSpPr txBox="1"/>
          <p:nvPr/>
        </p:nvSpPr>
        <p:spPr>
          <a:xfrm>
            <a:off x="4705350" y="3451225"/>
            <a:ext cx="30797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endParaRPr/>
          </a:p>
        </p:txBody>
      </p:sp>
      <p:sp>
        <p:nvSpPr>
          <p:cNvPr id="1023" name="Google Shape;1023;p39"/>
          <p:cNvSpPr txBox="1"/>
          <p:nvPr/>
        </p:nvSpPr>
        <p:spPr>
          <a:xfrm>
            <a:off x="5548312" y="3503612"/>
            <a:ext cx="3079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</a:t>
            </a:r>
            <a:endParaRPr/>
          </a:p>
        </p:txBody>
      </p:sp>
      <p:sp>
        <p:nvSpPr>
          <p:cNvPr id="1024" name="Google Shape;1024;p39"/>
          <p:cNvSpPr txBox="1"/>
          <p:nvPr/>
        </p:nvSpPr>
        <p:spPr>
          <a:xfrm>
            <a:off x="4025900" y="4459287"/>
            <a:ext cx="30956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endParaRPr/>
          </a:p>
        </p:txBody>
      </p:sp>
      <p:sp>
        <p:nvSpPr>
          <p:cNvPr id="1025" name="Google Shape;1025;p39"/>
          <p:cNvSpPr txBox="1"/>
          <p:nvPr/>
        </p:nvSpPr>
        <p:spPr>
          <a:xfrm>
            <a:off x="4729162" y="4346575"/>
            <a:ext cx="30956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</a:t>
            </a:r>
            <a:endParaRPr/>
          </a:p>
        </p:txBody>
      </p:sp>
      <p:sp>
        <p:nvSpPr>
          <p:cNvPr id="1026" name="Google Shape;1026;p39"/>
          <p:cNvSpPr txBox="1"/>
          <p:nvPr/>
        </p:nvSpPr>
        <p:spPr>
          <a:xfrm>
            <a:off x="4008437" y="5272087"/>
            <a:ext cx="3095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</a:t>
            </a:r>
            <a:endParaRPr/>
          </a:p>
        </p:txBody>
      </p:sp>
      <p:sp>
        <p:nvSpPr>
          <p:cNvPr id="1027" name="Google Shape;1027;p39"/>
          <p:cNvSpPr txBox="1"/>
          <p:nvPr/>
        </p:nvSpPr>
        <p:spPr>
          <a:xfrm>
            <a:off x="4803775" y="4768850"/>
            <a:ext cx="3095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endParaRPr/>
          </a:p>
        </p:txBody>
      </p:sp>
      <p:sp>
        <p:nvSpPr>
          <p:cNvPr id="1028" name="Google Shape;1028;p39"/>
          <p:cNvSpPr txBox="1"/>
          <p:nvPr/>
        </p:nvSpPr>
        <p:spPr>
          <a:xfrm>
            <a:off x="4873625" y="5457825"/>
            <a:ext cx="30956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</a:t>
            </a:r>
            <a:endParaRPr/>
          </a:p>
        </p:txBody>
      </p:sp>
      <p:sp>
        <p:nvSpPr>
          <p:cNvPr id="1029" name="Google Shape;1029;p39"/>
          <p:cNvSpPr txBox="1"/>
          <p:nvPr/>
        </p:nvSpPr>
        <p:spPr>
          <a:xfrm>
            <a:off x="5584825" y="5283200"/>
            <a:ext cx="3095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</a:t>
            </a:r>
            <a:endParaRPr/>
          </a:p>
        </p:txBody>
      </p:sp>
      <p:sp>
        <p:nvSpPr>
          <p:cNvPr id="1030" name="Google Shape;1030;p39"/>
          <p:cNvSpPr txBox="1"/>
          <p:nvPr/>
        </p:nvSpPr>
        <p:spPr>
          <a:xfrm>
            <a:off x="6311900" y="2227262"/>
            <a:ext cx="2832100" cy="2462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b="0" i="0" lang="en-US" sz="2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Ta chọn các </a:t>
            </a:r>
            <a:r>
              <a:rPr b="1" i="0" lang="en-US" sz="22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đường dẫn phủ nhánh </a:t>
            </a:r>
            <a:r>
              <a:rPr b="0" i="0" lang="en-US" sz="2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của đồ thị này:</a:t>
            </a:r>
            <a:endParaRPr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a, c, e, g, i, k</a:t>
            </a:r>
            <a:endParaRPr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a, c, d, f, i, j</a:t>
            </a:r>
            <a:endParaRPr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a, b, f, 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31" name="Google Shape;1031;p39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5.3. KIỂM THỬ BAO PHỦ</a:t>
            </a: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40"/>
          <p:cNvSpPr txBox="1"/>
          <p:nvPr>
            <p:ph type="title"/>
          </p:nvPr>
        </p:nvSpPr>
        <p:spPr>
          <a:xfrm>
            <a:off x="655637" y="990600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Phủ nhánh và điều kiện</a:t>
            </a:r>
            <a:endParaRPr/>
          </a:p>
        </p:txBody>
      </p:sp>
      <p:sp>
        <p:nvSpPr>
          <p:cNvPr id="1037" name="Google Shape;1037;p40"/>
          <p:cNvSpPr txBox="1"/>
          <p:nvPr>
            <p:ph idx="1" type="body"/>
          </p:nvPr>
        </p:nvSpPr>
        <p:spPr>
          <a:xfrm>
            <a:off x="838200" y="1609725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Ví dụ: thiết kế các test case phủ nhánh và điều kiện của hàm kiểm tra năm nhuận.</a:t>
            </a:r>
            <a:endParaRPr/>
          </a:p>
        </p:txBody>
      </p:sp>
      <p:sp>
        <p:nvSpPr>
          <p:cNvPr id="1038" name="Google Shape;1038;p40"/>
          <p:cNvSpPr/>
          <p:nvPr/>
        </p:nvSpPr>
        <p:spPr>
          <a:xfrm>
            <a:off x="1104900" y="3263152"/>
            <a:ext cx="5488641" cy="248770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4A73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ktNamNhuan(</a:t>
            </a: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bool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kq = </a:t>
            </a: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if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((</a:t>
            </a: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% 400 == 0) ||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(</a:t>
            </a: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% 4 == 0 &amp;&amp; </a:t>
            </a:r>
            <a:r>
              <a:rPr b="0" i="0" lang="en-US" sz="1800" u="none" cap="none" strike="noStrike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% 100 != 0))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kq = </a:t>
            </a: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return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kq;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40"/>
          <p:cNvSpPr/>
          <p:nvPr/>
        </p:nvSpPr>
        <p:spPr>
          <a:xfrm>
            <a:off x="7972425" y="3873500"/>
            <a:ext cx="417512" cy="4159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/>
          </a:p>
        </p:txBody>
      </p:sp>
      <p:sp>
        <p:nvSpPr>
          <p:cNvPr id="1040" name="Google Shape;1040;p40"/>
          <p:cNvSpPr/>
          <p:nvPr/>
        </p:nvSpPr>
        <p:spPr>
          <a:xfrm>
            <a:off x="7972425" y="2354262"/>
            <a:ext cx="417512" cy="415925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40"/>
          <p:cNvSpPr/>
          <p:nvPr/>
        </p:nvSpPr>
        <p:spPr>
          <a:xfrm>
            <a:off x="7972425" y="4654550"/>
            <a:ext cx="417512" cy="4175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/>
          </a:p>
        </p:txBody>
      </p:sp>
      <p:sp>
        <p:nvSpPr>
          <p:cNvPr id="1042" name="Google Shape;1042;p40"/>
          <p:cNvSpPr/>
          <p:nvPr/>
        </p:nvSpPr>
        <p:spPr>
          <a:xfrm>
            <a:off x="7972425" y="5411787"/>
            <a:ext cx="417512" cy="4175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/>
          </a:p>
        </p:txBody>
      </p:sp>
      <p:sp>
        <p:nvSpPr>
          <p:cNvPr id="1043" name="Google Shape;1043;p40"/>
          <p:cNvSpPr/>
          <p:nvPr/>
        </p:nvSpPr>
        <p:spPr>
          <a:xfrm>
            <a:off x="7939087" y="6157912"/>
            <a:ext cx="484187" cy="484187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40"/>
          <p:cNvSpPr/>
          <p:nvPr/>
        </p:nvSpPr>
        <p:spPr>
          <a:xfrm>
            <a:off x="8047037" y="6235700"/>
            <a:ext cx="280987" cy="3175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5" name="Google Shape;1045;p40"/>
          <p:cNvCxnSpPr/>
          <p:nvPr/>
        </p:nvCxnSpPr>
        <p:spPr>
          <a:xfrm>
            <a:off x="8181975" y="2770187"/>
            <a:ext cx="0" cy="33020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046" name="Google Shape;1046;p40"/>
          <p:cNvCxnSpPr/>
          <p:nvPr/>
        </p:nvCxnSpPr>
        <p:spPr>
          <a:xfrm>
            <a:off x="8181975" y="4289425"/>
            <a:ext cx="0" cy="36512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047" name="Google Shape;1047;p40"/>
          <p:cNvSpPr/>
          <p:nvPr/>
        </p:nvSpPr>
        <p:spPr>
          <a:xfrm>
            <a:off x="7972425" y="3100387"/>
            <a:ext cx="417512" cy="4159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/>
          </a:p>
        </p:txBody>
      </p:sp>
      <p:cxnSp>
        <p:nvCxnSpPr>
          <p:cNvPr id="1048" name="Google Shape;1048;p40"/>
          <p:cNvCxnSpPr/>
          <p:nvPr/>
        </p:nvCxnSpPr>
        <p:spPr>
          <a:xfrm>
            <a:off x="8181975" y="3516312"/>
            <a:ext cx="0" cy="35718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049" name="Google Shape;1049;p40"/>
          <p:cNvCxnSpPr/>
          <p:nvPr/>
        </p:nvCxnSpPr>
        <p:spPr>
          <a:xfrm flipH="1" rot="10800000">
            <a:off x="3702050" y="3308350"/>
            <a:ext cx="4270375" cy="56515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050" name="Google Shape;1050;p40"/>
          <p:cNvCxnSpPr/>
          <p:nvPr/>
        </p:nvCxnSpPr>
        <p:spPr>
          <a:xfrm flipH="1" rot="10800000">
            <a:off x="5422900" y="4081462"/>
            <a:ext cx="2549525" cy="195262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051" name="Google Shape;1051;p40"/>
          <p:cNvCxnSpPr/>
          <p:nvPr/>
        </p:nvCxnSpPr>
        <p:spPr>
          <a:xfrm>
            <a:off x="3352800" y="4810125"/>
            <a:ext cx="4619625" cy="52387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052" name="Google Shape;1052;p40"/>
          <p:cNvCxnSpPr/>
          <p:nvPr/>
        </p:nvCxnSpPr>
        <p:spPr>
          <a:xfrm>
            <a:off x="8181975" y="5072062"/>
            <a:ext cx="0" cy="33972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053" name="Google Shape;1053;p40"/>
          <p:cNvCxnSpPr/>
          <p:nvPr/>
        </p:nvCxnSpPr>
        <p:spPr>
          <a:xfrm flipH="1" rot="-5400000">
            <a:off x="7620287" y="4851112"/>
            <a:ext cx="1539900" cy="600"/>
          </a:xfrm>
          <a:prstGeom prst="bentConnector3">
            <a:avLst>
              <a:gd fmla="val 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054" name="Google Shape;1054;p40"/>
          <p:cNvCxnSpPr/>
          <p:nvPr/>
        </p:nvCxnSpPr>
        <p:spPr>
          <a:xfrm>
            <a:off x="8181975" y="5829300"/>
            <a:ext cx="0" cy="32861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055" name="Google Shape;1055;p40"/>
          <p:cNvCxnSpPr/>
          <p:nvPr/>
        </p:nvCxnSpPr>
        <p:spPr>
          <a:xfrm>
            <a:off x="2962275" y="5411787"/>
            <a:ext cx="5010150" cy="20955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056" name="Google Shape;1056;p40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5.3. KIỂM THỬ BAO PHỦ</a:t>
            </a: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41"/>
          <p:cNvSpPr/>
          <p:nvPr/>
        </p:nvSpPr>
        <p:spPr>
          <a:xfrm>
            <a:off x="4611687" y="4052887"/>
            <a:ext cx="417512" cy="4159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41"/>
          <p:cNvSpPr/>
          <p:nvPr/>
        </p:nvSpPr>
        <p:spPr>
          <a:xfrm>
            <a:off x="6065837" y="4052887"/>
            <a:ext cx="417512" cy="4159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41"/>
          <p:cNvSpPr/>
          <p:nvPr/>
        </p:nvSpPr>
        <p:spPr>
          <a:xfrm>
            <a:off x="7526337" y="4067175"/>
            <a:ext cx="415925" cy="4159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41"/>
          <p:cNvSpPr txBox="1"/>
          <p:nvPr/>
        </p:nvSpPr>
        <p:spPr>
          <a:xfrm>
            <a:off x="4579937" y="4068762"/>
            <a:ext cx="5080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2.1</a:t>
            </a:r>
            <a:endParaRPr/>
          </a:p>
        </p:txBody>
      </p:sp>
      <p:sp>
        <p:nvSpPr>
          <p:cNvPr id="1065" name="Google Shape;1065;p41"/>
          <p:cNvSpPr txBox="1"/>
          <p:nvPr/>
        </p:nvSpPr>
        <p:spPr>
          <a:xfrm>
            <a:off x="6021387" y="4067175"/>
            <a:ext cx="508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2.2</a:t>
            </a:r>
            <a:endParaRPr/>
          </a:p>
        </p:txBody>
      </p:sp>
      <p:sp>
        <p:nvSpPr>
          <p:cNvPr id="1066" name="Google Shape;1066;p41"/>
          <p:cNvSpPr txBox="1"/>
          <p:nvPr/>
        </p:nvSpPr>
        <p:spPr>
          <a:xfrm>
            <a:off x="7480300" y="4081462"/>
            <a:ext cx="508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2.3</a:t>
            </a:r>
            <a:endParaRPr/>
          </a:p>
        </p:txBody>
      </p:sp>
      <p:sp>
        <p:nvSpPr>
          <p:cNvPr id="1067" name="Google Shape;1067;p41"/>
          <p:cNvSpPr txBox="1"/>
          <p:nvPr/>
        </p:nvSpPr>
        <p:spPr>
          <a:xfrm>
            <a:off x="1190625" y="3833812"/>
            <a:ext cx="941387" cy="746125"/>
          </a:xfrm>
          <a:prstGeom prst="rect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41"/>
          <p:cNvSpPr txBox="1"/>
          <p:nvPr>
            <p:ph type="title"/>
          </p:nvPr>
        </p:nvSpPr>
        <p:spPr>
          <a:xfrm>
            <a:off x="555625" y="1009650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Phủ nhánh và điều kiện</a:t>
            </a:r>
            <a:endParaRPr/>
          </a:p>
        </p:txBody>
      </p:sp>
      <p:sp>
        <p:nvSpPr>
          <p:cNvPr id="1069" name="Google Shape;1069;p41"/>
          <p:cNvSpPr/>
          <p:nvPr/>
        </p:nvSpPr>
        <p:spPr>
          <a:xfrm>
            <a:off x="1446212" y="4044950"/>
            <a:ext cx="417512" cy="4175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/>
          </a:p>
        </p:txBody>
      </p:sp>
      <p:sp>
        <p:nvSpPr>
          <p:cNvPr id="1070" name="Google Shape;1070;p41"/>
          <p:cNvSpPr/>
          <p:nvPr/>
        </p:nvSpPr>
        <p:spPr>
          <a:xfrm>
            <a:off x="1446212" y="2527300"/>
            <a:ext cx="417512" cy="415925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41"/>
          <p:cNvSpPr/>
          <p:nvPr/>
        </p:nvSpPr>
        <p:spPr>
          <a:xfrm>
            <a:off x="1446212" y="4827587"/>
            <a:ext cx="417512" cy="4175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/>
          </a:p>
        </p:txBody>
      </p:sp>
      <p:sp>
        <p:nvSpPr>
          <p:cNvPr id="1072" name="Google Shape;1072;p41"/>
          <p:cNvSpPr/>
          <p:nvPr/>
        </p:nvSpPr>
        <p:spPr>
          <a:xfrm>
            <a:off x="1446212" y="5584825"/>
            <a:ext cx="417512" cy="4175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/>
          </a:p>
        </p:txBody>
      </p:sp>
      <p:sp>
        <p:nvSpPr>
          <p:cNvPr id="1073" name="Google Shape;1073;p41"/>
          <p:cNvSpPr/>
          <p:nvPr/>
        </p:nvSpPr>
        <p:spPr>
          <a:xfrm>
            <a:off x="1412875" y="6330950"/>
            <a:ext cx="484187" cy="484187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41"/>
          <p:cNvSpPr/>
          <p:nvPr/>
        </p:nvSpPr>
        <p:spPr>
          <a:xfrm>
            <a:off x="1520825" y="6407150"/>
            <a:ext cx="282575" cy="319087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5" name="Google Shape;1075;p41"/>
          <p:cNvCxnSpPr/>
          <p:nvPr/>
        </p:nvCxnSpPr>
        <p:spPr>
          <a:xfrm>
            <a:off x="1655762" y="2943225"/>
            <a:ext cx="0" cy="33020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076" name="Google Shape;1076;p41"/>
          <p:cNvCxnSpPr/>
          <p:nvPr/>
        </p:nvCxnSpPr>
        <p:spPr>
          <a:xfrm>
            <a:off x="1655762" y="4462462"/>
            <a:ext cx="0" cy="36512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077" name="Google Shape;1077;p41"/>
          <p:cNvSpPr/>
          <p:nvPr/>
        </p:nvSpPr>
        <p:spPr>
          <a:xfrm>
            <a:off x="1446212" y="3273425"/>
            <a:ext cx="417512" cy="4159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/>
          </a:p>
        </p:txBody>
      </p:sp>
      <p:cxnSp>
        <p:nvCxnSpPr>
          <p:cNvPr id="1078" name="Google Shape;1078;p41"/>
          <p:cNvCxnSpPr/>
          <p:nvPr/>
        </p:nvCxnSpPr>
        <p:spPr>
          <a:xfrm>
            <a:off x="1655762" y="3689350"/>
            <a:ext cx="0" cy="35560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079" name="Google Shape;1079;p41"/>
          <p:cNvCxnSpPr/>
          <p:nvPr/>
        </p:nvCxnSpPr>
        <p:spPr>
          <a:xfrm>
            <a:off x="1655762" y="5245100"/>
            <a:ext cx="0" cy="33972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080" name="Google Shape;1080;p41"/>
          <p:cNvCxnSpPr/>
          <p:nvPr/>
        </p:nvCxnSpPr>
        <p:spPr>
          <a:xfrm flipH="1" rot="-5400000">
            <a:off x="1094075" y="5024150"/>
            <a:ext cx="1539900" cy="600"/>
          </a:xfrm>
          <a:prstGeom prst="bentConnector3">
            <a:avLst>
              <a:gd fmla="val 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081" name="Google Shape;1081;p41"/>
          <p:cNvCxnSpPr/>
          <p:nvPr/>
        </p:nvCxnSpPr>
        <p:spPr>
          <a:xfrm>
            <a:off x="1655762" y="6002337"/>
            <a:ext cx="0" cy="32861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082" name="Google Shape;1082;p41"/>
          <p:cNvSpPr txBox="1"/>
          <p:nvPr/>
        </p:nvSpPr>
        <p:spPr>
          <a:xfrm>
            <a:off x="1373187" y="1600200"/>
            <a:ext cx="71151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(nam % 400 == 0) ||  (nam % 4 == 0 &amp;&amp; nam % 100 != 0)</a:t>
            </a:r>
            <a:endParaRPr/>
          </a:p>
        </p:txBody>
      </p:sp>
      <p:sp>
        <p:nvSpPr>
          <p:cNvPr id="1083" name="Google Shape;1083;p41"/>
          <p:cNvSpPr/>
          <p:nvPr/>
        </p:nvSpPr>
        <p:spPr>
          <a:xfrm rot="-5400000">
            <a:off x="2442368" y="1048543"/>
            <a:ext cx="200025" cy="2043112"/>
          </a:xfrm>
          <a:prstGeom prst="leftBrace">
            <a:avLst>
              <a:gd fmla="val 176" name="adj1"/>
              <a:gd fmla="val 50000" name="adj2"/>
            </a:avLst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41"/>
          <p:cNvSpPr/>
          <p:nvPr/>
        </p:nvSpPr>
        <p:spPr>
          <a:xfrm rot="-5400000">
            <a:off x="4938712" y="1258887"/>
            <a:ext cx="157162" cy="1665287"/>
          </a:xfrm>
          <a:prstGeom prst="leftBrace">
            <a:avLst>
              <a:gd fmla="val 170" name="adj1"/>
              <a:gd fmla="val 50000" name="adj2"/>
            </a:avLst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41"/>
          <p:cNvSpPr/>
          <p:nvPr/>
        </p:nvSpPr>
        <p:spPr>
          <a:xfrm rot="-5400000">
            <a:off x="7223918" y="1164431"/>
            <a:ext cx="157162" cy="1854200"/>
          </a:xfrm>
          <a:prstGeom prst="leftBrace">
            <a:avLst>
              <a:gd fmla="val 153" name="adj1"/>
              <a:gd fmla="val 50000" name="adj2"/>
            </a:avLst>
          </a:prstGeom>
          <a:noFill/>
          <a:ln cap="flat" cmpd="sng" w="9525">
            <a:solidFill>
              <a:srgbClr val="629C8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41"/>
          <p:cNvSpPr txBox="1"/>
          <p:nvPr/>
        </p:nvSpPr>
        <p:spPr>
          <a:xfrm>
            <a:off x="2266950" y="2135187"/>
            <a:ext cx="5508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2.1</a:t>
            </a:r>
            <a:endParaRPr/>
          </a:p>
        </p:txBody>
      </p:sp>
      <p:sp>
        <p:nvSpPr>
          <p:cNvPr id="1087" name="Google Shape;1087;p41"/>
          <p:cNvSpPr txBox="1"/>
          <p:nvPr/>
        </p:nvSpPr>
        <p:spPr>
          <a:xfrm>
            <a:off x="4740275" y="2135187"/>
            <a:ext cx="5524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2.2</a:t>
            </a:r>
            <a:endParaRPr/>
          </a:p>
        </p:txBody>
      </p:sp>
      <p:sp>
        <p:nvSpPr>
          <p:cNvPr id="1088" name="Google Shape;1088;p41"/>
          <p:cNvSpPr txBox="1"/>
          <p:nvPr/>
        </p:nvSpPr>
        <p:spPr>
          <a:xfrm>
            <a:off x="7026275" y="2135187"/>
            <a:ext cx="5524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2.3</a:t>
            </a:r>
            <a:endParaRPr/>
          </a:p>
        </p:txBody>
      </p:sp>
      <p:sp>
        <p:nvSpPr>
          <p:cNvPr id="1089" name="Google Shape;1089;p41"/>
          <p:cNvSpPr/>
          <p:nvPr/>
        </p:nvSpPr>
        <p:spPr>
          <a:xfrm>
            <a:off x="4606925" y="2527300"/>
            <a:ext cx="417512" cy="415925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41"/>
          <p:cNvSpPr/>
          <p:nvPr/>
        </p:nvSpPr>
        <p:spPr>
          <a:xfrm>
            <a:off x="4606925" y="4827587"/>
            <a:ext cx="417512" cy="4175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/>
          </a:p>
        </p:txBody>
      </p:sp>
      <p:sp>
        <p:nvSpPr>
          <p:cNvPr id="1091" name="Google Shape;1091;p41"/>
          <p:cNvSpPr/>
          <p:nvPr/>
        </p:nvSpPr>
        <p:spPr>
          <a:xfrm>
            <a:off x="4606925" y="5584825"/>
            <a:ext cx="417512" cy="4175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/>
          </a:p>
        </p:txBody>
      </p:sp>
      <p:sp>
        <p:nvSpPr>
          <p:cNvPr id="1092" name="Google Shape;1092;p41"/>
          <p:cNvSpPr/>
          <p:nvPr/>
        </p:nvSpPr>
        <p:spPr>
          <a:xfrm>
            <a:off x="4573587" y="6330950"/>
            <a:ext cx="484187" cy="484187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41"/>
          <p:cNvSpPr/>
          <p:nvPr/>
        </p:nvSpPr>
        <p:spPr>
          <a:xfrm>
            <a:off x="4667250" y="6419850"/>
            <a:ext cx="295275" cy="306387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4" name="Google Shape;1094;p41"/>
          <p:cNvCxnSpPr/>
          <p:nvPr/>
        </p:nvCxnSpPr>
        <p:spPr>
          <a:xfrm>
            <a:off x="4814887" y="2943225"/>
            <a:ext cx="0" cy="33020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095" name="Google Shape;1095;p41"/>
          <p:cNvSpPr/>
          <p:nvPr/>
        </p:nvSpPr>
        <p:spPr>
          <a:xfrm>
            <a:off x="4606925" y="3273425"/>
            <a:ext cx="417512" cy="4159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/>
          </a:p>
        </p:txBody>
      </p:sp>
      <p:cxnSp>
        <p:nvCxnSpPr>
          <p:cNvPr id="1096" name="Google Shape;1096;p41"/>
          <p:cNvCxnSpPr/>
          <p:nvPr/>
        </p:nvCxnSpPr>
        <p:spPr>
          <a:xfrm>
            <a:off x="4814887" y="5245100"/>
            <a:ext cx="0" cy="33972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097" name="Google Shape;1097;p41"/>
          <p:cNvCxnSpPr/>
          <p:nvPr/>
        </p:nvCxnSpPr>
        <p:spPr>
          <a:xfrm>
            <a:off x="4814887" y="6002337"/>
            <a:ext cx="0" cy="32861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098" name="Google Shape;1098;p41"/>
          <p:cNvSpPr txBox="1"/>
          <p:nvPr/>
        </p:nvSpPr>
        <p:spPr>
          <a:xfrm>
            <a:off x="4348162" y="4416425"/>
            <a:ext cx="31908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</a:t>
            </a:r>
            <a:endParaRPr/>
          </a:p>
        </p:txBody>
      </p:sp>
      <p:cxnSp>
        <p:nvCxnSpPr>
          <p:cNvPr id="1099" name="Google Shape;1099;p41"/>
          <p:cNvCxnSpPr/>
          <p:nvPr/>
        </p:nvCxnSpPr>
        <p:spPr>
          <a:xfrm>
            <a:off x="5029200" y="4260850"/>
            <a:ext cx="1036637" cy="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100" name="Google Shape;1100;p41"/>
          <p:cNvSpPr txBox="1"/>
          <p:nvPr/>
        </p:nvSpPr>
        <p:spPr>
          <a:xfrm>
            <a:off x="5051425" y="3917950"/>
            <a:ext cx="3048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endParaRPr/>
          </a:p>
        </p:txBody>
      </p:sp>
      <p:cxnSp>
        <p:nvCxnSpPr>
          <p:cNvPr id="1101" name="Google Shape;1101;p41"/>
          <p:cNvCxnSpPr/>
          <p:nvPr/>
        </p:nvCxnSpPr>
        <p:spPr>
          <a:xfrm>
            <a:off x="6483350" y="4260850"/>
            <a:ext cx="1042987" cy="1428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102" name="Google Shape;1102;p41"/>
          <p:cNvSpPr txBox="1"/>
          <p:nvPr/>
        </p:nvSpPr>
        <p:spPr>
          <a:xfrm>
            <a:off x="6489700" y="3917950"/>
            <a:ext cx="31908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</a:t>
            </a:r>
            <a:endParaRPr/>
          </a:p>
        </p:txBody>
      </p:sp>
      <p:cxnSp>
        <p:nvCxnSpPr>
          <p:cNvPr id="1103" name="Google Shape;1103;p41"/>
          <p:cNvCxnSpPr/>
          <p:nvPr/>
        </p:nvCxnSpPr>
        <p:spPr>
          <a:xfrm flipH="1">
            <a:off x="5024399" y="4483099"/>
            <a:ext cx="2709900" cy="552600"/>
          </a:xfrm>
          <a:prstGeom prst="bentConnector2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104" name="Google Shape;1104;p41"/>
          <p:cNvSpPr txBox="1"/>
          <p:nvPr/>
        </p:nvSpPr>
        <p:spPr>
          <a:xfrm>
            <a:off x="7446962" y="4699000"/>
            <a:ext cx="31908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</a:t>
            </a:r>
            <a:endParaRPr/>
          </a:p>
        </p:txBody>
      </p:sp>
      <p:cxnSp>
        <p:nvCxnSpPr>
          <p:cNvPr id="1105" name="Google Shape;1105;p41"/>
          <p:cNvCxnSpPr/>
          <p:nvPr/>
        </p:nvCxnSpPr>
        <p:spPr>
          <a:xfrm rot="5400000">
            <a:off x="4674437" y="4341037"/>
            <a:ext cx="1889100" cy="1312800"/>
          </a:xfrm>
          <a:prstGeom prst="bentConnector5">
            <a:avLst>
              <a:gd fmla="val -2614" name="adj1"/>
              <a:gd fmla="val -46205" name="adj2"/>
              <a:gd fmla="val 24214" name="adj3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106" name="Google Shape;1106;p41"/>
          <p:cNvCxnSpPr/>
          <p:nvPr/>
        </p:nvCxnSpPr>
        <p:spPr>
          <a:xfrm flipH="1">
            <a:off x="5024462" y="4275137"/>
            <a:ext cx="2917800" cy="1519200"/>
          </a:xfrm>
          <a:prstGeom prst="bentConnector3">
            <a:avLst>
              <a:gd fmla="val -1691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107" name="Google Shape;1107;p41"/>
          <p:cNvCxnSpPr/>
          <p:nvPr/>
        </p:nvCxnSpPr>
        <p:spPr>
          <a:xfrm>
            <a:off x="4814887" y="3689350"/>
            <a:ext cx="6350" cy="36353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108" name="Google Shape;1108;p41"/>
          <p:cNvCxnSpPr/>
          <p:nvPr/>
        </p:nvCxnSpPr>
        <p:spPr>
          <a:xfrm flipH="1">
            <a:off x="4814887" y="4468812"/>
            <a:ext cx="6350" cy="35877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109" name="Google Shape;1109;p41"/>
          <p:cNvSpPr txBox="1"/>
          <p:nvPr/>
        </p:nvSpPr>
        <p:spPr>
          <a:xfrm>
            <a:off x="7061200" y="3459162"/>
            <a:ext cx="3048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endParaRPr/>
          </a:p>
        </p:txBody>
      </p:sp>
      <p:sp>
        <p:nvSpPr>
          <p:cNvPr id="1110" name="Google Shape;1110;p41"/>
          <p:cNvSpPr txBox="1"/>
          <p:nvPr/>
        </p:nvSpPr>
        <p:spPr>
          <a:xfrm>
            <a:off x="8169275" y="4522787"/>
            <a:ext cx="3048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endParaRPr/>
          </a:p>
        </p:txBody>
      </p:sp>
      <p:cxnSp>
        <p:nvCxnSpPr>
          <p:cNvPr id="1111" name="Google Shape;1111;p41"/>
          <p:cNvCxnSpPr/>
          <p:nvPr/>
        </p:nvCxnSpPr>
        <p:spPr>
          <a:xfrm>
            <a:off x="2676525" y="4287837"/>
            <a:ext cx="1143000" cy="0"/>
          </a:xfrm>
          <a:prstGeom prst="straightConnector1">
            <a:avLst/>
          </a:prstGeom>
          <a:noFill/>
          <a:ln cap="flat" cmpd="sng" w="76200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112" name="Google Shape;1112;p41"/>
          <p:cNvCxnSpPr/>
          <p:nvPr/>
        </p:nvCxnSpPr>
        <p:spPr>
          <a:xfrm rot="-5400000">
            <a:off x="77925" y="2911474"/>
            <a:ext cx="2408100" cy="1827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113" name="Google Shape;1113;p41"/>
          <p:cNvSpPr txBox="1"/>
          <p:nvPr/>
        </p:nvSpPr>
        <p:spPr>
          <a:xfrm>
            <a:off x="6032500" y="4529137"/>
            <a:ext cx="5000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R1</a:t>
            </a:r>
            <a:endParaRPr/>
          </a:p>
        </p:txBody>
      </p:sp>
      <p:sp>
        <p:nvSpPr>
          <p:cNvPr id="1114" name="Google Shape;1114;p41"/>
          <p:cNvSpPr txBox="1"/>
          <p:nvPr/>
        </p:nvSpPr>
        <p:spPr>
          <a:xfrm>
            <a:off x="6232525" y="5181600"/>
            <a:ext cx="5016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R2</a:t>
            </a:r>
            <a:endParaRPr/>
          </a:p>
        </p:txBody>
      </p:sp>
      <p:sp>
        <p:nvSpPr>
          <p:cNvPr id="1115" name="Google Shape;1115;p41"/>
          <p:cNvSpPr txBox="1"/>
          <p:nvPr/>
        </p:nvSpPr>
        <p:spPr>
          <a:xfrm>
            <a:off x="8415337" y="5368925"/>
            <a:ext cx="5000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R3</a:t>
            </a:r>
            <a:endParaRPr/>
          </a:p>
        </p:txBody>
      </p:sp>
      <p:sp>
        <p:nvSpPr>
          <p:cNvPr id="1116" name="Google Shape;1116;p41"/>
          <p:cNvSpPr txBox="1"/>
          <p:nvPr/>
        </p:nvSpPr>
        <p:spPr>
          <a:xfrm>
            <a:off x="7473950" y="6223000"/>
            <a:ext cx="5000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R4</a:t>
            </a:r>
            <a:endParaRPr/>
          </a:p>
        </p:txBody>
      </p:sp>
      <p:sp>
        <p:nvSpPr>
          <p:cNvPr id="1117" name="Google Shape;1117;p41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5.3. KIỂM THỬ BAO PHỦ</a:t>
            </a: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42"/>
          <p:cNvSpPr txBox="1"/>
          <p:nvPr>
            <p:ph type="title"/>
          </p:nvPr>
        </p:nvSpPr>
        <p:spPr>
          <a:xfrm>
            <a:off x="690562" y="1001712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Phủ nhánh và điều kiện</a:t>
            </a:r>
            <a:endParaRPr/>
          </a:p>
        </p:txBody>
      </p:sp>
      <p:sp>
        <p:nvSpPr>
          <p:cNvPr id="1123" name="Google Shape;1123;p42"/>
          <p:cNvSpPr txBox="1"/>
          <p:nvPr>
            <p:ph idx="1" type="body"/>
          </p:nvPr>
        </p:nvSpPr>
        <p:spPr>
          <a:xfrm>
            <a:off x="596900" y="1808162"/>
            <a:ext cx="5651500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Độ phức tạp Cyclomatic: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Số lượng các vùng của G: 4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V(G) = E – N + 2 = 10 – 8 + 2 = 4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V(G) = P + 1 = 3 + 1 = 4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 đường dẫn sau đảm bảo phủ nhánh và điều kiện: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 c, e, f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 c, e, 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 c, 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 b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42"/>
          <p:cNvSpPr/>
          <p:nvPr/>
        </p:nvSpPr>
        <p:spPr>
          <a:xfrm>
            <a:off x="6332537" y="3063875"/>
            <a:ext cx="417512" cy="4159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42"/>
          <p:cNvSpPr/>
          <p:nvPr/>
        </p:nvSpPr>
        <p:spPr>
          <a:xfrm>
            <a:off x="7142162" y="3063875"/>
            <a:ext cx="415925" cy="4159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42"/>
          <p:cNvSpPr/>
          <p:nvPr/>
        </p:nvSpPr>
        <p:spPr>
          <a:xfrm>
            <a:off x="7942262" y="3078162"/>
            <a:ext cx="417512" cy="4175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42"/>
          <p:cNvSpPr txBox="1"/>
          <p:nvPr/>
        </p:nvSpPr>
        <p:spPr>
          <a:xfrm>
            <a:off x="6300787" y="3081337"/>
            <a:ext cx="508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2.1</a:t>
            </a:r>
            <a:endParaRPr/>
          </a:p>
        </p:txBody>
      </p:sp>
      <p:sp>
        <p:nvSpPr>
          <p:cNvPr id="1128" name="Google Shape;1128;p42"/>
          <p:cNvSpPr txBox="1"/>
          <p:nvPr/>
        </p:nvSpPr>
        <p:spPr>
          <a:xfrm>
            <a:off x="7096125" y="3078162"/>
            <a:ext cx="5080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2.2</a:t>
            </a:r>
            <a:endParaRPr/>
          </a:p>
        </p:txBody>
      </p:sp>
      <p:sp>
        <p:nvSpPr>
          <p:cNvPr id="1129" name="Google Shape;1129;p42"/>
          <p:cNvSpPr txBox="1"/>
          <p:nvPr/>
        </p:nvSpPr>
        <p:spPr>
          <a:xfrm>
            <a:off x="7896225" y="3092450"/>
            <a:ext cx="50958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2.3</a:t>
            </a:r>
            <a:endParaRPr/>
          </a:p>
        </p:txBody>
      </p:sp>
      <p:sp>
        <p:nvSpPr>
          <p:cNvPr id="1130" name="Google Shape;1130;p42"/>
          <p:cNvSpPr/>
          <p:nvPr/>
        </p:nvSpPr>
        <p:spPr>
          <a:xfrm>
            <a:off x="6327775" y="1565275"/>
            <a:ext cx="417512" cy="415925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42"/>
          <p:cNvSpPr/>
          <p:nvPr/>
        </p:nvSpPr>
        <p:spPr>
          <a:xfrm>
            <a:off x="6327775" y="3838575"/>
            <a:ext cx="417512" cy="417512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/>
          </a:p>
        </p:txBody>
      </p:sp>
      <p:sp>
        <p:nvSpPr>
          <p:cNvPr id="1132" name="Google Shape;1132;p42"/>
          <p:cNvSpPr/>
          <p:nvPr/>
        </p:nvSpPr>
        <p:spPr>
          <a:xfrm>
            <a:off x="6327775" y="4597400"/>
            <a:ext cx="417512" cy="4159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/>
          </a:p>
        </p:txBody>
      </p:sp>
      <p:sp>
        <p:nvSpPr>
          <p:cNvPr id="1133" name="Google Shape;1133;p42"/>
          <p:cNvSpPr/>
          <p:nvPr/>
        </p:nvSpPr>
        <p:spPr>
          <a:xfrm>
            <a:off x="6388100" y="5403850"/>
            <a:ext cx="295275" cy="306387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4" name="Google Shape;1134;p42"/>
          <p:cNvCxnSpPr/>
          <p:nvPr/>
        </p:nvCxnSpPr>
        <p:spPr>
          <a:xfrm>
            <a:off x="6535737" y="1981200"/>
            <a:ext cx="0" cy="30321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135" name="Google Shape;1135;p42"/>
          <p:cNvSpPr/>
          <p:nvPr/>
        </p:nvSpPr>
        <p:spPr>
          <a:xfrm>
            <a:off x="6327775" y="2284412"/>
            <a:ext cx="417512" cy="415925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/>
          </a:p>
        </p:txBody>
      </p:sp>
      <p:cxnSp>
        <p:nvCxnSpPr>
          <p:cNvPr id="1136" name="Google Shape;1136;p42"/>
          <p:cNvCxnSpPr/>
          <p:nvPr/>
        </p:nvCxnSpPr>
        <p:spPr>
          <a:xfrm>
            <a:off x="6535737" y="4256087"/>
            <a:ext cx="0" cy="34131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137" name="Google Shape;1137;p42"/>
          <p:cNvCxnSpPr/>
          <p:nvPr/>
        </p:nvCxnSpPr>
        <p:spPr>
          <a:xfrm>
            <a:off x="6535737" y="5013325"/>
            <a:ext cx="0" cy="39052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138" name="Google Shape;1138;p42"/>
          <p:cNvCxnSpPr/>
          <p:nvPr/>
        </p:nvCxnSpPr>
        <p:spPr>
          <a:xfrm>
            <a:off x="6750050" y="3271837"/>
            <a:ext cx="392112" cy="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139" name="Google Shape;1139;p42"/>
          <p:cNvCxnSpPr/>
          <p:nvPr/>
        </p:nvCxnSpPr>
        <p:spPr>
          <a:xfrm>
            <a:off x="7558087" y="3271837"/>
            <a:ext cx="384175" cy="1428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140" name="Google Shape;1140;p42"/>
          <p:cNvCxnSpPr/>
          <p:nvPr/>
        </p:nvCxnSpPr>
        <p:spPr>
          <a:xfrm flipH="1">
            <a:off x="6745412" y="3495675"/>
            <a:ext cx="1406400" cy="550800"/>
          </a:xfrm>
          <a:prstGeom prst="bentConnector2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141" name="Google Shape;1141;p42"/>
          <p:cNvCxnSpPr/>
          <p:nvPr/>
        </p:nvCxnSpPr>
        <p:spPr>
          <a:xfrm rot="5400000">
            <a:off x="6072274" y="3675124"/>
            <a:ext cx="1889100" cy="666600"/>
          </a:xfrm>
          <a:prstGeom prst="bentConnector5">
            <a:avLst>
              <a:gd fmla="val -2614" name="adj1"/>
              <a:gd fmla="val -56092" name="adj2"/>
              <a:gd fmla="val 24214" name="adj3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142" name="Google Shape;1142;p42"/>
          <p:cNvCxnSpPr/>
          <p:nvPr/>
        </p:nvCxnSpPr>
        <p:spPr>
          <a:xfrm flipH="1">
            <a:off x="6743812" y="3276600"/>
            <a:ext cx="1662000" cy="1528800"/>
          </a:xfrm>
          <a:prstGeom prst="bentConnector3">
            <a:avLst>
              <a:gd fmla="val -2973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143" name="Google Shape;1143;p42"/>
          <p:cNvCxnSpPr/>
          <p:nvPr/>
        </p:nvCxnSpPr>
        <p:spPr>
          <a:xfrm>
            <a:off x="6535737" y="2700337"/>
            <a:ext cx="6350" cy="36353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144" name="Google Shape;1144;p42"/>
          <p:cNvCxnSpPr/>
          <p:nvPr/>
        </p:nvCxnSpPr>
        <p:spPr>
          <a:xfrm flipH="1">
            <a:off x="6535737" y="3479800"/>
            <a:ext cx="6350" cy="35877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145" name="Google Shape;1145;p42"/>
          <p:cNvSpPr txBox="1"/>
          <p:nvPr/>
        </p:nvSpPr>
        <p:spPr>
          <a:xfrm>
            <a:off x="7108825" y="3540125"/>
            <a:ext cx="5000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R1</a:t>
            </a:r>
            <a:endParaRPr/>
          </a:p>
        </p:txBody>
      </p:sp>
      <p:sp>
        <p:nvSpPr>
          <p:cNvPr id="1146" name="Google Shape;1146;p42"/>
          <p:cNvSpPr txBox="1"/>
          <p:nvPr/>
        </p:nvSpPr>
        <p:spPr>
          <a:xfrm>
            <a:off x="7308850" y="4192587"/>
            <a:ext cx="5000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R2</a:t>
            </a:r>
            <a:endParaRPr/>
          </a:p>
        </p:txBody>
      </p:sp>
      <p:sp>
        <p:nvSpPr>
          <p:cNvPr id="1147" name="Google Shape;1147;p42"/>
          <p:cNvSpPr txBox="1"/>
          <p:nvPr/>
        </p:nvSpPr>
        <p:spPr>
          <a:xfrm>
            <a:off x="8593137" y="4829175"/>
            <a:ext cx="5000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R3</a:t>
            </a:r>
            <a:endParaRPr/>
          </a:p>
        </p:txBody>
      </p:sp>
      <p:sp>
        <p:nvSpPr>
          <p:cNvPr id="1148" name="Google Shape;1148;p42"/>
          <p:cNvSpPr txBox="1"/>
          <p:nvPr/>
        </p:nvSpPr>
        <p:spPr>
          <a:xfrm>
            <a:off x="7891462" y="5233987"/>
            <a:ext cx="5000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R4</a:t>
            </a:r>
            <a:endParaRPr/>
          </a:p>
        </p:txBody>
      </p:sp>
      <p:sp>
        <p:nvSpPr>
          <p:cNvPr id="1149" name="Google Shape;1149;p42"/>
          <p:cNvSpPr txBox="1"/>
          <p:nvPr/>
        </p:nvSpPr>
        <p:spPr>
          <a:xfrm>
            <a:off x="6523037" y="2662237"/>
            <a:ext cx="30638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endParaRPr/>
          </a:p>
        </p:txBody>
      </p:sp>
      <p:sp>
        <p:nvSpPr>
          <p:cNvPr id="1150" name="Google Shape;1150;p42"/>
          <p:cNvSpPr txBox="1"/>
          <p:nvPr/>
        </p:nvSpPr>
        <p:spPr>
          <a:xfrm>
            <a:off x="6511925" y="3414712"/>
            <a:ext cx="31273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</a:t>
            </a:r>
            <a:endParaRPr/>
          </a:p>
        </p:txBody>
      </p:sp>
      <p:sp>
        <p:nvSpPr>
          <p:cNvPr id="1151" name="Google Shape;1151;p42"/>
          <p:cNvSpPr txBox="1"/>
          <p:nvPr/>
        </p:nvSpPr>
        <p:spPr>
          <a:xfrm>
            <a:off x="6711950" y="2932112"/>
            <a:ext cx="2905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endParaRPr/>
          </a:p>
        </p:txBody>
      </p:sp>
      <p:sp>
        <p:nvSpPr>
          <p:cNvPr id="1152" name="Google Shape;1152;p42"/>
          <p:cNvSpPr txBox="1"/>
          <p:nvPr/>
        </p:nvSpPr>
        <p:spPr>
          <a:xfrm>
            <a:off x="7618412" y="2501900"/>
            <a:ext cx="3127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endParaRPr/>
          </a:p>
        </p:txBody>
      </p:sp>
      <p:sp>
        <p:nvSpPr>
          <p:cNvPr id="1153" name="Google Shape;1153;p42"/>
          <p:cNvSpPr txBox="1"/>
          <p:nvPr/>
        </p:nvSpPr>
        <p:spPr>
          <a:xfrm>
            <a:off x="7556500" y="2921000"/>
            <a:ext cx="30638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</a:t>
            </a:r>
            <a:endParaRPr/>
          </a:p>
        </p:txBody>
      </p:sp>
      <p:sp>
        <p:nvSpPr>
          <p:cNvPr id="1154" name="Google Shape;1154;p42"/>
          <p:cNvSpPr txBox="1"/>
          <p:nvPr/>
        </p:nvSpPr>
        <p:spPr>
          <a:xfrm>
            <a:off x="7856537" y="3646487"/>
            <a:ext cx="258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endParaRPr/>
          </a:p>
        </p:txBody>
      </p:sp>
      <p:sp>
        <p:nvSpPr>
          <p:cNvPr id="1155" name="Google Shape;1155;p42"/>
          <p:cNvSpPr txBox="1"/>
          <p:nvPr/>
        </p:nvSpPr>
        <p:spPr>
          <a:xfrm>
            <a:off x="8359775" y="4440237"/>
            <a:ext cx="3127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</a:t>
            </a:r>
            <a:endParaRPr/>
          </a:p>
        </p:txBody>
      </p:sp>
      <p:sp>
        <p:nvSpPr>
          <p:cNvPr id="1156" name="Google Shape;1156;p42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5.3. KIỂM THỬ BAO PHỦ</a:t>
            </a: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43"/>
          <p:cNvSpPr txBox="1"/>
          <p:nvPr>
            <p:ph type="title"/>
          </p:nvPr>
        </p:nvSpPr>
        <p:spPr>
          <a:xfrm>
            <a:off x="762000" y="990600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Phủ nhánh và điều kiện</a:t>
            </a:r>
            <a:endParaRPr/>
          </a:p>
        </p:txBody>
      </p:sp>
      <p:sp>
        <p:nvSpPr>
          <p:cNvPr id="1162" name="Google Shape;1162;p43"/>
          <p:cNvSpPr txBox="1"/>
          <p:nvPr>
            <p:ph idx="1" type="body"/>
          </p:nvPr>
        </p:nvSpPr>
        <p:spPr>
          <a:xfrm>
            <a:off x="838200" y="1609725"/>
            <a:ext cx="8229600" cy="1133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Để phủ nhánh và điều kiện cần tối thiểu các test case minh họa:</a:t>
            </a:r>
            <a:endParaRPr/>
          </a:p>
        </p:txBody>
      </p:sp>
      <p:graphicFrame>
        <p:nvGraphicFramePr>
          <p:cNvPr id="1163" name="Google Shape;1163;p43"/>
          <p:cNvGraphicFramePr/>
          <p:nvPr/>
        </p:nvGraphicFramePr>
        <p:xfrm>
          <a:off x="1255712" y="26971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{94D277FC-4B1F-4385-AE56-9B966985E713}</a:tableStyleId>
              </a:tblPr>
              <a:tblGrid>
                <a:gridCol w="1985950"/>
                <a:gridCol w="1520825"/>
                <a:gridCol w="3454400"/>
              </a:tblGrid>
              <a:tr h="4270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200"/>
                        <a:buFont typeface="Tahoma"/>
                        <a:buNone/>
                      </a:pPr>
                      <a:r>
                        <a:rPr b="1" i="0" lang="en-US" sz="2200" u="non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Đường dẫn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200"/>
                        <a:buFont typeface="Tahoma"/>
                        <a:buNone/>
                      </a:pPr>
                      <a:r>
                        <a:rPr b="1" i="0" lang="en-US" sz="2200" u="non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Đầu vào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200"/>
                        <a:buFont typeface="Tahoma"/>
                        <a:buNone/>
                      </a:pPr>
                      <a:r>
                        <a:rPr b="1" i="0" lang="en-US" sz="2200" u="non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Đầu ra mong muốn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200"/>
                        <a:buFont typeface="Tahoma"/>
                        <a:buNone/>
                      </a:pPr>
                      <a:r>
                        <a:rPr b="1" i="0" lang="en-US" sz="2200" u="none">
                          <a:solidFill>
                            <a:srgbClr val="C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Năm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a, c, e, 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2016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Năm nhuận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a, c, e, 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Không phải năm nhuận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a, c, 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2017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Không phải năm nhuận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a, 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1600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200"/>
                        <a:buFont typeface="Tahoma"/>
                        <a:buNone/>
                      </a:pPr>
                      <a:r>
                        <a:rPr b="0" i="0" lang="en-US" sz="2200" u="none">
                          <a:solidFill>
                            <a:srgbClr val="00206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Năm nhuận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4" name="Google Shape;1164;p43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5.3. KIỂM THỬ BAO PHỦ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44"/>
          <p:cNvSpPr txBox="1"/>
          <p:nvPr>
            <p:ph type="title"/>
          </p:nvPr>
        </p:nvSpPr>
        <p:spPr>
          <a:xfrm>
            <a:off x="609600" y="914400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Bài tập</a:t>
            </a:r>
            <a:endParaRPr/>
          </a:p>
        </p:txBody>
      </p:sp>
      <p:sp>
        <p:nvSpPr>
          <p:cNvPr id="1170" name="Google Shape;1170;p44"/>
          <p:cNvSpPr txBox="1"/>
          <p:nvPr>
            <p:ph idx="1" type="body"/>
          </p:nvPr>
        </p:nvSpPr>
        <p:spPr>
          <a:xfrm>
            <a:off x="762000" y="1533525"/>
            <a:ext cx="82296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Viết các test case phủ nhánh và điều kiện hàm:</a:t>
            </a:r>
            <a:endParaRPr/>
          </a:p>
        </p:txBody>
      </p:sp>
      <p:sp>
        <p:nvSpPr>
          <p:cNvPr id="1171" name="Google Shape;1171;p44"/>
          <p:cNvSpPr txBox="1"/>
          <p:nvPr/>
        </p:nvSpPr>
        <p:spPr>
          <a:xfrm>
            <a:off x="1536700" y="2268537"/>
            <a:ext cx="7302500" cy="443706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xetHocBong(</a:t>
            </a:r>
            <a:r>
              <a:rPr b="0" i="0" lang="en-US" sz="18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diemMH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[], </a:t>
            </a:r>
            <a:r>
              <a:rPr b="0" i="0" lang="en-US" sz="18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soMH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diemRL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8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soMH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&gt; 0)</a:t>
            </a:r>
            <a:endParaRPr b="0" i="0" sz="1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{</a:t>
            </a:r>
            <a:endParaRPr b="0" i="0" sz="1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    int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i;</a:t>
            </a:r>
            <a:endParaRPr b="0" i="0" sz="1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0" i="0" lang="en-US" sz="18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tongDiem = 0;</a:t>
            </a:r>
            <a:endParaRPr b="0" i="0" sz="1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0" i="0" lang="en-US" sz="18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(i = 0; i &lt; </a:t>
            </a:r>
            <a:r>
              <a:rPr b="0" i="0" lang="en-US" sz="18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soMH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 i++)</a:t>
            </a:r>
            <a:endParaRPr b="0" i="0" sz="1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   tongDiem = tongDiem + </a:t>
            </a:r>
            <a:r>
              <a:rPr b="0" i="0" lang="en-US" sz="18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diemMH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[i]; </a:t>
            </a:r>
            <a:endParaRPr b="0" i="0" sz="1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0" i="0" lang="en-US" sz="18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diemTB = tongDiem / </a:t>
            </a:r>
            <a:r>
              <a:rPr b="0" i="0" lang="en-US" sz="18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soMH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0" i="0" lang="en-US" sz="18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(diemTB &gt;= 8 || (diemTB &gt;= 7 &amp;&amp; </a:t>
            </a:r>
            <a:r>
              <a:rPr b="0" i="0" lang="en-US" sz="18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diemRL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&gt;= 80))</a:t>
            </a:r>
            <a:endParaRPr b="0" i="0" sz="1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   </a:t>
            </a:r>
            <a:r>
              <a:rPr b="0" i="0" lang="en-US" sz="18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}	</a:t>
            </a:r>
            <a:endParaRPr b="0" i="0" sz="1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8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172" name="Google Shape;1172;p44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5.3. KIỂM THỬ BAO PHỦ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45"/>
          <p:cNvSpPr txBox="1"/>
          <p:nvPr>
            <p:ph type="title"/>
          </p:nvPr>
        </p:nvSpPr>
        <p:spPr>
          <a:xfrm>
            <a:off x="609600" y="990600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Phủ đa điều kiện</a:t>
            </a:r>
            <a:endParaRPr/>
          </a:p>
        </p:txBody>
      </p:sp>
      <p:sp>
        <p:nvSpPr>
          <p:cNvPr id="1178" name="Google Shape;1178;p45"/>
          <p:cNvSpPr txBox="1"/>
          <p:nvPr>
            <p:ph idx="1" type="body"/>
          </p:nvPr>
        </p:nvSpPr>
        <p:spPr>
          <a:xfrm>
            <a:off x="533400" y="1685925"/>
            <a:ext cx="8458200" cy="2733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✔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Phủ đa điều kiện (multi-conditions coverage): mỗi điều kiện trong biểu thức vị từ và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các kết hợp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giữa chúng được thực hiện ít nhất một lần cho các trường hợp true và false.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✔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Ví dụ: một sinh viên được xét tham gia chiến dịch tình nguyện của trường nếu điểm trung bình từ 7.0 trở lên hoặc điểm rèn luyện từ 75 trở lên.</a:t>
            </a:r>
            <a:endParaRPr/>
          </a:p>
        </p:txBody>
      </p:sp>
      <p:sp>
        <p:nvSpPr>
          <p:cNvPr id="1179" name="Google Shape;1179;p45"/>
          <p:cNvSpPr/>
          <p:nvPr/>
        </p:nvSpPr>
        <p:spPr>
          <a:xfrm>
            <a:off x="3203575" y="4883150"/>
            <a:ext cx="3200400" cy="944562"/>
          </a:xfrm>
          <a:prstGeom prst="diamond">
            <a:avLst/>
          </a:prstGeom>
          <a:solidFill>
            <a:schemeClr val="accent1"/>
          </a:solidFill>
          <a:ln cap="flat" cmpd="sng" w="2540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45"/>
          <p:cNvSpPr txBox="1"/>
          <p:nvPr/>
        </p:nvSpPr>
        <p:spPr>
          <a:xfrm>
            <a:off x="3844925" y="5035550"/>
            <a:ext cx="2474912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diemTB &gt;= 7.0 ||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diemRL &gt;= 75</a:t>
            </a:r>
            <a:endParaRPr/>
          </a:p>
        </p:txBody>
      </p:sp>
      <p:sp>
        <p:nvSpPr>
          <p:cNvPr id="1181" name="Google Shape;1181;p45"/>
          <p:cNvSpPr txBox="1"/>
          <p:nvPr/>
        </p:nvSpPr>
        <p:spPr>
          <a:xfrm>
            <a:off x="6870700" y="5032375"/>
            <a:ext cx="1768475" cy="64611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ĐƯỢC THAM GIA</a:t>
            </a:r>
            <a:endParaRPr/>
          </a:p>
        </p:txBody>
      </p:sp>
      <p:sp>
        <p:nvSpPr>
          <p:cNvPr id="1182" name="Google Shape;1182;p45"/>
          <p:cNvSpPr txBox="1"/>
          <p:nvPr/>
        </p:nvSpPr>
        <p:spPr>
          <a:xfrm>
            <a:off x="993775" y="5032375"/>
            <a:ext cx="1768475" cy="64611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KHÔNG ĐƯỢC THAM GIA</a:t>
            </a:r>
            <a:endParaRPr/>
          </a:p>
        </p:txBody>
      </p:sp>
      <p:cxnSp>
        <p:nvCxnSpPr>
          <p:cNvPr id="1183" name="Google Shape;1183;p45"/>
          <p:cNvCxnSpPr/>
          <p:nvPr/>
        </p:nvCxnSpPr>
        <p:spPr>
          <a:xfrm>
            <a:off x="6403975" y="5356225"/>
            <a:ext cx="466725" cy="0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184" name="Google Shape;1184;p45"/>
          <p:cNvCxnSpPr/>
          <p:nvPr/>
        </p:nvCxnSpPr>
        <p:spPr>
          <a:xfrm rot="10800000">
            <a:off x="2762250" y="5356225"/>
            <a:ext cx="441325" cy="0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185" name="Google Shape;1185;p45"/>
          <p:cNvCxnSpPr/>
          <p:nvPr/>
        </p:nvCxnSpPr>
        <p:spPr>
          <a:xfrm>
            <a:off x="4803775" y="4572000"/>
            <a:ext cx="0" cy="311150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186" name="Google Shape;1186;p45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5.3. KIỂM THỬ BAO PHỦ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46"/>
          <p:cNvSpPr txBox="1"/>
          <p:nvPr>
            <p:ph type="title"/>
          </p:nvPr>
        </p:nvSpPr>
        <p:spPr>
          <a:xfrm>
            <a:off x="533400" y="96043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Phủ đa điều kiện</a:t>
            </a:r>
            <a:endParaRPr/>
          </a:p>
        </p:txBody>
      </p:sp>
      <p:sp>
        <p:nvSpPr>
          <p:cNvPr id="1192" name="Google Shape;1192;p46"/>
          <p:cNvSpPr txBox="1"/>
          <p:nvPr>
            <p:ph idx="1" type="body"/>
          </p:nvPr>
        </p:nvSpPr>
        <p:spPr>
          <a:xfrm>
            <a:off x="762000" y="1600200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Với các test case sau đảm bảo phủ điều kiện: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diemTB = 7.0 (true) và diemRL = 75 (true)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diemTB = 6.5 (false) và diemRL = 70 (false)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Để phủ đa điều kiện cần bổ sung các test case: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diemTB = 6.5 (false) và diemRL = 75 (true)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diemTB = 7.0 (true) và diemRL = 70 (false)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Ghi chú: Với các ngôn ngữ lập trình hiện đại thì test case này không thể xảy ra vì diemTB = 7.0 (true) đủ quyết định kết quả biểu thức nên nó sẽ không xét biểu thức con còn lại.</a:t>
            </a:r>
            <a:endParaRPr/>
          </a:p>
        </p:txBody>
      </p:sp>
      <p:sp>
        <p:nvSpPr>
          <p:cNvPr id="1193" name="Google Shape;1193;p46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5.3. KIỂM THỬ BAO PHỦ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47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5.4. KIỂM THỬ LUỒNG DỮ LIỆU</a:t>
            </a:r>
            <a:endParaRPr/>
          </a:p>
        </p:txBody>
      </p:sp>
      <p:sp>
        <p:nvSpPr>
          <p:cNvPr id="1199" name="Google Shape;1199;p47"/>
          <p:cNvSpPr txBox="1"/>
          <p:nvPr>
            <p:ph idx="1" type="body"/>
          </p:nvPr>
        </p:nvSpPr>
        <p:spPr>
          <a:xfrm>
            <a:off x="762000" y="1066800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Phương pháp kiểm thử luồng dữ liệu sẽ kiểm thử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vòng đời của biến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trong từng luồng thực thi của chương trình. 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Vòng đời của một biến được thể hiện thông qua ba hành động: 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Định nghĩa biến (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Define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Sử dụng biến (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Use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 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Xóa biến (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48"/>
          <p:cNvSpPr txBox="1"/>
          <p:nvPr>
            <p:ph idx="1" type="body"/>
          </p:nvPr>
        </p:nvSpPr>
        <p:spPr>
          <a:xfrm>
            <a:off x="762000" y="1143000"/>
            <a:ext cx="83058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Kiểm thử luồng dữ liệu lựa chọn các đường dẫn để kiểm thử dựa trên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vị trí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định nghĩa (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define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và sử dụng (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use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các biến trong chương trình.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Đặt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DEF(S)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{X| câu lệnh S chứa định nghĩa biến X}</a:t>
            </a:r>
            <a:endParaRPr/>
          </a:p>
          <a:p>
            <a:pPr indent="-228600" lvl="2" marL="11430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= … (nhập, gán, gọi thủ tục)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USE(S)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{X| câu lệnh S sử dụng biến X}	</a:t>
            </a:r>
            <a:endParaRPr/>
          </a:p>
          <a:p>
            <a:pPr indent="-228600" lvl="2" marL="11430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 = X … (xuất, gán, điều kiện)</a:t>
            </a:r>
            <a:endParaRPr/>
          </a:p>
          <a:p>
            <a:pPr indent="-228600" lvl="2" marL="11430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Nếu câu lệnh S là biểu thức vị từ thì ký hiệu là 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p-use</a:t>
            </a:r>
            <a:endParaRPr/>
          </a:p>
          <a:p>
            <a:pPr indent="-228600" lvl="2" marL="11430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Nếu câu lệnh S là biểu thức tính toán thì ký hiệu là 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c-use</a:t>
            </a:r>
            <a:endParaRPr/>
          </a:p>
        </p:txBody>
      </p:sp>
      <p:sp>
        <p:nvSpPr>
          <p:cNvPr id="1205" name="Google Shape;1205;p48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5.4. KIỂM THỬ LUỒNG DỮ LIỆU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49"/>
          <p:cNvSpPr txBox="1"/>
          <p:nvPr>
            <p:ph idx="1" type="body"/>
          </p:nvPr>
        </p:nvSpPr>
        <p:spPr>
          <a:xfrm>
            <a:off x="685800" y="1076325"/>
            <a:ext cx="82296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Ví dụ</a:t>
            </a:r>
            <a:endParaRPr/>
          </a:p>
        </p:txBody>
      </p:sp>
      <p:sp>
        <p:nvSpPr>
          <p:cNvPr id="1211" name="Google Shape;1211;p49"/>
          <p:cNvSpPr/>
          <p:nvPr/>
        </p:nvSpPr>
        <p:spPr>
          <a:xfrm>
            <a:off x="2609803" y="2088683"/>
            <a:ext cx="4376037" cy="321208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4A73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a, b;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cin </a:t>
            </a:r>
            <a:r>
              <a:rPr b="0" i="0" lang="en-US" sz="2000" u="none" cap="none" strike="noStrike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&gt;&gt;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b="0" i="0" lang="en-US" sz="2000" u="none" cap="none" strike="noStrike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&gt;&gt;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(a != b)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if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(a &gt; b)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a -= b;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else</a:t>
            </a:r>
            <a:endParaRPr b="0" i="0" sz="2000" u="none" cap="none" strike="noStrik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b -= a;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cout </a:t>
            </a:r>
            <a:r>
              <a:rPr b="0" i="0" lang="en-US" sz="2000" u="none" cap="none" strike="noStrike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&lt;&lt;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000" u="none" cap="none" strike="noStrike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"UCLN(a, b) = "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000" u="none" cap="none" strike="noStrike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&lt;&lt;</a:t>
            </a:r>
            <a:r>
              <a:rPr b="0" i="0" lang="en-US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a;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49"/>
          <p:cNvSpPr txBox="1"/>
          <p:nvPr/>
        </p:nvSpPr>
        <p:spPr>
          <a:xfrm>
            <a:off x="306387" y="1981200"/>
            <a:ext cx="1973262" cy="619125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Định nghĩa biến a</a:t>
            </a:r>
            <a:endParaRPr/>
          </a:p>
        </p:txBody>
      </p:sp>
      <p:sp>
        <p:nvSpPr>
          <p:cNvPr id="1213" name="Google Shape;1213;p49"/>
          <p:cNvSpPr txBox="1"/>
          <p:nvPr/>
        </p:nvSpPr>
        <p:spPr>
          <a:xfrm>
            <a:off x="306387" y="2936875"/>
            <a:ext cx="1973262" cy="619125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Sử dụng (p-use) biến a</a:t>
            </a:r>
            <a:endParaRPr/>
          </a:p>
        </p:txBody>
      </p:sp>
      <p:sp>
        <p:nvSpPr>
          <p:cNvPr id="1214" name="Google Shape;1214;p49"/>
          <p:cNvSpPr txBox="1"/>
          <p:nvPr/>
        </p:nvSpPr>
        <p:spPr>
          <a:xfrm>
            <a:off x="7085012" y="1981200"/>
            <a:ext cx="1973262" cy="619125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Định nghĩa biến b</a:t>
            </a:r>
            <a:endParaRPr/>
          </a:p>
        </p:txBody>
      </p:sp>
      <p:sp>
        <p:nvSpPr>
          <p:cNvPr id="1215" name="Google Shape;1215;p49"/>
          <p:cNvSpPr txBox="1"/>
          <p:nvPr/>
        </p:nvSpPr>
        <p:spPr>
          <a:xfrm>
            <a:off x="7085012" y="2936875"/>
            <a:ext cx="1973262" cy="619125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Sử dụng (p-use) biến b</a:t>
            </a:r>
            <a:endParaRPr/>
          </a:p>
        </p:txBody>
      </p:sp>
      <p:sp>
        <p:nvSpPr>
          <p:cNvPr id="1216" name="Google Shape;1216;p49"/>
          <p:cNvSpPr txBox="1"/>
          <p:nvPr/>
        </p:nvSpPr>
        <p:spPr>
          <a:xfrm>
            <a:off x="304800" y="3881437"/>
            <a:ext cx="1971675" cy="61753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Sử dụng (c-use) biến a</a:t>
            </a:r>
            <a:endParaRPr/>
          </a:p>
        </p:txBody>
      </p:sp>
      <p:sp>
        <p:nvSpPr>
          <p:cNvPr id="1217" name="Google Shape;1217;p49"/>
          <p:cNvSpPr txBox="1"/>
          <p:nvPr/>
        </p:nvSpPr>
        <p:spPr>
          <a:xfrm>
            <a:off x="7085012" y="3881437"/>
            <a:ext cx="1973262" cy="61753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Sử dụng (c-use) biến b</a:t>
            </a:r>
            <a:endParaRPr/>
          </a:p>
        </p:txBody>
      </p:sp>
      <p:cxnSp>
        <p:nvCxnSpPr>
          <p:cNvPr id="1218" name="Google Shape;1218;p49"/>
          <p:cNvCxnSpPr/>
          <p:nvPr/>
        </p:nvCxnSpPr>
        <p:spPr>
          <a:xfrm rot="10800000">
            <a:off x="2279650" y="2290762"/>
            <a:ext cx="330200" cy="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219" name="Google Shape;1219;p49"/>
          <p:cNvCxnSpPr/>
          <p:nvPr/>
        </p:nvCxnSpPr>
        <p:spPr>
          <a:xfrm flipH="1" rot="10800000">
            <a:off x="4024312" y="2290762"/>
            <a:ext cx="3060700" cy="5715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220" name="Google Shape;1220;p49"/>
          <p:cNvCxnSpPr/>
          <p:nvPr/>
        </p:nvCxnSpPr>
        <p:spPr>
          <a:xfrm rot="10800000">
            <a:off x="2279650" y="2290762"/>
            <a:ext cx="330200" cy="322262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221" name="Google Shape;1221;p49"/>
          <p:cNvCxnSpPr/>
          <p:nvPr/>
        </p:nvCxnSpPr>
        <p:spPr>
          <a:xfrm flipH="1" rot="10800000">
            <a:off x="4632325" y="2290762"/>
            <a:ext cx="2452687" cy="32385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222" name="Google Shape;1222;p49"/>
          <p:cNvCxnSpPr/>
          <p:nvPr/>
        </p:nvCxnSpPr>
        <p:spPr>
          <a:xfrm rot="10800000">
            <a:off x="2279650" y="3246437"/>
            <a:ext cx="330200" cy="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223" name="Google Shape;1223;p49"/>
          <p:cNvCxnSpPr/>
          <p:nvPr/>
        </p:nvCxnSpPr>
        <p:spPr>
          <a:xfrm>
            <a:off x="4632325" y="3246437"/>
            <a:ext cx="2452687" cy="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224" name="Google Shape;1224;p49"/>
          <p:cNvCxnSpPr/>
          <p:nvPr/>
        </p:nvCxnSpPr>
        <p:spPr>
          <a:xfrm rot="10800000">
            <a:off x="2279650" y="3246437"/>
            <a:ext cx="723900" cy="338137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225" name="Google Shape;1225;p49"/>
          <p:cNvCxnSpPr/>
          <p:nvPr/>
        </p:nvCxnSpPr>
        <p:spPr>
          <a:xfrm flipH="1" rot="10800000">
            <a:off x="4632325" y="3246437"/>
            <a:ext cx="2452687" cy="325437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226" name="Google Shape;1226;p49"/>
          <p:cNvCxnSpPr/>
          <p:nvPr/>
        </p:nvCxnSpPr>
        <p:spPr>
          <a:xfrm>
            <a:off x="4632325" y="3881437"/>
            <a:ext cx="2452687" cy="307975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227" name="Google Shape;1227;p49"/>
          <p:cNvCxnSpPr/>
          <p:nvPr/>
        </p:nvCxnSpPr>
        <p:spPr>
          <a:xfrm flipH="1">
            <a:off x="2276475" y="3843337"/>
            <a:ext cx="1104900" cy="346075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228" name="Google Shape;1228;p49"/>
          <p:cNvCxnSpPr/>
          <p:nvPr/>
        </p:nvCxnSpPr>
        <p:spPr>
          <a:xfrm rot="10800000">
            <a:off x="2279650" y="2290762"/>
            <a:ext cx="1101725" cy="1552575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229" name="Google Shape;1229;p49"/>
          <p:cNvCxnSpPr/>
          <p:nvPr/>
        </p:nvCxnSpPr>
        <p:spPr>
          <a:xfrm rot="10800000">
            <a:off x="2276475" y="4189412"/>
            <a:ext cx="1204912" cy="309562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230" name="Google Shape;1230;p49"/>
          <p:cNvCxnSpPr/>
          <p:nvPr/>
        </p:nvCxnSpPr>
        <p:spPr>
          <a:xfrm flipH="1" rot="10800000">
            <a:off x="4533900" y="4189412"/>
            <a:ext cx="2551112" cy="246062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231" name="Google Shape;1231;p49"/>
          <p:cNvCxnSpPr/>
          <p:nvPr/>
        </p:nvCxnSpPr>
        <p:spPr>
          <a:xfrm flipH="1" rot="10800000">
            <a:off x="4533900" y="2290762"/>
            <a:ext cx="2551112" cy="2141537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232" name="Google Shape;1232;p49"/>
          <p:cNvCxnSpPr/>
          <p:nvPr/>
        </p:nvCxnSpPr>
        <p:spPr>
          <a:xfrm rot="10800000">
            <a:off x="2276475" y="4189412"/>
            <a:ext cx="404812" cy="91440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233" name="Google Shape;1233;p49"/>
          <p:cNvSpPr txBox="1"/>
          <p:nvPr/>
        </p:nvSpPr>
        <p:spPr>
          <a:xfrm>
            <a:off x="2955925" y="5364162"/>
            <a:ext cx="366712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1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Chương trình minh họa bằng C++</a:t>
            </a:r>
            <a:endParaRPr/>
          </a:p>
        </p:txBody>
      </p:sp>
      <p:sp>
        <p:nvSpPr>
          <p:cNvPr id="1234" name="Google Shape;1234;p49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5.4. KIỂM THỬ LUỒNG DỮ LIỆU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50"/>
          <p:cNvSpPr txBox="1"/>
          <p:nvPr>
            <p:ph idx="1" type="body"/>
          </p:nvPr>
        </p:nvSpPr>
        <p:spPr>
          <a:xfrm>
            <a:off x="914400" y="1076325"/>
            <a:ext cx="8001000" cy="3800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Kiểm thử luồng dữ liệu giúp phát hiện các vấn đề sau: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Một biến được 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khai báo, nhưng không sử dụng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Một biến 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sử dụng nhưng không khai báo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Một biến được 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định nghĩa nhiều lần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trước khi được sử dụng. 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Xóa biến trước khi sử dụng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50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5.4. KIỂM THỬ LUỒNG DỮ LIỆU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51"/>
          <p:cNvSpPr txBox="1"/>
          <p:nvPr>
            <p:ph idx="1" type="body"/>
          </p:nvPr>
        </p:nvSpPr>
        <p:spPr>
          <a:xfrm>
            <a:off x="685800" y="1143000"/>
            <a:ext cx="82296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✔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 biến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∈ DEF(S) ∩ USE(S’), trong đó S và S’ là các câu lệnh.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✔"/>
            </a:pP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Đường dẫn DU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(definition-use path) của biến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là đường nối từ S đến S’ trên đồ thị luồng sao cho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không tồn tại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một định nghĩa nào khác của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trên đường này. 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✔"/>
            </a:pP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Cặp DU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(definition-use pairs) của biến là cặp S và S’, sao cho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tồn tại ít nhất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một đường DU nối S và S’.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51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5.4. KIỂM THỬ LUỒNG DỮ LIỆU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52"/>
          <p:cNvSpPr txBox="1"/>
          <p:nvPr>
            <p:ph idx="1" type="body"/>
          </p:nvPr>
        </p:nvSpPr>
        <p:spPr>
          <a:xfrm>
            <a:off x="723900" y="1270000"/>
            <a:ext cx="4951412" cy="5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DEF(1) = {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…}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DEF(4) = {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…}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USE(6) = {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…}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2, 3, 5, 6) và (4, 5, 6) là các đường dẫn DU của biến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2, 4, 5, 6) không là đường của biến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vì nó được định nghĩa lại ở câu lệnh 4.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 cặp DU là (1, 6) và (4, 6)</a:t>
            </a:r>
            <a:endParaRPr/>
          </a:p>
        </p:txBody>
      </p:sp>
      <p:sp>
        <p:nvSpPr>
          <p:cNvPr id="1252" name="Google Shape;1252;p52"/>
          <p:cNvSpPr txBox="1"/>
          <p:nvPr/>
        </p:nvSpPr>
        <p:spPr>
          <a:xfrm>
            <a:off x="6981825" y="1804987"/>
            <a:ext cx="941387" cy="43021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r>
              <a:rPr b="0" i="1" lang="en-US" sz="18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1800" u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= …</a:t>
            </a:r>
            <a:endParaRPr/>
          </a:p>
        </p:txBody>
      </p:sp>
      <p:sp>
        <p:nvSpPr>
          <p:cNvPr id="1253" name="Google Shape;1253;p52"/>
          <p:cNvSpPr/>
          <p:nvPr/>
        </p:nvSpPr>
        <p:spPr>
          <a:xfrm>
            <a:off x="6934200" y="2532062"/>
            <a:ext cx="1035050" cy="511175"/>
          </a:xfrm>
          <a:prstGeom prst="flowChartDecision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52"/>
          <p:cNvSpPr txBox="1"/>
          <p:nvPr/>
        </p:nvSpPr>
        <p:spPr>
          <a:xfrm>
            <a:off x="6040437" y="3573462"/>
            <a:ext cx="941387" cy="4318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/>
          </a:p>
        </p:txBody>
      </p:sp>
      <p:sp>
        <p:nvSpPr>
          <p:cNvPr id="1255" name="Google Shape;1255;p52"/>
          <p:cNvSpPr txBox="1"/>
          <p:nvPr/>
        </p:nvSpPr>
        <p:spPr>
          <a:xfrm>
            <a:off x="7923212" y="3573462"/>
            <a:ext cx="939800" cy="4318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r>
              <a:rPr b="0" i="1" lang="en-US" sz="18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1800" u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= …</a:t>
            </a:r>
            <a:endParaRPr/>
          </a:p>
        </p:txBody>
      </p:sp>
      <p:sp>
        <p:nvSpPr>
          <p:cNvPr id="1256" name="Google Shape;1256;p52"/>
          <p:cNvSpPr txBox="1"/>
          <p:nvPr/>
        </p:nvSpPr>
        <p:spPr>
          <a:xfrm>
            <a:off x="6934200" y="4570412"/>
            <a:ext cx="941387" cy="43021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/>
          </a:p>
        </p:txBody>
      </p:sp>
      <p:sp>
        <p:nvSpPr>
          <p:cNvPr id="1257" name="Google Shape;1257;p52"/>
          <p:cNvSpPr txBox="1"/>
          <p:nvPr/>
        </p:nvSpPr>
        <p:spPr>
          <a:xfrm>
            <a:off x="6723062" y="5349875"/>
            <a:ext cx="1363662" cy="43021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 = </a:t>
            </a:r>
            <a:r>
              <a:rPr b="0" i="1" lang="en-US" sz="18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1800" u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+ …</a:t>
            </a:r>
            <a:endParaRPr/>
          </a:p>
        </p:txBody>
      </p:sp>
      <p:cxnSp>
        <p:nvCxnSpPr>
          <p:cNvPr id="1258" name="Google Shape;1258;p52"/>
          <p:cNvCxnSpPr/>
          <p:nvPr/>
        </p:nvCxnSpPr>
        <p:spPr>
          <a:xfrm>
            <a:off x="7451725" y="2235200"/>
            <a:ext cx="0" cy="29686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259" name="Google Shape;1259;p52"/>
          <p:cNvCxnSpPr/>
          <p:nvPr/>
        </p:nvCxnSpPr>
        <p:spPr>
          <a:xfrm flipH="1">
            <a:off x="6510324" y="3043237"/>
            <a:ext cx="941400" cy="530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260" name="Google Shape;1260;p52"/>
          <p:cNvCxnSpPr/>
          <p:nvPr/>
        </p:nvCxnSpPr>
        <p:spPr>
          <a:xfrm>
            <a:off x="7451725" y="3043237"/>
            <a:ext cx="941400" cy="530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261" name="Google Shape;1261;p52"/>
          <p:cNvCxnSpPr/>
          <p:nvPr/>
        </p:nvCxnSpPr>
        <p:spPr>
          <a:xfrm>
            <a:off x="6510337" y="4005262"/>
            <a:ext cx="893700" cy="5652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262" name="Google Shape;1262;p52"/>
          <p:cNvCxnSpPr/>
          <p:nvPr/>
        </p:nvCxnSpPr>
        <p:spPr>
          <a:xfrm flipH="1">
            <a:off x="7404012" y="4005262"/>
            <a:ext cx="989100" cy="5652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263" name="Google Shape;1263;p52"/>
          <p:cNvCxnSpPr/>
          <p:nvPr/>
        </p:nvCxnSpPr>
        <p:spPr>
          <a:xfrm>
            <a:off x="7404100" y="5000625"/>
            <a:ext cx="0" cy="3492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264" name="Google Shape;1264;p52"/>
          <p:cNvSpPr/>
          <p:nvPr/>
        </p:nvSpPr>
        <p:spPr>
          <a:xfrm>
            <a:off x="6478587" y="1592262"/>
            <a:ext cx="425450" cy="427037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/>
          </a:p>
        </p:txBody>
      </p:sp>
      <p:sp>
        <p:nvSpPr>
          <p:cNvPr id="1265" name="Google Shape;1265;p52"/>
          <p:cNvSpPr/>
          <p:nvPr/>
        </p:nvSpPr>
        <p:spPr>
          <a:xfrm>
            <a:off x="8567737" y="3048000"/>
            <a:ext cx="427037" cy="427037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/>
          </a:p>
        </p:txBody>
      </p:sp>
      <p:sp>
        <p:nvSpPr>
          <p:cNvPr id="1266" name="Google Shape;1266;p52"/>
          <p:cNvSpPr/>
          <p:nvPr/>
        </p:nvSpPr>
        <p:spPr>
          <a:xfrm>
            <a:off x="8202612" y="5316537"/>
            <a:ext cx="427037" cy="425450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/>
          </a:p>
        </p:txBody>
      </p:sp>
      <p:sp>
        <p:nvSpPr>
          <p:cNvPr id="1267" name="Google Shape;1267;p52"/>
          <p:cNvSpPr/>
          <p:nvPr/>
        </p:nvSpPr>
        <p:spPr>
          <a:xfrm>
            <a:off x="6507162" y="2395537"/>
            <a:ext cx="425450" cy="425450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90909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/>
          </a:p>
        </p:txBody>
      </p:sp>
      <p:sp>
        <p:nvSpPr>
          <p:cNvPr id="1268" name="Google Shape;1268;p52"/>
          <p:cNvSpPr/>
          <p:nvPr/>
        </p:nvSpPr>
        <p:spPr>
          <a:xfrm>
            <a:off x="5908675" y="3048000"/>
            <a:ext cx="427037" cy="427037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90909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/>
          </a:p>
        </p:txBody>
      </p:sp>
      <p:sp>
        <p:nvSpPr>
          <p:cNvPr id="1269" name="Google Shape;1269;p52"/>
          <p:cNvSpPr/>
          <p:nvPr/>
        </p:nvSpPr>
        <p:spPr>
          <a:xfrm>
            <a:off x="7969250" y="4587875"/>
            <a:ext cx="425450" cy="425450"/>
          </a:xfrm>
          <a:prstGeom prst="ellipse">
            <a:avLst/>
          </a:prstGeom>
          <a:solidFill>
            <a:schemeClr val="accent1">
              <a:alpha val="0"/>
            </a:schemeClr>
          </a:solidFill>
          <a:ln cap="flat" cmpd="sng" w="28575">
            <a:solidFill>
              <a:srgbClr val="90909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/>
          </a:p>
        </p:txBody>
      </p:sp>
      <p:sp>
        <p:nvSpPr>
          <p:cNvPr id="1270" name="Google Shape;1270;p52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5.4. KIỂM THỬ LUỒNG DỮ LIỆU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53"/>
          <p:cNvSpPr txBox="1"/>
          <p:nvPr>
            <p:ph idx="1" type="body"/>
          </p:nvPr>
        </p:nvSpPr>
        <p:spPr>
          <a:xfrm>
            <a:off x="457200" y="1076325"/>
            <a:ext cx="82296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Ví dụ: cho biết đâu là cặp DU của biến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kq</a:t>
            </a:r>
            <a:endParaRPr/>
          </a:p>
        </p:txBody>
      </p:sp>
      <p:sp>
        <p:nvSpPr>
          <p:cNvPr id="1276" name="Google Shape;1276;p53"/>
          <p:cNvSpPr txBox="1"/>
          <p:nvPr/>
        </p:nvSpPr>
        <p:spPr>
          <a:xfrm>
            <a:off x="609600" y="1600200"/>
            <a:ext cx="8305800" cy="3962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onsolas"/>
              <a:buNone/>
            </a:pP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ktNguyenTo(</a:t>
            </a: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0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b="0" i="0" sz="2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2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kq = </a:t>
            </a: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b="0" i="0" lang="en-US" sz="2000" u="non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 (1)</a:t>
            </a:r>
            <a:endParaRPr b="0" i="0" sz="2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20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&gt;= 2)</a:t>
            </a:r>
            <a:endParaRPr b="0" i="0" sz="2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{</a:t>
            </a:r>
            <a:endParaRPr b="0" i="0" sz="2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kq = </a:t>
            </a: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b="0" i="0" lang="en-US" sz="2000" u="non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 (2)</a:t>
            </a:r>
            <a:endParaRPr b="0" i="0" sz="2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i=2; i&lt;=sqrt(</a:t>
            </a:r>
            <a:r>
              <a:rPr b="0" i="0" lang="en-US" sz="20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&amp;&amp; kq == </a:t>
            </a: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 i++)</a:t>
            </a:r>
            <a:r>
              <a:rPr b="0" i="0" lang="en-US" sz="2000" u="non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//(3)</a:t>
            </a:r>
            <a:endParaRPr b="0" i="0" sz="2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   </a:t>
            </a: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2000" u="non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% i == 0)</a:t>
            </a:r>
            <a:endParaRPr b="0" i="0" sz="2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      kq = </a:t>
            </a: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	</a:t>
            </a:r>
            <a:r>
              <a:rPr b="0" i="0" lang="en-US" sz="2000" u="non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 (4)</a:t>
            </a:r>
            <a:endParaRPr b="0" i="0" sz="2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} </a:t>
            </a:r>
            <a:endParaRPr b="0" i="0" sz="2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2000" u="non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kq; </a:t>
            </a:r>
            <a:r>
              <a:rPr b="0" i="0" lang="en-US" sz="2000" u="non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 (5)</a:t>
            </a:r>
            <a:endParaRPr b="0" i="0" sz="2800" u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nsolas"/>
              <a:buNone/>
            </a:pPr>
            <a:r>
              <a:rPr b="0" i="0" lang="en-US" sz="20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277" name="Google Shape;1277;p53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5.4. KIỂM THỬ LUỒNG DỮ LIỆU</a:t>
            </a: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54"/>
          <p:cNvSpPr txBox="1"/>
          <p:nvPr>
            <p:ph idx="1" type="body"/>
          </p:nvPr>
        </p:nvSpPr>
        <p:spPr>
          <a:xfrm>
            <a:off x="609600" y="1076325"/>
            <a:ext cx="82296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Ví dụ: cho biết đâu là cặp DU của biến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heSo</a:t>
            </a:r>
            <a:endParaRPr/>
          </a:p>
        </p:txBody>
      </p:sp>
      <p:sp>
        <p:nvSpPr>
          <p:cNvPr id="1283" name="Google Shape;1283;p54"/>
          <p:cNvSpPr txBox="1"/>
          <p:nvPr/>
        </p:nvSpPr>
        <p:spPr>
          <a:xfrm>
            <a:off x="1555750" y="1828800"/>
            <a:ext cx="6521450" cy="4191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tinhLuong(</a:t>
            </a:r>
            <a:r>
              <a:rPr b="0" i="0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loaiNhanVien</a:t>
            </a: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soGioLam</a:t>
            </a: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0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20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heSo = 1.0f; </a:t>
            </a:r>
            <a:r>
              <a:rPr b="0" i="0" lang="en-US" sz="20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// (1)</a:t>
            </a:r>
            <a:endParaRPr b="0" i="0" sz="20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2000" u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loaiNhanVien</a:t>
            </a: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== 1) </a:t>
            </a:r>
            <a:endParaRPr b="0" i="0" sz="20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{</a:t>
            </a:r>
            <a:endParaRPr b="0" i="0" sz="20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heSo = 1.5f; </a:t>
            </a:r>
            <a:r>
              <a:rPr b="0" i="0" lang="en-US" sz="20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// (2)</a:t>
            </a:r>
            <a:endParaRPr b="0" i="0" sz="20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2000" u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soGioLam</a:t>
            </a: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&gt; 40)</a:t>
            </a:r>
            <a:endParaRPr b="0" i="0" sz="20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heSo = heSo + 0.2f; </a:t>
            </a:r>
            <a:r>
              <a:rPr b="0" i="0" lang="en-US" sz="20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// (3)</a:t>
            </a:r>
            <a:endParaRPr b="0" i="0" sz="20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} </a:t>
            </a:r>
            <a:r>
              <a:rPr b="0" i="0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2000" u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loaiNhanVien</a:t>
            </a: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== 2)</a:t>
            </a:r>
            <a:endParaRPr b="0" i="0" sz="20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heSo = 1.2f; </a:t>
            </a:r>
            <a:r>
              <a:rPr b="0" i="0" lang="en-US" sz="20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// (4)</a:t>
            </a:r>
            <a:endParaRPr b="0" i="0" sz="20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20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1200000 * </a:t>
            </a:r>
            <a:r>
              <a:rPr b="0" i="0" lang="en-US" sz="2000" u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soGioLam</a:t>
            </a: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 heSo; </a:t>
            </a:r>
            <a:r>
              <a:rPr b="0" i="0" lang="en-US" sz="20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// (5)</a:t>
            </a:r>
            <a:endParaRPr b="0" i="0" sz="20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1284" name="Google Shape;1284;p54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5.4. KIỂM THỬ LUỒNG DỮ LIỆU</a:t>
            </a: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55"/>
          <p:cNvSpPr txBox="1"/>
          <p:nvPr>
            <p:ph idx="1" type="body"/>
          </p:nvPr>
        </p:nvSpPr>
        <p:spPr>
          <a:xfrm>
            <a:off x="914400" y="1219200"/>
            <a:ext cx="82296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Chiến lược kiểm thử luồng dữ liệu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Mỗi 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cặp DU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nên được thực thi ít nhất một lần.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Mỗi 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đường DU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đơn giản (không chứa vòng lặp) nên được thực hiện ít nhất một lần. </a:t>
            </a:r>
            <a:endParaRPr/>
          </a:p>
          <a:p>
            <a:pPr indent="-1905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55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5.4. KIỂM THỬ LUỒNG DỮ LIỆU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56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5.5. KIỂM THỬ VÒNG LẶP</a:t>
            </a:r>
            <a:endParaRPr/>
          </a:p>
        </p:txBody>
      </p:sp>
      <p:sp>
        <p:nvSpPr>
          <p:cNvPr id="1296" name="Google Shape;1296;p56"/>
          <p:cNvSpPr txBox="1"/>
          <p:nvPr>
            <p:ph idx="1" type="body"/>
          </p:nvPr>
        </p:nvSpPr>
        <p:spPr>
          <a:xfrm>
            <a:off x="838200" y="1066800"/>
            <a:ext cx="80010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✔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Kiểm tra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tính hợp lệ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của cấu trúc vòng lặp.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✔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 4 loại cấu trúc vòng lặp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Lặp đơn giản (simple loop)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Lặp lồng nhau (nested loop)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Lặp nối tiếp (concatenated loop)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Lặp không cấu trúc (unstructured loop)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57"/>
          <p:cNvSpPr txBox="1"/>
          <p:nvPr/>
        </p:nvSpPr>
        <p:spPr>
          <a:xfrm>
            <a:off x="1285875" y="1798637"/>
            <a:ext cx="804862" cy="50958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57"/>
          <p:cNvSpPr/>
          <p:nvPr/>
        </p:nvSpPr>
        <p:spPr>
          <a:xfrm>
            <a:off x="1285875" y="2571750"/>
            <a:ext cx="804862" cy="528637"/>
          </a:xfrm>
          <a:prstGeom prst="diamond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3" name="Google Shape;1303;p57"/>
          <p:cNvCxnSpPr/>
          <p:nvPr/>
        </p:nvCxnSpPr>
        <p:spPr>
          <a:xfrm>
            <a:off x="1687512" y="2308225"/>
            <a:ext cx="0" cy="26352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304" name="Google Shape;1304;p57"/>
          <p:cNvCxnSpPr/>
          <p:nvPr/>
        </p:nvCxnSpPr>
        <p:spPr>
          <a:xfrm flipH="1" rot="5400000">
            <a:off x="900925" y="2439212"/>
            <a:ext cx="782700" cy="12600"/>
          </a:xfrm>
          <a:prstGeom prst="bentConnector3">
            <a:avLst>
              <a:gd fmla="val 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305" name="Google Shape;1305;p57"/>
          <p:cNvCxnSpPr/>
          <p:nvPr/>
        </p:nvCxnSpPr>
        <p:spPr>
          <a:xfrm>
            <a:off x="1687512" y="3100387"/>
            <a:ext cx="0" cy="35560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306" name="Google Shape;1306;p57"/>
          <p:cNvCxnSpPr/>
          <p:nvPr/>
        </p:nvCxnSpPr>
        <p:spPr>
          <a:xfrm>
            <a:off x="1687512" y="1465262"/>
            <a:ext cx="0" cy="33337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307" name="Google Shape;1307;p57"/>
          <p:cNvSpPr txBox="1"/>
          <p:nvPr/>
        </p:nvSpPr>
        <p:spPr>
          <a:xfrm>
            <a:off x="3506787" y="1908175"/>
            <a:ext cx="806450" cy="50958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57"/>
          <p:cNvSpPr/>
          <p:nvPr/>
        </p:nvSpPr>
        <p:spPr>
          <a:xfrm>
            <a:off x="3506787" y="2789237"/>
            <a:ext cx="806450" cy="527050"/>
          </a:xfrm>
          <a:prstGeom prst="diamond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9" name="Google Shape;1309;p57"/>
          <p:cNvCxnSpPr/>
          <p:nvPr/>
        </p:nvCxnSpPr>
        <p:spPr>
          <a:xfrm>
            <a:off x="3910012" y="2417762"/>
            <a:ext cx="0" cy="37147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310" name="Google Shape;1310;p57"/>
          <p:cNvCxnSpPr/>
          <p:nvPr/>
        </p:nvCxnSpPr>
        <p:spPr>
          <a:xfrm flipH="1" rot="5400000">
            <a:off x="3067837" y="2601112"/>
            <a:ext cx="890700" cy="12600"/>
          </a:xfrm>
          <a:prstGeom prst="bentConnector3">
            <a:avLst>
              <a:gd fmla="val 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311" name="Google Shape;1311;p57"/>
          <p:cNvCxnSpPr/>
          <p:nvPr/>
        </p:nvCxnSpPr>
        <p:spPr>
          <a:xfrm>
            <a:off x="3910012" y="3316287"/>
            <a:ext cx="0" cy="32226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312" name="Google Shape;1312;p57"/>
          <p:cNvCxnSpPr/>
          <p:nvPr/>
        </p:nvCxnSpPr>
        <p:spPr>
          <a:xfrm>
            <a:off x="3910012" y="1274762"/>
            <a:ext cx="0" cy="63341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313" name="Google Shape;1313;p57"/>
          <p:cNvSpPr/>
          <p:nvPr/>
        </p:nvSpPr>
        <p:spPr>
          <a:xfrm>
            <a:off x="3506787" y="3638550"/>
            <a:ext cx="806450" cy="528637"/>
          </a:xfrm>
          <a:prstGeom prst="diamond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4" name="Google Shape;1314;p57"/>
          <p:cNvCxnSpPr/>
          <p:nvPr/>
        </p:nvCxnSpPr>
        <p:spPr>
          <a:xfrm rot="-5400000">
            <a:off x="2711487" y="2703575"/>
            <a:ext cx="1993800" cy="403200"/>
          </a:xfrm>
          <a:prstGeom prst="bentConnector4">
            <a:avLst>
              <a:gd fmla="val 0" name="adj1"/>
              <a:gd fmla="val 0" name="adj2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315" name="Google Shape;1315;p57"/>
          <p:cNvCxnSpPr/>
          <p:nvPr/>
        </p:nvCxnSpPr>
        <p:spPr>
          <a:xfrm>
            <a:off x="3910012" y="4167187"/>
            <a:ext cx="0" cy="43338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316" name="Google Shape;1316;p57"/>
          <p:cNvSpPr txBox="1"/>
          <p:nvPr/>
        </p:nvSpPr>
        <p:spPr>
          <a:xfrm>
            <a:off x="5208587" y="1803400"/>
            <a:ext cx="806450" cy="50958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57"/>
          <p:cNvSpPr/>
          <p:nvPr/>
        </p:nvSpPr>
        <p:spPr>
          <a:xfrm>
            <a:off x="5208587" y="2578100"/>
            <a:ext cx="806450" cy="527050"/>
          </a:xfrm>
          <a:prstGeom prst="diamond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8" name="Google Shape;1318;p57"/>
          <p:cNvCxnSpPr/>
          <p:nvPr/>
        </p:nvCxnSpPr>
        <p:spPr>
          <a:xfrm>
            <a:off x="5611812" y="2312987"/>
            <a:ext cx="0" cy="26511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319" name="Google Shape;1319;p57"/>
          <p:cNvCxnSpPr/>
          <p:nvPr/>
        </p:nvCxnSpPr>
        <p:spPr>
          <a:xfrm flipH="1" rot="5400000">
            <a:off x="4823637" y="2443974"/>
            <a:ext cx="782700" cy="12600"/>
          </a:xfrm>
          <a:prstGeom prst="bentConnector3">
            <a:avLst>
              <a:gd fmla="val 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320" name="Google Shape;1320;p57"/>
          <p:cNvCxnSpPr/>
          <p:nvPr/>
        </p:nvCxnSpPr>
        <p:spPr>
          <a:xfrm>
            <a:off x="5611812" y="3105150"/>
            <a:ext cx="0" cy="3746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321" name="Google Shape;1321;p57"/>
          <p:cNvCxnSpPr/>
          <p:nvPr/>
        </p:nvCxnSpPr>
        <p:spPr>
          <a:xfrm>
            <a:off x="5611812" y="1470025"/>
            <a:ext cx="0" cy="33337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322" name="Google Shape;1322;p57"/>
          <p:cNvSpPr txBox="1"/>
          <p:nvPr/>
        </p:nvSpPr>
        <p:spPr>
          <a:xfrm>
            <a:off x="5208587" y="3479800"/>
            <a:ext cx="806450" cy="511175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57"/>
          <p:cNvSpPr/>
          <p:nvPr/>
        </p:nvSpPr>
        <p:spPr>
          <a:xfrm>
            <a:off x="5208587" y="4254500"/>
            <a:ext cx="806450" cy="527050"/>
          </a:xfrm>
          <a:prstGeom prst="diamond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4" name="Google Shape;1324;p57"/>
          <p:cNvCxnSpPr/>
          <p:nvPr/>
        </p:nvCxnSpPr>
        <p:spPr>
          <a:xfrm>
            <a:off x="5611812" y="3990975"/>
            <a:ext cx="0" cy="26352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325" name="Google Shape;1325;p57"/>
          <p:cNvCxnSpPr/>
          <p:nvPr/>
        </p:nvCxnSpPr>
        <p:spPr>
          <a:xfrm flipH="1" rot="5400000">
            <a:off x="4823637" y="4120374"/>
            <a:ext cx="782700" cy="12600"/>
          </a:xfrm>
          <a:prstGeom prst="bentConnector3">
            <a:avLst>
              <a:gd fmla="val 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326" name="Google Shape;1326;p57"/>
          <p:cNvCxnSpPr/>
          <p:nvPr/>
        </p:nvCxnSpPr>
        <p:spPr>
          <a:xfrm>
            <a:off x="5611812" y="4781550"/>
            <a:ext cx="0" cy="35560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327" name="Google Shape;1327;p57"/>
          <p:cNvSpPr txBox="1"/>
          <p:nvPr/>
        </p:nvSpPr>
        <p:spPr>
          <a:xfrm>
            <a:off x="833437" y="5340350"/>
            <a:ext cx="15700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Lặp đơn giản</a:t>
            </a:r>
            <a:endParaRPr/>
          </a:p>
        </p:txBody>
      </p:sp>
      <p:sp>
        <p:nvSpPr>
          <p:cNvPr id="1328" name="Google Shape;1328;p57"/>
          <p:cNvSpPr txBox="1"/>
          <p:nvPr/>
        </p:nvSpPr>
        <p:spPr>
          <a:xfrm>
            <a:off x="3079750" y="4694237"/>
            <a:ext cx="12573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Lặp lồng nhau</a:t>
            </a:r>
            <a:endParaRPr/>
          </a:p>
        </p:txBody>
      </p:sp>
      <p:sp>
        <p:nvSpPr>
          <p:cNvPr id="1329" name="Google Shape;1329;p57"/>
          <p:cNvSpPr txBox="1"/>
          <p:nvPr/>
        </p:nvSpPr>
        <p:spPr>
          <a:xfrm>
            <a:off x="4872037" y="5248275"/>
            <a:ext cx="12573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Lặp nối tiếp</a:t>
            </a:r>
            <a:endParaRPr/>
          </a:p>
        </p:txBody>
      </p:sp>
      <p:sp>
        <p:nvSpPr>
          <p:cNvPr id="1330" name="Google Shape;1330;p57"/>
          <p:cNvSpPr txBox="1"/>
          <p:nvPr/>
        </p:nvSpPr>
        <p:spPr>
          <a:xfrm>
            <a:off x="7440612" y="1676400"/>
            <a:ext cx="804862" cy="511175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57"/>
          <p:cNvSpPr/>
          <p:nvPr/>
        </p:nvSpPr>
        <p:spPr>
          <a:xfrm>
            <a:off x="7440612" y="2597150"/>
            <a:ext cx="804862" cy="528637"/>
          </a:xfrm>
          <a:prstGeom prst="diamond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2" name="Google Shape;1332;p57"/>
          <p:cNvCxnSpPr/>
          <p:nvPr/>
        </p:nvCxnSpPr>
        <p:spPr>
          <a:xfrm>
            <a:off x="7843837" y="2187575"/>
            <a:ext cx="0" cy="40957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333" name="Google Shape;1333;p57"/>
          <p:cNvCxnSpPr/>
          <p:nvPr/>
        </p:nvCxnSpPr>
        <p:spPr>
          <a:xfrm rot="-5400000">
            <a:off x="6976512" y="2395974"/>
            <a:ext cx="928800" cy="600"/>
          </a:xfrm>
          <a:prstGeom prst="bentConnector3">
            <a:avLst>
              <a:gd fmla="val 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334" name="Google Shape;1334;p57"/>
          <p:cNvCxnSpPr/>
          <p:nvPr/>
        </p:nvCxnSpPr>
        <p:spPr>
          <a:xfrm>
            <a:off x="7843837" y="3125787"/>
            <a:ext cx="0" cy="374650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335" name="Google Shape;1335;p57"/>
          <p:cNvCxnSpPr/>
          <p:nvPr/>
        </p:nvCxnSpPr>
        <p:spPr>
          <a:xfrm>
            <a:off x="7843837" y="1343025"/>
            <a:ext cx="0" cy="33337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336" name="Google Shape;1336;p57"/>
          <p:cNvSpPr txBox="1"/>
          <p:nvPr/>
        </p:nvSpPr>
        <p:spPr>
          <a:xfrm>
            <a:off x="7440612" y="3500437"/>
            <a:ext cx="804862" cy="50958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57"/>
          <p:cNvSpPr/>
          <p:nvPr/>
        </p:nvSpPr>
        <p:spPr>
          <a:xfrm>
            <a:off x="7440612" y="4273550"/>
            <a:ext cx="804862" cy="528637"/>
          </a:xfrm>
          <a:prstGeom prst="diamond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8" name="Google Shape;1338;p57"/>
          <p:cNvCxnSpPr/>
          <p:nvPr/>
        </p:nvCxnSpPr>
        <p:spPr>
          <a:xfrm>
            <a:off x="7843837" y="4010025"/>
            <a:ext cx="0" cy="26352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339" name="Google Shape;1339;p57"/>
          <p:cNvCxnSpPr/>
          <p:nvPr/>
        </p:nvCxnSpPr>
        <p:spPr>
          <a:xfrm rot="-5400000">
            <a:off x="6137562" y="3235012"/>
            <a:ext cx="2606700" cy="600"/>
          </a:xfrm>
          <a:prstGeom prst="bentConnector3">
            <a:avLst>
              <a:gd fmla="val 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340" name="Google Shape;1340;p57"/>
          <p:cNvCxnSpPr/>
          <p:nvPr/>
        </p:nvCxnSpPr>
        <p:spPr>
          <a:xfrm>
            <a:off x="7843837" y="4802187"/>
            <a:ext cx="0" cy="34607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341" name="Google Shape;1341;p57"/>
          <p:cNvSpPr/>
          <p:nvPr/>
        </p:nvSpPr>
        <p:spPr>
          <a:xfrm>
            <a:off x="7440612" y="5148262"/>
            <a:ext cx="804862" cy="528637"/>
          </a:xfrm>
          <a:prstGeom prst="diamond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2" name="Google Shape;1342;p57"/>
          <p:cNvCxnSpPr/>
          <p:nvPr/>
        </p:nvCxnSpPr>
        <p:spPr>
          <a:xfrm>
            <a:off x="7843837" y="5676900"/>
            <a:ext cx="0" cy="27146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343" name="Google Shape;1343;p57"/>
          <p:cNvCxnSpPr/>
          <p:nvPr/>
        </p:nvCxnSpPr>
        <p:spPr>
          <a:xfrm rot="-5400000">
            <a:off x="7417925" y="4583637"/>
            <a:ext cx="1655700" cy="600"/>
          </a:xfrm>
          <a:prstGeom prst="bentConnector3">
            <a:avLst>
              <a:gd fmla="val 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344" name="Google Shape;1344;p57"/>
          <p:cNvCxnSpPr/>
          <p:nvPr/>
        </p:nvCxnSpPr>
        <p:spPr>
          <a:xfrm flipH="1" rot="-5400000">
            <a:off x="7406825" y="3699325"/>
            <a:ext cx="1677900" cy="600"/>
          </a:xfrm>
          <a:prstGeom prst="bentConnector3">
            <a:avLst>
              <a:gd fmla="val 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345" name="Google Shape;1345;p57"/>
          <p:cNvCxnSpPr/>
          <p:nvPr/>
        </p:nvCxnSpPr>
        <p:spPr>
          <a:xfrm rot="-5400000">
            <a:off x="6234912" y="3802887"/>
            <a:ext cx="2814600" cy="403200"/>
          </a:xfrm>
          <a:prstGeom prst="bentConnector4">
            <a:avLst>
              <a:gd fmla="val 0" name="adj1"/>
              <a:gd fmla="val 0" name="adj2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346" name="Google Shape;1346;p57"/>
          <p:cNvSpPr txBox="1"/>
          <p:nvPr/>
        </p:nvSpPr>
        <p:spPr>
          <a:xfrm>
            <a:off x="6416675" y="6005512"/>
            <a:ext cx="25050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Lặp không cấu trúc</a:t>
            </a:r>
            <a:endParaRPr/>
          </a:p>
        </p:txBody>
      </p:sp>
      <p:sp>
        <p:nvSpPr>
          <p:cNvPr id="1347" name="Google Shape;1347;p57"/>
          <p:cNvSpPr/>
          <p:nvPr/>
        </p:nvSpPr>
        <p:spPr>
          <a:xfrm>
            <a:off x="430212" y="4297362"/>
            <a:ext cx="806450" cy="527050"/>
          </a:xfrm>
          <a:prstGeom prst="diamond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p57"/>
          <p:cNvSpPr txBox="1"/>
          <p:nvPr/>
        </p:nvSpPr>
        <p:spPr>
          <a:xfrm>
            <a:off x="1747837" y="4297362"/>
            <a:ext cx="806450" cy="50958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97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9" name="Google Shape;1349;p57"/>
          <p:cNvCxnSpPr/>
          <p:nvPr/>
        </p:nvCxnSpPr>
        <p:spPr>
          <a:xfrm>
            <a:off x="833437" y="3860800"/>
            <a:ext cx="0" cy="436562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350" name="Google Shape;1350;p57"/>
          <p:cNvCxnSpPr/>
          <p:nvPr/>
        </p:nvCxnSpPr>
        <p:spPr>
          <a:xfrm flipH="1" rot="10800000">
            <a:off x="1236662" y="4552950"/>
            <a:ext cx="511175" cy="7937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351" name="Google Shape;1351;p57"/>
          <p:cNvCxnSpPr/>
          <p:nvPr/>
        </p:nvCxnSpPr>
        <p:spPr>
          <a:xfrm flipH="1">
            <a:off x="833463" y="4297363"/>
            <a:ext cx="1317600" cy="600"/>
          </a:xfrm>
          <a:prstGeom prst="bentConnector3">
            <a:avLst>
              <a:gd fmla="val 0" name="adj1"/>
            </a:avLst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352" name="Google Shape;1352;p57"/>
          <p:cNvCxnSpPr/>
          <p:nvPr/>
        </p:nvCxnSpPr>
        <p:spPr>
          <a:xfrm>
            <a:off x="833437" y="4824412"/>
            <a:ext cx="0" cy="365125"/>
          </a:xfrm>
          <a:prstGeom prst="straightConnector1">
            <a:avLst/>
          </a:prstGeom>
          <a:noFill/>
          <a:ln cap="flat" cmpd="sng" w="28575">
            <a:solidFill>
              <a:srgbClr val="629C83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353" name="Google Shape;1353;p57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5.5. KIỂM THỬ VÒNG LẶP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58"/>
          <p:cNvSpPr txBox="1"/>
          <p:nvPr>
            <p:ph idx="1" type="body"/>
          </p:nvPr>
        </p:nvSpPr>
        <p:spPr>
          <a:xfrm>
            <a:off x="762000" y="1152525"/>
            <a:ext cx="8229600" cy="2809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Khi kiểm thử vòng lặp cần thực hiện các thời điểm sau: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Lúc vừa vào vòng lặp.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Lúc đang xử lý trong vòng lặp.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Lúc rời khỏi vòng lặp.</a:t>
            </a:r>
            <a:endParaRPr/>
          </a:p>
        </p:txBody>
      </p:sp>
      <p:sp>
        <p:nvSpPr>
          <p:cNvPr id="1359" name="Google Shape;1359;p58"/>
          <p:cNvSpPr txBox="1"/>
          <p:nvPr>
            <p:ph type="title"/>
          </p:nvPr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5.5. KIỂM THỬ VÒNG LẶP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59"/>
          <p:cNvSpPr txBox="1"/>
          <p:nvPr>
            <p:ph type="title"/>
          </p:nvPr>
        </p:nvSpPr>
        <p:spPr>
          <a:xfrm>
            <a:off x="762000" y="990600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Lặp đơn giản</a:t>
            </a:r>
            <a:endParaRPr/>
          </a:p>
        </p:txBody>
      </p:sp>
      <p:sp>
        <p:nvSpPr>
          <p:cNvPr id="1365" name="Google Shape;1365;p59"/>
          <p:cNvSpPr txBox="1"/>
          <p:nvPr>
            <p:ph idx="1" type="body"/>
          </p:nvPr>
        </p:nvSpPr>
        <p:spPr>
          <a:xfrm>
            <a:off x="914400" y="15240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Tập các test case sau cần được thực hiện cho các vòng lặp đơn giản, trong đó n là số tối đa vòng lặp có thể thực thi.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Không</a:t>
            </a:r>
            <a:r>
              <a:rPr b="0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thực hiện lần lặp nào.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Thực hiện 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lần lặp.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Thực hiện 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lần lặp.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Thực hiện 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lần lặp, trong đó m &lt; n.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Thực hiện 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 – 1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 + 1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lần lặp.</a:t>
            </a:r>
            <a:endParaRPr/>
          </a:p>
        </p:txBody>
      </p:sp>
      <p:sp>
        <p:nvSpPr>
          <p:cNvPr id="1366" name="Google Shape;1366;p59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5.5. KIỂM THỬ VÒNG LẶP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60"/>
          <p:cNvSpPr txBox="1"/>
          <p:nvPr>
            <p:ph type="title"/>
          </p:nvPr>
        </p:nvSpPr>
        <p:spPr>
          <a:xfrm>
            <a:off x="685800" y="103663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Lặp lồng nhau</a:t>
            </a:r>
            <a:endParaRPr/>
          </a:p>
        </p:txBody>
      </p:sp>
      <p:sp>
        <p:nvSpPr>
          <p:cNvPr id="1372" name="Google Shape;1372;p60"/>
          <p:cNvSpPr txBox="1"/>
          <p:nvPr>
            <p:ph idx="1" type="body"/>
          </p:nvPr>
        </p:nvSpPr>
        <p:spPr>
          <a:xfrm>
            <a:off x="762000" y="1643062"/>
            <a:ext cx="8229600" cy="407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Bắt đầu test vòng lặp </a:t>
            </a:r>
            <a:r>
              <a:rPr b="1" i="0" lang="en-US" sz="2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trong cùng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(innermost) và các vòng lặp khác thiết lập một giá trị tối thiểu.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Dùng chiến lược kiểm thử vòng lặp đơn giản cho vòng lặp trong cùng và giữ các vòng lặp ngoài ở giá trị tối thiểu.  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Thực hiện tương tự cho các vòng lặp ngoài, cho đến khi vòng lặp ngoài cùng (outermost) được test.</a:t>
            </a:r>
            <a:endParaRPr/>
          </a:p>
        </p:txBody>
      </p:sp>
      <p:sp>
        <p:nvSpPr>
          <p:cNvPr id="1373" name="Google Shape;1373;p60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5.5. KIỂM THỬ VÒNG LẶP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61"/>
          <p:cNvSpPr txBox="1"/>
          <p:nvPr>
            <p:ph type="title"/>
          </p:nvPr>
        </p:nvSpPr>
        <p:spPr>
          <a:xfrm>
            <a:off x="762000" y="103663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Lặp nối tiếp</a:t>
            </a:r>
            <a:endParaRPr/>
          </a:p>
        </p:txBody>
      </p:sp>
      <p:sp>
        <p:nvSpPr>
          <p:cNvPr id="1379" name="Google Shape;1379;p61"/>
          <p:cNvSpPr txBox="1"/>
          <p:nvPr>
            <p:ph idx="1" type="body"/>
          </p:nvPr>
        </p:nvSpPr>
        <p:spPr>
          <a:xfrm>
            <a:off x="1066800" y="1752600"/>
            <a:ext cx="78486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✔"/>
            </a:pPr>
            <a:r>
              <a:rPr b="0" i="0" lang="en-US" sz="24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Nếu các vòng lặp là độc lập nhau thì áp dụng cách tiếp cận cho các vòng lặp đơn giản. 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✔"/>
            </a:pPr>
            <a:r>
              <a:rPr b="0" i="0" lang="en-US" sz="24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Nếu các vòng lặp phụ thuộc nhau thì áp dụng cách tiếp nhận cho các vòng lặp lồng nhau. </a:t>
            </a:r>
            <a:endParaRPr/>
          </a:p>
        </p:txBody>
      </p:sp>
      <p:sp>
        <p:nvSpPr>
          <p:cNvPr id="1380" name="Google Shape;1380;p61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5.5. KIỂM THỬ VÒNG LẶP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62"/>
          <p:cNvSpPr txBox="1"/>
          <p:nvPr>
            <p:ph type="title"/>
          </p:nvPr>
        </p:nvSpPr>
        <p:spPr>
          <a:xfrm>
            <a:off x="685800" y="1066800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52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Lặp không cấu trúc</a:t>
            </a:r>
            <a:endParaRPr/>
          </a:p>
        </p:txBody>
      </p:sp>
      <p:sp>
        <p:nvSpPr>
          <p:cNvPr id="1386" name="Google Shape;1386;p62"/>
          <p:cNvSpPr txBox="1"/>
          <p:nvPr>
            <p:ph idx="1" type="body"/>
          </p:nvPr>
        </p:nvSpPr>
        <p:spPr>
          <a:xfrm>
            <a:off x="762000" y="1752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❖"/>
            </a:pPr>
            <a:r>
              <a:rPr b="0" i="0" lang="en-US" sz="2400" u="none">
                <a:solidFill>
                  <a:srgbClr val="0E2520"/>
                </a:solidFill>
                <a:latin typeface="Arial"/>
                <a:ea typeface="Arial"/>
                <a:cs typeface="Arial"/>
                <a:sym typeface="Arial"/>
              </a:rPr>
              <a:t>Đối với trường hợp này nên yêu cầu thiết kế lại chương trình để đảm bảo tính cấu trúc của chương trình.</a:t>
            </a:r>
            <a:endParaRPr/>
          </a:p>
        </p:txBody>
      </p:sp>
      <p:sp>
        <p:nvSpPr>
          <p:cNvPr id="1387" name="Google Shape;1387;p62"/>
          <p:cNvSpPr txBox="1"/>
          <p:nvPr/>
        </p:nvSpPr>
        <p:spPr>
          <a:xfrm>
            <a:off x="457200" y="319087"/>
            <a:ext cx="73914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5.5. KIỂM THỬ VÒNG LẶP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63"/>
          <p:cNvSpPr txBox="1"/>
          <p:nvPr/>
        </p:nvSpPr>
        <p:spPr>
          <a:xfrm>
            <a:off x="0" y="25146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THIẾT KẾ TEST CASE WHITEBOX</a:t>
            </a:r>
            <a:endParaRPr/>
          </a:p>
        </p:txBody>
      </p:sp>
      <p:sp>
        <p:nvSpPr>
          <p:cNvPr id="1393" name="Google Shape;1393;p63"/>
          <p:cNvSpPr txBox="1"/>
          <p:nvPr/>
        </p:nvSpPr>
        <p:spPr>
          <a:xfrm>
            <a:off x="76200" y="2190750"/>
            <a:ext cx="11080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Bài  5:</a:t>
            </a:r>
            <a:endParaRPr/>
          </a:p>
        </p:txBody>
      </p:sp>
      <p:sp>
        <p:nvSpPr>
          <p:cNvPr id="1394" name="Google Shape;1394;p63"/>
          <p:cNvSpPr txBox="1"/>
          <p:nvPr/>
        </p:nvSpPr>
        <p:spPr>
          <a:xfrm>
            <a:off x="6965950" y="3352800"/>
            <a:ext cx="2171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Thời gian: 6  tiết</a:t>
            </a:r>
            <a:endParaRPr/>
          </a:p>
        </p:txBody>
      </p:sp>
      <p:pic>
        <p:nvPicPr>
          <p:cNvPr id="1395" name="Google Shape;1395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2" y="0"/>
            <a:ext cx="3781425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63"/>
          <p:cNvSpPr txBox="1"/>
          <p:nvPr/>
        </p:nvSpPr>
        <p:spPr>
          <a:xfrm>
            <a:off x="0" y="137160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KIỂM THỬ PHẦN MỀM</a:t>
            </a:r>
            <a:endParaRPr/>
          </a:p>
        </p:txBody>
      </p:sp>
      <p:sp>
        <p:nvSpPr>
          <p:cNvPr id="1397" name="Google Shape;1397;p63"/>
          <p:cNvSpPr txBox="1"/>
          <p:nvPr/>
        </p:nvSpPr>
        <p:spPr>
          <a:xfrm>
            <a:off x="2732087" y="3733800"/>
            <a:ext cx="4659312" cy="221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3800"/>
              <a:buFont typeface="Arial"/>
              <a:buNone/>
            </a:pPr>
            <a:r>
              <a:rPr b="1" i="0" lang="en-US" sz="138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/>
          </a:p>
        </p:txBody>
      </p:sp>
    </p:spTree>
  </p:cSld>
  <p:clrMapOvr>
    <a:masterClrMapping/>
  </p:clrMapOvr>
  <p:transition advTm="25000">
    <p:randomBar dir="vert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7_cdb2004158l">
  <a:themeElements>
    <a:clrScheme name="cdb2004158l 1">
      <a:dk1>
        <a:srgbClr val="1D4940"/>
      </a:dk1>
      <a:lt1>
        <a:srgbClr val="FFFFFF"/>
      </a:lt1>
      <a:dk2>
        <a:srgbClr val="3F716F"/>
      </a:dk2>
      <a:lt2>
        <a:srgbClr val="C0C0C0"/>
      </a:lt2>
      <a:accent1>
        <a:srgbClr val="669E86"/>
      </a:accent1>
      <a:accent2>
        <a:srgbClr val="A2CAB4"/>
      </a:accent2>
      <a:accent3>
        <a:srgbClr val="FFFFFF"/>
      </a:accent3>
      <a:accent4>
        <a:srgbClr val="173D35"/>
      </a:accent4>
      <a:accent5>
        <a:srgbClr val="B8CCC3"/>
      </a:accent5>
      <a:accent6>
        <a:srgbClr val="92B7A3"/>
      </a:accent6>
      <a:hlink>
        <a:srgbClr val="8CA35F"/>
      </a:hlink>
      <a:folHlink>
        <a:srgbClr val="C1B05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db2004158l">
  <a:themeElements>
    <a:clrScheme name="cdb2004158l 1">
      <a:dk1>
        <a:srgbClr val="1D4940"/>
      </a:dk1>
      <a:lt1>
        <a:srgbClr val="FFFFFF"/>
      </a:lt1>
      <a:dk2>
        <a:srgbClr val="3F716F"/>
      </a:dk2>
      <a:lt2>
        <a:srgbClr val="C0C0C0"/>
      </a:lt2>
      <a:accent1>
        <a:srgbClr val="669E86"/>
      </a:accent1>
      <a:accent2>
        <a:srgbClr val="A2CAB4"/>
      </a:accent2>
      <a:accent3>
        <a:srgbClr val="FFFFFF"/>
      </a:accent3>
      <a:accent4>
        <a:srgbClr val="173D35"/>
      </a:accent4>
      <a:accent5>
        <a:srgbClr val="B8CCC3"/>
      </a:accent5>
      <a:accent6>
        <a:srgbClr val="92B7A3"/>
      </a:accent6>
      <a:hlink>
        <a:srgbClr val="8CA35F"/>
      </a:hlink>
      <a:folHlink>
        <a:srgbClr val="C1B05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cdb2004158l">
  <a:themeElements>
    <a:clrScheme name="cdb2004158l 1">
      <a:dk1>
        <a:srgbClr val="1D4940"/>
      </a:dk1>
      <a:lt1>
        <a:srgbClr val="FFFFFF"/>
      </a:lt1>
      <a:dk2>
        <a:srgbClr val="3F716F"/>
      </a:dk2>
      <a:lt2>
        <a:srgbClr val="C0C0C0"/>
      </a:lt2>
      <a:accent1>
        <a:srgbClr val="669E86"/>
      </a:accent1>
      <a:accent2>
        <a:srgbClr val="A2CAB4"/>
      </a:accent2>
      <a:accent3>
        <a:srgbClr val="FFFFFF"/>
      </a:accent3>
      <a:accent4>
        <a:srgbClr val="173D35"/>
      </a:accent4>
      <a:accent5>
        <a:srgbClr val="B8CCC3"/>
      </a:accent5>
      <a:accent6>
        <a:srgbClr val="92B7A3"/>
      </a:accent6>
      <a:hlink>
        <a:srgbClr val="8CA35F"/>
      </a:hlink>
      <a:folHlink>
        <a:srgbClr val="C1B05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4_cdb2004158l">
  <a:themeElements>
    <a:clrScheme name="cdb2004158l 1">
      <a:dk1>
        <a:srgbClr val="1D4940"/>
      </a:dk1>
      <a:lt1>
        <a:srgbClr val="FFFFFF"/>
      </a:lt1>
      <a:dk2>
        <a:srgbClr val="3F716F"/>
      </a:dk2>
      <a:lt2>
        <a:srgbClr val="C0C0C0"/>
      </a:lt2>
      <a:accent1>
        <a:srgbClr val="669E86"/>
      </a:accent1>
      <a:accent2>
        <a:srgbClr val="A2CAB4"/>
      </a:accent2>
      <a:accent3>
        <a:srgbClr val="FFFFFF"/>
      </a:accent3>
      <a:accent4>
        <a:srgbClr val="173D35"/>
      </a:accent4>
      <a:accent5>
        <a:srgbClr val="B8CCC3"/>
      </a:accent5>
      <a:accent6>
        <a:srgbClr val="92B7A3"/>
      </a:accent6>
      <a:hlink>
        <a:srgbClr val="8CA35F"/>
      </a:hlink>
      <a:folHlink>
        <a:srgbClr val="C1B05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5_cdb2004158l">
  <a:themeElements>
    <a:clrScheme name="cdb2004158l 1">
      <a:dk1>
        <a:srgbClr val="1D4940"/>
      </a:dk1>
      <a:lt1>
        <a:srgbClr val="FFFFFF"/>
      </a:lt1>
      <a:dk2>
        <a:srgbClr val="3F716F"/>
      </a:dk2>
      <a:lt2>
        <a:srgbClr val="C0C0C0"/>
      </a:lt2>
      <a:accent1>
        <a:srgbClr val="669E86"/>
      </a:accent1>
      <a:accent2>
        <a:srgbClr val="A2CAB4"/>
      </a:accent2>
      <a:accent3>
        <a:srgbClr val="FFFFFF"/>
      </a:accent3>
      <a:accent4>
        <a:srgbClr val="173D35"/>
      </a:accent4>
      <a:accent5>
        <a:srgbClr val="B8CCC3"/>
      </a:accent5>
      <a:accent6>
        <a:srgbClr val="92B7A3"/>
      </a:accent6>
      <a:hlink>
        <a:srgbClr val="8CA35F"/>
      </a:hlink>
      <a:folHlink>
        <a:srgbClr val="C1B05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6_cdb2004158l">
  <a:themeElements>
    <a:clrScheme name="cdb2004158l 1">
      <a:dk1>
        <a:srgbClr val="1D4940"/>
      </a:dk1>
      <a:lt1>
        <a:srgbClr val="FFFFFF"/>
      </a:lt1>
      <a:dk2>
        <a:srgbClr val="3F716F"/>
      </a:dk2>
      <a:lt2>
        <a:srgbClr val="C0C0C0"/>
      </a:lt2>
      <a:accent1>
        <a:srgbClr val="669E86"/>
      </a:accent1>
      <a:accent2>
        <a:srgbClr val="A2CAB4"/>
      </a:accent2>
      <a:accent3>
        <a:srgbClr val="FFFFFF"/>
      </a:accent3>
      <a:accent4>
        <a:srgbClr val="173D35"/>
      </a:accent4>
      <a:accent5>
        <a:srgbClr val="B8CCC3"/>
      </a:accent5>
      <a:accent6>
        <a:srgbClr val="92B7A3"/>
      </a:accent6>
      <a:hlink>
        <a:srgbClr val="8CA35F"/>
      </a:hlink>
      <a:folHlink>
        <a:srgbClr val="C1B05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1_cdb2004158l">
  <a:themeElements>
    <a:clrScheme name="cdb2004158l 1">
      <a:dk1>
        <a:srgbClr val="1D4940"/>
      </a:dk1>
      <a:lt1>
        <a:srgbClr val="FFFFFF"/>
      </a:lt1>
      <a:dk2>
        <a:srgbClr val="3F716F"/>
      </a:dk2>
      <a:lt2>
        <a:srgbClr val="C0C0C0"/>
      </a:lt2>
      <a:accent1>
        <a:srgbClr val="669E86"/>
      </a:accent1>
      <a:accent2>
        <a:srgbClr val="A2CAB4"/>
      </a:accent2>
      <a:accent3>
        <a:srgbClr val="FFFFFF"/>
      </a:accent3>
      <a:accent4>
        <a:srgbClr val="173D35"/>
      </a:accent4>
      <a:accent5>
        <a:srgbClr val="B8CCC3"/>
      </a:accent5>
      <a:accent6>
        <a:srgbClr val="92B7A3"/>
      </a:accent6>
      <a:hlink>
        <a:srgbClr val="8CA35F"/>
      </a:hlink>
      <a:folHlink>
        <a:srgbClr val="C1B05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3_cdb2004158l">
  <a:themeElements>
    <a:clrScheme name="cdb2004158l 1">
      <a:dk1>
        <a:srgbClr val="1D4940"/>
      </a:dk1>
      <a:lt1>
        <a:srgbClr val="FFFFFF"/>
      </a:lt1>
      <a:dk2>
        <a:srgbClr val="3F716F"/>
      </a:dk2>
      <a:lt2>
        <a:srgbClr val="C0C0C0"/>
      </a:lt2>
      <a:accent1>
        <a:srgbClr val="669E86"/>
      </a:accent1>
      <a:accent2>
        <a:srgbClr val="A2CAB4"/>
      </a:accent2>
      <a:accent3>
        <a:srgbClr val="FFFFFF"/>
      </a:accent3>
      <a:accent4>
        <a:srgbClr val="173D35"/>
      </a:accent4>
      <a:accent5>
        <a:srgbClr val="B8CCC3"/>
      </a:accent5>
      <a:accent6>
        <a:srgbClr val="92B7A3"/>
      </a:accent6>
      <a:hlink>
        <a:srgbClr val="8CA35F"/>
      </a:hlink>
      <a:folHlink>
        <a:srgbClr val="C1B05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8_cdb2004158l">
  <a:themeElements>
    <a:clrScheme name="cdb2004158l 1">
      <a:dk1>
        <a:srgbClr val="1D4940"/>
      </a:dk1>
      <a:lt1>
        <a:srgbClr val="FFFFFF"/>
      </a:lt1>
      <a:dk2>
        <a:srgbClr val="3F716F"/>
      </a:dk2>
      <a:lt2>
        <a:srgbClr val="C0C0C0"/>
      </a:lt2>
      <a:accent1>
        <a:srgbClr val="669E86"/>
      </a:accent1>
      <a:accent2>
        <a:srgbClr val="A2CAB4"/>
      </a:accent2>
      <a:accent3>
        <a:srgbClr val="FFFFFF"/>
      </a:accent3>
      <a:accent4>
        <a:srgbClr val="173D35"/>
      </a:accent4>
      <a:accent5>
        <a:srgbClr val="B8CCC3"/>
      </a:accent5>
      <a:accent6>
        <a:srgbClr val="92B7A3"/>
      </a:accent6>
      <a:hlink>
        <a:srgbClr val="8CA35F"/>
      </a:hlink>
      <a:folHlink>
        <a:srgbClr val="C1B05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9_cdb2004158l">
  <a:themeElements>
    <a:clrScheme name="cdb2004158l 1">
      <a:dk1>
        <a:srgbClr val="1D4940"/>
      </a:dk1>
      <a:lt1>
        <a:srgbClr val="FFFFFF"/>
      </a:lt1>
      <a:dk2>
        <a:srgbClr val="3F716F"/>
      </a:dk2>
      <a:lt2>
        <a:srgbClr val="C0C0C0"/>
      </a:lt2>
      <a:accent1>
        <a:srgbClr val="669E86"/>
      </a:accent1>
      <a:accent2>
        <a:srgbClr val="A2CAB4"/>
      </a:accent2>
      <a:accent3>
        <a:srgbClr val="FFFFFF"/>
      </a:accent3>
      <a:accent4>
        <a:srgbClr val="173D35"/>
      </a:accent4>
      <a:accent5>
        <a:srgbClr val="B8CCC3"/>
      </a:accent5>
      <a:accent6>
        <a:srgbClr val="92B7A3"/>
      </a:accent6>
      <a:hlink>
        <a:srgbClr val="8CA35F"/>
      </a:hlink>
      <a:folHlink>
        <a:srgbClr val="C1B05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2011-11-18T09:36:58Z</dcterms:created>
  <dc:creator>Thanh An</dc:creator>
</cp:coreProperties>
</file>